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problem in one sentence: financial panels always have holes, and the way they are filled changes what any model built on them concludes. The talk follows the thesis: motivation, design, results, then the two downstream evaluations.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Gaps are everywhere in finance. The default fixes are not neutral: stale prices bias betas, deletion throws away data, a constant fill damps correlations. The literature mostly scores imputations cell by cell; this thesis scores them by what a user builds on the result.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four questions structure the results. Keep this slide short and come back to it at the end, where each question gets its answer.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from a panel with no real missing data, delete entries under known rules, reconstruct, and compare with the truth. Returns rather than prices because prices are level dependent. Every method may use the full sample: this is reconstruction after the fact, not real-time filling.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Sparse removes isolated cells, gaps remove runs within one asset, stressed removes entries preferentially on the most volatile dates, so deletions line up across assets. Levels are matched on the expected share, so any difference between patterns is due to the mechanism. The stressed score is never shown to the imputer, which makes the pattern non-ignorable.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baselines that the literature expects to fail, three classical estimators and two deep models. EM is the one to watch: its fill is the conditional expectation given the other assets on the same date, the fill that minimises the expected squared error under the Gaussian model.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Seven metrics in four families. Pointwise metrics look only at the filled cells, the others compare statistics of the whole panel, and the last two are the only ones that notice the order of the dates. The two downstream evaluations ask what a user would actually do with the panel.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Daily returns carry almost no serial information, so the best one can do for a missing entry is to read it off the other assets on the same date. EM does exactly that, so its pointwise error is flat and it is very hard to beat. The deep models have nothing extra to learn here.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Pointwise errors average over the filled cells, so they stay flat; the covariance error accumulates them, so it grows with the amount missing. Zero imputation shows the gap at its plainest: half again worse on MAE, nine times worse on covariance. Even among good methods the two families disagree: the best fill cell by cell damps the second moment most.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tables across at matched shares. Sparse and gaps are almost the same, because on every date the other assets are still there. The stressed pattern removes exactly those dates, and the returns it removes are the largest ones, so the error sits in the target and no model capacity fixes 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tangency portfolio inverts the covariance, so small distortions turn into large positions. Under random missingness the imputed portfolios take on far more risk than the oracle; under stressed missingness they never see the volatility and fall short. This is an in-sample diagnostic of fidelity, not a performance claim.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principal component is almost indestructible. The five-factor subspace is not, and the misalignment sits in one direction of it. Point imputations make the panel look more like its own factor model. Low-rank is worst on exactly the evaluation that might be expected to favour it. Last line: the portfolio inverse loads on the directions recovered worst, which ties the two evaluations together.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of this ran on a single consumer machine with small networks, so the costs come from the algorithms. EM needs about a second; CSDI needs hours of training and twenty-four minutes of sampling per panel, for a reconstruction that is not better.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 back to the four questions. The single message to leave with the committee is the last line: an imputation should be judged by the use it is put to, because reconstruction error is least informative exactly where the choice of method matters.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upfront about the limits: one panel, one run, injected missingness, Gaussian EM, offline setting. The natural next step is the causal version of the problem, where only the past may be used.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543800" y="1325880"/>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804404" y="1325880"/>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65008" y="1325880"/>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325612" y="1325880"/>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586216" y="1325880"/>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846820" y="1325880"/>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107424" y="1325880"/>
            <a:ext cx="201168" cy="201168"/>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368028" y="1325880"/>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628632" y="1325880"/>
            <a:ext cx="201168" cy="201168"/>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889236" y="1325880"/>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0149840" y="1325880"/>
            <a:ext cx="201168" cy="201168"/>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0410444" y="1325880"/>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0671048" y="1325880"/>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0931652" y="1325880"/>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1192256" y="1325880"/>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1452859" y="1325880"/>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543800" y="1586484"/>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804404" y="1586484"/>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65008" y="1586484"/>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25612" y="1586484"/>
            <a:ext cx="201168" cy="201168"/>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586216" y="1586484"/>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846820" y="1586484"/>
            <a:ext cx="201168" cy="201168"/>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107424" y="1586484"/>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368028" y="1586484"/>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628632" y="1586484"/>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889236" y="1586484"/>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0149840" y="1586484"/>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0410444" y="1586484"/>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0671048" y="1586484"/>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931652" y="1586484"/>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1192256" y="1586484"/>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1452859" y="1586484"/>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543800" y="1847088"/>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804404" y="1847088"/>
            <a:ext cx="201168" cy="201168"/>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065008" y="1847088"/>
            <a:ext cx="201168" cy="201168"/>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325612" y="1847088"/>
            <a:ext cx="201168" cy="201168"/>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586216" y="1847088"/>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846820" y="1847088"/>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107424" y="1847088"/>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9368028" y="1847088"/>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628632" y="1847088"/>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9889236" y="1847088"/>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0149840" y="1847088"/>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0410444" y="1847088"/>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0671048" y="1847088"/>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0931652" y="1847088"/>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1192256" y="1847088"/>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11452859" y="1847088"/>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7543800" y="2107691"/>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7804404" y="2107691"/>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8065008" y="2107691"/>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8325612" y="2107691"/>
            <a:ext cx="201168" cy="201168"/>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8586216" y="2107691"/>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8846820" y="2107691"/>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9107424" y="2107691"/>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9368028" y="2107691"/>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9628632" y="2107691"/>
            <a:ext cx="201168" cy="201168"/>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9889236" y="2107691"/>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10149840" y="2107691"/>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10410444" y="2107691"/>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10671048" y="2107691"/>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10931652" y="2107691"/>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11192256" y="2107691"/>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11452859" y="2107691"/>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7543800" y="2368296"/>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7804404" y="2368296"/>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8065008" y="2368296"/>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8325612" y="2368296"/>
            <a:ext cx="201168" cy="201168"/>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8586216" y="2368296"/>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8846820" y="2368296"/>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9107424" y="2368296"/>
            <a:ext cx="201168" cy="201168"/>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9368028" y="2368296"/>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9628632" y="2368296"/>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9889236" y="2368296"/>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10149840" y="2368296"/>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10410444" y="2368296"/>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10671048" y="2368296"/>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10931652" y="2368296"/>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11192256" y="2368296"/>
            <a:ext cx="201168" cy="201168"/>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11452859" y="2368296"/>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7543800" y="2628900"/>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7804404" y="2628900"/>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8065008" y="2628900"/>
            <a:ext cx="201168" cy="201168"/>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8325612" y="2628900"/>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8586216" y="2628900"/>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8846820" y="2628900"/>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9107424" y="2628900"/>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9368028" y="2628900"/>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9628632" y="2628900"/>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9889236" y="2628900"/>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10149840" y="2628900"/>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10410444" y="2628900"/>
            <a:ext cx="201168" cy="201168"/>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10671048" y="2628900"/>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10931652" y="2628900"/>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11192256" y="2628900"/>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11452859" y="2628900"/>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7543800" y="2889504"/>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7804404" y="2889504"/>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8065008" y="2889504"/>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8325612" y="2889504"/>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8586216" y="2889504"/>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8846820" y="2889504"/>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9107424" y="2889504"/>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9368028" y="2889504"/>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9628632" y="2889504"/>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9889236" y="2889504"/>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10149840" y="2889504"/>
            <a:ext cx="201168" cy="201168"/>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10410444" y="2889504"/>
            <a:ext cx="201168" cy="201168"/>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10671048" y="2889504"/>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10931652" y="2889504"/>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tangle 112"/>
          <p:cNvSpPr/>
          <p:nvPr/>
        </p:nvSpPr>
        <p:spPr>
          <a:xfrm>
            <a:off x="11192256" y="2889504"/>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11452859" y="2889504"/>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ectangle 114"/>
          <p:cNvSpPr/>
          <p:nvPr/>
        </p:nvSpPr>
        <p:spPr>
          <a:xfrm>
            <a:off x="7543800" y="3150108"/>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ectangle 115"/>
          <p:cNvSpPr/>
          <p:nvPr/>
        </p:nvSpPr>
        <p:spPr>
          <a:xfrm>
            <a:off x="7804404" y="3150108"/>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ectangle 116"/>
          <p:cNvSpPr/>
          <p:nvPr/>
        </p:nvSpPr>
        <p:spPr>
          <a:xfrm>
            <a:off x="8065008" y="3150108"/>
            <a:ext cx="201168" cy="201168"/>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8325612" y="3150108"/>
            <a:ext cx="201168" cy="201168"/>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8586216" y="3150108"/>
            <a:ext cx="201168" cy="201168"/>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ectangle 119"/>
          <p:cNvSpPr/>
          <p:nvPr/>
        </p:nvSpPr>
        <p:spPr>
          <a:xfrm>
            <a:off x="8846820" y="3150108"/>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9107424" y="3150108"/>
            <a:ext cx="201168" cy="201168"/>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ectangle 121"/>
          <p:cNvSpPr/>
          <p:nvPr/>
        </p:nvSpPr>
        <p:spPr>
          <a:xfrm>
            <a:off x="9368028" y="3150108"/>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ectangle 122"/>
          <p:cNvSpPr/>
          <p:nvPr/>
        </p:nvSpPr>
        <p:spPr>
          <a:xfrm>
            <a:off x="9628632" y="3150108"/>
            <a:ext cx="201168" cy="201168"/>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ectangle 123"/>
          <p:cNvSpPr/>
          <p:nvPr/>
        </p:nvSpPr>
        <p:spPr>
          <a:xfrm>
            <a:off x="9889236" y="3150108"/>
            <a:ext cx="201168" cy="201168"/>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ectangle 124"/>
          <p:cNvSpPr/>
          <p:nvPr/>
        </p:nvSpPr>
        <p:spPr>
          <a:xfrm>
            <a:off x="10149840" y="3150108"/>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10410444" y="3150108"/>
            <a:ext cx="201168" cy="201168"/>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10671048" y="3150108"/>
            <a:ext cx="201168" cy="201168"/>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Rectangle 127"/>
          <p:cNvSpPr/>
          <p:nvPr/>
        </p:nvSpPr>
        <p:spPr>
          <a:xfrm>
            <a:off x="10931652" y="3150108"/>
            <a:ext cx="201168" cy="201168"/>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Rectangle 128"/>
          <p:cNvSpPr/>
          <p:nvPr/>
        </p:nvSpPr>
        <p:spPr>
          <a:xfrm>
            <a:off x="11192256" y="3150108"/>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Rectangle 129"/>
          <p:cNvSpPr/>
          <p:nvPr/>
        </p:nvSpPr>
        <p:spPr>
          <a:xfrm>
            <a:off x="11452859" y="3150108"/>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Rectangle 130"/>
          <p:cNvSpPr/>
          <p:nvPr/>
        </p:nvSpPr>
        <p:spPr>
          <a:xfrm>
            <a:off x="7543800" y="3410711"/>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ectangle 131"/>
          <p:cNvSpPr/>
          <p:nvPr/>
        </p:nvSpPr>
        <p:spPr>
          <a:xfrm>
            <a:off x="7804404" y="3410711"/>
            <a:ext cx="201168" cy="201168"/>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ectangle 132"/>
          <p:cNvSpPr/>
          <p:nvPr/>
        </p:nvSpPr>
        <p:spPr>
          <a:xfrm>
            <a:off x="8065008" y="3410711"/>
            <a:ext cx="201168" cy="201168"/>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ectangle 133"/>
          <p:cNvSpPr/>
          <p:nvPr/>
        </p:nvSpPr>
        <p:spPr>
          <a:xfrm>
            <a:off x="8325612" y="3410711"/>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ectangle 134"/>
          <p:cNvSpPr/>
          <p:nvPr/>
        </p:nvSpPr>
        <p:spPr>
          <a:xfrm>
            <a:off x="8586216" y="3410711"/>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p:cNvSpPr/>
          <p:nvPr/>
        </p:nvSpPr>
        <p:spPr>
          <a:xfrm>
            <a:off x="8846820" y="3410711"/>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Rectangle 136"/>
          <p:cNvSpPr/>
          <p:nvPr/>
        </p:nvSpPr>
        <p:spPr>
          <a:xfrm>
            <a:off x="9107424" y="3410711"/>
            <a:ext cx="201168" cy="201168"/>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Rectangle 137"/>
          <p:cNvSpPr/>
          <p:nvPr/>
        </p:nvSpPr>
        <p:spPr>
          <a:xfrm>
            <a:off x="9368028" y="3410711"/>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Rectangle 138"/>
          <p:cNvSpPr/>
          <p:nvPr/>
        </p:nvSpPr>
        <p:spPr>
          <a:xfrm>
            <a:off x="9628632" y="3410711"/>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Rectangle 139"/>
          <p:cNvSpPr/>
          <p:nvPr/>
        </p:nvSpPr>
        <p:spPr>
          <a:xfrm>
            <a:off x="9889236" y="3410711"/>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Rectangle 140"/>
          <p:cNvSpPr/>
          <p:nvPr/>
        </p:nvSpPr>
        <p:spPr>
          <a:xfrm>
            <a:off x="10149840" y="3410711"/>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Rectangle 141"/>
          <p:cNvSpPr/>
          <p:nvPr/>
        </p:nvSpPr>
        <p:spPr>
          <a:xfrm>
            <a:off x="10410444" y="3410711"/>
            <a:ext cx="201168" cy="201168"/>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Rectangle 142"/>
          <p:cNvSpPr/>
          <p:nvPr/>
        </p:nvSpPr>
        <p:spPr>
          <a:xfrm>
            <a:off x="10671048" y="3410711"/>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Rectangle 143"/>
          <p:cNvSpPr/>
          <p:nvPr/>
        </p:nvSpPr>
        <p:spPr>
          <a:xfrm>
            <a:off x="10931652" y="3410711"/>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Rectangle 144"/>
          <p:cNvSpPr/>
          <p:nvPr/>
        </p:nvSpPr>
        <p:spPr>
          <a:xfrm>
            <a:off x="11192256" y="3410711"/>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Rectangle 145"/>
          <p:cNvSpPr/>
          <p:nvPr/>
        </p:nvSpPr>
        <p:spPr>
          <a:xfrm>
            <a:off x="11452859" y="3410711"/>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Rectangle 146"/>
          <p:cNvSpPr/>
          <p:nvPr/>
        </p:nvSpPr>
        <p:spPr>
          <a:xfrm>
            <a:off x="7543800" y="3671315"/>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Rectangle 147"/>
          <p:cNvSpPr/>
          <p:nvPr/>
        </p:nvSpPr>
        <p:spPr>
          <a:xfrm>
            <a:off x="7804404" y="3671315"/>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Rectangle 148"/>
          <p:cNvSpPr/>
          <p:nvPr/>
        </p:nvSpPr>
        <p:spPr>
          <a:xfrm>
            <a:off x="8065008" y="3671315"/>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Rectangle 149"/>
          <p:cNvSpPr/>
          <p:nvPr/>
        </p:nvSpPr>
        <p:spPr>
          <a:xfrm>
            <a:off x="8325612" y="3671315"/>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Rectangle 150"/>
          <p:cNvSpPr/>
          <p:nvPr/>
        </p:nvSpPr>
        <p:spPr>
          <a:xfrm>
            <a:off x="8586216" y="3671315"/>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Rectangle 151"/>
          <p:cNvSpPr/>
          <p:nvPr/>
        </p:nvSpPr>
        <p:spPr>
          <a:xfrm>
            <a:off x="8846820" y="3671315"/>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Rectangle 152"/>
          <p:cNvSpPr/>
          <p:nvPr/>
        </p:nvSpPr>
        <p:spPr>
          <a:xfrm>
            <a:off x="9107424" y="3671315"/>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Rectangle 153"/>
          <p:cNvSpPr/>
          <p:nvPr/>
        </p:nvSpPr>
        <p:spPr>
          <a:xfrm>
            <a:off x="9368028" y="3671315"/>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Rectangle 154"/>
          <p:cNvSpPr/>
          <p:nvPr/>
        </p:nvSpPr>
        <p:spPr>
          <a:xfrm>
            <a:off x="9628632" y="3671315"/>
            <a:ext cx="201168" cy="201168"/>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Rectangle 155"/>
          <p:cNvSpPr/>
          <p:nvPr/>
        </p:nvSpPr>
        <p:spPr>
          <a:xfrm>
            <a:off x="9889236" y="3671315"/>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Rectangle 156"/>
          <p:cNvSpPr/>
          <p:nvPr/>
        </p:nvSpPr>
        <p:spPr>
          <a:xfrm>
            <a:off x="10149840" y="3671315"/>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Rectangle 157"/>
          <p:cNvSpPr/>
          <p:nvPr/>
        </p:nvSpPr>
        <p:spPr>
          <a:xfrm>
            <a:off x="10410444" y="3671315"/>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Rectangle 158"/>
          <p:cNvSpPr/>
          <p:nvPr/>
        </p:nvSpPr>
        <p:spPr>
          <a:xfrm>
            <a:off x="10671048" y="3671315"/>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Rectangle 159"/>
          <p:cNvSpPr/>
          <p:nvPr/>
        </p:nvSpPr>
        <p:spPr>
          <a:xfrm>
            <a:off x="10931652" y="3671315"/>
            <a:ext cx="201168" cy="201168"/>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Rectangle 160"/>
          <p:cNvSpPr/>
          <p:nvPr/>
        </p:nvSpPr>
        <p:spPr>
          <a:xfrm>
            <a:off x="11192256" y="3671315"/>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Rectangle 161"/>
          <p:cNvSpPr/>
          <p:nvPr/>
        </p:nvSpPr>
        <p:spPr>
          <a:xfrm>
            <a:off x="11452859" y="3671315"/>
            <a:ext cx="201168" cy="201168"/>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TextBox 162"/>
          <p:cNvSpPr txBox="1"/>
          <p:nvPr/>
        </p:nvSpPr>
        <p:spPr>
          <a:xfrm>
            <a:off x="731520" y="1325880"/>
            <a:ext cx="6400800" cy="274320"/>
          </a:xfrm>
          <a:prstGeom prst="rect">
            <a:avLst/>
          </a:prstGeom>
          <a:noFill/>
        </p:spPr>
        <p:txBody>
          <a:bodyPr wrap="square" lIns="0" rIns="0" tIns="0" bIns="0" anchor="t">
            <a:noAutofit/>
          </a:bodyPr>
          <a:lstStyle/>
          <a:p>
            <a:pPr algn="l">
              <a:spcAft>
                <a:spcPts val="600"/>
              </a:spcAft>
            </a:pPr>
            <a:r>
              <a:rPr sz="1200" b="1" i="0" spc="200">
                <a:solidFill>
                  <a:srgbClr val="E4572E"/>
                </a:solidFill>
                <a:latin typeface="Arial"/>
              </a:rPr>
              <a:t>MASTER'S THESIS  ·  BOCCONI UNIVERSITY</a:t>
            </a:r>
            <a:endParaRPr sz="1200"/>
          </a:p>
        </p:txBody>
      </p:sp>
      <p:sp>
        <p:nvSpPr>
          <p:cNvPr id="164" name="TextBox 163"/>
          <p:cNvSpPr txBox="1"/>
          <p:nvPr/>
        </p:nvSpPr>
        <p:spPr>
          <a:xfrm>
            <a:off x="731520" y="1783080"/>
            <a:ext cx="6583680" cy="1188720"/>
          </a:xfrm>
          <a:prstGeom prst="rect">
            <a:avLst/>
          </a:prstGeom>
          <a:noFill/>
        </p:spPr>
        <p:txBody>
          <a:bodyPr wrap="square" lIns="0" rIns="0" tIns="0" bIns="0" anchor="t">
            <a:noAutofit/>
          </a:bodyPr>
          <a:lstStyle/>
          <a:p>
            <a:pPr algn="l">
              <a:lnSpc>
                <a:spcPct val="105000"/>
              </a:lnSpc>
              <a:spcAft>
                <a:spcPts val="0"/>
              </a:spcAft>
            </a:pPr>
            <a:r>
              <a:rPr sz="3400" b="1" i="0">
                <a:solidFill>
                  <a:srgbClr val="FFFFFF"/>
                </a:solidFill>
                <a:latin typeface="Georgia"/>
              </a:rPr>
              <a:t>Imputation of Missing Data</a:t>
            </a:r>
            <a:endParaRPr sz="3400"/>
          </a:p>
          <a:p>
            <a:pPr algn="l">
              <a:lnSpc>
                <a:spcPct val="105000"/>
              </a:lnSpc>
              <a:spcAft>
                <a:spcPts val="0"/>
              </a:spcAft>
            </a:pPr>
            <a:r>
              <a:rPr sz="3400" b="1" i="0">
                <a:solidFill>
                  <a:srgbClr val="FFFFFF"/>
                </a:solidFill>
                <a:latin typeface="Georgia"/>
              </a:rPr>
              <a:t>in Financial Time Series</a:t>
            </a:r>
            <a:endParaRPr sz="3400"/>
          </a:p>
        </p:txBody>
      </p:sp>
      <p:sp>
        <p:nvSpPr>
          <p:cNvPr id="165" name="TextBox 164"/>
          <p:cNvSpPr txBox="1"/>
          <p:nvPr/>
        </p:nvSpPr>
        <p:spPr>
          <a:xfrm>
            <a:off x="731520" y="3200400"/>
            <a:ext cx="6583680" cy="411480"/>
          </a:xfrm>
          <a:prstGeom prst="rect">
            <a:avLst/>
          </a:prstGeom>
          <a:noFill/>
        </p:spPr>
        <p:txBody>
          <a:bodyPr wrap="square" lIns="0" rIns="0" tIns="0" bIns="0" anchor="t">
            <a:noAutofit/>
          </a:bodyPr>
          <a:lstStyle/>
          <a:p>
            <a:pPr algn="l">
              <a:spcAft>
                <a:spcPts val="600"/>
              </a:spcAft>
            </a:pPr>
            <a:r>
              <a:rPr sz="1900" b="0" i="0">
                <a:solidFill>
                  <a:srgbClr val="C9D3E3"/>
                </a:solidFill>
                <a:latin typeface="Arial"/>
              </a:rPr>
              <a:t>From reconstruction error to downstream decisions</a:t>
            </a:r>
            <a:endParaRPr sz="1900"/>
          </a:p>
        </p:txBody>
      </p:sp>
      <p:sp>
        <p:nvSpPr>
          <p:cNvPr id="166" name="TextBox 165"/>
          <p:cNvSpPr txBox="1"/>
          <p:nvPr/>
        </p:nvSpPr>
        <p:spPr>
          <a:xfrm>
            <a:off x="731520" y="5074920"/>
            <a:ext cx="3108960" cy="256032"/>
          </a:xfrm>
          <a:prstGeom prst="rect">
            <a:avLst/>
          </a:prstGeom>
          <a:noFill/>
        </p:spPr>
        <p:txBody>
          <a:bodyPr wrap="square" lIns="0" rIns="0" tIns="0" bIns="0" anchor="t">
            <a:noAutofit/>
          </a:bodyPr>
          <a:lstStyle/>
          <a:p>
            <a:pPr algn="l">
              <a:spcAft>
                <a:spcPts val="600"/>
              </a:spcAft>
            </a:pPr>
            <a:r>
              <a:rPr sz="1000" b="0" i="0" spc="150">
                <a:solidFill>
                  <a:srgbClr val="C9D3E3"/>
                </a:solidFill>
                <a:latin typeface="Arial"/>
              </a:rPr>
              <a:t>CANDIDATE</a:t>
            </a:r>
            <a:endParaRPr sz="1000"/>
          </a:p>
        </p:txBody>
      </p:sp>
      <p:sp>
        <p:nvSpPr>
          <p:cNvPr id="167" name="TextBox 166"/>
          <p:cNvSpPr txBox="1"/>
          <p:nvPr/>
        </p:nvSpPr>
        <p:spPr>
          <a:xfrm>
            <a:off x="731520" y="5349240"/>
            <a:ext cx="3108960" cy="365760"/>
          </a:xfrm>
          <a:prstGeom prst="rect">
            <a:avLst/>
          </a:prstGeom>
          <a:noFill/>
        </p:spPr>
        <p:txBody>
          <a:bodyPr wrap="square" lIns="0" rIns="0" tIns="0" bIns="0" anchor="t">
            <a:noAutofit/>
          </a:bodyPr>
          <a:lstStyle/>
          <a:p>
            <a:pPr algn="l">
              <a:spcAft>
                <a:spcPts val="600"/>
              </a:spcAft>
            </a:pPr>
            <a:r>
              <a:rPr sz="1700" b="1" i="0">
                <a:solidFill>
                  <a:srgbClr val="FFFFFF"/>
                </a:solidFill>
                <a:latin typeface="Arial"/>
              </a:rPr>
              <a:t>Michele Carlo Fanelli</a:t>
            </a:r>
            <a:endParaRPr sz="1700"/>
          </a:p>
        </p:txBody>
      </p:sp>
      <p:sp>
        <p:nvSpPr>
          <p:cNvPr id="168" name="TextBox 167"/>
          <p:cNvSpPr txBox="1"/>
          <p:nvPr/>
        </p:nvSpPr>
        <p:spPr>
          <a:xfrm>
            <a:off x="3977639" y="5074920"/>
            <a:ext cx="3108960" cy="256032"/>
          </a:xfrm>
          <a:prstGeom prst="rect">
            <a:avLst/>
          </a:prstGeom>
          <a:noFill/>
        </p:spPr>
        <p:txBody>
          <a:bodyPr wrap="square" lIns="0" rIns="0" tIns="0" bIns="0" anchor="t">
            <a:noAutofit/>
          </a:bodyPr>
          <a:lstStyle/>
          <a:p>
            <a:pPr algn="l">
              <a:spcAft>
                <a:spcPts val="600"/>
              </a:spcAft>
            </a:pPr>
            <a:r>
              <a:rPr sz="1000" b="0" i="0" spc="150">
                <a:solidFill>
                  <a:srgbClr val="C9D3E3"/>
                </a:solidFill>
                <a:latin typeface="Arial"/>
              </a:rPr>
              <a:t>SUPERVISOR</a:t>
            </a:r>
            <a:endParaRPr sz="1000"/>
          </a:p>
        </p:txBody>
      </p:sp>
      <p:sp>
        <p:nvSpPr>
          <p:cNvPr id="169" name="TextBox 168"/>
          <p:cNvSpPr txBox="1"/>
          <p:nvPr/>
        </p:nvSpPr>
        <p:spPr>
          <a:xfrm>
            <a:off x="3977639" y="5349240"/>
            <a:ext cx="3108960" cy="365760"/>
          </a:xfrm>
          <a:prstGeom prst="rect">
            <a:avLst/>
          </a:prstGeom>
          <a:noFill/>
        </p:spPr>
        <p:txBody>
          <a:bodyPr wrap="square" lIns="0" rIns="0" tIns="0" bIns="0" anchor="t">
            <a:noAutofit/>
          </a:bodyPr>
          <a:lstStyle/>
          <a:p>
            <a:pPr algn="l">
              <a:spcAft>
                <a:spcPts val="600"/>
              </a:spcAft>
            </a:pPr>
            <a:r>
              <a:rPr sz="1700" b="1" i="0">
                <a:solidFill>
                  <a:srgbClr val="FFFFFF"/>
                </a:solidFill>
                <a:latin typeface="Arial"/>
              </a:rPr>
              <a:t>Francesco Corielli</a:t>
            </a:r>
            <a:endParaRPr sz="1700"/>
          </a:p>
        </p:txBody>
      </p:sp>
      <p:sp>
        <p:nvSpPr>
          <p:cNvPr id="170" name="TextBox 169"/>
          <p:cNvSpPr txBox="1"/>
          <p:nvPr/>
        </p:nvSpPr>
        <p:spPr>
          <a:xfrm>
            <a:off x="7223759" y="5074920"/>
            <a:ext cx="3108960" cy="256032"/>
          </a:xfrm>
          <a:prstGeom prst="rect">
            <a:avLst/>
          </a:prstGeom>
          <a:noFill/>
        </p:spPr>
        <p:txBody>
          <a:bodyPr wrap="square" lIns="0" rIns="0" tIns="0" bIns="0" anchor="t">
            <a:noAutofit/>
          </a:bodyPr>
          <a:lstStyle/>
          <a:p>
            <a:pPr algn="l">
              <a:spcAft>
                <a:spcPts val="600"/>
              </a:spcAft>
            </a:pPr>
            <a:r>
              <a:rPr sz="1000" b="0" i="0" spc="150">
                <a:solidFill>
                  <a:srgbClr val="C9D3E3"/>
                </a:solidFill>
                <a:latin typeface="Arial"/>
              </a:rPr>
              <a:t>ACADEMIC YEAR</a:t>
            </a:r>
            <a:endParaRPr sz="1000"/>
          </a:p>
        </p:txBody>
      </p:sp>
      <p:sp>
        <p:nvSpPr>
          <p:cNvPr id="171" name="TextBox 170"/>
          <p:cNvSpPr txBox="1"/>
          <p:nvPr/>
        </p:nvSpPr>
        <p:spPr>
          <a:xfrm>
            <a:off x="7223759" y="5349240"/>
            <a:ext cx="3108960" cy="365760"/>
          </a:xfrm>
          <a:prstGeom prst="rect">
            <a:avLst/>
          </a:prstGeom>
          <a:noFill/>
        </p:spPr>
        <p:txBody>
          <a:bodyPr wrap="square" lIns="0" rIns="0" tIns="0" bIns="0" anchor="t">
            <a:noAutofit/>
          </a:bodyPr>
          <a:lstStyle/>
          <a:p>
            <a:pPr algn="l">
              <a:spcAft>
                <a:spcPts val="600"/>
              </a:spcAft>
            </a:pPr>
            <a:r>
              <a:rPr sz="1700" b="1" i="0">
                <a:solidFill>
                  <a:srgbClr val="FFFFFF"/>
                </a:solidFill>
                <a:latin typeface="Arial"/>
              </a:rPr>
              <a:t>2025/2026</a:t>
            </a:r>
            <a:endParaRPr sz="1700"/>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429768"/>
            <a:ext cx="77724" cy="77724"/>
          </a:xfrm>
          <a:prstGeom prst="rect">
            <a:avLst/>
          </a:prstGeom>
          <a:solidFill>
            <a:srgbClr val="C4C9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62940" y="429768"/>
            <a:ext cx="77724" cy="77724"/>
          </a:xfrm>
          <a:prstGeom prst="rect">
            <a:avLst/>
          </a:prstGeom>
          <a:solidFill>
            <a:srgbClr val="C4C9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429768"/>
            <a:ext cx="77724" cy="77724"/>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370332"/>
            <a:ext cx="8229600" cy="274320"/>
          </a:xfrm>
          <a:prstGeom prst="rect">
            <a:avLst/>
          </a:prstGeom>
          <a:noFill/>
        </p:spPr>
        <p:txBody>
          <a:bodyPr wrap="square" lIns="0" rIns="0" tIns="0" bIns="0" anchor="t">
            <a:noAutofit/>
          </a:bodyPr>
          <a:lstStyle/>
          <a:p>
            <a:pPr algn="l">
              <a:spcAft>
                <a:spcPts val="600"/>
              </a:spcAft>
            </a:pPr>
            <a:r>
              <a:rPr sz="1100" b="1" i="0" spc="150">
                <a:solidFill>
                  <a:srgbClr val="E4572E"/>
                </a:solidFill>
                <a:latin typeface="Arial"/>
              </a:rPr>
              <a:t>INTRODUCTION  ·  MOTIVATION</a:t>
            </a:r>
            <a:endParaRPr sz="1100"/>
          </a:p>
        </p:txBody>
      </p:sp>
      <p:sp>
        <p:nvSpPr>
          <p:cNvPr id="6" name="TextBox 5"/>
          <p:cNvSpPr txBox="1"/>
          <p:nvPr/>
        </p:nvSpPr>
        <p:spPr>
          <a:xfrm>
            <a:off x="548640" y="676656"/>
            <a:ext cx="11091672" cy="640080"/>
          </a:xfrm>
          <a:prstGeom prst="rect">
            <a:avLst/>
          </a:prstGeom>
          <a:noFill/>
        </p:spPr>
        <p:txBody>
          <a:bodyPr wrap="square" lIns="0" rIns="0" tIns="0" bIns="0" anchor="t">
            <a:noAutofit/>
          </a:bodyPr>
          <a:lstStyle/>
          <a:p>
            <a:pPr algn="l">
              <a:spcAft>
                <a:spcPts val="600"/>
              </a:spcAft>
            </a:pPr>
            <a:r>
              <a:rPr sz="2600" b="1" i="0">
                <a:solidFill>
                  <a:srgbClr val="14213D"/>
                </a:solidFill>
                <a:latin typeface="Georgia"/>
              </a:rPr>
              <a:t>Financial data is never fully observed</a:t>
            </a:r>
            <a:endParaRPr sz="2600"/>
          </a:p>
        </p:txBody>
      </p:sp>
      <p:sp>
        <p:nvSpPr>
          <p:cNvPr id="7" name="TextBox 6"/>
          <p:cNvSpPr txBox="1"/>
          <p:nvPr/>
        </p:nvSpPr>
        <p:spPr>
          <a:xfrm>
            <a:off x="548640" y="6419088"/>
            <a:ext cx="5486400" cy="228600"/>
          </a:xfrm>
          <a:prstGeom prst="rect">
            <a:avLst/>
          </a:prstGeom>
          <a:noFill/>
        </p:spPr>
        <p:txBody>
          <a:bodyPr wrap="square" lIns="0" rIns="0" tIns="0" bIns="0" anchor="t">
            <a:noAutofit/>
          </a:bodyPr>
          <a:lstStyle/>
          <a:p>
            <a:pPr algn="l">
              <a:spcAft>
                <a:spcPts val="600"/>
              </a:spcAft>
            </a:pPr>
            <a:r>
              <a:rPr sz="1000" b="0" i="0">
                <a:solidFill>
                  <a:srgbClr val="6B7280"/>
                </a:solidFill>
                <a:latin typeface="Arial"/>
              </a:rPr>
              <a:t>Michele Carlo Fanelli  ·  Bocconi University</a:t>
            </a:r>
            <a:endParaRPr sz="1000"/>
          </a:p>
        </p:txBody>
      </p:sp>
      <p:sp>
        <p:nvSpPr>
          <p:cNvPr id="8" name="TextBox 7"/>
          <p:cNvSpPr txBox="1"/>
          <p:nvPr/>
        </p:nvSpPr>
        <p:spPr>
          <a:xfrm>
            <a:off x="10268712" y="6419088"/>
            <a:ext cx="1371600" cy="228600"/>
          </a:xfrm>
          <a:prstGeom prst="rect">
            <a:avLst/>
          </a:prstGeom>
          <a:noFill/>
        </p:spPr>
        <p:txBody>
          <a:bodyPr wrap="square" lIns="0" rIns="0" tIns="0" bIns="0" anchor="t">
            <a:noAutofit/>
          </a:bodyPr>
          <a:lstStyle/>
          <a:p>
            <a:pPr algn="r">
              <a:spcAft>
                <a:spcPts val="600"/>
              </a:spcAft>
            </a:pPr>
            <a:r>
              <a:rPr sz="1000" b="0" i="0">
                <a:solidFill>
                  <a:srgbClr val="6B7280"/>
                </a:solidFill>
                <a:latin typeface="Arial"/>
              </a:rPr>
              <a:t>2 / 15</a:t>
            </a:r>
            <a:endParaRPr sz="1000"/>
          </a:p>
        </p:txBody>
      </p:sp>
      <p:sp>
        <p:nvSpPr>
          <p:cNvPr id="9" name="Rounded Rectangle 8"/>
          <p:cNvSpPr/>
          <p:nvPr/>
        </p:nvSpPr>
        <p:spPr>
          <a:xfrm>
            <a:off x="548640" y="1554480"/>
            <a:ext cx="3520440" cy="3337560"/>
          </a:xfrm>
          <a:prstGeom prst="roundRect">
            <a:avLst>
              <a:gd name="adj" fmla="val 2191"/>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1783080"/>
            <a:ext cx="3017520" cy="365760"/>
          </a:xfrm>
          <a:prstGeom prst="rect">
            <a:avLst/>
          </a:prstGeom>
          <a:noFill/>
        </p:spPr>
        <p:txBody>
          <a:bodyPr wrap="square" lIns="0" rIns="0" tIns="0" bIns="0" anchor="t">
            <a:noAutofit/>
          </a:bodyPr>
          <a:lstStyle/>
          <a:p>
            <a:pPr algn="l">
              <a:spcAft>
                <a:spcPts val="600"/>
              </a:spcAft>
            </a:pPr>
            <a:r>
              <a:rPr sz="1700" b="1" i="0">
                <a:solidFill>
                  <a:srgbClr val="14213D"/>
                </a:solidFill>
                <a:latin typeface="Arial"/>
              </a:rPr>
              <a:t>Where data goes missing</a:t>
            </a:r>
            <a:endParaRPr sz="1700"/>
          </a:p>
        </p:txBody>
      </p:sp>
      <p:sp>
        <p:nvSpPr>
          <p:cNvPr id="11" name="TextBox 10"/>
          <p:cNvSpPr txBox="1"/>
          <p:nvPr/>
        </p:nvSpPr>
        <p:spPr>
          <a:xfrm>
            <a:off x="804672" y="2286000"/>
            <a:ext cx="3035808" cy="2514600"/>
          </a:xfrm>
          <a:prstGeom prst="rect">
            <a:avLst/>
          </a:prstGeom>
          <a:noFill/>
        </p:spPr>
        <p:txBody>
          <a:bodyPr wrap="square" lIns="0" rIns="0" tIns="0" bIns="0" anchor="t">
            <a:noAutofit/>
          </a:bodyPr>
          <a:lstStyle/>
          <a:p>
            <a:pPr algn="l" marL="201168" indent="-201168">
              <a:spcAft>
                <a:spcPts val="900"/>
              </a:spcAft>
              <a:buClr>
                <a:srgbClr val="E4572E"/>
              </a:buClr>
              <a:buSzPct val="100000"/>
              <a:buFont typeface="Arial"/>
              <a:buChar char="▪"/>
            </a:pPr>
            <a:r>
              <a:rPr sz="1450" b="0" i="0">
                <a:solidFill>
                  <a:srgbClr val="1F2937"/>
                </a:solidFill>
                <a:latin typeface="Arial"/>
              </a:rPr>
              <a:t>Order-book feeds drop quotes in bursts of cancellations</a:t>
            </a:r>
            <a:endParaRPr sz="1450"/>
          </a:p>
          <a:p>
            <a:pPr algn="l" marL="201168" indent="-201168">
              <a:spcAft>
                <a:spcPts val="900"/>
              </a:spcAft>
              <a:buClr>
                <a:srgbClr val="E4572E"/>
              </a:buClr>
              <a:buSzPct val="100000"/>
              <a:buFont typeface="Arial"/>
              <a:buChar char="▪"/>
            </a:pPr>
            <a:r>
              <a:rPr sz="1450" b="0" i="0">
                <a:solidFill>
                  <a:srgbClr val="1F2937"/>
                </a:solidFill>
                <a:latin typeface="Arial"/>
              </a:rPr>
              <a:t>Trading halts when prices move too violently</a:t>
            </a:r>
            <a:endParaRPr sz="1450"/>
          </a:p>
          <a:p>
            <a:pPr algn="l" marL="201168" indent="-201168">
              <a:spcAft>
                <a:spcPts val="900"/>
              </a:spcAft>
              <a:buClr>
                <a:srgbClr val="E4572E"/>
              </a:buClr>
              <a:buSzPct val="100000"/>
              <a:buFont typeface="Arial"/>
              <a:buChar char="▪"/>
            </a:pPr>
            <a:r>
              <a:rPr sz="1450" b="0" i="0">
                <a:solidFill>
                  <a:srgbClr val="1F2937"/>
                </a:solidFill>
                <a:latin typeface="Arial"/>
              </a:rPr>
              <a:t>OTC bond tenors go unquoted for days</a:t>
            </a:r>
            <a:endParaRPr sz="1450"/>
          </a:p>
          <a:p>
            <a:pPr algn="l" marL="201168" indent="-201168">
              <a:spcAft>
                <a:spcPts val="900"/>
              </a:spcAft>
              <a:buClr>
                <a:srgbClr val="E4572E"/>
              </a:buClr>
              <a:buSzPct val="100000"/>
              <a:buFont typeface="Arial"/>
              <a:buChar char="▪"/>
            </a:pPr>
            <a:r>
              <a:rPr sz="1450" b="0" i="0">
                <a:solidFill>
                  <a:srgbClr val="1F2937"/>
                </a:solidFill>
                <a:latin typeface="Arial"/>
              </a:rPr>
              <a:t>Macro data arrive at mixed frequencies, with lags</a:t>
            </a:r>
            <a:endParaRPr sz="1450"/>
          </a:p>
        </p:txBody>
      </p:sp>
      <p:sp>
        <p:nvSpPr>
          <p:cNvPr id="12" name="Rounded Rectangle 11"/>
          <p:cNvSpPr/>
          <p:nvPr/>
        </p:nvSpPr>
        <p:spPr>
          <a:xfrm>
            <a:off x="4334255" y="1554480"/>
            <a:ext cx="3520440" cy="3337560"/>
          </a:xfrm>
          <a:prstGeom prst="roundRect">
            <a:avLst>
              <a:gd name="adj" fmla="val 2191"/>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0288" y="1783080"/>
            <a:ext cx="3017520" cy="365760"/>
          </a:xfrm>
          <a:prstGeom prst="rect">
            <a:avLst/>
          </a:prstGeom>
          <a:noFill/>
        </p:spPr>
        <p:txBody>
          <a:bodyPr wrap="square" lIns="0" rIns="0" tIns="0" bIns="0" anchor="t">
            <a:noAutofit/>
          </a:bodyPr>
          <a:lstStyle/>
          <a:p>
            <a:pPr algn="l">
              <a:spcAft>
                <a:spcPts val="600"/>
              </a:spcAft>
            </a:pPr>
            <a:r>
              <a:rPr sz="1700" b="1" i="0">
                <a:solidFill>
                  <a:srgbClr val="14213D"/>
                </a:solidFill>
                <a:latin typeface="Arial"/>
              </a:rPr>
              <a:t>The usual fixes distort risk</a:t>
            </a:r>
            <a:endParaRPr sz="1700"/>
          </a:p>
        </p:txBody>
      </p:sp>
      <p:sp>
        <p:nvSpPr>
          <p:cNvPr id="14" name="TextBox 13"/>
          <p:cNvSpPr txBox="1"/>
          <p:nvPr/>
        </p:nvSpPr>
        <p:spPr>
          <a:xfrm>
            <a:off x="4590288" y="2286000"/>
            <a:ext cx="3035808" cy="2514600"/>
          </a:xfrm>
          <a:prstGeom prst="rect">
            <a:avLst/>
          </a:prstGeom>
          <a:noFill/>
        </p:spPr>
        <p:txBody>
          <a:bodyPr wrap="square" lIns="0" rIns="0" tIns="0" bIns="0" anchor="t">
            <a:noAutofit/>
          </a:bodyPr>
          <a:lstStyle/>
          <a:p>
            <a:pPr algn="l" marL="201168" indent="-201168">
              <a:spcAft>
                <a:spcPts val="900"/>
              </a:spcAft>
              <a:buClr>
                <a:srgbClr val="E4572E"/>
              </a:buClr>
              <a:buSzPct val="100000"/>
              <a:buFont typeface="Arial"/>
              <a:buChar char="▪"/>
            </a:pPr>
            <a:r>
              <a:rPr sz="1450" b="0" i="0">
                <a:solidFill>
                  <a:srgbClr val="1F2937"/>
                </a:solidFill>
                <a:latin typeface="Arial"/>
              </a:rPr>
              <a:t>Carrying the last price forward: stale prices bias betas </a:t>
            </a:r>
            <a:r>
              <a:rPr sz="1450" b="0" i="0">
                <a:solidFill>
                  <a:srgbClr val="6B7280"/>
                </a:solidFill>
                <a:latin typeface="Arial"/>
              </a:rPr>
              <a:t>(Scholes and Williams, 1977)</a:t>
            </a:r>
            <a:endParaRPr sz="1450"/>
          </a:p>
          <a:p>
            <a:pPr algn="l" marL="201168" indent="-201168">
              <a:spcAft>
                <a:spcPts val="900"/>
              </a:spcAft>
              <a:buClr>
                <a:srgbClr val="E4572E"/>
              </a:buClr>
              <a:buSzPct val="100000"/>
              <a:buFont typeface="Arial"/>
              <a:buChar char="▪"/>
            </a:pPr>
            <a:r>
              <a:rPr sz="1450" b="0" i="0">
                <a:solidFill>
                  <a:srgbClr val="1F2937"/>
                </a:solidFill>
                <a:latin typeface="Arial"/>
              </a:rPr>
              <a:t>Dropping incomplete dates: unbiased only under MCAR, and much of the sample is lost</a:t>
            </a:r>
            <a:endParaRPr sz="1450"/>
          </a:p>
          <a:p>
            <a:pPr algn="l" marL="201168" indent="-201168">
              <a:spcAft>
                <a:spcPts val="900"/>
              </a:spcAft>
              <a:buClr>
                <a:srgbClr val="E4572E"/>
              </a:buClr>
              <a:buSzPct val="100000"/>
              <a:buFont typeface="Arial"/>
              <a:buChar char="▪"/>
            </a:pPr>
            <a:r>
              <a:rPr sz="1450" b="0" i="0">
                <a:solidFill>
                  <a:srgbClr val="1F2937"/>
                </a:solidFill>
                <a:latin typeface="Arial"/>
              </a:rPr>
              <a:t>Filling with a constant: variances and correlations are damped, even under MCAR</a:t>
            </a:r>
            <a:endParaRPr sz="1450"/>
          </a:p>
        </p:txBody>
      </p:sp>
      <p:sp>
        <p:nvSpPr>
          <p:cNvPr id="15" name="Rounded Rectangle 14"/>
          <p:cNvSpPr/>
          <p:nvPr/>
        </p:nvSpPr>
        <p:spPr>
          <a:xfrm>
            <a:off x="8119871" y="1554480"/>
            <a:ext cx="3520440" cy="3337560"/>
          </a:xfrm>
          <a:prstGeom prst="roundRect">
            <a:avLst>
              <a:gd name="adj" fmla="val 2191"/>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75903" y="1783080"/>
            <a:ext cx="3017520" cy="365760"/>
          </a:xfrm>
          <a:prstGeom prst="rect">
            <a:avLst/>
          </a:prstGeom>
          <a:noFill/>
        </p:spPr>
        <p:txBody>
          <a:bodyPr wrap="square" lIns="0" rIns="0" tIns="0" bIns="0" anchor="t">
            <a:noAutofit/>
          </a:bodyPr>
          <a:lstStyle/>
          <a:p>
            <a:pPr algn="l">
              <a:spcAft>
                <a:spcPts val="600"/>
              </a:spcAft>
            </a:pPr>
            <a:r>
              <a:rPr sz="1700" b="1" i="0">
                <a:solidFill>
                  <a:srgbClr val="14213D"/>
                </a:solidFill>
                <a:latin typeface="Arial"/>
              </a:rPr>
              <a:t>What is left open</a:t>
            </a:r>
            <a:endParaRPr sz="1700"/>
          </a:p>
        </p:txBody>
      </p:sp>
      <p:sp>
        <p:nvSpPr>
          <p:cNvPr id="17" name="TextBox 16"/>
          <p:cNvSpPr txBox="1"/>
          <p:nvPr/>
        </p:nvSpPr>
        <p:spPr>
          <a:xfrm>
            <a:off x="8375903" y="2286000"/>
            <a:ext cx="3035808" cy="2514600"/>
          </a:xfrm>
          <a:prstGeom prst="rect">
            <a:avLst/>
          </a:prstGeom>
          <a:noFill/>
        </p:spPr>
        <p:txBody>
          <a:bodyPr wrap="square" lIns="0" rIns="0" tIns="0" bIns="0" anchor="t">
            <a:noAutofit/>
          </a:bodyPr>
          <a:lstStyle/>
          <a:p>
            <a:pPr algn="l" marL="201168" indent="-201168">
              <a:spcAft>
                <a:spcPts val="900"/>
              </a:spcAft>
              <a:buClr>
                <a:srgbClr val="E4572E"/>
              </a:buClr>
              <a:buSzPct val="100000"/>
              <a:buFont typeface="Arial"/>
              <a:buChar char="▪"/>
            </a:pPr>
            <a:r>
              <a:rPr sz="1450" b="0" i="0">
                <a:solidFill>
                  <a:srgbClr val="1F2937"/>
                </a:solidFill>
                <a:latin typeface="Arial"/>
              </a:rPr>
              <a:t>Deep imputers assume MAR, usually implicitly through their masked training objective</a:t>
            </a:r>
            <a:endParaRPr sz="1450"/>
          </a:p>
          <a:p>
            <a:pPr algn="l" marL="201168" indent="-201168">
              <a:spcAft>
                <a:spcPts val="900"/>
              </a:spcAft>
              <a:buClr>
                <a:srgbClr val="E4572E"/>
              </a:buClr>
              <a:buSzPct val="100000"/>
              <a:buFont typeface="Arial"/>
              <a:buChar char="▪"/>
            </a:pPr>
            <a:r>
              <a:rPr sz="1450" b="0" i="0">
                <a:solidFill>
                  <a:srgbClr val="1F2937"/>
                </a:solidFill>
                <a:latin typeface="Arial"/>
              </a:rPr>
              <a:t>Evaluation is almost always pointwise, RMSE or MAE on masked cells, which says little about the covariance structure</a:t>
            </a:r>
            <a:endParaRPr sz="1450"/>
          </a:p>
        </p:txBody>
      </p:sp>
      <p:sp>
        <p:nvSpPr>
          <p:cNvPr id="18" name="Rounded Rectangle 17"/>
          <p:cNvSpPr/>
          <p:nvPr/>
        </p:nvSpPr>
        <p:spPr>
          <a:xfrm>
            <a:off x="548640" y="5138928"/>
            <a:ext cx="11091672" cy="960120"/>
          </a:xfrm>
          <a:prstGeom prst="roundRect">
            <a:avLst>
              <a:gd name="adj" fmla="val 7619"/>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5138928"/>
            <a:ext cx="10515600" cy="960120"/>
          </a:xfrm>
          <a:prstGeom prst="rect">
            <a:avLst/>
          </a:prstGeom>
          <a:noFill/>
        </p:spPr>
        <p:txBody>
          <a:bodyPr wrap="square" lIns="0" rIns="0" tIns="0" bIns="0" anchor="ctr">
            <a:noAutofit/>
          </a:bodyPr>
          <a:lstStyle/>
          <a:p>
            <a:pPr algn="l">
              <a:spcAft>
                <a:spcPts val="600"/>
              </a:spcAft>
            </a:pPr>
            <a:r>
              <a:rPr sz="1800" b="1" i="0">
                <a:solidFill>
                  <a:srgbClr val="FFFFFF"/>
                </a:solidFill>
                <a:latin typeface="Arial"/>
              </a:rPr>
              <a:t>Aim of the thesis.</a:t>
            </a:r>
            <a:r>
              <a:rPr sz="1800" b="0" i="0">
                <a:solidFill>
                  <a:srgbClr val="FFFFFF"/>
                </a:solidFill>
                <a:latin typeface="Arial"/>
              </a:rPr>
              <a:t>  Evaluate each imputation on its reconstruction accuracy and on the downstream model built on it, against the same model fitted on the complete panel.</a:t>
            </a:r>
            <a:endParaRPr sz="1800"/>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429768"/>
            <a:ext cx="77724" cy="77724"/>
          </a:xfrm>
          <a:prstGeom prst="rect">
            <a:avLst/>
          </a:prstGeom>
          <a:solidFill>
            <a:srgbClr val="C4C9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62940" y="429768"/>
            <a:ext cx="77724" cy="77724"/>
          </a:xfrm>
          <a:prstGeom prst="rect">
            <a:avLst/>
          </a:prstGeom>
          <a:solidFill>
            <a:srgbClr val="C4C9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429768"/>
            <a:ext cx="77724" cy="77724"/>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370332"/>
            <a:ext cx="8229600" cy="274320"/>
          </a:xfrm>
          <a:prstGeom prst="rect">
            <a:avLst/>
          </a:prstGeom>
          <a:noFill/>
        </p:spPr>
        <p:txBody>
          <a:bodyPr wrap="square" lIns="0" rIns="0" tIns="0" bIns="0" anchor="t">
            <a:noAutofit/>
          </a:bodyPr>
          <a:lstStyle/>
          <a:p>
            <a:pPr algn="l">
              <a:spcAft>
                <a:spcPts val="600"/>
              </a:spcAft>
            </a:pPr>
            <a:r>
              <a:rPr sz="1100" b="1" i="0" spc="150">
                <a:solidFill>
                  <a:srgbClr val="E4572E"/>
                </a:solidFill>
                <a:latin typeface="Arial"/>
              </a:rPr>
              <a:t>INTRODUCTION  ·  RESEARCH QUESTIONS</a:t>
            </a:r>
            <a:endParaRPr sz="1100"/>
          </a:p>
        </p:txBody>
      </p:sp>
      <p:sp>
        <p:nvSpPr>
          <p:cNvPr id="6" name="TextBox 5"/>
          <p:cNvSpPr txBox="1"/>
          <p:nvPr/>
        </p:nvSpPr>
        <p:spPr>
          <a:xfrm>
            <a:off x="548640" y="676656"/>
            <a:ext cx="11091672" cy="640080"/>
          </a:xfrm>
          <a:prstGeom prst="rect">
            <a:avLst/>
          </a:prstGeom>
          <a:noFill/>
        </p:spPr>
        <p:txBody>
          <a:bodyPr wrap="square" lIns="0" rIns="0" tIns="0" bIns="0" anchor="t">
            <a:noAutofit/>
          </a:bodyPr>
          <a:lstStyle/>
          <a:p>
            <a:pPr algn="l">
              <a:spcAft>
                <a:spcPts val="600"/>
              </a:spcAft>
            </a:pPr>
            <a:r>
              <a:rPr sz="2600" b="1" i="0">
                <a:solidFill>
                  <a:srgbClr val="14213D"/>
                </a:solidFill>
                <a:latin typeface="Georgia"/>
              </a:rPr>
              <a:t>Four research questions</a:t>
            </a:r>
            <a:endParaRPr sz="2600"/>
          </a:p>
        </p:txBody>
      </p:sp>
      <p:sp>
        <p:nvSpPr>
          <p:cNvPr id="7" name="TextBox 6"/>
          <p:cNvSpPr txBox="1"/>
          <p:nvPr/>
        </p:nvSpPr>
        <p:spPr>
          <a:xfrm>
            <a:off x="548640" y="6419088"/>
            <a:ext cx="5486400" cy="228600"/>
          </a:xfrm>
          <a:prstGeom prst="rect">
            <a:avLst/>
          </a:prstGeom>
          <a:noFill/>
        </p:spPr>
        <p:txBody>
          <a:bodyPr wrap="square" lIns="0" rIns="0" tIns="0" bIns="0" anchor="t">
            <a:noAutofit/>
          </a:bodyPr>
          <a:lstStyle/>
          <a:p>
            <a:pPr algn="l">
              <a:spcAft>
                <a:spcPts val="600"/>
              </a:spcAft>
            </a:pPr>
            <a:r>
              <a:rPr sz="1000" b="0" i="0">
                <a:solidFill>
                  <a:srgbClr val="6B7280"/>
                </a:solidFill>
                <a:latin typeface="Arial"/>
              </a:rPr>
              <a:t>Michele Carlo Fanelli  ·  Bocconi University</a:t>
            </a:r>
            <a:endParaRPr sz="1000"/>
          </a:p>
        </p:txBody>
      </p:sp>
      <p:sp>
        <p:nvSpPr>
          <p:cNvPr id="8" name="TextBox 7"/>
          <p:cNvSpPr txBox="1"/>
          <p:nvPr/>
        </p:nvSpPr>
        <p:spPr>
          <a:xfrm>
            <a:off x="10268712" y="6419088"/>
            <a:ext cx="1371600" cy="228600"/>
          </a:xfrm>
          <a:prstGeom prst="rect">
            <a:avLst/>
          </a:prstGeom>
          <a:noFill/>
        </p:spPr>
        <p:txBody>
          <a:bodyPr wrap="square" lIns="0" rIns="0" tIns="0" bIns="0" anchor="t">
            <a:noAutofit/>
          </a:bodyPr>
          <a:lstStyle/>
          <a:p>
            <a:pPr algn="r">
              <a:spcAft>
                <a:spcPts val="600"/>
              </a:spcAft>
            </a:pPr>
            <a:r>
              <a:rPr sz="1000" b="0" i="0">
                <a:solidFill>
                  <a:srgbClr val="6B7280"/>
                </a:solidFill>
                <a:latin typeface="Arial"/>
              </a:rPr>
              <a:t>3 / 15</a:t>
            </a:r>
            <a:endParaRPr sz="1000"/>
          </a:p>
        </p:txBody>
      </p:sp>
      <p:sp>
        <p:nvSpPr>
          <p:cNvPr id="9" name="Rounded Rectangle 8"/>
          <p:cNvSpPr/>
          <p:nvPr/>
        </p:nvSpPr>
        <p:spPr>
          <a:xfrm>
            <a:off x="548640" y="1554480"/>
            <a:ext cx="5408676" cy="1572768"/>
          </a:xfrm>
          <a:prstGeom prst="roundRect">
            <a:avLst>
              <a:gd name="adj" fmla="val 4651"/>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737360"/>
            <a:ext cx="548640" cy="731520"/>
          </a:xfrm>
          <a:prstGeom prst="rect">
            <a:avLst/>
          </a:prstGeom>
          <a:noFill/>
        </p:spPr>
        <p:txBody>
          <a:bodyPr wrap="square" lIns="0" rIns="0" tIns="0" bIns="0" anchor="t">
            <a:noAutofit/>
          </a:bodyPr>
          <a:lstStyle/>
          <a:p>
            <a:pPr algn="l">
              <a:spcAft>
                <a:spcPts val="600"/>
              </a:spcAft>
            </a:pPr>
            <a:r>
              <a:rPr sz="4000" b="1" i="0">
                <a:solidFill>
                  <a:srgbClr val="E4572E"/>
                </a:solidFill>
                <a:latin typeface="Georgia"/>
              </a:rPr>
              <a:t>1</a:t>
            </a:r>
            <a:endParaRPr sz="4000"/>
          </a:p>
        </p:txBody>
      </p:sp>
      <p:sp>
        <p:nvSpPr>
          <p:cNvPr id="11" name="TextBox 10"/>
          <p:cNvSpPr txBox="1"/>
          <p:nvPr/>
        </p:nvSpPr>
        <p:spPr>
          <a:xfrm>
            <a:off x="1463040" y="1773936"/>
            <a:ext cx="4297680" cy="365760"/>
          </a:xfrm>
          <a:prstGeom prst="rect">
            <a:avLst/>
          </a:prstGeom>
          <a:noFill/>
        </p:spPr>
        <p:txBody>
          <a:bodyPr wrap="square" lIns="0" rIns="0" tIns="0" bIns="0" anchor="t">
            <a:noAutofit/>
          </a:bodyPr>
          <a:lstStyle/>
          <a:p>
            <a:pPr algn="l">
              <a:spcAft>
                <a:spcPts val="600"/>
              </a:spcAft>
            </a:pPr>
            <a:r>
              <a:rPr sz="1700" b="1" i="0">
                <a:solidFill>
                  <a:srgbClr val="14213D"/>
                </a:solidFill>
                <a:latin typeface="Arial"/>
              </a:rPr>
              <a:t>Mechanism or amount?</a:t>
            </a:r>
            <a:endParaRPr sz="1700"/>
          </a:p>
        </p:txBody>
      </p:sp>
      <p:sp>
        <p:nvSpPr>
          <p:cNvPr id="12" name="TextBox 11"/>
          <p:cNvSpPr txBox="1"/>
          <p:nvPr/>
        </p:nvSpPr>
        <p:spPr>
          <a:xfrm>
            <a:off x="1463040" y="2157984"/>
            <a:ext cx="4251960" cy="886968"/>
          </a:xfrm>
          <a:prstGeom prst="rect">
            <a:avLst/>
          </a:prstGeom>
          <a:noFill/>
        </p:spPr>
        <p:txBody>
          <a:bodyPr wrap="square" lIns="0" rIns="0" tIns="0" bIns="0" anchor="t">
            <a:noAutofit/>
          </a:bodyPr>
          <a:lstStyle/>
          <a:p>
            <a:pPr algn="l">
              <a:spcAft>
                <a:spcPts val="600"/>
              </a:spcAft>
            </a:pPr>
            <a:r>
              <a:rPr sz="1400" b="0" i="0">
                <a:solidFill>
                  <a:srgbClr val="1F2937"/>
                </a:solidFill>
                <a:latin typeface="Arial"/>
              </a:rPr>
              <a:t>What drives the damage, the share of missing data or the mechanism that produced it, at comparable shares?</a:t>
            </a:r>
            <a:endParaRPr sz="1400"/>
          </a:p>
        </p:txBody>
      </p:sp>
      <p:sp>
        <p:nvSpPr>
          <p:cNvPr id="13" name="Rounded Rectangle 12"/>
          <p:cNvSpPr/>
          <p:nvPr/>
        </p:nvSpPr>
        <p:spPr>
          <a:xfrm>
            <a:off x="6231636" y="1554480"/>
            <a:ext cx="5408676" cy="1572768"/>
          </a:xfrm>
          <a:prstGeom prst="roundRect">
            <a:avLst>
              <a:gd name="adj" fmla="val 4651"/>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05955" y="1737360"/>
            <a:ext cx="548640" cy="731520"/>
          </a:xfrm>
          <a:prstGeom prst="rect">
            <a:avLst/>
          </a:prstGeom>
          <a:noFill/>
        </p:spPr>
        <p:txBody>
          <a:bodyPr wrap="square" lIns="0" rIns="0" tIns="0" bIns="0" anchor="t">
            <a:noAutofit/>
          </a:bodyPr>
          <a:lstStyle/>
          <a:p>
            <a:pPr algn="l">
              <a:spcAft>
                <a:spcPts val="600"/>
              </a:spcAft>
            </a:pPr>
            <a:r>
              <a:rPr sz="4000" b="1" i="0">
                <a:solidFill>
                  <a:srgbClr val="E4572E"/>
                </a:solidFill>
                <a:latin typeface="Georgia"/>
              </a:rPr>
              <a:t>2</a:t>
            </a:r>
            <a:endParaRPr sz="4000"/>
          </a:p>
        </p:txBody>
      </p:sp>
      <p:sp>
        <p:nvSpPr>
          <p:cNvPr id="15" name="TextBox 14"/>
          <p:cNvSpPr txBox="1"/>
          <p:nvPr/>
        </p:nvSpPr>
        <p:spPr>
          <a:xfrm>
            <a:off x="7146036" y="1773936"/>
            <a:ext cx="4297680" cy="365760"/>
          </a:xfrm>
          <a:prstGeom prst="rect">
            <a:avLst/>
          </a:prstGeom>
          <a:noFill/>
        </p:spPr>
        <p:txBody>
          <a:bodyPr wrap="square" lIns="0" rIns="0" tIns="0" bIns="0" anchor="t">
            <a:noAutofit/>
          </a:bodyPr>
          <a:lstStyle/>
          <a:p>
            <a:pPr algn="l">
              <a:spcAft>
                <a:spcPts val="600"/>
              </a:spcAft>
            </a:pPr>
            <a:r>
              <a:rPr sz="1700" b="1" i="0">
                <a:solidFill>
                  <a:srgbClr val="14213D"/>
                </a:solidFill>
                <a:latin typeface="Arial"/>
              </a:rPr>
              <a:t>Do the deep imputers earn their cost?</a:t>
            </a:r>
            <a:endParaRPr sz="1700"/>
          </a:p>
        </p:txBody>
      </p:sp>
      <p:sp>
        <p:nvSpPr>
          <p:cNvPr id="16" name="TextBox 15"/>
          <p:cNvSpPr txBox="1"/>
          <p:nvPr/>
        </p:nvSpPr>
        <p:spPr>
          <a:xfrm>
            <a:off x="7146036" y="2157984"/>
            <a:ext cx="4251960" cy="886968"/>
          </a:xfrm>
          <a:prstGeom prst="rect">
            <a:avLst/>
          </a:prstGeom>
          <a:noFill/>
        </p:spPr>
        <p:txBody>
          <a:bodyPr wrap="square" lIns="0" rIns="0" tIns="0" bIns="0" anchor="t">
            <a:noAutofit/>
          </a:bodyPr>
          <a:lstStyle/>
          <a:p>
            <a:pPr algn="l">
              <a:spcAft>
                <a:spcPts val="600"/>
              </a:spcAft>
            </a:pPr>
            <a:r>
              <a:rPr sz="1400" b="0" i="0">
                <a:solidFill>
                  <a:srgbClr val="1F2937"/>
                </a:solidFill>
                <a:latin typeface="Arial"/>
              </a:rPr>
              <a:t>Recurrent and diffusion models against classical likelihood and low-rank estimators, with training and sampling time counted.</a:t>
            </a:r>
            <a:endParaRPr sz="1400"/>
          </a:p>
        </p:txBody>
      </p:sp>
      <p:sp>
        <p:nvSpPr>
          <p:cNvPr id="17" name="Rounded Rectangle 16"/>
          <p:cNvSpPr/>
          <p:nvPr/>
        </p:nvSpPr>
        <p:spPr>
          <a:xfrm>
            <a:off x="548640" y="3328415"/>
            <a:ext cx="5408676" cy="1572768"/>
          </a:xfrm>
          <a:prstGeom prst="roundRect">
            <a:avLst>
              <a:gd name="adj" fmla="val 4651"/>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3511296"/>
            <a:ext cx="548640" cy="731520"/>
          </a:xfrm>
          <a:prstGeom prst="rect">
            <a:avLst/>
          </a:prstGeom>
          <a:noFill/>
        </p:spPr>
        <p:txBody>
          <a:bodyPr wrap="square" lIns="0" rIns="0" tIns="0" bIns="0" anchor="t">
            <a:noAutofit/>
          </a:bodyPr>
          <a:lstStyle/>
          <a:p>
            <a:pPr algn="l">
              <a:spcAft>
                <a:spcPts val="600"/>
              </a:spcAft>
            </a:pPr>
            <a:r>
              <a:rPr sz="4000" b="1" i="0">
                <a:solidFill>
                  <a:srgbClr val="E4572E"/>
                </a:solidFill>
                <a:latin typeface="Georgia"/>
              </a:rPr>
              <a:t>3</a:t>
            </a:r>
            <a:endParaRPr sz="4000"/>
          </a:p>
        </p:txBody>
      </p:sp>
      <p:sp>
        <p:nvSpPr>
          <p:cNvPr id="19" name="TextBox 18"/>
          <p:cNvSpPr txBox="1"/>
          <p:nvPr/>
        </p:nvSpPr>
        <p:spPr>
          <a:xfrm>
            <a:off x="1463040" y="3547872"/>
            <a:ext cx="4297680" cy="365760"/>
          </a:xfrm>
          <a:prstGeom prst="rect">
            <a:avLst/>
          </a:prstGeom>
          <a:noFill/>
        </p:spPr>
        <p:txBody>
          <a:bodyPr wrap="square" lIns="0" rIns="0" tIns="0" bIns="0" anchor="t">
            <a:noAutofit/>
          </a:bodyPr>
          <a:lstStyle/>
          <a:p>
            <a:pPr algn="l">
              <a:spcAft>
                <a:spcPts val="600"/>
              </a:spcAft>
            </a:pPr>
            <a:r>
              <a:rPr sz="1700" b="1" i="0">
                <a:solidFill>
                  <a:srgbClr val="14213D"/>
                </a:solidFill>
                <a:latin typeface="Arial"/>
              </a:rPr>
              <a:t>Is pointwise accuracy a good proxy?</a:t>
            </a:r>
            <a:endParaRPr sz="1700"/>
          </a:p>
        </p:txBody>
      </p:sp>
      <p:sp>
        <p:nvSpPr>
          <p:cNvPr id="20" name="TextBox 19"/>
          <p:cNvSpPr txBox="1"/>
          <p:nvPr/>
        </p:nvSpPr>
        <p:spPr>
          <a:xfrm>
            <a:off x="1463040" y="3931920"/>
            <a:ext cx="4251960" cy="886968"/>
          </a:xfrm>
          <a:prstGeom prst="rect">
            <a:avLst/>
          </a:prstGeom>
          <a:noFill/>
        </p:spPr>
        <p:txBody>
          <a:bodyPr wrap="square" lIns="0" rIns="0" tIns="0" bIns="0" anchor="t">
            <a:noAutofit/>
          </a:bodyPr>
          <a:lstStyle/>
          <a:p>
            <a:pPr algn="l">
              <a:spcAft>
                <a:spcPts val="600"/>
              </a:spcAft>
            </a:pPr>
            <a:r>
              <a:rPr sz="1400" b="0" i="0">
                <a:solidFill>
                  <a:srgbClr val="1F2937"/>
                </a:solidFill>
                <a:latin typeface="Arial"/>
              </a:rPr>
              <a:t>Does a method that fills the holes accurately also preserve covariances, tails, marginals and temporal dependence?</a:t>
            </a:r>
            <a:endParaRPr sz="1400"/>
          </a:p>
        </p:txBody>
      </p:sp>
      <p:sp>
        <p:nvSpPr>
          <p:cNvPr id="21" name="Rounded Rectangle 20"/>
          <p:cNvSpPr/>
          <p:nvPr/>
        </p:nvSpPr>
        <p:spPr>
          <a:xfrm>
            <a:off x="6231636" y="3328415"/>
            <a:ext cx="5408676" cy="1572768"/>
          </a:xfrm>
          <a:prstGeom prst="roundRect">
            <a:avLst>
              <a:gd name="adj" fmla="val 4651"/>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05955" y="3511296"/>
            <a:ext cx="548640" cy="731520"/>
          </a:xfrm>
          <a:prstGeom prst="rect">
            <a:avLst/>
          </a:prstGeom>
          <a:noFill/>
        </p:spPr>
        <p:txBody>
          <a:bodyPr wrap="square" lIns="0" rIns="0" tIns="0" bIns="0" anchor="t">
            <a:noAutofit/>
          </a:bodyPr>
          <a:lstStyle/>
          <a:p>
            <a:pPr algn="l">
              <a:spcAft>
                <a:spcPts val="600"/>
              </a:spcAft>
            </a:pPr>
            <a:r>
              <a:rPr sz="4000" b="1" i="0">
                <a:solidFill>
                  <a:srgbClr val="E4572E"/>
                </a:solidFill>
                <a:latin typeface="Georgia"/>
              </a:rPr>
              <a:t>4</a:t>
            </a:r>
            <a:endParaRPr sz="4000"/>
          </a:p>
        </p:txBody>
      </p:sp>
      <p:sp>
        <p:nvSpPr>
          <p:cNvPr id="23" name="TextBox 22"/>
          <p:cNvSpPr txBox="1"/>
          <p:nvPr/>
        </p:nvSpPr>
        <p:spPr>
          <a:xfrm>
            <a:off x="7146036" y="3547872"/>
            <a:ext cx="4297680" cy="365760"/>
          </a:xfrm>
          <a:prstGeom prst="rect">
            <a:avLst/>
          </a:prstGeom>
          <a:noFill/>
        </p:spPr>
        <p:txBody>
          <a:bodyPr wrap="square" lIns="0" rIns="0" tIns="0" bIns="0" anchor="t">
            <a:noAutofit/>
          </a:bodyPr>
          <a:lstStyle/>
          <a:p>
            <a:pPr algn="l">
              <a:spcAft>
                <a:spcPts val="600"/>
              </a:spcAft>
            </a:pPr>
            <a:r>
              <a:rPr sz="1700" b="1" i="0">
                <a:solidFill>
                  <a:srgbClr val="14213D"/>
                </a:solidFill>
                <a:latin typeface="Arial"/>
              </a:rPr>
              <a:t>Do the rankings survive downstream?</a:t>
            </a:r>
            <a:endParaRPr sz="1700"/>
          </a:p>
        </p:txBody>
      </p:sp>
      <p:sp>
        <p:nvSpPr>
          <p:cNvPr id="24" name="TextBox 23"/>
          <p:cNvSpPr txBox="1"/>
          <p:nvPr/>
        </p:nvSpPr>
        <p:spPr>
          <a:xfrm>
            <a:off x="7146036" y="3931920"/>
            <a:ext cx="4251960" cy="886968"/>
          </a:xfrm>
          <a:prstGeom prst="rect">
            <a:avLst/>
          </a:prstGeom>
          <a:noFill/>
        </p:spPr>
        <p:txBody>
          <a:bodyPr wrap="square" lIns="0" rIns="0" tIns="0" bIns="0" anchor="t">
            <a:noAutofit/>
          </a:bodyPr>
          <a:lstStyle/>
          <a:p>
            <a:pPr algn="l">
              <a:spcAft>
                <a:spcPts val="600"/>
              </a:spcAft>
            </a:pPr>
            <a:r>
              <a:rPr sz="1400" b="0" i="0">
                <a:solidFill>
                  <a:srgbClr val="1F2937"/>
                </a:solidFill>
                <a:latin typeface="Arial"/>
              </a:rPr>
              <a:t>Is the ordering given by reconstruction metrics the ordering given by decisions taken on the imputed panel?</a:t>
            </a:r>
            <a:endParaRPr sz="1400"/>
          </a:p>
        </p:txBody>
      </p:sp>
      <p:sp>
        <p:nvSpPr>
          <p:cNvPr id="25" name="TextBox 24"/>
          <p:cNvSpPr txBox="1"/>
          <p:nvPr/>
        </p:nvSpPr>
        <p:spPr>
          <a:xfrm>
            <a:off x="548640" y="5138928"/>
            <a:ext cx="3657600" cy="228600"/>
          </a:xfrm>
          <a:prstGeom prst="rect">
            <a:avLst/>
          </a:prstGeom>
          <a:noFill/>
        </p:spPr>
        <p:txBody>
          <a:bodyPr wrap="square" lIns="0" rIns="0" tIns="0" bIns="0" anchor="t">
            <a:noAutofit/>
          </a:bodyPr>
          <a:lstStyle/>
          <a:p>
            <a:pPr algn="l">
              <a:spcAft>
                <a:spcPts val="600"/>
              </a:spcAft>
            </a:pPr>
            <a:r>
              <a:rPr sz="1000" b="1" i="0" spc="150">
                <a:solidFill>
                  <a:srgbClr val="6B7280"/>
                </a:solidFill>
                <a:latin typeface="Arial"/>
              </a:rPr>
              <a:t>CONTRIBUTIONS</a:t>
            </a:r>
            <a:endParaRPr sz="1000"/>
          </a:p>
        </p:txBody>
      </p:sp>
      <p:sp>
        <p:nvSpPr>
          <p:cNvPr id="26" name="TextBox 25"/>
          <p:cNvSpPr txBox="1"/>
          <p:nvPr/>
        </p:nvSpPr>
        <p:spPr>
          <a:xfrm>
            <a:off x="548640" y="5413248"/>
            <a:ext cx="3520440" cy="868680"/>
          </a:xfrm>
          <a:prstGeom prst="rect">
            <a:avLst/>
          </a:prstGeom>
          <a:noFill/>
        </p:spPr>
        <p:txBody>
          <a:bodyPr wrap="square" lIns="0" rIns="0" tIns="0" bIns="0" anchor="t">
            <a:noAutofit/>
          </a:bodyPr>
          <a:lstStyle/>
          <a:p>
            <a:pPr algn="l">
              <a:spcAft>
                <a:spcPts val="300"/>
              </a:spcAft>
            </a:pPr>
            <a:r>
              <a:rPr sz="1400" b="1" i="0">
                <a:solidFill>
                  <a:srgbClr val="E4572E"/>
                </a:solidFill>
                <a:latin typeface="Arial"/>
              </a:rPr>
              <a:t>Controlled testbed</a:t>
            </a:r>
            <a:endParaRPr sz="1400"/>
          </a:p>
          <a:p>
            <a:pPr algn="l">
              <a:spcAft>
                <a:spcPts val="600"/>
              </a:spcAft>
            </a:pPr>
            <a:r>
              <a:rPr sz="1250" b="0" i="0">
                <a:solidFill>
                  <a:srgbClr val="1F2937"/>
                </a:solidFill>
                <a:latin typeface="Arial"/>
              </a:rPr>
              <a:t>Fifty S&amp;P 500 stocks, three mechanisms at five severities, seven imputers in one framework.</a:t>
            </a:r>
            <a:endParaRPr sz="1250"/>
          </a:p>
        </p:txBody>
      </p:sp>
      <p:sp>
        <p:nvSpPr>
          <p:cNvPr id="27" name="TextBox 26"/>
          <p:cNvSpPr txBox="1"/>
          <p:nvPr/>
        </p:nvSpPr>
        <p:spPr>
          <a:xfrm>
            <a:off x="4334255" y="5413248"/>
            <a:ext cx="3520440" cy="868680"/>
          </a:xfrm>
          <a:prstGeom prst="rect">
            <a:avLst/>
          </a:prstGeom>
          <a:noFill/>
        </p:spPr>
        <p:txBody>
          <a:bodyPr wrap="square" lIns="0" rIns="0" tIns="0" bIns="0" anchor="t">
            <a:noAutofit/>
          </a:bodyPr>
          <a:lstStyle/>
          <a:p>
            <a:pPr algn="l">
              <a:spcAft>
                <a:spcPts val="300"/>
              </a:spcAft>
            </a:pPr>
            <a:r>
              <a:rPr sz="1400" b="1" i="0">
                <a:solidFill>
                  <a:srgbClr val="E4572E"/>
                </a:solidFill>
                <a:latin typeface="Arial"/>
              </a:rPr>
              <a:t>Evaluation suite</a:t>
            </a:r>
            <a:endParaRPr sz="1400"/>
          </a:p>
          <a:p>
            <a:pPr algn="l">
              <a:spcAft>
                <a:spcPts val="600"/>
              </a:spcAft>
            </a:pPr>
            <a:r>
              <a:rPr sz="1250" b="0" i="0">
                <a:solidFill>
                  <a:srgbClr val="1F2937"/>
                </a:solidFill>
                <a:latin typeface="Arial"/>
              </a:rPr>
              <a:t>Past reconstruction error: covariance, Value-at-Risk, Wasserstein, volatility clustering and leverage.</a:t>
            </a:r>
            <a:endParaRPr sz="1250"/>
          </a:p>
        </p:txBody>
      </p:sp>
      <p:sp>
        <p:nvSpPr>
          <p:cNvPr id="28" name="TextBox 27"/>
          <p:cNvSpPr txBox="1"/>
          <p:nvPr/>
        </p:nvSpPr>
        <p:spPr>
          <a:xfrm>
            <a:off x="8119871" y="5413248"/>
            <a:ext cx="3520440" cy="868680"/>
          </a:xfrm>
          <a:prstGeom prst="rect">
            <a:avLst/>
          </a:prstGeom>
          <a:noFill/>
        </p:spPr>
        <p:txBody>
          <a:bodyPr wrap="square" lIns="0" rIns="0" tIns="0" bIns="0" anchor="t">
            <a:noAutofit/>
          </a:bodyPr>
          <a:lstStyle/>
          <a:p>
            <a:pPr algn="l">
              <a:spcAft>
                <a:spcPts val="300"/>
              </a:spcAft>
            </a:pPr>
            <a:r>
              <a:rPr sz="1400" b="1" i="0">
                <a:solidFill>
                  <a:srgbClr val="E4572E"/>
                </a:solidFill>
                <a:latin typeface="Arial"/>
              </a:rPr>
              <a:t>Downstream evaluations</a:t>
            </a:r>
            <a:endParaRPr sz="1400"/>
          </a:p>
          <a:p>
            <a:pPr algn="l">
              <a:spcAft>
                <a:spcPts val="600"/>
              </a:spcAft>
            </a:pPr>
            <a:r>
              <a:rPr sz="1250" b="0" i="0">
                <a:solidFill>
                  <a:srgbClr val="1F2937"/>
                </a:solidFill>
                <a:latin typeface="Arial"/>
              </a:rPr>
              <a:t>Tangency portfolio and factor structure, ranking imputers against each other and an oracle.</a:t>
            </a:r>
            <a:endParaRPr sz="1250"/>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429768"/>
            <a:ext cx="77724" cy="77724"/>
          </a:xfrm>
          <a:prstGeom prst="rect">
            <a:avLst/>
          </a:prstGeom>
          <a:solidFill>
            <a:srgbClr val="C4C9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62940" y="429768"/>
            <a:ext cx="77724" cy="77724"/>
          </a:xfrm>
          <a:prstGeom prst="rect">
            <a:avLst/>
          </a:prstGeom>
          <a:solidFill>
            <a:srgbClr val="C4C9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429768"/>
            <a:ext cx="77724" cy="77724"/>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370332"/>
            <a:ext cx="8229600" cy="274320"/>
          </a:xfrm>
          <a:prstGeom prst="rect">
            <a:avLst/>
          </a:prstGeom>
          <a:noFill/>
        </p:spPr>
        <p:txBody>
          <a:bodyPr wrap="square" lIns="0" rIns="0" tIns="0" bIns="0" anchor="t">
            <a:noAutofit/>
          </a:bodyPr>
          <a:lstStyle/>
          <a:p>
            <a:pPr algn="l">
              <a:spcAft>
                <a:spcPts val="600"/>
              </a:spcAft>
            </a:pPr>
            <a:r>
              <a:rPr sz="1100" b="1" i="0" spc="150">
                <a:solidFill>
                  <a:srgbClr val="E4572E"/>
                </a:solidFill>
                <a:latin typeface="Arial"/>
              </a:rPr>
              <a:t>METHODOLOGY  ·  DATA AND DESIGN</a:t>
            </a:r>
            <a:endParaRPr sz="1100"/>
          </a:p>
        </p:txBody>
      </p:sp>
      <p:sp>
        <p:nvSpPr>
          <p:cNvPr id="6" name="TextBox 5"/>
          <p:cNvSpPr txBox="1"/>
          <p:nvPr/>
        </p:nvSpPr>
        <p:spPr>
          <a:xfrm>
            <a:off x="548640" y="676656"/>
            <a:ext cx="11091672" cy="640080"/>
          </a:xfrm>
          <a:prstGeom prst="rect">
            <a:avLst/>
          </a:prstGeom>
          <a:noFill/>
        </p:spPr>
        <p:txBody>
          <a:bodyPr wrap="square" lIns="0" rIns="0" tIns="0" bIns="0" anchor="t">
            <a:noAutofit/>
          </a:bodyPr>
          <a:lstStyle/>
          <a:p>
            <a:pPr algn="l">
              <a:spcAft>
                <a:spcPts val="600"/>
              </a:spcAft>
            </a:pPr>
            <a:r>
              <a:rPr sz="2600" b="1" i="0">
                <a:solidFill>
                  <a:srgbClr val="14213D"/>
                </a:solidFill>
                <a:latin typeface="Georgia"/>
              </a:rPr>
              <a:t>A controlled experiment on a complete equity panel</a:t>
            </a:r>
            <a:endParaRPr sz="2600"/>
          </a:p>
        </p:txBody>
      </p:sp>
      <p:sp>
        <p:nvSpPr>
          <p:cNvPr id="7" name="TextBox 6"/>
          <p:cNvSpPr txBox="1"/>
          <p:nvPr/>
        </p:nvSpPr>
        <p:spPr>
          <a:xfrm>
            <a:off x="548640" y="6419088"/>
            <a:ext cx="5486400" cy="228600"/>
          </a:xfrm>
          <a:prstGeom prst="rect">
            <a:avLst/>
          </a:prstGeom>
          <a:noFill/>
        </p:spPr>
        <p:txBody>
          <a:bodyPr wrap="square" lIns="0" rIns="0" tIns="0" bIns="0" anchor="t">
            <a:noAutofit/>
          </a:bodyPr>
          <a:lstStyle/>
          <a:p>
            <a:pPr algn="l">
              <a:spcAft>
                <a:spcPts val="600"/>
              </a:spcAft>
            </a:pPr>
            <a:r>
              <a:rPr sz="1000" b="0" i="0">
                <a:solidFill>
                  <a:srgbClr val="6B7280"/>
                </a:solidFill>
                <a:latin typeface="Arial"/>
              </a:rPr>
              <a:t>Michele Carlo Fanelli  ·  Bocconi University</a:t>
            </a:r>
            <a:endParaRPr sz="1000"/>
          </a:p>
        </p:txBody>
      </p:sp>
      <p:sp>
        <p:nvSpPr>
          <p:cNvPr id="8" name="TextBox 7"/>
          <p:cNvSpPr txBox="1"/>
          <p:nvPr/>
        </p:nvSpPr>
        <p:spPr>
          <a:xfrm>
            <a:off x="10268712" y="6419088"/>
            <a:ext cx="1371600" cy="228600"/>
          </a:xfrm>
          <a:prstGeom prst="rect">
            <a:avLst/>
          </a:prstGeom>
          <a:noFill/>
        </p:spPr>
        <p:txBody>
          <a:bodyPr wrap="square" lIns="0" rIns="0" tIns="0" bIns="0" anchor="t">
            <a:noAutofit/>
          </a:bodyPr>
          <a:lstStyle/>
          <a:p>
            <a:pPr algn="r">
              <a:spcAft>
                <a:spcPts val="600"/>
              </a:spcAft>
            </a:pPr>
            <a:r>
              <a:rPr sz="1000" b="0" i="0">
                <a:solidFill>
                  <a:srgbClr val="6B7280"/>
                </a:solidFill>
                <a:latin typeface="Arial"/>
              </a:rPr>
              <a:t>4 / 15</a:t>
            </a:r>
            <a:endParaRPr sz="1000"/>
          </a:p>
        </p:txBody>
      </p:sp>
      <p:sp>
        <p:nvSpPr>
          <p:cNvPr id="9" name="Rounded Rectangle 8"/>
          <p:cNvSpPr/>
          <p:nvPr/>
        </p:nvSpPr>
        <p:spPr>
          <a:xfrm>
            <a:off x="548640" y="1572768"/>
            <a:ext cx="2487168" cy="2697480"/>
          </a:xfrm>
          <a:prstGeom prst="roundRect">
            <a:avLst>
              <a:gd name="adj" fmla="val 2941"/>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77240" y="1801368"/>
            <a:ext cx="384048" cy="384048"/>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801368"/>
            <a:ext cx="384048" cy="384048"/>
          </a:xfrm>
          <a:prstGeom prst="rect">
            <a:avLst/>
          </a:prstGeom>
          <a:noFill/>
        </p:spPr>
        <p:txBody>
          <a:bodyPr wrap="square" lIns="0" rIns="0" tIns="0" bIns="0" anchor="ctr">
            <a:noAutofit/>
          </a:bodyPr>
          <a:lstStyle/>
          <a:p>
            <a:pPr algn="ctr">
              <a:spcAft>
                <a:spcPts val="600"/>
              </a:spcAft>
            </a:pPr>
            <a:r>
              <a:rPr sz="1500" b="1" i="0">
                <a:solidFill>
                  <a:srgbClr val="FFFFFF"/>
                </a:solidFill>
                <a:latin typeface="Arial"/>
              </a:rPr>
              <a:t>1</a:t>
            </a:r>
            <a:endParaRPr sz="1500"/>
          </a:p>
        </p:txBody>
      </p:sp>
      <p:sp>
        <p:nvSpPr>
          <p:cNvPr id="12" name="TextBox 11"/>
          <p:cNvSpPr txBox="1"/>
          <p:nvPr/>
        </p:nvSpPr>
        <p:spPr>
          <a:xfrm>
            <a:off x="1280160" y="1837943"/>
            <a:ext cx="1618488" cy="365760"/>
          </a:xfrm>
          <a:prstGeom prst="rect">
            <a:avLst/>
          </a:prstGeom>
          <a:noFill/>
        </p:spPr>
        <p:txBody>
          <a:bodyPr wrap="square" lIns="0" rIns="0" tIns="0" bIns="0" anchor="t">
            <a:noAutofit/>
          </a:bodyPr>
          <a:lstStyle/>
          <a:p>
            <a:pPr algn="l">
              <a:spcAft>
                <a:spcPts val="600"/>
              </a:spcAft>
            </a:pPr>
            <a:r>
              <a:rPr sz="1550" b="1" i="0">
                <a:solidFill>
                  <a:srgbClr val="14213D"/>
                </a:solidFill>
                <a:latin typeface="Arial"/>
              </a:rPr>
              <a:t>Complete panel</a:t>
            </a:r>
            <a:endParaRPr sz="1550"/>
          </a:p>
        </p:txBody>
      </p:sp>
      <p:sp>
        <p:nvSpPr>
          <p:cNvPr id="13" name="TextBox 12"/>
          <p:cNvSpPr txBox="1"/>
          <p:nvPr/>
        </p:nvSpPr>
        <p:spPr>
          <a:xfrm>
            <a:off x="777240" y="2377440"/>
            <a:ext cx="2075688" cy="1325880"/>
          </a:xfrm>
          <a:prstGeom prst="rect">
            <a:avLst/>
          </a:prstGeom>
          <a:noFill/>
        </p:spPr>
        <p:txBody>
          <a:bodyPr wrap="square" lIns="0" rIns="0" tIns="0" bIns="0" anchor="t">
            <a:noAutofit/>
          </a:bodyPr>
          <a:lstStyle/>
          <a:p>
            <a:pPr algn="l">
              <a:spcAft>
                <a:spcPts val="600"/>
              </a:spcAft>
            </a:pPr>
            <a:r>
              <a:rPr sz="1250" b="0" i="0">
                <a:solidFill>
                  <a:srgbClr val="1F2937"/>
                </a:solidFill>
                <a:latin typeface="Arial"/>
              </a:rPr>
              <a:t>S&amp;P 500 end-of-day prices, 1/1/2010 to 30/5/2026. Stocks with any missing price removed; 50 sampled across industries.</a:t>
            </a:r>
            <a:endParaRPr sz="1250"/>
          </a:p>
        </p:txBody>
      </p:sp>
      <p:sp>
        <p:nvSpPr>
          <p:cNvPr id="14" name="TextBox 13"/>
          <p:cNvSpPr txBox="1"/>
          <p:nvPr/>
        </p:nvSpPr>
        <p:spPr>
          <a:xfrm>
            <a:off x="777240" y="3767328"/>
            <a:ext cx="2121408" cy="320040"/>
          </a:xfrm>
          <a:prstGeom prst="rect">
            <a:avLst/>
          </a:prstGeom>
          <a:noFill/>
        </p:spPr>
        <p:txBody>
          <a:bodyPr wrap="square" lIns="0" rIns="0" tIns="0" bIns="0" anchor="t">
            <a:noAutofit/>
          </a:bodyPr>
          <a:lstStyle/>
          <a:p>
            <a:pPr algn="l">
              <a:spcAft>
                <a:spcPts val="600"/>
              </a:spcAft>
            </a:pPr>
            <a:r>
              <a:rPr sz="1500" b="1" i="0">
                <a:solidFill>
                  <a:srgbClr val="14213D"/>
                </a:solidFill>
                <a:latin typeface="Arial"/>
              </a:rPr>
              <a:t>4125 × 50 panel</a:t>
            </a:r>
            <a:endParaRPr sz="1500"/>
          </a:p>
        </p:txBody>
      </p:sp>
      <p:sp>
        <p:nvSpPr>
          <p:cNvPr id="15" name="Right Arrow 14"/>
          <p:cNvSpPr/>
          <p:nvPr/>
        </p:nvSpPr>
        <p:spPr>
          <a:xfrm>
            <a:off x="3108960" y="2802636"/>
            <a:ext cx="235000" cy="237744"/>
          </a:xfrm>
          <a:prstGeom prst="rightArrow">
            <a:avLst/>
          </a:prstGeom>
          <a:solidFill>
            <a:srgbClr val="9AA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3417112" y="1572768"/>
            <a:ext cx="2487168" cy="2697480"/>
          </a:xfrm>
          <a:prstGeom prst="roundRect">
            <a:avLst>
              <a:gd name="adj" fmla="val 2941"/>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45712" y="1801368"/>
            <a:ext cx="384048" cy="384048"/>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45712" y="1801368"/>
            <a:ext cx="384048" cy="384048"/>
          </a:xfrm>
          <a:prstGeom prst="rect">
            <a:avLst/>
          </a:prstGeom>
          <a:noFill/>
        </p:spPr>
        <p:txBody>
          <a:bodyPr wrap="square" lIns="0" rIns="0" tIns="0" bIns="0" anchor="ctr">
            <a:noAutofit/>
          </a:bodyPr>
          <a:lstStyle/>
          <a:p>
            <a:pPr algn="ctr">
              <a:spcAft>
                <a:spcPts val="600"/>
              </a:spcAft>
            </a:pPr>
            <a:r>
              <a:rPr sz="1500" b="1" i="0">
                <a:solidFill>
                  <a:srgbClr val="FFFFFF"/>
                </a:solidFill>
                <a:latin typeface="Arial"/>
              </a:rPr>
              <a:t>2</a:t>
            </a:r>
            <a:endParaRPr sz="1500"/>
          </a:p>
        </p:txBody>
      </p:sp>
      <p:sp>
        <p:nvSpPr>
          <p:cNvPr id="19" name="TextBox 18"/>
          <p:cNvSpPr txBox="1"/>
          <p:nvPr/>
        </p:nvSpPr>
        <p:spPr>
          <a:xfrm>
            <a:off x="4148632" y="1837943"/>
            <a:ext cx="1618488" cy="365760"/>
          </a:xfrm>
          <a:prstGeom prst="rect">
            <a:avLst/>
          </a:prstGeom>
          <a:noFill/>
        </p:spPr>
        <p:txBody>
          <a:bodyPr wrap="square" lIns="0" rIns="0" tIns="0" bIns="0" anchor="t">
            <a:noAutofit/>
          </a:bodyPr>
          <a:lstStyle/>
          <a:p>
            <a:pPr algn="l">
              <a:spcAft>
                <a:spcPts val="600"/>
              </a:spcAft>
            </a:pPr>
            <a:r>
              <a:rPr sz="1550" b="1" i="0">
                <a:solidFill>
                  <a:srgbClr val="14213D"/>
                </a:solidFill>
                <a:latin typeface="Arial"/>
              </a:rPr>
              <a:t>Inject missingness</a:t>
            </a:r>
            <a:endParaRPr sz="1550"/>
          </a:p>
        </p:txBody>
      </p:sp>
      <p:sp>
        <p:nvSpPr>
          <p:cNvPr id="20" name="TextBox 19"/>
          <p:cNvSpPr txBox="1"/>
          <p:nvPr/>
        </p:nvSpPr>
        <p:spPr>
          <a:xfrm>
            <a:off x="3645712" y="2377440"/>
            <a:ext cx="2075688" cy="1325880"/>
          </a:xfrm>
          <a:prstGeom prst="rect">
            <a:avLst/>
          </a:prstGeom>
          <a:noFill/>
        </p:spPr>
        <p:txBody>
          <a:bodyPr wrap="square" lIns="0" rIns="0" tIns="0" bIns="0" anchor="t">
            <a:noAutofit/>
          </a:bodyPr>
          <a:lstStyle/>
          <a:p>
            <a:pPr algn="l">
              <a:spcAft>
                <a:spcPts val="600"/>
              </a:spcAft>
            </a:pPr>
            <a:r>
              <a:rPr sz="1250" b="0" i="0">
                <a:solidFill>
                  <a:srgbClr val="1F2937"/>
                </a:solidFill>
                <a:latin typeface="Arial"/>
              </a:rPr>
              <a:t>Three mechanisms, two MCAR and one MNAR, five levels each, matched on the expected share of missing cells.</a:t>
            </a:r>
            <a:endParaRPr sz="1250"/>
          </a:p>
        </p:txBody>
      </p:sp>
      <p:sp>
        <p:nvSpPr>
          <p:cNvPr id="21" name="TextBox 20"/>
          <p:cNvSpPr txBox="1"/>
          <p:nvPr/>
        </p:nvSpPr>
        <p:spPr>
          <a:xfrm>
            <a:off x="3645712" y="3767328"/>
            <a:ext cx="2121408" cy="320040"/>
          </a:xfrm>
          <a:prstGeom prst="rect">
            <a:avLst/>
          </a:prstGeom>
          <a:noFill/>
        </p:spPr>
        <p:txBody>
          <a:bodyPr wrap="square" lIns="0" rIns="0" tIns="0" bIns="0" anchor="t">
            <a:noAutofit/>
          </a:bodyPr>
          <a:lstStyle/>
          <a:p>
            <a:pPr algn="l">
              <a:spcAft>
                <a:spcPts val="600"/>
              </a:spcAft>
            </a:pPr>
            <a:r>
              <a:rPr sz="1500" b="1" i="0">
                <a:solidFill>
                  <a:srgbClr val="14213D"/>
                </a:solidFill>
                <a:latin typeface="Arial"/>
              </a:rPr>
              <a:t>15 corrupted panels</a:t>
            </a:r>
            <a:endParaRPr sz="1500"/>
          </a:p>
        </p:txBody>
      </p:sp>
      <p:sp>
        <p:nvSpPr>
          <p:cNvPr id="22" name="Right Arrow 21"/>
          <p:cNvSpPr/>
          <p:nvPr/>
        </p:nvSpPr>
        <p:spPr>
          <a:xfrm>
            <a:off x="5977432" y="2802636"/>
            <a:ext cx="235000" cy="237744"/>
          </a:xfrm>
          <a:prstGeom prst="rightArrow">
            <a:avLst/>
          </a:prstGeom>
          <a:solidFill>
            <a:srgbClr val="9AA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285585" y="1572768"/>
            <a:ext cx="2487168" cy="2697480"/>
          </a:xfrm>
          <a:prstGeom prst="roundRect">
            <a:avLst>
              <a:gd name="adj" fmla="val 2941"/>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514185" y="1801368"/>
            <a:ext cx="384048" cy="384048"/>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14185" y="1801368"/>
            <a:ext cx="384048" cy="384048"/>
          </a:xfrm>
          <a:prstGeom prst="rect">
            <a:avLst/>
          </a:prstGeom>
          <a:noFill/>
        </p:spPr>
        <p:txBody>
          <a:bodyPr wrap="square" lIns="0" rIns="0" tIns="0" bIns="0" anchor="ctr">
            <a:noAutofit/>
          </a:bodyPr>
          <a:lstStyle/>
          <a:p>
            <a:pPr algn="ctr">
              <a:spcAft>
                <a:spcPts val="600"/>
              </a:spcAft>
            </a:pPr>
            <a:r>
              <a:rPr sz="1500" b="1" i="0">
                <a:solidFill>
                  <a:srgbClr val="FFFFFF"/>
                </a:solidFill>
                <a:latin typeface="Arial"/>
              </a:rPr>
              <a:t>3</a:t>
            </a:r>
            <a:endParaRPr sz="1500"/>
          </a:p>
        </p:txBody>
      </p:sp>
      <p:sp>
        <p:nvSpPr>
          <p:cNvPr id="26" name="TextBox 25"/>
          <p:cNvSpPr txBox="1"/>
          <p:nvPr/>
        </p:nvSpPr>
        <p:spPr>
          <a:xfrm>
            <a:off x="7017105" y="1837943"/>
            <a:ext cx="1618488" cy="365760"/>
          </a:xfrm>
          <a:prstGeom prst="rect">
            <a:avLst/>
          </a:prstGeom>
          <a:noFill/>
        </p:spPr>
        <p:txBody>
          <a:bodyPr wrap="square" lIns="0" rIns="0" tIns="0" bIns="0" anchor="t">
            <a:noAutofit/>
          </a:bodyPr>
          <a:lstStyle/>
          <a:p>
            <a:pPr algn="l">
              <a:spcAft>
                <a:spcPts val="600"/>
              </a:spcAft>
            </a:pPr>
            <a:r>
              <a:rPr sz="1550" b="1" i="0">
                <a:solidFill>
                  <a:srgbClr val="14213D"/>
                </a:solidFill>
                <a:latin typeface="Arial"/>
              </a:rPr>
              <a:t>Impute</a:t>
            </a:r>
            <a:endParaRPr sz="1550"/>
          </a:p>
        </p:txBody>
      </p:sp>
      <p:sp>
        <p:nvSpPr>
          <p:cNvPr id="27" name="TextBox 26"/>
          <p:cNvSpPr txBox="1"/>
          <p:nvPr/>
        </p:nvSpPr>
        <p:spPr>
          <a:xfrm>
            <a:off x="6514185" y="2377440"/>
            <a:ext cx="2075688" cy="1325880"/>
          </a:xfrm>
          <a:prstGeom prst="rect">
            <a:avLst/>
          </a:prstGeom>
          <a:noFill/>
        </p:spPr>
        <p:txBody>
          <a:bodyPr wrap="square" lIns="0" rIns="0" tIns="0" bIns="0" anchor="t">
            <a:noAutofit/>
          </a:bodyPr>
          <a:lstStyle/>
          <a:p>
            <a:pPr algn="l">
              <a:spcAft>
                <a:spcPts val="600"/>
              </a:spcAft>
            </a:pPr>
            <a:r>
              <a:rPr sz="1250" b="0" i="0">
                <a:solidFill>
                  <a:srgbClr val="1F2937"/>
                </a:solidFill>
                <a:latin typeface="Arial"/>
              </a:rPr>
              <a:t>Seven methods, from deletion to conditional diffusion, run on every corrupted panel.</a:t>
            </a:r>
            <a:endParaRPr sz="1250"/>
          </a:p>
        </p:txBody>
      </p:sp>
      <p:sp>
        <p:nvSpPr>
          <p:cNvPr id="28" name="TextBox 27"/>
          <p:cNvSpPr txBox="1"/>
          <p:nvPr/>
        </p:nvSpPr>
        <p:spPr>
          <a:xfrm>
            <a:off x="6514185" y="3767328"/>
            <a:ext cx="2121408" cy="320040"/>
          </a:xfrm>
          <a:prstGeom prst="rect">
            <a:avLst/>
          </a:prstGeom>
          <a:noFill/>
        </p:spPr>
        <p:txBody>
          <a:bodyPr wrap="square" lIns="0" rIns="0" tIns="0" bIns="0" anchor="t">
            <a:noAutofit/>
          </a:bodyPr>
          <a:lstStyle/>
          <a:p>
            <a:pPr algn="l">
              <a:spcAft>
                <a:spcPts val="600"/>
              </a:spcAft>
            </a:pPr>
            <a:r>
              <a:rPr sz="1500" b="1" i="0">
                <a:solidFill>
                  <a:srgbClr val="14213D"/>
                </a:solidFill>
                <a:latin typeface="Arial"/>
              </a:rPr>
              <a:t>105 runs (7 × 15)</a:t>
            </a:r>
            <a:endParaRPr sz="1500"/>
          </a:p>
        </p:txBody>
      </p:sp>
      <p:sp>
        <p:nvSpPr>
          <p:cNvPr id="29" name="Right Arrow 28"/>
          <p:cNvSpPr/>
          <p:nvPr/>
        </p:nvSpPr>
        <p:spPr>
          <a:xfrm>
            <a:off x="8845905" y="2802636"/>
            <a:ext cx="235000" cy="237744"/>
          </a:xfrm>
          <a:prstGeom prst="rightArrow">
            <a:avLst/>
          </a:prstGeom>
          <a:solidFill>
            <a:srgbClr val="9AA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9154058" y="1572768"/>
            <a:ext cx="2487168" cy="2697480"/>
          </a:xfrm>
          <a:prstGeom prst="roundRect">
            <a:avLst>
              <a:gd name="adj" fmla="val 2941"/>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9382658" y="1801368"/>
            <a:ext cx="384048" cy="384048"/>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382658" y="1801368"/>
            <a:ext cx="384048" cy="384048"/>
          </a:xfrm>
          <a:prstGeom prst="rect">
            <a:avLst/>
          </a:prstGeom>
          <a:noFill/>
        </p:spPr>
        <p:txBody>
          <a:bodyPr wrap="square" lIns="0" rIns="0" tIns="0" bIns="0" anchor="ctr">
            <a:noAutofit/>
          </a:bodyPr>
          <a:lstStyle/>
          <a:p>
            <a:pPr algn="ctr">
              <a:spcAft>
                <a:spcPts val="600"/>
              </a:spcAft>
            </a:pPr>
            <a:r>
              <a:rPr sz="1500" b="1" i="0">
                <a:solidFill>
                  <a:srgbClr val="FFFFFF"/>
                </a:solidFill>
                <a:latin typeface="Arial"/>
              </a:rPr>
              <a:t>4</a:t>
            </a:r>
            <a:endParaRPr sz="1500"/>
          </a:p>
        </p:txBody>
      </p:sp>
      <p:sp>
        <p:nvSpPr>
          <p:cNvPr id="33" name="TextBox 32"/>
          <p:cNvSpPr txBox="1"/>
          <p:nvPr/>
        </p:nvSpPr>
        <p:spPr>
          <a:xfrm>
            <a:off x="9885578" y="1837943"/>
            <a:ext cx="1618488" cy="365760"/>
          </a:xfrm>
          <a:prstGeom prst="rect">
            <a:avLst/>
          </a:prstGeom>
          <a:noFill/>
        </p:spPr>
        <p:txBody>
          <a:bodyPr wrap="square" lIns="0" rIns="0" tIns="0" bIns="0" anchor="t">
            <a:noAutofit/>
          </a:bodyPr>
          <a:lstStyle/>
          <a:p>
            <a:pPr algn="l">
              <a:spcAft>
                <a:spcPts val="600"/>
              </a:spcAft>
            </a:pPr>
            <a:r>
              <a:rPr sz="1550" b="1" i="0">
                <a:solidFill>
                  <a:srgbClr val="14213D"/>
                </a:solidFill>
                <a:latin typeface="Arial"/>
              </a:rPr>
              <a:t>Evaluate</a:t>
            </a:r>
            <a:endParaRPr sz="1550"/>
          </a:p>
        </p:txBody>
      </p:sp>
      <p:sp>
        <p:nvSpPr>
          <p:cNvPr id="34" name="TextBox 33"/>
          <p:cNvSpPr txBox="1"/>
          <p:nvPr/>
        </p:nvSpPr>
        <p:spPr>
          <a:xfrm>
            <a:off x="9382658" y="2377440"/>
            <a:ext cx="2075688" cy="1325880"/>
          </a:xfrm>
          <a:prstGeom prst="rect">
            <a:avLst/>
          </a:prstGeom>
          <a:noFill/>
        </p:spPr>
        <p:txBody>
          <a:bodyPr wrap="square" lIns="0" rIns="0" tIns="0" bIns="0" anchor="t">
            <a:noAutofit/>
          </a:bodyPr>
          <a:lstStyle/>
          <a:p>
            <a:pPr algn="l">
              <a:spcAft>
                <a:spcPts val="600"/>
              </a:spcAft>
            </a:pPr>
            <a:r>
              <a:rPr sz="1250" b="0" i="0">
                <a:solidFill>
                  <a:srgbClr val="1F2937"/>
                </a:solidFill>
                <a:latin typeface="Arial"/>
              </a:rPr>
              <a:t>Seven metrics against the true panel; two downstream models against an oracle fitted on it.</a:t>
            </a:r>
            <a:endParaRPr sz="1250"/>
          </a:p>
        </p:txBody>
      </p:sp>
      <p:sp>
        <p:nvSpPr>
          <p:cNvPr id="35" name="TextBox 34"/>
          <p:cNvSpPr txBox="1"/>
          <p:nvPr/>
        </p:nvSpPr>
        <p:spPr>
          <a:xfrm>
            <a:off x="9382658" y="3767328"/>
            <a:ext cx="2121408" cy="320040"/>
          </a:xfrm>
          <a:prstGeom prst="rect">
            <a:avLst/>
          </a:prstGeom>
          <a:noFill/>
        </p:spPr>
        <p:txBody>
          <a:bodyPr wrap="square" lIns="0" rIns="0" tIns="0" bIns="0" anchor="t">
            <a:noAutofit/>
          </a:bodyPr>
          <a:lstStyle/>
          <a:p>
            <a:pPr algn="l">
              <a:spcAft>
                <a:spcPts val="600"/>
              </a:spcAft>
            </a:pPr>
            <a:r>
              <a:rPr sz="1500" b="1" i="0">
                <a:solidFill>
                  <a:srgbClr val="14213D"/>
                </a:solidFill>
                <a:latin typeface="Arial"/>
              </a:rPr>
              <a:t>7 metrics + 2 models</a:t>
            </a:r>
            <a:endParaRPr sz="1500"/>
          </a:p>
        </p:txBody>
      </p:sp>
      <p:sp>
        <p:nvSpPr>
          <p:cNvPr id="36" name="Rectangle 35"/>
          <p:cNvSpPr/>
          <p:nvPr/>
        </p:nvSpPr>
        <p:spPr>
          <a:xfrm>
            <a:off x="548640" y="4690872"/>
            <a:ext cx="77724" cy="77724"/>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49808" y="4572000"/>
            <a:ext cx="5120640" cy="320040"/>
          </a:xfrm>
          <a:prstGeom prst="rect">
            <a:avLst/>
          </a:prstGeom>
          <a:noFill/>
        </p:spPr>
        <p:txBody>
          <a:bodyPr wrap="square" lIns="0" rIns="0" tIns="0" bIns="0" anchor="t">
            <a:noAutofit/>
          </a:bodyPr>
          <a:lstStyle/>
          <a:p>
            <a:pPr algn="l">
              <a:spcAft>
                <a:spcPts val="600"/>
              </a:spcAft>
            </a:pPr>
            <a:r>
              <a:rPr sz="1600" b="1" i="0">
                <a:solidFill>
                  <a:srgbClr val="14213D"/>
                </a:solidFill>
                <a:latin typeface="Arial"/>
              </a:rPr>
              <a:t>Returns, not prices</a:t>
            </a:r>
            <a:endParaRPr sz="1600"/>
          </a:p>
        </p:txBody>
      </p:sp>
      <p:sp>
        <p:nvSpPr>
          <p:cNvPr id="38" name="TextBox 37"/>
          <p:cNvSpPr txBox="1"/>
          <p:nvPr/>
        </p:nvSpPr>
        <p:spPr>
          <a:xfrm>
            <a:off x="749808" y="4956048"/>
            <a:ext cx="5166360" cy="1188720"/>
          </a:xfrm>
          <a:prstGeom prst="rect">
            <a:avLst/>
          </a:prstGeom>
          <a:noFill/>
        </p:spPr>
        <p:txBody>
          <a:bodyPr wrap="square" lIns="0" rIns="0" tIns="0" bIns="0" anchor="t">
            <a:noAutofit/>
          </a:bodyPr>
          <a:lstStyle/>
          <a:p>
            <a:pPr algn="l">
              <a:spcAft>
                <a:spcPts val="600"/>
              </a:spcAft>
            </a:pPr>
            <a:r>
              <a:rPr sz="1350" b="0" i="0">
                <a:solidFill>
                  <a:srgbClr val="1F2937"/>
                </a:solidFill>
                <a:latin typeface="Arial"/>
              </a:rPr>
              <a:t>Prices are positive, level dependent and non-stationary, so the panel is in daily log returns. A deleted return is a stylised missing price: a carried-forward price is a zero return, but the later catch-up return is not modelled.</a:t>
            </a:r>
            <a:endParaRPr sz="1350"/>
          </a:p>
        </p:txBody>
      </p:sp>
      <p:sp>
        <p:nvSpPr>
          <p:cNvPr id="39" name="Rectangle 38"/>
          <p:cNvSpPr/>
          <p:nvPr/>
        </p:nvSpPr>
        <p:spPr>
          <a:xfrm>
            <a:off x="6231636" y="4690872"/>
            <a:ext cx="77724" cy="77724"/>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32803" y="4572000"/>
            <a:ext cx="5120640" cy="320040"/>
          </a:xfrm>
          <a:prstGeom prst="rect">
            <a:avLst/>
          </a:prstGeom>
          <a:noFill/>
        </p:spPr>
        <p:txBody>
          <a:bodyPr wrap="square" lIns="0" rIns="0" tIns="0" bIns="0" anchor="t">
            <a:noAutofit/>
          </a:bodyPr>
          <a:lstStyle/>
          <a:p>
            <a:pPr algn="l">
              <a:spcAft>
                <a:spcPts val="600"/>
              </a:spcAft>
            </a:pPr>
            <a:r>
              <a:rPr sz="1600" b="1" i="0">
                <a:solidFill>
                  <a:srgbClr val="14213D"/>
                </a:solidFill>
                <a:latin typeface="Arial"/>
              </a:rPr>
              <a:t>Offline reconstruction</a:t>
            </a:r>
            <a:endParaRPr sz="1600"/>
          </a:p>
        </p:txBody>
      </p:sp>
      <p:sp>
        <p:nvSpPr>
          <p:cNvPr id="41" name="TextBox 40"/>
          <p:cNvSpPr txBox="1"/>
          <p:nvPr/>
        </p:nvSpPr>
        <p:spPr>
          <a:xfrm>
            <a:off x="6432803" y="4956048"/>
            <a:ext cx="5166360" cy="1188720"/>
          </a:xfrm>
          <a:prstGeom prst="rect">
            <a:avLst/>
          </a:prstGeom>
          <a:noFill/>
        </p:spPr>
        <p:txBody>
          <a:bodyPr wrap="square" lIns="0" rIns="0" tIns="0" bIns="0" anchor="t">
            <a:noAutofit/>
          </a:bodyPr>
          <a:lstStyle/>
          <a:p>
            <a:pPr algn="l">
              <a:spcAft>
                <a:spcPts val="600"/>
              </a:spcAft>
            </a:pPr>
            <a:r>
              <a:rPr sz="1350" b="0" i="0">
                <a:solidFill>
                  <a:srgbClr val="1F2937"/>
                </a:solidFill>
                <a:latin typeface="Arial"/>
              </a:rPr>
              <a:t>Every method may use the full sample, including dates after the gap. The results describe reconstruction after the fact, not real-time filling.</a:t>
            </a:r>
            <a:endParaRPr sz="1350"/>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429768"/>
            <a:ext cx="77724" cy="77724"/>
          </a:xfrm>
          <a:prstGeom prst="rect">
            <a:avLst/>
          </a:prstGeom>
          <a:solidFill>
            <a:srgbClr val="C4C9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62940" y="429768"/>
            <a:ext cx="77724" cy="77724"/>
          </a:xfrm>
          <a:prstGeom prst="rect">
            <a:avLst/>
          </a:prstGeom>
          <a:solidFill>
            <a:srgbClr val="C4C9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429768"/>
            <a:ext cx="77724" cy="77724"/>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370332"/>
            <a:ext cx="8229600" cy="274320"/>
          </a:xfrm>
          <a:prstGeom prst="rect">
            <a:avLst/>
          </a:prstGeom>
          <a:noFill/>
        </p:spPr>
        <p:txBody>
          <a:bodyPr wrap="square" lIns="0" rIns="0" tIns="0" bIns="0" anchor="t">
            <a:noAutofit/>
          </a:bodyPr>
          <a:lstStyle/>
          <a:p>
            <a:pPr algn="l">
              <a:spcAft>
                <a:spcPts val="600"/>
              </a:spcAft>
            </a:pPr>
            <a:r>
              <a:rPr sz="1100" b="1" i="0" spc="150">
                <a:solidFill>
                  <a:srgbClr val="E4572E"/>
                </a:solidFill>
                <a:latin typeface="Arial"/>
              </a:rPr>
              <a:t>METHODOLOGY  ·  MISSINGNESS INJECTION</a:t>
            </a:r>
            <a:endParaRPr sz="1100"/>
          </a:p>
        </p:txBody>
      </p:sp>
      <p:sp>
        <p:nvSpPr>
          <p:cNvPr id="6" name="TextBox 5"/>
          <p:cNvSpPr txBox="1"/>
          <p:nvPr/>
        </p:nvSpPr>
        <p:spPr>
          <a:xfrm>
            <a:off x="548640" y="676656"/>
            <a:ext cx="11091672" cy="640080"/>
          </a:xfrm>
          <a:prstGeom prst="rect">
            <a:avLst/>
          </a:prstGeom>
          <a:noFill/>
        </p:spPr>
        <p:txBody>
          <a:bodyPr wrap="square" lIns="0" rIns="0" tIns="0" bIns="0" anchor="t">
            <a:noAutofit/>
          </a:bodyPr>
          <a:lstStyle/>
          <a:p>
            <a:pPr algn="l">
              <a:spcAft>
                <a:spcPts val="600"/>
              </a:spcAft>
            </a:pPr>
            <a:r>
              <a:rPr sz="2600" b="1" i="0">
                <a:solidFill>
                  <a:srgbClr val="14213D"/>
                </a:solidFill>
                <a:latin typeface="Georgia"/>
              </a:rPr>
              <a:t>Three mechanisms, matched on the share of missing cells</a:t>
            </a:r>
            <a:endParaRPr sz="2600"/>
          </a:p>
        </p:txBody>
      </p:sp>
      <p:sp>
        <p:nvSpPr>
          <p:cNvPr id="7" name="TextBox 6"/>
          <p:cNvSpPr txBox="1"/>
          <p:nvPr/>
        </p:nvSpPr>
        <p:spPr>
          <a:xfrm>
            <a:off x="548640" y="6419088"/>
            <a:ext cx="5486400" cy="228600"/>
          </a:xfrm>
          <a:prstGeom prst="rect">
            <a:avLst/>
          </a:prstGeom>
          <a:noFill/>
        </p:spPr>
        <p:txBody>
          <a:bodyPr wrap="square" lIns="0" rIns="0" tIns="0" bIns="0" anchor="t">
            <a:noAutofit/>
          </a:bodyPr>
          <a:lstStyle/>
          <a:p>
            <a:pPr algn="l">
              <a:spcAft>
                <a:spcPts val="600"/>
              </a:spcAft>
            </a:pPr>
            <a:r>
              <a:rPr sz="1000" b="0" i="0">
                <a:solidFill>
                  <a:srgbClr val="6B7280"/>
                </a:solidFill>
                <a:latin typeface="Arial"/>
              </a:rPr>
              <a:t>Michele Carlo Fanelli  ·  Bocconi University</a:t>
            </a:r>
            <a:endParaRPr sz="1000"/>
          </a:p>
        </p:txBody>
      </p:sp>
      <p:sp>
        <p:nvSpPr>
          <p:cNvPr id="8" name="TextBox 7"/>
          <p:cNvSpPr txBox="1"/>
          <p:nvPr/>
        </p:nvSpPr>
        <p:spPr>
          <a:xfrm>
            <a:off x="10268712" y="6419088"/>
            <a:ext cx="1371600" cy="228600"/>
          </a:xfrm>
          <a:prstGeom prst="rect">
            <a:avLst/>
          </a:prstGeom>
          <a:noFill/>
        </p:spPr>
        <p:txBody>
          <a:bodyPr wrap="square" lIns="0" rIns="0" tIns="0" bIns="0" anchor="t">
            <a:noAutofit/>
          </a:bodyPr>
          <a:lstStyle/>
          <a:p>
            <a:pPr algn="r">
              <a:spcAft>
                <a:spcPts val="600"/>
              </a:spcAft>
            </a:pPr>
            <a:r>
              <a:rPr sz="1000" b="0" i="0">
                <a:solidFill>
                  <a:srgbClr val="6B7280"/>
                </a:solidFill>
                <a:latin typeface="Arial"/>
              </a:rPr>
              <a:t>5 / 15</a:t>
            </a:r>
            <a:endParaRPr sz="1000"/>
          </a:p>
        </p:txBody>
      </p:sp>
      <p:pic>
        <p:nvPicPr>
          <p:cNvPr id="9" name="Picture 8" descr="missingness_examples.png"/>
          <p:cNvPicPr>
            <a:picLocks noChangeAspect="1"/>
          </p:cNvPicPr>
          <p:nvPr/>
        </p:nvPicPr>
        <p:blipFill>
          <a:blip r:embed="rId2"/>
          <a:stretch>
            <a:fillRect/>
          </a:stretch>
        </p:blipFill>
        <p:spPr>
          <a:xfrm>
            <a:off x="1935327" y="1298448"/>
            <a:ext cx="8321040" cy="2680935"/>
          </a:xfrm>
          <a:prstGeom prst="rect">
            <a:avLst/>
          </a:prstGeom>
        </p:spPr>
      </p:pic>
      <p:sp>
        <p:nvSpPr>
          <p:cNvPr id="10" name="TextBox 9"/>
          <p:cNvSpPr txBox="1"/>
          <p:nvPr/>
        </p:nvSpPr>
        <p:spPr>
          <a:xfrm>
            <a:off x="2045055" y="4023360"/>
            <a:ext cx="2499360" cy="274320"/>
          </a:xfrm>
          <a:prstGeom prst="rect">
            <a:avLst/>
          </a:prstGeom>
          <a:noFill/>
        </p:spPr>
        <p:txBody>
          <a:bodyPr wrap="square" lIns="0" rIns="0" tIns="0" bIns="0" anchor="t">
            <a:noAutofit/>
          </a:bodyPr>
          <a:lstStyle/>
          <a:p>
            <a:pPr algn="l">
              <a:spcAft>
                <a:spcPts val="600"/>
              </a:spcAft>
            </a:pPr>
            <a:r>
              <a:rPr sz="1400" b="1" i="0">
                <a:solidFill>
                  <a:srgbClr val="14213D"/>
                </a:solidFill>
                <a:latin typeface="Arial"/>
              </a:rPr>
              <a:t>Sparse</a:t>
            </a:r>
            <a:r>
              <a:rPr sz="1400" b="0" i="0">
                <a:solidFill>
                  <a:srgbClr val="14213D"/>
                </a:solidFill>
                <a:latin typeface="Arial"/>
              </a:rPr>
              <a:t>  </a:t>
            </a:r>
            <a:r>
              <a:rPr sz="1400" b="0" i="0">
                <a:solidFill>
                  <a:srgbClr val="6B7280"/>
                </a:solidFill>
                <a:latin typeface="Arial"/>
              </a:rPr>
              <a:t>MCAR</a:t>
            </a:r>
            <a:endParaRPr sz="1400"/>
          </a:p>
        </p:txBody>
      </p:sp>
      <p:sp>
        <p:nvSpPr>
          <p:cNvPr id="11" name="TextBox 10"/>
          <p:cNvSpPr txBox="1"/>
          <p:nvPr/>
        </p:nvSpPr>
        <p:spPr>
          <a:xfrm>
            <a:off x="2045055" y="4297680"/>
            <a:ext cx="2545080" cy="731520"/>
          </a:xfrm>
          <a:prstGeom prst="rect">
            <a:avLst/>
          </a:prstGeom>
          <a:noFill/>
        </p:spPr>
        <p:txBody>
          <a:bodyPr wrap="square" lIns="0" rIns="0" tIns="0" bIns="0" anchor="t">
            <a:noAutofit/>
          </a:bodyPr>
          <a:lstStyle/>
          <a:p>
            <a:pPr algn="l">
              <a:spcAft>
                <a:spcPts val="600"/>
              </a:spcAft>
            </a:pPr>
            <a:r>
              <a:rPr sz="1150" b="0" i="0">
                <a:solidFill>
                  <a:srgbClr val="1F2937"/>
                </a:solidFill>
                <a:latin typeface="Arial"/>
              </a:rPr>
              <a:t>Each cell is deleted independently with probability </a:t>
            </a:r>
            <a:r>
              <a:rPr sz="1150" b="0" i="1">
                <a:solidFill>
                  <a:srgbClr val="1F2937"/>
                </a:solidFill>
                <a:latin typeface="Arial"/>
              </a:rPr>
              <a:t>r</a:t>
            </a:r>
            <a:r>
              <a:rPr sz="1150" b="0" i="0">
                <a:solidFill>
                  <a:srgbClr val="1F2937"/>
                </a:solidFill>
                <a:latin typeface="Arial"/>
              </a:rPr>
              <a:t>.</a:t>
            </a:r>
            <a:endParaRPr sz="1150"/>
          </a:p>
        </p:txBody>
      </p:sp>
      <p:sp>
        <p:nvSpPr>
          <p:cNvPr id="12" name="TextBox 11"/>
          <p:cNvSpPr txBox="1"/>
          <p:nvPr/>
        </p:nvSpPr>
        <p:spPr>
          <a:xfrm>
            <a:off x="4818735" y="4023360"/>
            <a:ext cx="2499360" cy="274320"/>
          </a:xfrm>
          <a:prstGeom prst="rect">
            <a:avLst/>
          </a:prstGeom>
          <a:noFill/>
        </p:spPr>
        <p:txBody>
          <a:bodyPr wrap="square" lIns="0" rIns="0" tIns="0" bIns="0" anchor="t">
            <a:noAutofit/>
          </a:bodyPr>
          <a:lstStyle/>
          <a:p>
            <a:pPr algn="l">
              <a:spcAft>
                <a:spcPts val="600"/>
              </a:spcAft>
            </a:pPr>
            <a:r>
              <a:rPr sz="1400" b="1" i="0">
                <a:solidFill>
                  <a:srgbClr val="14213D"/>
                </a:solidFill>
                <a:latin typeface="Arial"/>
              </a:rPr>
              <a:t>Contiguous gaps</a:t>
            </a:r>
            <a:r>
              <a:rPr sz="1400" b="0" i="0">
                <a:solidFill>
                  <a:srgbClr val="14213D"/>
                </a:solidFill>
                <a:latin typeface="Arial"/>
              </a:rPr>
              <a:t>  </a:t>
            </a:r>
            <a:r>
              <a:rPr sz="1400" b="0" i="0">
                <a:solidFill>
                  <a:srgbClr val="6B7280"/>
                </a:solidFill>
                <a:latin typeface="Arial"/>
              </a:rPr>
              <a:t>MCAR</a:t>
            </a:r>
            <a:endParaRPr sz="1400"/>
          </a:p>
        </p:txBody>
      </p:sp>
      <p:sp>
        <p:nvSpPr>
          <p:cNvPr id="13" name="TextBox 12"/>
          <p:cNvSpPr txBox="1"/>
          <p:nvPr/>
        </p:nvSpPr>
        <p:spPr>
          <a:xfrm>
            <a:off x="4818735" y="4297680"/>
            <a:ext cx="2545080" cy="731520"/>
          </a:xfrm>
          <a:prstGeom prst="rect">
            <a:avLst/>
          </a:prstGeom>
          <a:noFill/>
        </p:spPr>
        <p:txBody>
          <a:bodyPr wrap="square" lIns="0" rIns="0" tIns="0" bIns="0" anchor="t">
            <a:noAutofit/>
          </a:bodyPr>
          <a:lstStyle/>
          <a:p>
            <a:pPr algn="l">
              <a:spcAft>
                <a:spcPts val="600"/>
              </a:spcAft>
            </a:pPr>
            <a:r>
              <a:rPr sz="1150" b="0" i="1">
                <a:solidFill>
                  <a:srgbClr val="1F2937"/>
                </a:solidFill>
                <a:latin typeface="Arial"/>
              </a:rPr>
              <a:t>n</a:t>
            </a:r>
            <a:r>
              <a:rPr sz="1150" b="0" i="0">
                <a:solidFill>
                  <a:srgbClr val="1F2937"/>
                </a:solidFill>
                <a:latin typeface="Arial"/>
              </a:rPr>
              <a:t> seed cells, each extended forward into a run with mean length ℓ trading days.</a:t>
            </a:r>
            <a:endParaRPr sz="1150"/>
          </a:p>
        </p:txBody>
      </p:sp>
      <p:sp>
        <p:nvSpPr>
          <p:cNvPr id="14" name="TextBox 13"/>
          <p:cNvSpPr txBox="1"/>
          <p:nvPr/>
        </p:nvSpPr>
        <p:spPr>
          <a:xfrm>
            <a:off x="7592415" y="4023360"/>
            <a:ext cx="2499360" cy="274320"/>
          </a:xfrm>
          <a:prstGeom prst="rect">
            <a:avLst/>
          </a:prstGeom>
          <a:noFill/>
        </p:spPr>
        <p:txBody>
          <a:bodyPr wrap="square" lIns="0" rIns="0" tIns="0" bIns="0" anchor="t">
            <a:noAutofit/>
          </a:bodyPr>
          <a:lstStyle/>
          <a:p>
            <a:pPr algn="l">
              <a:spcAft>
                <a:spcPts val="600"/>
              </a:spcAft>
            </a:pPr>
            <a:r>
              <a:rPr sz="1400" b="1" i="0">
                <a:solidFill>
                  <a:srgbClr val="14213D"/>
                </a:solidFill>
                <a:latin typeface="Arial"/>
              </a:rPr>
              <a:t>Stressed</a:t>
            </a:r>
            <a:r>
              <a:rPr sz="1400" b="0" i="0">
                <a:solidFill>
                  <a:srgbClr val="14213D"/>
                </a:solidFill>
                <a:latin typeface="Arial"/>
              </a:rPr>
              <a:t>  </a:t>
            </a:r>
            <a:r>
              <a:rPr sz="1400" b="0" i="0">
                <a:solidFill>
                  <a:srgbClr val="6B7280"/>
                </a:solidFill>
                <a:latin typeface="Arial"/>
              </a:rPr>
              <a:t>MNAR</a:t>
            </a:r>
            <a:endParaRPr sz="1400"/>
          </a:p>
        </p:txBody>
      </p:sp>
      <p:sp>
        <p:nvSpPr>
          <p:cNvPr id="15" name="TextBox 14"/>
          <p:cNvSpPr txBox="1"/>
          <p:nvPr/>
        </p:nvSpPr>
        <p:spPr>
          <a:xfrm>
            <a:off x="7592415" y="4297680"/>
            <a:ext cx="2545080" cy="731520"/>
          </a:xfrm>
          <a:prstGeom prst="rect">
            <a:avLst/>
          </a:prstGeom>
          <a:noFill/>
        </p:spPr>
        <p:txBody>
          <a:bodyPr wrap="square" lIns="0" rIns="0" tIns="0" bIns="0" anchor="t">
            <a:noAutofit/>
          </a:bodyPr>
          <a:lstStyle/>
          <a:p>
            <a:pPr algn="l">
              <a:spcAft>
                <a:spcPts val="600"/>
              </a:spcAft>
            </a:pPr>
            <a:r>
              <a:rPr sz="1150" b="0" i="0">
                <a:solidFill>
                  <a:srgbClr val="1F2937"/>
                </a:solidFill>
                <a:latin typeface="Arial"/>
              </a:rPr>
              <a:t>Dates at or above the </a:t>
            </a:r>
            <a:r>
              <a:rPr sz="1150" b="0" i="1">
                <a:solidFill>
                  <a:srgbClr val="1F2937"/>
                </a:solidFill>
                <a:latin typeface="Arial"/>
              </a:rPr>
              <a:t>p</a:t>
            </a:r>
            <a:r>
              <a:rPr sz="1150" b="0" i="0">
                <a:solidFill>
                  <a:srgbClr val="1F2937"/>
                </a:solidFill>
                <a:latin typeface="Arial"/>
              </a:rPr>
              <a:t>-quantile of the squared panel-average return lose each entry with probability </a:t>
            </a:r>
            <a:r>
              <a:rPr sz="1150" b="0" i="1">
                <a:solidFill>
                  <a:srgbClr val="1F2937"/>
                </a:solidFill>
                <a:latin typeface="Arial"/>
              </a:rPr>
              <a:t>h</a:t>
            </a:r>
            <a:r>
              <a:rPr sz="1150" b="0" i="0">
                <a:solidFill>
                  <a:srgbClr val="1F2937"/>
                </a:solidFill>
                <a:latin typeface="Arial"/>
              </a:rPr>
              <a:t>, other dates with </a:t>
            </a:r>
            <a:r>
              <a:rPr sz="1150" b="0" i="1">
                <a:solidFill>
                  <a:srgbClr val="1F2937"/>
                </a:solidFill>
                <a:latin typeface="Arial"/>
              </a:rPr>
              <a:t>r</a:t>
            </a:r>
            <a:r>
              <a:rPr sz="1150" b="0" i="0">
                <a:solidFill>
                  <a:srgbClr val="1F2937"/>
                </a:solidFill>
                <a:latin typeface="Arial"/>
              </a:rPr>
              <a:t>. The score is hidden from the imputer.</a:t>
            </a:r>
            <a:endParaRPr sz="1150"/>
          </a:p>
        </p:txBody>
      </p:sp>
      <p:graphicFrame>
        <p:nvGraphicFramePr>
          <p:cNvPr id="16" name="Table 15"/>
          <p:cNvGraphicFramePr>
            <a:graphicFrameLocks noGrp="1"/>
          </p:cNvGraphicFramePr>
          <p:nvPr/>
        </p:nvGraphicFramePr>
        <p:xfrm>
          <a:off x="548640" y="5138928"/>
          <a:ext cx="11091672" cy="1060704"/>
        </p:xfrm>
        <a:graphic>
          <a:graphicData uri="http://schemas.openxmlformats.org/drawingml/2006/table">
            <a:tbl>
              <a:tblPr firstRow="0" bandRow="0">
                <a:tableStyleId>{2D5ABB26-0587-4C30-8999-92F81FD0307C}</a:tableStyleId>
              </a:tblPr>
              <a:tblGrid>
                <a:gridCol w="2331720"/>
                <a:gridCol w="1005840"/>
                <a:gridCol w="1325880"/>
                <a:gridCol w="1600200"/>
                <a:gridCol w="1600200"/>
                <a:gridCol w="1600200"/>
                <a:gridCol w="1627632"/>
              </a:tblGrid>
              <a:tr h="265176">
                <a:tc>
                  <a:txBody>
                    <a:bodyPr wrap="none"/>
                    <a:lstStyle/>
                    <a:p>
                      <a:pPr algn="l"/>
                      <a:r>
                        <a:rPr sz="1100" b="1" i="0">
                          <a:solidFill>
                            <a:srgbClr val="1F2937"/>
                          </a:solidFill>
                          <a:latin typeface="Arial"/>
                        </a:rPr>
                        <a:t>Expected share of missing cells</a:t>
                      </a:r>
                      <a:endParaRPr sz="1100"/>
                    </a:p>
                  </a:txBody>
                  <a:tcPr marL="36576" marR="36576" marT="0" marB="0" anchor="ctr">
                    <a:lnT w="15875">
                      <a:solidFill>
                        <a:srgbClr val="14213D"/>
                      </a:solidFill>
                    </a:lnT>
                    <a:lnB w="9525">
                      <a:solidFill>
                        <a:srgbClr val="14213D"/>
                      </a:solidFill>
                    </a:lnB>
                    <a:noFill/>
                  </a:tcPr>
                </a:tc>
                <a:tc>
                  <a:txBody>
                    <a:bodyPr wrap="none"/>
                    <a:lstStyle/>
                    <a:p>
                      <a:pPr algn="l"/>
                      <a:endParaRPr sz="1100"/>
                    </a:p>
                  </a:txBody>
                  <a:tcPr marL="36576" marR="36576" marT="0" marB="0" anchor="ctr">
                    <a:lnT w="15875">
                      <a:solidFill>
                        <a:srgbClr val="14213D"/>
                      </a:solidFill>
                    </a:lnT>
                    <a:lnB w="9525">
                      <a:solidFill>
                        <a:srgbClr val="14213D"/>
                      </a:solidFill>
                    </a:lnB>
                    <a:noFill/>
                  </a:tcPr>
                </a:tc>
                <a:tc>
                  <a:txBody>
                    <a:bodyPr wrap="none"/>
                    <a:lstStyle/>
                    <a:p>
                      <a:pPr algn="ctr"/>
                      <a:r>
                        <a:rPr sz="1100" b="1" i="0">
                          <a:solidFill>
                            <a:srgbClr val="1F2937"/>
                          </a:solidFill>
                          <a:latin typeface="Arial"/>
                        </a:rPr>
                        <a:t>0.1%</a:t>
                      </a:r>
                      <a:endParaRPr sz="1100"/>
                    </a:p>
                  </a:txBody>
                  <a:tcPr marL="36576" marR="36576" marT="0" marB="0" anchor="ctr">
                    <a:lnT w="15875">
                      <a:solidFill>
                        <a:srgbClr val="14213D"/>
                      </a:solidFill>
                    </a:lnT>
                    <a:lnB w="9525">
                      <a:solidFill>
                        <a:srgbClr val="14213D"/>
                      </a:solidFill>
                    </a:lnB>
                    <a:noFill/>
                  </a:tcPr>
                </a:tc>
                <a:tc>
                  <a:txBody>
                    <a:bodyPr wrap="none"/>
                    <a:lstStyle/>
                    <a:p>
                      <a:pPr algn="ctr"/>
                      <a:r>
                        <a:rPr sz="1100" b="1" i="0">
                          <a:solidFill>
                            <a:srgbClr val="1F2937"/>
                          </a:solidFill>
                          <a:latin typeface="Arial"/>
                        </a:rPr>
                        <a:t>1%</a:t>
                      </a:r>
                      <a:endParaRPr sz="1100"/>
                    </a:p>
                  </a:txBody>
                  <a:tcPr marL="36576" marR="36576" marT="0" marB="0" anchor="ctr">
                    <a:lnT w="15875">
                      <a:solidFill>
                        <a:srgbClr val="14213D"/>
                      </a:solidFill>
                    </a:lnT>
                    <a:lnB w="9525">
                      <a:solidFill>
                        <a:srgbClr val="14213D"/>
                      </a:solidFill>
                    </a:lnB>
                    <a:noFill/>
                  </a:tcPr>
                </a:tc>
                <a:tc>
                  <a:txBody>
                    <a:bodyPr wrap="none"/>
                    <a:lstStyle/>
                    <a:p>
                      <a:pPr algn="ctr"/>
                      <a:r>
                        <a:rPr sz="1100" b="1" i="0">
                          <a:solidFill>
                            <a:srgbClr val="1F2937"/>
                          </a:solidFill>
                          <a:latin typeface="Arial"/>
                        </a:rPr>
                        <a:t>5%</a:t>
                      </a:r>
                      <a:endParaRPr sz="1100"/>
                    </a:p>
                  </a:txBody>
                  <a:tcPr marL="36576" marR="36576" marT="0" marB="0" anchor="ctr">
                    <a:lnT w="15875">
                      <a:solidFill>
                        <a:srgbClr val="14213D"/>
                      </a:solidFill>
                    </a:lnT>
                    <a:lnB w="9525">
                      <a:solidFill>
                        <a:srgbClr val="14213D"/>
                      </a:solidFill>
                    </a:lnB>
                    <a:noFill/>
                  </a:tcPr>
                </a:tc>
                <a:tc>
                  <a:txBody>
                    <a:bodyPr wrap="none"/>
                    <a:lstStyle/>
                    <a:p>
                      <a:pPr algn="ctr"/>
                      <a:r>
                        <a:rPr sz="1100" b="1" i="0">
                          <a:solidFill>
                            <a:srgbClr val="1F2937"/>
                          </a:solidFill>
                          <a:latin typeface="Arial"/>
                        </a:rPr>
                        <a:t>10%</a:t>
                      </a:r>
                      <a:endParaRPr sz="1100"/>
                    </a:p>
                  </a:txBody>
                  <a:tcPr marL="36576" marR="36576" marT="0" marB="0" anchor="ctr">
                    <a:lnT w="15875">
                      <a:solidFill>
                        <a:srgbClr val="14213D"/>
                      </a:solidFill>
                    </a:lnT>
                    <a:lnB w="9525">
                      <a:solidFill>
                        <a:srgbClr val="14213D"/>
                      </a:solidFill>
                    </a:lnB>
                    <a:noFill/>
                  </a:tcPr>
                </a:tc>
                <a:tc>
                  <a:txBody>
                    <a:bodyPr wrap="none"/>
                    <a:lstStyle/>
                    <a:p>
                      <a:pPr algn="ctr"/>
                      <a:r>
                        <a:rPr sz="1100" b="1" i="0">
                          <a:solidFill>
                            <a:srgbClr val="1F2937"/>
                          </a:solidFill>
                          <a:latin typeface="Arial"/>
                        </a:rPr>
                        <a:t>30%</a:t>
                      </a:r>
                      <a:endParaRPr sz="1100"/>
                    </a:p>
                  </a:txBody>
                  <a:tcPr marL="36576" marR="36576" marT="0" marB="0" anchor="ctr">
                    <a:lnT w="15875">
                      <a:solidFill>
                        <a:srgbClr val="14213D"/>
                      </a:solidFill>
                    </a:lnT>
                    <a:lnB w="9525">
                      <a:solidFill>
                        <a:srgbClr val="14213D"/>
                      </a:solidFill>
                    </a:lnB>
                    <a:noFill/>
                  </a:tcPr>
                </a:tc>
              </a:tr>
              <a:tr h="265176">
                <a:tc>
                  <a:txBody>
                    <a:bodyPr wrap="none"/>
                    <a:lstStyle/>
                    <a:p>
                      <a:pPr algn="l"/>
                      <a:r>
                        <a:rPr sz="1100" b="0" i="0">
                          <a:solidFill>
                            <a:srgbClr val="14213D"/>
                          </a:solidFill>
                          <a:latin typeface="Arial"/>
                        </a:rPr>
                        <a:t>Sparse</a:t>
                      </a:r>
                      <a:endParaRPr sz="1100"/>
                    </a:p>
                  </a:txBody>
                  <a:tcPr marL="36576" marR="36576" marT="0" marB="0" anchor="ctr">
                    <a:noFill/>
                  </a:tcPr>
                </a:tc>
                <a:tc>
                  <a:txBody>
                    <a:bodyPr wrap="none"/>
                    <a:lstStyle/>
                    <a:p>
                      <a:pPr algn="l"/>
                      <a:r>
                        <a:rPr sz="1100" b="0" i="1">
                          <a:solidFill>
                            <a:srgbClr val="6B7280"/>
                          </a:solidFill>
                          <a:latin typeface="Arial"/>
                        </a:rPr>
                        <a:t>r</a:t>
                      </a:r>
                      <a:endParaRPr sz="1100"/>
                    </a:p>
                  </a:txBody>
                  <a:tcPr marL="36576" marR="36576" marT="0" marB="0" anchor="ctr">
                    <a:noFill/>
                  </a:tcPr>
                </a:tc>
                <a:tc>
                  <a:txBody>
                    <a:bodyPr wrap="none"/>
                    <a:lstStyle/>
                    <a:p>
                      <a:pPr algn="ctr"/>
                      <a:r>
                        <a:rPr sz="1100" b="0" i="0">
                          <a:solidFill>
                            <a:srgbClr val="1F2937"/>
                          </a:solidFill>
                          <a:latin typeface="Arial"/>
                        </a:rPr>
                        <a:t>0.001</a:t>
                      </a:r>
                      <a:endParaRPr sz="1100"/>
                    </a:p>
                  </a:txBody>
                  <a:tcPr marL="36576" marR="36576" marT="0" marB="0" anchor="ctr">
                    <a:noFill/>
                  </a:tcPr>
                </a:tc>
                <a:tc>
                  <a:txBody>
                    <a:bodyPr wrap="none"/>
                    <a:lstStyle/>
                    <a:p>
                      <a:pPr algn="ctr"/>
                      <a:r>
                        <a:rPr sz="1100" b="0" i="0">
                          <a:solidFill>
                            <a:srgbClr val="1F2937"/>
                          </a:solidFill>
                          <a:latin typeface="Arial"/>
                        </a:rPr>
                        <a:t>0.01</a:t>
                      </a:r>
                      <a:endParaRPr sz="1100"/>
                    </a:p>
                  </a:txBody>
                  <a:tcPr marL="36576" marR="36576" marT="0" marB="0" anchor="ctr">
                    <a:noFill/>
                  </a:tcPr>
                </a:tc>
                <a:tc>
                  <a:txBody>
                    <a:bodyPr wrap="none"/>
                    <a:lstStyle/>
                    <a:p>
                      <a:pPr algn="ctr"/>
                      <a:r>
                        <a:rPr sz="1100" b="0" i="0">
                          <a:solidFill>
                            <a:srgbClr val="1F2937"/>
                          </a:solidFill>
                          <a:latin typeface="Arial"/>
                        </a:rPr>
                        <a:t>0.05</a:t>
                      </a:r>
                      <a:endParaRPr sz="1100"/>
                    </a:p>
                  </a:txBody>
                  <a:tcPr marL="36576" marR="36576" marT="0" marB="0" anchor="ctr">
                    <a:noFill/>
                  </a:tcPr>
                </a:tc>
                <a:tc>
                  <a:txBody>
                    <a:bodyPr wrap="none"/>
                    <a:lstStyle/>
                    <a:p>
                      <a:pPr algn="ctr"/>
                      <a:r>
                        <a:rPr sz="1100" b="0" i="0">
                          <a:solidFill>
                            <a:srgbClr val="1F2937"/>
                          </a:solidFill>
                          <a:latin typeface="Arial"/>
                        </a:rPr>
                        <a:t>0.1</a:t>
                      </a:r>
                      <a:endParaRPr sz="1100"/>
                    </a:p>
                  </a:txBody>
                  <a:tcPr marL="36576" marR="36576" marT="0" marB="0" anchor="ctr">
                    <a:noFill/>
                  </a:tcPr>
                </a:tc>
                <a:tc>
                  <a:txBody>
                    <a:bodyPr wrap="none"/>
                    <a:lstStyle/>
                    <a:p>
                      <a:pPr algn="ctr"/>
                      <a:r>
                        <a:rPr sz="1100" b="0" i="0">
                          <a:solidFill>
                            <a:srgbClr val="1F2937"/>
                          </a:solidFill>
                          <a:latin typeface="Arial"/>
                        </a:rPr>
                        <a:t>0.3</a:t>
                      </a:r>
                      <a:endParaRPr sz="1100"/>
                    </a:p>
                  </a:txBody>
                  <a:tcPr marL="36576" marR="36576" marT="0" marB="0" anchor="ctr">
                    <a:noFill/>
                  </a:tcPr>
                </a:tc>
              </a:tr>
              <a:tr h="265176">
                <a:tc>
                  <a:txBody>
                    <a:bodyPr wrap="none"/>
                    <a:lstStyle/>
                    <a:p>
                      <a:pPr algn="l"/>
                      <a:r>
                        <a:rPr sz="1100" b="0" i="0">
                          <a:solidFill>
                            <a:srgbClr val="14213D"/>
                          </a:solidFill>
                          <a:latin typeface="Arial"/>
                        </a:rPr>
                        <a:t>Gaps</a:t>
                      </a:r>
                      <a:endParaRPr sz="1100"/>
                    </a:p>
                  </a:txBody>
                  <a:tcPr marL="36576" marR="36576" marT="0" marB="0" anchor="ctr">
                    <a:noFill/>
                  </a:tcPr>
                </a:tc>
                <a:tc>
                  <a:txBody>
                    <a:bodyPr wrap="none"/>
                    <a:lstStyle/>
                    <a:p>
                      <a:pPr algn="l"/>
                      <a:r>
                        <a:rPr sz="1100" b="0" i="0">
                          <a:solidFill>
                            <a:srgbClr val="6B7280"/>
                          </a:solidFill>
                          <a:latin typeface="Arial"/>
                        </a:rPr>
                        <a:t>(</a:t>
                      </a:r>
                      <a:r>
                        <a:rPr sz="1100" b="0" i="1">
                          <a:solidFill>
                            <a:srgbClr val="6B7280"/>
                          </a:solidFill>
                          <a:latin typeface="Arial"/>
                        </a:rPr>
                        <a:t>n</a:t>
                      </a:r>
                      <a:r>
                        <a:rPr sz="1100" b="0" i="0">
                          <a:solidFill>
                            <a:srgbClr val="6B7280"/>
                          </a:solidFill>
                          <a:latin typeface="Arial"/>
                        </a:rPr>
                        <a:t>, ℓ)</a:t>
                      </a:r>
                      <a:endParaRPr sz="1100"/>
                    </a:p>
                  </a:txBody>
                  <a:tcPr marL="36576" marR="36576" marT="0" marB="0" anchor="ctr">
                    <a:noFill/>
                  </a:tcPr>
                </a:tc>
                <a:tc>
                  <a:txBody>
                    <a:bodyPr wrap="none"/>
                    <a:lstStyle/>
                    <a:p>
                      <a:pPr algn="ctr"/>
                      <a:r>
                        <a:rPr sz="1100" b="0" i="0">
                          <a:solidFill>
                            <a:srgbClr val="1F2937"/>
                          </a:solidFill>
                          <a:latin typeface="Arial"/>
                        </a:rPr>
                        <a:t>(20, 10)</a:t>
                      </a:r>
                      <a:endParaRPr sz="1100"/>
                    </a:p>
                  </a:txBody>
                  <a:tcPr marL="36576" marR="36576" marT="0" marB="0" anchor="ctr">
                    <a:noFill/>
                  </a:tcPr>
                </a:tc>
                <a:tc>
                  <a:txBody>
                    <a:bodyPr wrap="none"/>
                    <a:lstStyle/>
                    <a:p>
                      <a:pPr algn="ctr"/>
                      <a:r>
                        <a:rPr sz="1100" b="0" i="0">
                          <a:solidFill>
                            <a:srgbClr val="1F2937"/>
                          </a:solidFill>
                          <a:latin typeface="Arial"/>
                        </a:rPr>
                        <a:t>(200, 10)</a:t>
                      </a:r>
                      <a:endParaRPr sz="1100"/>
                    </a:p>
                  </a:txBody>
                  <a:tcPr marL="36576" marR="36576" marT="0" marB="0" anchor="ctr">
                    <a:noFill/>
                  </a:tcPr>
                </a:tc>
                <a:tc>
                  <a:txBody>
                    <a:bodyPr wrap="none"/>
                    <a:lstStyle/>
                    <a:p>
                      <a:pPr algn="ctr"/>
                      <a:r>
                        <a:rPr sz="1100" b="0" i="0">
                          <a:solidFill>
                            <a:srgbClr val="1F2937"/>
                          </a:solidFill>
                          <a:latin typeface="Arial"/>
                        </a:rPr>
                        <a:t>(1000, 10)</a:t>
                      </a:r>
                      <a:endParaRPr sz="1100"/>
                    </a:p>
                  </a:txBody>
                  <a:tcPr marL="36576" marR="36576" marT="0" marB="0" anchor="ctr">
                    <a:noFill/>
                  </a:tcPr>
                </a:tc>
                <a:tc>
                  <a:txBody>
                    <a:bodyPr wrap="none"/>
                    <a:lstStyle/>
                    <a:p>
                      <a:pPr algn="ctr"/>
                      <a:r>
                        <a:rPr sz="1100" b="0" i="0">
                          <a:solidFill>
                            <a:srgbClr val="1F2937"/>
                          </a:solidFill>
                          <a:latin typeface="Arial"/>
                        </a:rPr>
                        <a:t>(1000, 20)</a:t>
                      </a:r>
                      <a:endParaRPr sz="1100"/>
                    </a:p>
                  </a:txBody>
                  <a:tcPr marL="36576" marR="36576" marT="0" marB="0" anchor="ctr">
                    <a:noFill/>
                  </a:tcPr>
                </a:tc>
                <a:tc>
                  <a:txBody>
                    <a:bodyPr wrap="none"/>
                    <a:lstStyle/>
                    <a:p>
                      <a:pPr algn="ctr"/>
                      <a:r>
                        <a:rPr sz="1100" b="0" i="0">
                          <a:solidFill>
                            <a:srgbClr val="1F2937"/>
                          </a:solidFill>
                          <a:latin typeface="Arial"/>
                        </a:rPr>
                        <a:t>(2000, 30)</a:t>
                      </a:r>
                      <a:endParaRPr sz="1100"/>
                    </a:p>
                  </a:txBody>
                  <a:tcPr marL="36576" marR="36576" marT="0" marB="0" anchor="ctr">
                    <a:noFill/>
                  </a:tcPr>
                </a:tc>
              </a:tr>
              <a:tr h="265176">
                <a:tc>
                  <a:txBody>
                    <a:bodyPr wrap="none"/>
                    <a:lstStyle/>
                    <a:p>
                      <a:pPr algn="l"/>
                      <a:r>
                        <a:rPr sz="1100" b="0" i="0">
                          <a:solidFill>
                            <a:srgbClr val="14213D"/>
                          </a:solidFill>
                          <a:latin typeface="Arial"/>
                        </a:rPr>
                        <a:t>Stressed</a:t>
                      </a:r>
                      <a:endParaRPr sz="1100"/>
                    </a:p>
                  </a:txBody>
                  <a:tcPr marL="36576" marR="36576" marT="0" marB="0" anchor="ctr">
                    <a:lnB w="15875">
                      <a:solidFill>
                        <a:srgbClr val="14213D"/>
                      </a:solidFill>
                    </a:lnB>
                    <a:noFill/>
                  </a:tcPr>
                </a:tc>
                <a:tc>
                  <a:txBody>
                    <a:bodyPr wrap="none"/>
                    <a:lstStyle/>
                    <a:p>
                      <a:pPr algn="l"/>
                      <a:r>
                        <a:rPr sz="1100" b="0" i="0">
                          <a:solidFill>
                            <a:srgbClr val="6B7280"/>
                          </a:solidFill>
                          <a:latin typeface="Arial"/>
                        </a:rPr>
                        <a:t>(</a:t>
                      </a:r>
                      <a:r>
                        <a:rPr sz="1100" b="0" i="1">
                          <a:solidFill>
                            <a:srgbClr val="6B7280"/>
                          </a:solidFill>
                          <a:latin typeface="Arial"/>
                        </a:rPr>
                        <a:t>r</a:t>
                      </a:r>
                      <a:r>
                        <a:rPr sz="1100" b="0" i="0">
                          <a:solidFill>
                            <a:srgbClr val="6B7280"/>
                          </a:solidFill>
                          <a:latin typeface="Arial"/>
                        </a:rPr>
                        <a:t>, </a:t>
                      </a:r>
                      <a:r>
                        <a:rPr sz="1100" b="0" i="1">
                          <a:solidFill>
                            <a:srgbClr val="6B7280"/>
                          </a:solidFill>
                          <a:latin typeface="Arial"/>
                        </a:rPr>
                        <a:t>h</a:t>
                      </a:r>
                      <a:r>
                        <a:rPr sz="1100" b="0" i="0">
                          <a:solidFill>
                            <a:srgbClr val="6B7280"/>
                          </a:solidFill>
                          <a:latin typeface="Arial"/>
                        </a:rPr>
                        <a:t>, </a:t>
                      </a:r>
                      <a:r>
                        <a:rPr sz="1100" b="0" i="1">
                          <a:solidFill>
                            <a:srgbClr val="6B7280"/>
                          </a:solidFill>
                          <a:latin typeface="Arial"/>
                        </a:rPr>
                        <a:t>p</a:t>
                      </a:r>
                      <a:r>
                        <a:rPr sz="1100" b="0" i="0">
                          <a:solidFill>
                            <a:srgbClr val="6B7280"/>
                          </a:solidFill>
                          <a:latin typeface="Arial"/>
                        </a:rPr>
                        <a:t>)</a:t>
                      </a:r>
                      <a:endParaRPr sz="1100"/>
                    </a:p>
                  </a:txBody>
                  <a:tcPr marL="36576" marR="36576" marT="0" marB="0" anchor="ctr">
                    <a:lnB w="15875">
                      <a:solidFill>
                        <a:srgbClr val="14213D"/>
                      </a:solidFill>
                    </a:lnB>
                    <a:noFill/>
                  </a:tcPr>
                </a:tc>
                <a:tc>
                  <a:txBody>
                    <a:bodyPr wrap="none"/>
                    <a:lstStyle/>
                    <a:p>
                      <a:pPr algn="ctr"/>
                      <a:r>
                        <a:rPr sz="1100" b="0" i="0">
                          <a:solidFill>
                            <a:srgbClr val="1F2937"/>
                          </a:solidFill>
                          <a:latin typeface="Arial"/>
                        </a:rPr>
                        <a:t>(0, 0.1, 0.99)</a:t>
                      </a:r>
                      <a:endParaRPr sz="1100"/>
                    </a:p>
                  </a:txBody>
                  <a:tcPr marL="36576" marR="36576" marT="0" marB="0" anchor="ctr">
                    <a:lnB w="15875">
                      <a:solidFill>
                        <a:srgbClr val="14213D"/>
                      </a:solidFill>
                    </a:lnB>
                    <a:noFill/>
                  </a:tcPr>
                </a:tc>
                <a:tc>
                  <a:txBody>
                    <a:bodyPr wrap="none"/>
                    <a:lstStyle/>
                    <a:p>
                      <a:pPr algn="ctr"/>
                      <a:r>
                        <a:rPr sz="1100" b="0" i="0">
                          <a:solidFill>
                            <a:srgbClr val="1F2937"/>
                          </a:solidFill>
                          <a:latin typeface="Arial"/>
                        </a:rPr>
                        <a:t>(0.005, 0.5, 0.99)</a:t>
                      </a:r>
                      <a:endParaRPr sz="1100"/>
                    </a:p>
                  </a:txBody>
                  <a:tcPr marL="36576" marR="36576" marT="0" marB="0" anchor="ctr">
                    <a:lnB w="15875">
                      <a:solidFill>
                        <a:srgbClr val="14213D"/>
                      </a:solidFill>
                    </a:lnB>
                    <a:noFill/>
                  </a:tcPr>
                </a:tc>
                <a:tc>
                  <a:txBody>
                    <a:bodyPr wrap="none"/>
                    <a:lstStyle/>
                    <a:p>
                      <a:pPr algn="ctr"/>
                      <a:r>
                        <a:rPr sz="1100" b="0" i="0">
                          <a:solidFill>
                            <a:srgbClr val="1F2937"/>
                          </a:solidFill>
                          <a:latin typeface="Arial"/>
                        </a:rPr>
                        <a:t>(0.04, 0.2, 0.95)</a:t>
                      </a:r>
                      <a:endParaRPr sz="1100"/>
                    </a:p>
                  </a:txBody>
                  <a:tcPr marL="36576" marR="36576" marT="0" marB="0" anchor="ctr">
                    <a:lnB w="15875">
                      <a:solidFill>
                        <a:srgbClr val="14213D"/>
                      </a:solidFill>
                    </a:lnB>
                    <a:noFill/>
                  </a:tcPr>
                </a:tc>
                <a:tc>
                  <a:txBody>
                    <a:bodyPr wrap="none"/>
                    <a:lstStyle/>
                    <a:p>
                      <a:pPr algn="ctr"/>
                      <a:r>
                        <a:rPr sz="1100" b="0" i="0">
                          <a:solidFill>
                            <a:srgbClr val="1F2937"/>
                          </a:solidFill>
                          <a:latin typeface="Arial"/>
                        </a:rPr>
                        <a:t>(0.05, 0.5, 0.9)</a:t>
                      </a:r>
                      <a:endParaRPr sz="1100"/>
                    </a:p>
                  </a:txBody>
                  <a:tcPr marL="36576" marR="36576" marT="0" marB="0" anchor="ctr">
                    <a:lnB w="15875">
                      <a:solidFill>
                        <a:srgbClr val="14213D"/>
                      </a:solidFill>
                    </a:lnB>
                    <a:noFill/>
                  </a:tcPr>
                </a:tc>
                <a:tc>
                  <a:txBody>
                    <a:bodyPr wrap="none"/>
                    <a:lstStyle/>
                    <a:p>
                      <a:pPr algn="ctr"/>
                      <a:r>
                        <a:rPr sz="1100" b="0" i="0">
                          <a:solidFill>
                            <a:srgbClr val="1F2937"/>
                          </a:solidFill>
                          <a:latin typeface="Arial"/>
                        </a:rPr>
                        <a:t>(0.2, 1, 0.9)</a:t>
                      </a:r>
                      <a:endParaRPr sz="1100"/>
                    </a:p>
                  </a:txBody>
                  <a:tcPr marL="36576" marR="36576" marT="0" marB="0" anchor="ctr">
                    <a:lnB w="15875">
                      <a:solidFill>
                        <a:srgbClr val="14213D"/>
                      </a:solidFill>
                    </a:lnB>
                    <a:no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429768"/>
            <a:ext cx="77724" cy="77724"/>
          </a:xfrm>
          <a:prstGeom prst="rect">
            <a:avLst/>
          </a:prstGeom>
          <a:solidFill>
            <a:srgbClr val="C4C9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62940" y="429768"/>
            <a:ext cx="77724" cy="77724"/>
          </a:xfrm>
          <a:prstGeom prst="rect">
            <a:avLst/>
          </a:prstGeom>
          <a:solidFill>
            <a:srgbClr val="C4C9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429768"/>
            <a:ext cx="77724" cy="77724"/>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370332"/>
            <a:ext cx="8229600" cy="274320"/>
          </a:xfrm>
          <a:prstGeom prst="rect">
            <a:avLst/>
          </a:prstGeom>
          <a:noFill/>
        </p:spPr>
        <p:txBody>
          <a:bodyPr wrap="square" lIns="0" rIns="0" tIns="0" bIns="0" anchor="t">
            <a:noAutofit/>
          </a:bodyPr>
          <a:lstStyle/>
          <a:p>
            <a:pPr algn="l">
              <a:spcAft>
                <a:spcPts val="600"/>
              </a:spcAft>
            </a:pPr>
            <a:r>
              <a:rPr sz="1100" b="1" i="0" spc="150">
                <a:solidFill>
                  <a:srgbClr val="E4572E"/>
                </a:solidFill>
                <a:latin typeface="Arial"/>
              </a:rPr>
              <a:t>METHODOLOGY  ·  MODELS</a:t>
            </a:r>
            <a:endParaRPr sz="1100"/>
          </a:p>
        </p:txBody>
      </p:sp>
      <p:sp>
        <p:nvSpPr>
          <p:cNvPr id="6" name="TextBox 5"/>
          <p:cNvSpPr txBox="1"/>
          <p:nvPr/>
        </p:nvSpPr>
        <p:spPr>
          <a:xfrm>
            <a:off x="548640" y="676656"/>
            <a:ext cx="11091672" cy="640080"/>
          </a:xfrm>
          <a:prstGeom prst="rect">
            <a:avLst/>
          </a:prstGeom>
          <a:noFill/>
        </p:spPr>
        <p:txBody>
          <a:bodyPr wrap="square" lIns="0" rIns="0" tIns="0" bIns="0" anchor="t">
            <a:noAutofit/>
          </a:bodyPr>
          <a:lstStyle/>
          <a:p>
            <a:pPr algn="l">
              <a:spcAft>
                <a:spcPts val="600"/>
              </a:spcAft>
            </a:pPr>
            <a:r>
              <a:rPr sz="2600" b="1" i="0">
                <a:solidFill>
                  <a:srgbClr val="14213D"/>
                </a:solidFill>
                <a:latin typeface="Georgia"/>
              </a:rPr>
              <a:t>Seven methods, from deletion to conditional diffusion</a:t>
            </a:r>
            <a:endParaRPr sz="2600"/>
          </a:p>
        </p:txBody>
      </p:sp>
      <p:sp>
        <p:nvSpPr>
          <p:cNvPr id="7" name="TextBox 6"/>
          <p:cNvSpPr txBox="1"/>
          <p:nvPr/>
        </p:nvSpPr>
        <p:spPr>
          <a:xfrm>
            <a:off x="548640" y="6419088"/>
            <a:ext cx="5486400" cy="228600"/>
          </a:xfrm>
          <a:prstGeom prst="rect">
            <a:avLst/>
          </a:prstGeom>
          <a:noFill/>
        </p:spPr>
        <p:txBody>
          <a:bodyPr wrap="square" lIns="0" rIns="0" tIns="0" bIns="0" anchor="t">
            <a:noAutofit/>
          </a:bodyPr>
          <a:lstStyle/>
          <a:p>
            <a:pPr algn="l">
              <a:spcAft>
                <a:spcPts val="600"/>
              </a:spcAft>
            </a:pPr>
            <a:r>
              <a:rPr sz="1000" b="0" i="0">
                <a:solidFill>
                  <a:srgbClr val="6B7280"/>
                </a:solidFill>
                <a:latin typeface="Arial"/>
              </a:rPr>
              <a:t>Michele Carlo Fanelli  ·  Bocconi University</a:t>
            </a:r>
            <a:endParaRPr sz="1000"/>
          </a:p>
        </p:txBody>
      </p:sp>
      <p:sp>
        <p:nvSpPr>
          <p:cNvPr id="8" name="TextBox 7"/>
          <p:cNvSpPr txBox="1"/>
          <p:nvPr/>
        </p:nvSpPr>
        <p:spPr>
          <a:xfrm>
            <a:off x="10268712" y="6419088"/>
            <a:ext cx="1371600" cy="228600"/>
          </a:xfrm>
          <a:prstGeom prst="rect">
            <a:avLst/>
          </a:prstGeom>
          <a:noFill/>
        </p:spPr>
        <p:txBody>
          <a:bodyPr wrap="square" lIns="0" rIns="0" tIns="0" bIns="0" anchor="t">
            <a:noAutofit/>
          </a:bodyPr>
          <a:lstStyle/>
          <a:p>
            <a:pPr algn="r">
              <a:spcAft>
                <a:spcPts val="600"/>
              </a:spcAft>
            </a:pPr>
            <a:r>
              <a:rPr sz="1000" b="0" i="0">
                <a:solidFill>
                  <a:srgbClr val="6B7280"/>
                </a:solidFill>
                <a:latin typeface="Arial"/>
              </a:rPr>
              <a:t>6 / 15</a:t>
            </a:r>
            <a:endParaRPr sz="1000"/>
          </a:p>
        </p:txBody>
      </p:sp>
      <p:sp>
        <p:nvSpPr>
          <p:cNvPr id="9" name="Rounded Rectangle 8"/>
          <p:cNvSpPr/>
          <p:nvPr/>
        </p:nvSpPr>
        <p:spPr>
          <a:xfrm>
            <a:off x="548640" y="1536192"/>
            <a:ext cx="3520440" cy="3310128"/>
          </a:xfrm>
          <a:prstGeom prst="roundRect">
            <a:avLst>
              <a:gd name="adj" fmla="val 2209"/>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1737360"/>
            <a:ext cx="3017520" cy="274320"/>
          </a:xfrm>
          <a:prstGeom prst="rect">
            <a:avLst/>
          </a:prstGeom>
          <a:noFill/>
        </p:spPr>
        <p:txBody>
          <a:bodyPr wrap="square" lIns="0" rIns="0" tIns="0" bIns="0" anchor="t">
            <a:noAutofit/>
          </a:bodyPr>
          <a:lstStyle/>
          <a:p>
            <a:pPr algn="l">
              <a:spcAft>
                <a:spcPts val="600"/>
              </a:spcAft>
            </a:pPr>
            <a:r>
              <a:rPr sz="1100" b="1" i="0" spc="150">
                <a:solidFill>
                  <a:srgbClr val="E4572E"/>
                </a:solidFill>
                <a:latin typeface="Arial"/>
              </a:rPr>
              <a:t>BASELINES</a:t>
            </a:r>
            <a:endParaRPr sz="1100"/>
          </a:p>
        </p:txBody>
      </p:sp>
      <p:sp>
        <p:nvSpPr>
          <p:cNvPr id="11" name="TextBox 10"/>
          <p:cNvSpPr txBox="1"/>
          <p:nvPr/>
        </p:nvSpPr>
        <p:spPr>
          <a:xfrm>
            <a:off x="804672" y="2103120"/>
            <a:ext cx="3035808" cy="2697480"/>
          </a:xfrm>
          <a:prstGeom prst="rect">
            <a:avLst/>
          </a:prstGeom>
          <a:noFill/>
        </p:spPr>
        <p:txBody>
          <a:bodyPr wrap="square" lIns="0" rIns="0" tIns="0" bIns="0" anchor="t">
            <a:noAutofit/>
          </a:bodyPr>
          <a:lstStyle/>
          <a:p>
            <a:pPr algn="l">
              <a:spcAft>
                <a:spcPts val="100"/>
              </a:spcAft>
            </a:pPr>
            <a:r>
              <a:rPr sz="1650" b="1" i="0">
                <a:solidFill>
                  <a:srgbClr val="14213D"/>
                </a:solidFill>
                <a:latin typeface="Arial"/>
              </a:rPr>
              <a:t>Deletion</a:t>
            </a:r>
            <a:endParaRPr sz="1650"/>
          </a:p>
          <a:p>
            <a:pPr algn="l">
              <a:spcAft>
                <a:spcPts val="100"/>
              </a:spcAft>
            </a:pPr>
            <a:r>
              <a:rPr sz="1300" b="0" i="0">
                <a:solidFill>
                  <a:srgbClr val="1F2937"/>
                </a:solidFill>
                <a:latin typeface="Arial"/>
              </a:rPr>
              <a:t>Drop every date with a missing value (complete cases)</a:t>
            </a:r>
            <a:endParaRPr sz="1300"/>
          </a:p>
          <a:p>
            <a:pPr algn="l">
              <a:spcAft>
                <a:spcPts val="1100"/>
              </a:spcAft>
            </a:pPr>
            <a:r>
              <a:rPr sz="1050" b="0" i="0">
                <a:solidFill>
                  <a:srgbClr val="6B7280"/>
                </a:solidFill>
                <a:latin typeface="Arial"/>
              </a:rPr>
              <a:t>Little and Rubin (2019)</a:t>
            </a:r>
            <a:endParaRPr sz="1050"/>
          </a:p>
          <a:p>
            <a:pPr algn="l">
              <a:spcAft>
                <a:spcPts val="100"/>
              </a:spcAft>
            </a:pPr>
            <a:r>
              <a:rPr sz="1650" b="1" i="0">
                <a:solidFill>
                  <a:srgbClr val="14213D"/>
                </a:solidFill>
                <a:latin typeface="Arial"/>
              </a:rPr>
              <a:t>Zero</a:t>
            </a:r>
            <a:endParaRPr sz="1650"/>
          </a:p>
          <a:p>
            <a:pPr algn="l">
              <a:spcAft>
                <a:spcPts val="100"/>
              </a:spcAft>
            </a:pPr>
            <a:r>
              <a:rPr sz="1300" b="0" i="0">
                <a:solidFill>
                  <a:srgbClr val="1F2937"/>
                </a:solidFill>
                <a:latin typeface="Arial"/>
              </a:rPr>
              <a:t>Fill with 0, as if the price were carried forward</a:t>
            </a:r>
            <a:endParaRPr sz="1300"/>
          </a:p>
          <a:p>
            <a:pPr algn="l">
              <a:spcAft>
                <a:spcPts val="1100"/>
              </a:spcAft>
            </a:pPr>
            <a:r>
              <a:rPr sz="1050" b="0" i="0">
                <a:solidFill>
                  <a:srgbClr val="6B7280"/>
                </a:solidFill>
                <a:latin typeface="Arial"/>
              </a:rPr>
              <a:t> </a:t>
            </a:r>
            <a:endParaRPr sz="1050"/>
          </a:p>
        </p:txBody>
      </p:sp>
      <p:sp>
        <p:nvSpPr>
          <p:cNvPr id="12" name="Rounded Rectangle 11"/>
          <p:cNvSpPr/>
          <p:nvPr/>
        </p:nvSpPr>
        <p:spPr>
          <a:xfrm>
            <a:off x="4334255" y="1536192"/>
            <a:ext cx="3520440" cy="3310128"/>
          </a:xfrm>
          <a:prstGeom prst="roundRect">
            <a:avLst>
              <a:gd name="adj" fmla="val 2209"/>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0288" y="1737360"/>
            <a:ext cx="3017520" cy="274320"/>
          </a:xfrm>
          <a:prstGeom prst="rect">
            <a:avLst/>
          </a:prstGeom>
          <a:noFill/>
        </p:spPr>
        <p:txBody>
          <a:bodyPr wrap="square" lIns="0" rIns="0" tIns="0" bIns="0" anchor="t">
            <a:noAutofit/>
          </a:bodyPr>
          <a:lstStyle/>
          <a:p>
            <a:pPr algn="l">
              <a:spcAft>
                <a:spcPts val="600"/>
              </a:spcAft>
            </a:pPr>
            <a:r>
              <a:rPr sz="1100" b="1" i="0" spc="150">
                <a:solidFill>
                  <a:srgbClr val="E4572E"/>
                </a:solidFill>
                <a:latin typeface="Arial"/>
              </a:rPr>
              <a:t>CLASSICAL</a:t>
            </a:r>
            <a:endParaRPr sz="1100"/>
          </a:p>
        </p:txBody>
      </p:sp>
      <p:sp>
        <p:nvSpPr>
          <p:cNvPr id="14" name="TextBox 13"/>
          <p:cNvSpPr txBox="1"/>
          <p:nvPr/>
        </p:nvSpPr>
        <p:spPr>
          <a:xfrm>
            <a:off x="4590288" y="2103120"/>
            <a:ext cx="3035808" cy="2697480"/>
          </a:xfrm>
          <a:prstGeom prst="rect">
            <a:avLst/>
          </a:prstGeom>
          <a:noFill/>
        </p:spPr>
        <p:txBody>
          <a:bodyPr wrap="square" lIns="0" rIns="0" tIns="0" bIns="0" anchor="t">
            <a:noAutofit/>
          </a:bodyPr>
          <a:lstStyle/>
          <a:p>
            <a:pPr algn="l">
              <a:spcAft>
                <a:spcPts val="100"/>
              </a:spcAft>
            </a:pPr>
            <a:r>
              <a:rPr sz="1650" b="1" i="0">
                <a:solidFill>
                  <a:srgbClr val="14213D"/>
                </a:solidFill>
                <a:latin typeface="Arial"/>
              </a:rPr>
              <a:t>KNN</a:t>
            </a:r>
            <a:endParaRPr sz="1650"/>
          </a:p>
          <a:p>
            <a:pPr algn="l">
              <a:spcAft>
                <a:spcPts val="100"/>
              </a:spcAft>
            </a:pPr>
            <a:r>
              <a:rPr sz="1300" b="0" i="0">
                <a:solidFill>
                  <a:srgbClr val="1F2937"/>
                </a:solidFill>
                <a:latin typeface="Arial"/>
              </a:rPr>
              <a:t>Inverse-distance average over the </a:t>
            </a:r>
            <a:r>
              <a:rPr sz="1300" b="0" i="1">
                <a:solidFill>
                  <a:srgbClr val="1F2937"/>
                </a:solidFill>
                <a:latin typeface="Arial"/>
              </a:rPr>
              <a:t>k</a:t>
            </a:r>
            <a:r>
              <a:rPr sz="1300" b="0" i="0">
                <a:solidFill>
                  <a:srgbClr val="1F2937"/>
                </a:solidFill>
                <a:latin typeface="Arial"/>
              </a:rPr>
              <a:t> nearest dates</a:t>
            </a:r>
            <a:endParaRPr sz="1300"/>
          </a:p>
          <a:p>
            <a:pPr algn="l">
              <a:spcAft>
                <a:spcPts val="1100"/>
              </a:spcAft>
            </a:pPr>
            <a:r>
              <a:rPr sz="1050" b="0" i="0">
                <a:solidFill>
                  <a:srgbClr val="6B7280"/>
                </a:solidFill>
                <a:latin typeface="Arial"/>
              </a:rPr>
              <a:t>Troyanskaya et al. (2001)</a:t>
            </a:r>
            <a:endParaRPr sz="1050"/>
          </a:p>
          <a:p>
            <a:pPr algn="l">
              <a:spcAft>
                <a:spcPts val="100"/>
              </a:spcAft>
            </a:pPr>
            <a:r>
              <a:rPr sz="1650" b="1" i="0">
                <a:solidFill>
                  <a:srgbClr val="14213D"/>
                </a:solidFill>
                <a:latin typeface="Arial"/>
              </a:rPr>
              <a:t>Low-rank</a:t>
            </a:r>
            <a:endParaRPr sz="1650"/>
          </a:p>
          <a:p>
            <a:pPr algn="l">
              <a:spcAft>
                <a:spcPts val="100"/>
              </a:spcAft>
            </a:pPr>
            <a:r>
              <a:rPr sz="1300" b="0" i="0">
                <a:solidFill>
                  <a:srgbClr val="1F2937"/>
                </a:solidFill>
                <a:latin typeface="Arial"/>
              </a:rPr>
              <a:t>Iterative truncated SVD: a </a:t>
            </a:r>
            <a:r>
              <a:rPr sz="1300" b="0" i="1">
                <a:solidFill>
                  <a:srgbClr val="1F2937"/>
                </a:solidFill>
                <a:latin typeface="Arial"/>
              </a:rPr>
              <a:t>q</a:t>
            </a:r>
            <a:r>
              <a:rPr sz="1300" b="0" i="0">
                <a:solidFill>
                  <a:srgbClr val="1F2937"/>
                </a:solidFill>
                <a:latin typeface="Arial"/>
              </a:rPr>
              <a:t>-factor reconstruction</a:t>
            </a:r>
            <a:endParaRPr sz="1300"/>
          </a:p>
          <a:p>
            <a:pPr algn="l">
              <a:spcAft>
                <a:spcPts val="1100"/>
              </a:spcAft>
            </a:pPr>
            <a:r>
              <a:rPr sz="1050" b="0" i="0">
                <a:solidFill>
                  <a:srgbClr val="6B7280"/>
                </a:solidFill>
                <a:latin typeface="Arial"/>
              </a:rPr>
              <a:t>Mazumder et al. (2010)</a:t>
            </a:r>
            <a:endParaRPr sz="1050"/>
          </a:p>
          <a:p>
            <a:pPr algn="l">
              <a:spcAft>
                <a:spcPts val="100"/>
              </a:spcAft>
            </a:pPr>
            <a:r>
              <a:rPr sz="1650" b="1" i="0">
                <a:solidFill>
                  <a:srgbClr val="14213D"/>
                </a:solidFill>
                <a:latin typeface="Arial"/>
              </a:rPr>
              <a:t>EM</a:t>
            </a:r>
            <a:endParaRPr sz="1650"/>
          </a:p>
          <a:p>
            <a:pPr algn="l">
              <a:spcAft>
                <a:spcPts val="100"/>
              </a:spcAft>
            </a:pPr>
            <a:r>
              <a:rPr sz="1300" b="0" i="0">
                <a:solidFill>
                  <a:srgbClr val="1F2937"/>
                </a:solidFill>
                <a:latin typeface="Arial"/>
              </a:rPr>
              <a:t>Gaussian maximum likelihood, conditional-mean fill</a:t>
            </a:r>
            <a:endParaRPr sz="1300"/>
          </a:p>
          <a:p>
            <a:pPr algn="l">
              <a:spcAft>
                <a:spcPts val="1100"/>
              </a:spcAft>
            </a:pPr>
            <a:r>
              <a:rPr sz="1050" b="0" i="0">
                <a:solidFill>
                  <a:srgbClr val="6B7280"/>
                </a:solidFill>
                <a:latin typeface="Arial"/>
              </a:rPr>
              <a:t>Dempster et al. (1977)</a:t>
            </a:r>
            <a:endParaRPr sz="1050"/>
          </a:p>
        </p:txBody>
      </p:sp>
      <p:sp>
        <p:nvSpPr>
          <p:cNvPr id="15" name="Rounded Rectangle 14"/>
          <p:cNvSpPr/>
          <p:nvPr/>
        </p:nvSpPr>
        <p:spPr>
          <a:xfrm>
            <a:off x="8119871" y="1536192"/>
            <a:ext cx="3520440" cy="3310128"/>
          </a:xfrm>
          <a:prstGeom prst="roundRect">
            <a:avLst>
              <a:gd name="adj" fmla="val 2209"/>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75903" y="1737360"/>
            <a:ext cx="3017520" cy="274320"/>
          </a:xfrm>
          <a:prstGeom prst="rect">
            <a:avLst/>
          </a:prstGeom>
          <a:noFill/>
        </p:spPr>
        <p:txBody>
          <a:bodyPr wrap="square" lIns="0" rIns="0" tIns="0" bIns="0" anchor="t">
            <a:noAutofit/>
          </a:bodyPr>
          <a:lstStyle/>
          <a:p>
            <a:pPr algn="l">
              <a:spcAft>
                <a:spcPts val="600"/>
              </a:spcAft>
            </a:pPr>
            <a:r>
              <a:rPr sz="1100" b="1" i="0" spc="150">
                <a:solidFill>
                  <a:srgbClr val="E4572E"/>
                </a:solidFill>
                <a:latin typeface="Arial"/>
              </a:rPr>
              <a:t>DEEP LEARNING</a:t>
            </a:r>
            <a:endParaRPr sz="1100"/>
          </a:p>
        </p:txBody>
      </p:sp>
      <p:sp>
        <p:nvSpPr>
          <p:cNvPr id="17" name="TextBox 16"/>
          <p:cNvSpPr txBox="1"/>
          <p:nvPr/>
        </p:nvSpPr>
        <p:spPr>
          <a:xfrm>
            <a:off x="8375903" y="2103120"/>
            <a:ext cx="3035808" cy="2697480"/>
          </a:xfrm>
          <a:prstGeom prst="rect">
            <a:avLst/>
          </a:prstGeom>
          <a:noFill/>
        </p:spPr>
        <p:txBody>
          <a:bodyPr wrap="square" lIns="0" rIns="0" tIns="0" bIns="0" anchor="t">
            <a:noAutofit/>
          </a:bodyPr>
          <a:lstStyle/>
          <a:p>
            <a:pPr algn="l">
              <a:spcAft>
                <a:spcPts val="100"/>
              </a:spcAft>
            </a:pPr>
            <a:r>
              <a:rPr sz="1650" b="1" i="0">
                <a:solidFill>
                  <a:srgbClr val="14213D"/>
                </a:solidFill>
                <a:latin typeface="Arial"/>
              </a:rPr>
              <a:t>BRITS</a:t>
            </a:r>
            <a:endParaRPr sz="1650"/>
          </a:p>
          <a:p>
            <a:pPr algn="l">
              <a:spcAft>
                <a:spcPts val="100"/>
              </a:spcAft>
            </a:pPr>
            <a:r>
              <a:rPr sz="1300" b="0" i="0">
                <a:solidFill>
                  <a:srgbClr val="1F2937"/>
                </a:solidFill>
                <a:latin typeface="Arial"/>
              </a:rPr>
              <a:t>Bidirectional RNN blending history and cross-section</a:t>
            </a:r>
            <a:endParaRPr sz="1300"/>
          </a:p>
          <a:p>
            <a:pPr algn="l">
              <a:spcAft>
                <a:spcPts val="1100"/>
              </a:spcAft>
            </a:pPr>
            <a:r>
              <a:rPr sz="1050" b="0" i="0">
                <a:solidFill>
                  <a:srgbClr val="6B7280"/>
                </a:solidFill>
                <a:latin typeface="Arial"/>
              </a:rPr>
              <a:t>Cao et al. (2018)</a:t>
            </a:r>
            <a:endParaRPr sz="1050"/>
          </a:p>
          <a:p>
            <a:pPr algn="l">
              <a:spcAft>
                <a:spcPts val="100"/>
              </a:spcAft>
            </a:pPr>
            <a:r>
              <a:rPr sz="1650" b="1" i="0">
                <a:solidFill>
                  <a:srgbClr val="14213D"/>
                </a:solidFill>
                <a:latin typeface="Arial"/>
              </a:rPr>
              <a:t>CSDI</a:t>
            </a:r>
            <a:endParaRPr sz="1650"/>
          </a:p>
          <a:p>
            <a:pPr algn="l">
              <a:spcAft>
                <a:spcPts val="100"/>
              </a:spcAft>
            </a:pPr>
            <a:r>
              <a:rPr sz="1300" b="0" i="0">
                <a:solidFill>
                  <a:srgbClr val="1F2937"/>
                </a:solidFill>
                <a:latin typeface="Arial"/>
              </a:rPr>
              <a:t>Conditional score-based diffusion; median of 32 draws</a:t>
            </a:r>
            <a:endParaRPr sz="1300"/>
          </a:p>
          <a:p>
            <a:pPr algn="l">
              <a:spcAft>
                <a:spcPts val="1100"/>
              </a:spcAft>
            </a:pPr>
            <a:r>
              <a:rPr sz="1050" b="0" i="0">
                <a:solidFill>
                  <a:srgbClr val="6B7280"/>
                </a:solidFill>
                <a:latin typeface="Arial"/>
              </a:rPr>
              <a:t>Tashiro et al. (2021)</a:t>
            </a:r>
            <a:endParaRPr sz="1050"/>
          </a:p>
        </p:txBody>
      </p:sp>
      <p:sp>
        <p:nvSpPr>
          <p:cNvPr id="18" name="Rounded Rectangle 17"/>
          <p:cNvSpPr/>
          <p:nvPr/>
        </p:nvSpPr>
        <p:spPr>
          <a:xfrm>
            <a:off x="548640" y="5029200"/>
            <a:ext cx="11091672" cy="1188720"/>
          </a:xfrm>
          <a:prstGeom prst="roundRect">
            <a:avLst>
              <a:gd name="adj" fmla="val 6153"/>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formula_em.png"/>
          <p:cNvPicPr>
            <a:picLocks noChangeAspect="1"/>
          </p:cNvPicPr>
          <p:nvPr/>
        </p:nvPicPr>
        <p:blipFill>
          <a:blip r:embed="rId2"/>
          <a:stretch>
            <a:fillRect/>
          </a:stretch>
        </p:blipFill>
        <p:spPr>
          <a:xfrm>
            <a:off x="3448476" y="5175504"/>
            <a:ext cx="5292000" cy="421200"/>
          </a:xfrm>
          <a:prstGeom prst="rect">
            <a:avLst/>
          </a:prstGeom>
        </p:spPr>
      </p:pic>
      <p:sp>
        <p:nvSpPr>
          <p:cNvPr id="20" name="TextBox 19"/>
          <p:cNvSpPr txBox="1"/>
          <p:nvPr/>
        </p:nvSpPr>
        <p:spPr>
          <a:xfrm>
            <a:off x="548640" y="5833872"/>
            <a:ext cx="11091672" cy="274320"/>
          </a:xfrm>
          <a:prstGeom prst="rect">
            <a:avLst/>
          </a:prstGeom>
          <a:noFill/>
        </p:spPr>
        <p:txBody>
          <a:bodyPr wrap="square" lIns="0" rIns="0" tIns="0" bIns="0" anchor="t">
            <a:noAutofit/>
          </a:bodyPr>
          <a:lstStyle/>
          <a:p>
            <a:pPr algn="ctr">
              <a:spcAft>
                <a:spcPts val="600"/>
              </a:spcAft>
            </a:pPr>
            <a:r>
              <a:rPr sz="1250" b="0" i="0">
                <a:solidFill>
                  <a:srgbClr val="6B7280"/>
                </a:solidFill>
                <a:latin typeface="Arial"/>
              </a:rPr>
              <a:t>EM fill: the conditional mean given the assets observed on the same date, which minimises the expected squared error</a:t>
            </a:r>
            <a:endParaRPr sz="1250"/>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429768"/>
            <a:ext cx="77724" cy="77724"/>
          </a:xfrm>
          <a:prstGeom prst="rect">
            <a:avLst/>
          </a:prstGeom>
          <a:solidFill>
            <a:srgbClr val="C4C9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62940" y="429768"/>
            <a:ext cx="77724" cy="77724"/>
          </a:xfrm>
          <a:prstGeom prst="rect">
            <a:avLst/>
          </a:prstGeom>
          <a:solidFill>
            <a:srgbClr val="C4C9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429768"/>
            <a:ext cx="77724" cy="77724"/>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370332"/>
            <a:ext cx="8229600" cy="274320"/>
          </a:xfrm>
          <a:prstGeom prst="rect">
            <a:avLst/>
          </a:prstGeom>
          <a:noFill/>
        </p:spPr>
        <p:txBody>
          <a:bodyPr wrap="square" lIns="0" rIns="0" tIns="0" bIns="0" anchor="t">
            <a:noAutofit/>
          </a:bodyPr>
          <a:lstStyle/>
          <a:p>
            <a:pPr algn="l">
              <a:spcAft>
                <a:spcPts val="600"/>
              </a:spcAft>
            </a:pPr>
            <a:r>
              <a:rPr sz="1100" b="1" i="0" spc="150">
                <a:solidFill>
                  <a:srgbClr val="E4572E"/>
                </a:solidFill>
                <a:latin typeface="Arial"/>
              </a:rPr>
              <a:t>METHODOLOGY  ·  EVALUATION</a:t>
            </a:r>
            <a:endParaRPr sz="1100"/>
          </a:p>
        </p:txBody>
      </p:sp>
      <p:sp>
        <p:nvSpPr>
          <p:cNvPr id="6" name="TextBox 5"/>
          <p:cNvSpPr txBox="1"/>
          <p:nvPr/>
        </p:nvSpPr>
        <p:spPr>
          <a:xfrm>
            <a:off x="548640" y="676656"/>
            <a:ext cx="11091672" cy="640080"/>
          </a:xfrm>
          <a:prstGeom prst="rect">
            <a:avLst/>
          </a:prstGeom>
          <a:noFill/>
        </p:spPr>
        <p:txBody>
          <a:bodyPr wrap="square" lIns="0" rIns="0" tIns="0" bIns="0" anchor="t">
            <a:noAutofit/>
          </a:bodyPr>
          <a:lstStyle/>
          <a:p>
            <a:pPr algn="l">
              <a:spcAft>
                <a:spcPts val="600"/>
              </a:spcAft>
            </a:pPr>
            <a:r>
              <a:rPr sz="2600" b="1" i="0">
                <a:solidFill>
                  <a:srgbClr val="14213D"/>
                </a:solidFill>
                <a:latin typeface="Georgia"/>
              </a:rPr>
              <a:t>Evaluating the panel, not only the filled cells</a:t>
            </a:r>
            <a:endParaRPr sz="2600"/>
          </a:p>
        </p:txBody>
      </p:sp>
      <p:sp>
        <p:nvSpPr>
          <p:cNvPr id="7" name="TextBox 6"/>
          <p:cNvSpPr txBox="1"/>
          <p:nvPr/>
        </p:nvSpPr>
        <p:spPr>
          <a:xfrm>
            <a:off x="548640" y="6419088"/>
            <a:ext cx="5486400" cy="228600"/>
          </a:xfrm>
          <a:prstGeom prst="rect">
            <a:avLst/>
          </a:prstGeom>
          <a:noFill/>
        </p:spPr>
        <p:txBody>
          <a:bodyPr wrap="square" lIns="0" rIns="0" tIns="0" bIns="0" anchor="t">
            <a:noAutofit/>
          </a:bodyPr>
          <a:lstStyle/>
          <a:p>
            <a:pPr algn="l">
              <a:spcAft>
                <a:spcPts val="600"/>
              </a:spcAft>
            </a:pPr>
            <a:r>
              <a:rPr sz="1000" b="0" i="0">
                <a:solidFill>
                  <a:srgbClr val="6B7280"/>
                </a:solidFill>
                <a:latin typeface="Arial"/>
              </a:rPr>
              <a:t>Michele Carlo Fanelli  ·  Bocconi University</a:t>
            </a:r>
            <a:endParaRPr sz="1000"/>
          </a:p>
        </p:txBody>
      </p:sp>
      <p:sp>
        <p:nvSpPr>
          <p:cNvPr id="8" name="TextBox 7"/>
          <p:cNvSpPr txBox="1"/>
          <p:nvPr/>
        </p:nvSpPr>
        <p:spPr>
          <a:xfrm>
            <a:off x="10268712" y="6419088"/>
            <a:ext cx="1371600" cy="228600"/>
          </a:xfrm>
          <a:prstGeom prst="rect">
            <a:avLst/>
          </a:prstGeom>
          <a:noFill/>
        </p:spPr>
        <p:txBody>
          <a:bodyPr wrap="square" lIns="0" rIns="0" tIns="0" bIns="0" anchor="t">
            <a:noAutofit/>
          </a:bodyPr>
          <a:lstStyle/>
          <a:p>
            <a:pPr algn="r">
              <a:spcAft>
                <a:spcPts val="600"/>
              </a:spcAft>
            </a:pPr>
            <a:r>
              <a:rPr sz="1000" b="0" i="0">
                <a:solidFill>
                  <a:srgbClr val="6B7280"/>
                </a:solidFill>
                <a:latin typeface="Arial"/>
              </a:rPr>
              <a:t>7 / 15</a:t>
            </a:r>
            <a:endParaRPr sz="1000"/>
          </a:p>
        </p:txBody>
      </p:sp>
      <p:sp>
        <p:nvSpPr>
          <p:cNvPr id="9" name="TextBox 8"/>
          <p:cNvSpPr txBox="1"/>
          <p:nvPr/>
        </p:nvSpPr>
        <p:spPr>
          <a:xfrm>
            <a:off x="548640" y="1481328"/>
            <a:ext cx="5486400" cy="320040"/>
          </a:xfrm>
          <a:prstGeom prst="rect">
            <a:avLst/>
          </a:prstGeom>
          <a:noFill/>
        </p:spPr>
        <p:txBody>
          <a:bodyPr wrap="square" lIns="0" rIns="0" tIns="0" bIns="0" anchor="t">
            <a:noAutofit/>
          </a:bodyPr>
          <a:lstStyle/>
          <a:p>
            <a:pPr algn="l">
              <a:spcAft>
                <a:spcPts val="600"/>
              </a:spcAft>
            </a:pPr>
            <a:r>
              <a:rPr sz="1700" b="1" i="0">
                <a:solidFill>
                  <a:srgbClr val="14213D"/>
                </a:solidFill>
                <a:latin typeface="Arial"/>
              </a:rPr>
              <a:t>Seven metrics, four families</a:t>
            </a:r>
            <a:endParaRPr sz="1700"/>
          </a:p>
        </p:txBody>
      </p:sp>
      <p:sp>
        <p:nvSpPr>
          <p:cNvPr id="10" name="Rounded Rectangle 9"/>
          <p:cNvSpPr/>
          <p:nvPr/>
        </p:nvSpPr>
        <p:spPr>
          <a:xfrm>
            <a:off x="548640" y="1938528"/>
            <a:ext cx="5623560" cy="612648"/>
          </a:xfrm>
          <a:prstGeom prst="roundRect">
            <a:avLst>
              <a:gd name="adj" fmla="val 1194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2093976"/>
            <a:ext cx="1417320" cy="274320"/>
          </a:xfrm>
          <a:prstGeom prst="rect">
            <a:avLst/>
          </a:prstGeom>
          <a:noFill/>
        </p:spPr>
        <p:txBody>
          <a:bodyPr wrap="square" lIns="0" rIns="0" tIns="0" bIns="0" anchor="t">
            <a:noAutofit/>
          </a:bodyPr>
          <a:lstStyle/>
          <a:p>
            <a:pPr algn="l">
              <a:spcAft>
                <a:spcPts val="600"/>
              </a:spcAft>
            </a:pPr>
            <a:r>
              <a:rPr sz="1250" b="1" i="0">
                <a:solidFill>
                  <a:srgbClr val="E4572E"/>
                </a:solidFill>
                <a:latin typeface="Arial"/>
              </a:rPr>
              <a:t>Pointwise</a:t>
            </a:r>
            <a:endParaRPr sz="1250"/>
          </a:p>
        </p:txBody>
      </p:sp>
      <p:sp>
        <p:nvSpPr>
          <p:cNvPr id="12" name="TextBox 11"/>
          <p:cNvSpPr txBox="1"/>
          <p:nvPr/>
        </p:nvSpPr>
        <p:spPr>
          <a:xfrm>
            <a:off x="2194560" y="2084832"/>
            <a:ext cx="3886200" cy="429768"/>
          </a:xfrm>
          <a:prstGeom prst="rect">
            <a:avLst/>
          </a:prstGeom>
          <a:noFill/>
        </p:spPr>
        <p:txBody>
          <a:bodyPr wrap="square" lIns="0" rIns="0" tIns="0" bIns="0" anchor="t">
            <a:noAutofit/>
          </a:bodyPr>
          <a:lstStyle/>
          <a:p>
            <a:pPr algn="l">
              <a:spcAft>
                <a:spcPts val="500"/>
              </a:spcAft>
            </a:pPr>
            <a:r>
              <a:rPr sz="1250" b="1" i="0">
                <a:solidFill>
                  <a:srgbClr val="1F2937"/>
                </a:solidFill>
                <a:latin typeface="Arial"/>
              </a:rPr>
              <a:t>MAE, RMSE</a:t>
            </a:r>
            <a:r>
              <a:rPr sz="1250" b="0" i="0">
                <a:solidFill>
                  <a:srgbClr val="1F2937"/>
                </a:solidFill>
                <a:latin typeface="Arial"/>
              </a:rPr>
              <a:t>   imputed cells only</a:t>
            </a:r>
            <a:endParaRPr sz="1250"/>
          </a:p>
        </p:txBody>
      </p:sp>
      <p:sp>
        <p:nvSpPr>
          <p:cNvPr id="13" name="Rounded Rectangle 12"/>
          <p:cNvSpPr/>
          <p:nvPr/>
        </p:nvSpPr>
        <p:spPr>
          <a:xfrm>
            <a:off x="548640" y="2660904"/>
            <a:ext cx="5623560" cy="914400"/>
          </a:xfrm>
          <a:prstGeom prst="roundRect">
            <a:avLst>
              <a:gd name="adj" fmla="val 8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2816352"/>
            <a:ext cx="1417320" cy="274320"/>
          </a:xfrm>
          <a:prstGeom prst="rect">
            <a:avLst/>
          </a:prstGeom>
          <a:noFill/>
        </p:spPr>
        <p:txBody>
          <a:bodyPr wrap="square" lIns="0" rIns="0" tIns="0" bIns="0" anchor="t">
            <a:noAutofit/>
          </a:bodyPr>
          <a:lstStyle/>
          <a:p>
            <a:pPr algn="l">
              <a:spcAft>
                <a:spcPts val="600"/>
              </a:spcAft>
            </a:pPr>
            <a:r>
              <a:rPr sz="1250" b="1" i="0">
                <a:solidFill>
                  <a:srgbClr val="E4572E"/>
                </a:solidFill>
                <a:latin typeface="Arial"/>
              </a:rPr>
              <a:t>Marginal</a:t>
            </a:r>
            <a:endParaRPr sz="1250"/>
          </a:p>
        </p:txBody>
      </p:sp>
      <p:sp>
        <p:nvSpPr>
          <p:cNvPr id="15" name="TextBox 14"/>
          <p:cNvSpPr txBox="1"/>
          <p:nvPr/>
        </p:nvSpPr>
        <p:spPr>
          <a:xfrm>
            <a:off x="2194560" y="2807208"/>
            <a:ext cx="3886200" cy="731520"/>
          </a:xfrm>
          <a:prstGeom prst="rect">
            <a:avLst/>
          </a:prstGeom>
          <a:noFill/>
        </p:spPr>
        <p:txBody>
          <a:bodyPr wrap="square" lIns="0" rIns="0" tIns="0" bIns="0" anchor="t">
            <a:noAutofit/>
          </a:bodyPr>
          <a:lstStyle/>
          <a:p>
            <a:pPr algn="l">
              <a:spcAft>
                <a:spcPts val="500"/>
              </a:spcAft>
            </a:pPr>
            <a:r>
              <a:rPr sz="1250" b="1" i="0">
                <a:solidFill>
                  <a:srgbClr val="1F2937"/>
                </a:solidFill>
                <a:latin typeface="Arial"/>
              </a:rPr>
              <a:t>VaRErr</a:t>
            </a:r>
            <a:r>
              <a:rPr sz="1250" b="0" i="0">
                <a:solidFill>
                  <a:srgbClr val="1F2937"/>
                </a:solidFill>
                <a:latin typeface="Arial"/>
              </a:rPr>
              <a:t>   5% Value-at-Risk, per asset</a:t>
            </a:r>
            <a:endParaRPr sz="1250"/>
          </a:p>
          <a:p>
            <a:pPr algn="l">
              <a:spcAft>
                <a:spcPts val="500"/>
              </a:spcAft>
            </a:pPr>
            <a:r>
              <a:rPr sz="1250" b="1" i="0">
                <a:solidFill>
                  <a:srgbClr val="1F2937"/>
                </a:solidFill>
                <a:latin typeface="Arial"/>
              </a:rPr>
              <a:t>WassErr</a:t>
            </a:r>
            <a:r>
              <a:rPr sz="1250" b="0" i="0">
                <a:solidFill>
                  <a:srgbClr val="1F2937"/>
                </a:solidFill>
                <a:latin typeface="Arial"/>
              </a:rPr>
              <a:t>   Wasserstein distance of marginals</a:t>
            </a:r>
            <a:endParaRPr sz="1250"/>
          </a:p>
        </p:txBody>
      </p:sp>
      <p:sp>
        <p:nvSpPr>
          <p:cNvPr id="16" name="Rounded Rectangle 15"/>
          <p:cNvSpPr/>
          <p:nvPr/>
        </p:nvSpPr>
        <p:spPr>
          <a:xfrm>
            <a:off x="548640" y="3685032"/>
            <a:ext cx="5623560" cy="612648"/>
          </a:xfrm>
          <a:prstGeom prst="roundRect">
            <a:avLst>
              <a:gd name="adj" fmla="val 1194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 y="3840480"/>
            <a:ext cx="1417320" cy="274320"/>
          </a:xfrm>
          <a:prstGeom prst="rect">
            <a:avLst/>
          </a:prstGeom>
          <a:noFill/>
        </p:spPr>
        <p:txBody>
          <a:bodyPr wrap="square" lIns="0" rIns="0" tIns="0" bIns="0" anchor="t">
            <a:noAutofit/>
          </a:bodyPr>
          <a:lstStyle/>
          <a:p>
            <a:pPr algn="l">
              <a:spcAft>
                <a:spcPts val="600"/>
              </a:spcAft>
            </a:pPr>
            <a:r>
              <a:rPr sz="1250" b="1" i="0">
                <a:solidFill>
                  <a:srgbClr val="E4572E"/>
                </a:solidFill>
                <a:latin typeface="Arial"/>
              </a:rPr>
              <a:t>Second moment</a:t>
            </a:r>
            <a:endParaRPr sz="1250"/>
          </a:p>
        </p:txBody>
      </p:sp>
      <p:sp>
        <p:nvSpPr>
          <p:cNvPr id="18" name="TextBox 17"/>
          <p:cNvSpPr txBox="1"/>
          <p:nvPr/>
        </p:nvSpPr>
        <p:spPr>
          <a:xfrm>
            <a:off x="2194560" y="3831336"/>
            <a:ext cx="3886200" cy="429768"/>
          </a:xfrm>
          <a:prstGeom prst="rect">
            <a:avLst/>
          </a:prstGeom>
          <a:noFill/>
        </p:spPr>
        <p:txBody>
          <a:bodyPr wrap="square" lIns="0" rIns="0" tIns="0" bIns="0" anchor="t">
            <a:noAutofit/>
          </a:bodyPr>
          <a:lstStyle/>
          <a:p>
            <a:pPr algn="l">
              <a:spcAft>
                <a:spcPts val="500"/>
              </a:spcAft>
            </a:pPr>
            <a:r>
              <a:rPr sz="1250" b="1" i="0">
                <a:solidFill>
                  <a:srgbClr val="1F2937"/>
                </a:solidFill>
                <a:latin typeface="Arial"/>
              </a:rPr>
              <a:t>CovErr</a:t>
            </a:r>
            <a:r>
              <a:rPr sz="1250" b="0" i="0">
                <a:solidFill>
                  <a:srgbClr val="1F2937"/>
                </a:solidFill>
                <a:latin typeface="Arial"/>
              </a:rPr>
              <a:t>   relative Frobenius error of Σ</a:t>
            </a:r>
            <a:endParaRPr sz="1250"/>
          </a:p>
        </p:txBody>
      </p:sp>
      <p:sp>
        <p:nvSpPr>
          <p:cNvPr id="19" name="Rounded Rectangle 18"/>
          <p:cNvSpPr/>
          <p:nvPr/>
        </p:nvSpPr>
        <p:spPr>
          <a:xfrm>
            <a:off x="548640" y="4407408"/>
            <a:ext cx="5623560" cy="914400"/>
          </a:xfrm>
          <a:prstGeom prst="roundRect">
            <a:avLst>
              <a:gd name="adj" fmla="val 8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4562856"/>
            <a:ext cx="1417320" cy="274320"/>
          </a:xfrm>
          <a:prstGeom prst="rect">
            <a:avLst/>
          </a:prstGeom>
          <a:noFill/>
        </p:spPr>
        <p:txBody>
          <a:bodyPr wrap="square" lIns="0" rIns="0" tIns="0" bIns="0" anchor="t">
            <a:noAutofit/>
          </a:bodyPr>
          <a:lstStyle/>
          <a:p>
            <a:pPr algn="l">
              <a:spcAft>
                <a:spcPts val="600"/>
              </a:spcAft>
            </a:pPr>
            <a:r>
              <a:rPr sz="1250" b="1" i="0">
                <a:solidFill>
                  <a:srgbClr val="E4572E"/>
                </a:solidFill>
                <a:latin typeface="Arial"/>
              </a:rPr>
              <a:t>Temporal</a:t>
            </a:r>
            <a:endParaRPr sz="1250"/>
          </a:p>
        </p:txBody>
      </p:sp>
      <p:sp>
        <p:nvSpPr>
          <p:cNvPr id="21" name="TextBox 20"/>
          <p:cNvSpPr txBox="1"/>
          <p:nvPr/>
        </p:nvSpPr>
        <p:spPr>
          <a:xfrm>
            <a:off x="2194560" y="4553712"/>
            <a:ext cx="3886200" cy="731520"/>
          </a:xfrm>
          <a:prstGeom prst="rect">
            <a:avLst/>
          </a:prstGeom>
          <a:noFill/>
        </p:spPr>
        <p:txBody>
          <a:bodyPr wrap="square" lIns="0" rIns="0" tIns="0" bIns="0" anchor="t">
            <a:noAutofit/>
          </a:bodyPr>
          <a:lstStyle/>
          <a:p>
            <a:pPr algn="l">
              <a:spcAft>
                <a:spcPts val="500"/>
              </a:spcAft>
            </a:pPr>
            <a:r>
              <a:rPr sz="1250" b="1" i="0">
                <a:solidFill>
                  <a:srgbClr val="1F2937"/>
                </a:solidFill>
                <a:latin typeface="Arial"/>
              </a:rPr>
              <a:t>AbsACFErr</a:t>
            </a:r>
            <a:r>
              <a:rPr sz="1250" b="0" i="0">
                <a:solidFill>
                  <a:srgbClr val="1F2937"/>
                </a:solidFill>
                <a:latin typeface="Arial"/>
              </a:rPr>
              <a:t>   volatility clustering, 20 lags</a:t>
            </a:r>
            <a:endParaRPr sz="1250"/>
          </a:p>
          <a:p>
            <a:pPr algn="l">
              <a:spcAft>
                <a:spcPts val="500"/>
              </a:spcAft>
            </a:pPr>
            <a:r>
              <a:rPr sz="1250" b="1" i="0">
                <a:solidFill>
                  <a:srgbClr val="1F2937"/>
                </a:solidFill>
                <a:latin typeface="Arial"/>
              </a:rPr>
              <a:t>LevErr</a:t>
            </a:r>
            <a:r>
              <a:rPr sz="1250" b="0" i="0">
                <a:solidFill>
                  <a:srgbClr val="1F2937"/>
                </a:solidFill>
                <a:latin typeface="Arial"/>
              </a:rPr>
              <a:t>   leverage, corr(</a:t>
            </a:r>
            <a:r>
              <a:rPr sz="1250" b="0" i="1">
                <a:solidFill>
                  <a:srgbClr val="1F2937"/>
                </a:solidFill>
                <a:latin typeface="Arial"/>
              </a:rPr>
              <a:t>r</a:t>
            </a:r>
            <a:r>
              <a:rPr sz="1250" b="0" i="0" baseline="-25000">
                <a:solidFill>
                  <a:srgbClr val="1F2937"/>
                </a:solidFill>
                <a:latin typeface="Arial"/>
              </a:rPr>
              <a:t>t</a:t>
            </a:r>
            <a:r>
              <a:rPr sz="1250" b="0" i="0">
                <a:solidFill>
                  <a:srgbClr val="1F2937"/>
                </a:solidFill>
                <a:latin typeface="Arial"/>
              </a:rPr>
              <a:t>, |</a:t>
            </a:r>
            <a:r>
              <a:rPr sz="1250" b="0" i="1">
                <a:solidFill>
                  <a:srgbClr val="1F2937"/>
                </a:solidFill>
                <a:latin typeface="Arial"/>
              </a:rPr>
              <a:t>r</a:t>
            </a:r>
            <a:r>
              <a:rPr sz="1250" b="0" i="0" baseline="-25000">
                <a:solidFill>
                  <a:srgbClr val="1F2937"/>
                </a:solidFill>
                <a:latin typeface="Arial"/>
              </a:rPr>
              <a:t>t+k</a:t>
            </a:r>
            <a:r>
              <a:rPr sz="1250" b="0" i="0">
                <a:solidFill>
                  <a:srgbClr val="1F2937"/>
                </a:solidFill>
                <a:latin typeface="Arial"/>
              </a:rPr>
              <a:t>|)</a:t>
            </a:r>
            <a:endParaRPr sz="1250"/>
          </a:p>
        </p:txBody>
      </p:sp>
      <p:sp>
        <p:nvSpPr>
          <p:cNvPr id="22" name="TextBox 21"/>
          <p:cNvSpPr txBox="1"/>
          <p:nvPr/>
        </p:nvSpPr>
        <p:spPr>
          <a:xfrm>
            <a:off x="548640" y="5477256"/>
            <a:ext cx="5623560" cy="457200"/>
          </a:xfrm>
          <a:prstGeom prst="rect">
            <a:avLst/>
          </a:prstGeom>
          <a:noFill/>
        </p:spPr>
        <p:txBody>
          <a:bodyPr wrap="square" lIns="0" rIns="0" tIns="0" bIns="0" anchor="t">
            <a:noAutofit/>
          </a:bodyPr>
          <a:lstStyle/>
          <a:p>
            <a:pPr algn="l">
              <a:spcAft>
                <a:spcPts val="600"/>
              </a:spcAft>
            </a:pPr>
            <a:r>
              <a:rPr sz="1200" b="0" i="0">
                <a:solidFill>
                  <a:srgbClr val="6B7280"/>
                </a:solidFill>
                <a:latin typeface="Arial"/>
              </a:rPr>
              <a:t>The first five are invariant to permuting the dates; the temporal ones are not.</a:t>
            </a:r>
            <a:endParaRPr sz="1200"/>
          </a:p>
        </p:txBody>
      </p:sp>
      <p:sp>
        <p:nvSpPr>
          <p:cNvPr id="23" name="TextBox 22"/>
          <p:cNvSpPr txBox="1"/>
          <p:nvPr/>
        </p:nvSpPr>
        <p:spPr>
          <a:xfrm>
            <a:off x="6400800" y="1481328"/>
            <a:ext cx="5212080" cy="320040"/>
          </a:xfrm>
          <a:prstGeom prst="rect">
            <a:avLst/>
          </a:prstGeom>
          <a:noFill/>
        </p:spPr>
        <p:txBody>
          <a:bodyPr wrap="square" lIns="0" rIns="0" tIns="0" bIns="0" anchor="t">
            <a:noAutofit/>
          </a:bodyPr>
          <a:lstStyle/>
          <a:p>
            <a:pPr algn="l">
              <a:spcAft>
                <a:spcPts val="600"/>
              </a:spcAft>
            </a:pPr>
            <a:r>
              <a:rPr sz="1700" b="1" i="0">
                <a:solidFill>
                  <a:srgbClr val="14213D"/>
                </a:solidFill>
                <a:latin typeface="Arial"/>
              </a:rPr>
              <a:t>Two downstream evaluations</a:t>
            </a:r>
            <a:endParaRPr sz="1700"/>
          </a:p>
        </p:txBody>
      </p:sp>
      <p:sp>
        <p:nvSpPr>
          <p:cNvPr id="24" name="Rounded Rectangle 23"/>
          <p:cNvSpPr/>
          <p:nvPr/>
        </p:nvSpPr>
        <p:spPr>
          <a:xfrm>
            <a:off x="6400800" y="1938528"/>
            <a:ext cx="5239512" cy="1572768"/>
          </a:xfrm>
          <a:prstGeom prst="roundRect">
            <a:avLst>
              <a:gd name="adj" fmla="val 4651"/>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56832" y="2103120"/>
            <a:ext cx="4754880" cy="320040"/>
          </a:xfrm>
          <a:prstGeom prst="rect">
            <a:avLst/>
          </a:prstGeom>
          <a:noFill/>
        </p:spPr>
        <p:txBody>
          <a:bodyPr wrap="square" lIns="0" rIns="0" tIns="0" bIns="0" anchor="t">
            <a:noAutofit/>
          </a:bodyPr>
          <a:lstStyle/>
          <a:p>
            <a:pPr algn="l">
              <a:spcAft>
                <a:spcPts val="600"/>
              </a:spcAft>
            </a:pPr>
            <a:r>
              <a:rPr sz="1500" b="1" i="0">
                <a:solidFill>
                  <a:srgbClr val="14213D"/>
                </a:solidFill>
                <a:latin typeface="Arial"/>
              </a:rPr>
              <a:t>Tangency portfolio</a:t>
            </a:r>
            <a:endParaRPr sz="1500"/>
          </a:p>
        </p:txBody>
      </p:sp>
      <p:pic>
        <p:nvPicPr>
          <p:cNvPr id="26" name="Picture 25" descr="formula_tangency.png"/>
          <p:cNvPicPr>
            <a:picLocks noChangeAspect="1"/>
          </p:cNvPicPr>
          <p:nvPr/>
        </p:nvPicPr>
        <p:blipFill>
          <a:blip r:embed="rId2"/>
          <a:stretch>
            <a:fillRect/>
          </a:stretch>
        </p:blipFill>
        <p:spPr>
          <a:xfrm>
            <a:off x="6656832" y="2487168"/>
            <a:ext cx="1291320" cy="636480"/>
          </a:xfrm>
          <a:prstGeom prst="rect">
            <a:avLst/>
          </a:prstGeom>
        </p:spPr>
      </p:pic>
      <p:sp>
        <p:nvSpPr>
          <p:cNvPr id="27" name="TextBox 26"/>
          <p:cNvSpPr txBox="1"/>
          <p:nvPr/>
        </p:nvSpPr>
        <p:spPr>
          <a:xfrm>
            <a:off x="8131031" y="2560320"/>
            <a:ext cx="3298968" cy="1234440"/>
          </a:xfrm>
          <a:prstGeom prst="rect">
            <a:avLst/>
          </a:prstGeom>
          <a:noFill/>
        </p:spPr>
        <p:txBody>
          <a:bodyPr wrap="square" lIns="0" rIns="0" tIns="0" bIns="0" anchor="t">
            <a:noAutofit/>
          </a:bodyPr>
          <a:lstStyle/>
          <a:p>
            <a:pPr algn="l">
              <a:spcAft>
                <a:spcPts val="600"/>
              </a:spcAft>
            </a:pPr>
            <a:r>
              <a:rPr sz="1250" b="0" i="0">
                <a:solidFill>
                  <a:srgbClr val="1F2937"/>
                </a:solidFill>
                <a:latin typeface="Arial"/>
              </a:rPr>
              <a:t>fitted on each panel, evaluated on the true returns, compared with the oracle fitted on the complete panel (in sample)</a:t>
            </a:r>
            <a:endParaRPr sz="1250"/>
          </a:p>
        </p:txBody>
      </p:sp>
      <p:sp>
        <p:nvSpPr>
          <p:cNvPr id="28" name="Rounded Rectangle 27"/>
          <p:cNvSpPr/>
          <p:nvPr/>
        </p:nvSpPr>
        <p:spPr>
          <a:xfrm>
            <a:off x="6400800" y="3675887"/>
            <a:ext cx="5239512" cy="2423160"/>
          </a:xfrm>
          <a:prstGeom prst="roundRect">
            <a:avLst>
              <a:gd name="adj" fmla="val 3018"/>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656832" y="3840480"/>
            <a:ext cx="4754880" cy="320040"/>
          </a:xfrm>
          <a:prstGeom prst="rect">
            <a:avLst/>
          </a:prstGeom>
          <a:noFill/>
        </p:spPr>
        <p:txBody>
          <a:bodyPr wrap="square" lIns="0" rIns="0" tIns="0" bIns="0" anchor="t">
            <a:noAutofit/>
          </a:bodyPr>
          <a:lstStyle/>
          <a:p>
            <a:pPr algn="l">
              <a:spcAft>
                <a:spcPts val="600"/>
              </a:spcAft>
            </a:pPr>
            <a:r>
              <a:rPr sz="1500" b="1" i="0">
                <a:solidFill>
                  <a:srgbClr val="14213D"/>
                </a:solidFill>
                <a:latin typeface="Arial"/>
              </a:rPr>
              <a:t>Factor structure</a:t>
            </a:r>
            <a:endParaRPr sz="1500"/>
          </a:p>
        </p:txBody>
      </p:sp>
      <p:sp>
        <p:nvSpPr>
          <p:cNvPr id="30" name="TextBox 29"/>
          <p:cNvSpPr txBox="1"/>
          <p:nvPr/>
        </p:nvSpPr>
        <p:spPr>
          <a:xfrm>
            <a:off x="6656832" y="4224528"/>
            <a:ext cx="4754880" cy="502920"/>
          </a:xfrm>
          <a:prstGeom prst="rect">
            <a:avLst/>
          </a:prstGeom>
          <a:noFill/>
        </p:spPr>
        <p:txBody>
          <a:bodyPr wrap="square" lIns="0" rIns="0" tIns="0" bIns="0" anchor="t">
            <a:noAutofit/>
          </a:bodyPr>
          <a:lstStyle/>
          <a:p>
            <a:pPr algn="l">
              <a:spcAft>
                <a:spcPts val="600"/>
              </a:spcAft>
            </a:pPr>
            <a:r>
              <a:rPr sz="1250" b="0" i="0">
                <a:solidFill>
                  <a:srgbClr val="1F2937"/>
                </a:solidFill>
                <a:latin typeface="Arial"/>
              </a:rPr>
              <a:t>Variance shares of the principal components and the subspace distance</a:t>
            </a:r>
            <a:endParaRPr sz="1250"/>
          </a:p>
        </p:txBody>
      </p:sp>
      <p:pic>
        <p:nvPicPr>
          <p:cNvPr id="31" name="Picture 30" descr="formula_dk.png"/>
          <p:cNvPicPr>
            <a:picLocks noChangeAspect="1"/>
          </p:cNvPicPr>
          <p:nvPr/>
        </p:nvPicPr>
        <p:blipFill>
          <a:blip r:embed="rId3"/>
          <a:stretch>
            <a:fillRect/>
          </a:stretch>
        </p:blipFill>
        <p:spPr>
          <a:xfrm>
            <a:off x="6656832" y="4800600"/>
            <a:ext cx="2819516" cy="635039"/>
          </a:xfrm>
          <a:prstGeom prst="rect">
            <a:avLst/>
          </a:prstGeom>
        </p:spPr>
      </p:pic>
      <p:sp>
        <p:nvSpPr>
          <p:cNvPr id="32" name="TextBox 31"/>
          <p:cNvSpPr txBox="1"/>
          <p:nvPr/>
        </p:nvSpPr>
        <p:spPr>
          <a:xfrm>
            <a:off x="6656832" y="5532120"/>
            <a:ext cx="4754880" cy="365760"/>
          </a:xfrm>
          <a:prstGeom prst="rect">
            <a:avLst/>
          </a:prstGeom>
          <a:noFill/>
        </p:spPr>
        <p:txBody>
          <a:bodyPr wrap="square" lIns="0" rIns="0" tIns="0" bIns="0" anchor="t">
            <a:noAutofit/>
          </a:bodyPr>
          <a:lstStyle/>
          <a:p>
            <a:pPr algn="l">
              <a:spcAft>
                <a:spcPts val="600"/>
              </a:spcAft>
            </a:pPr>
            <a:r>
              <a:rPr sz="1250" b="0" i="0">
                <a:solidFill>
                  <a:srgbClr val="1F2937"/>
                </a:solidFill>
                <a:latin typeface="Arial"/>
              </a:rPr>
              <a:t>between the true and estimated leading eigenspaces</a:t>
            </a:r>
            <a:endParaRPr sz="125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429768"/>
            <a:ext cx="77724" cy="77724"/>
          </a:xfrm>
          <a:prstGeom prst="rect">
            <a:avLst/>
          </a:prstGeom>
          <a:solidFill>
            <a:srgbClr val="C4C9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62940" y="429768"/>
            <a:ext cx="77724" cy="77724"/>
          </a:xfrm>
          <a:prstGeom prst="rect">
            <a:avLst/>
          </a:prstGeom>
          <a:solidFill>
            <a:srgbClr val="C4C9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429768"/>
            <a:ext cx="77724" cy="77724"/>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370332"/>
            <a:ext cx="8229600" cy="274320"/>
          </a:xfrm>
          <a:prstGeom prst="rect">
            <a:avLst/>
          </a:prstGeom>
          <a:noFill/>
        </p:spPr>
        <p:txBody>
          <a:bodyPr wrap="square" lIns="0" rIns="0" tIns="0" bIns="0" anchor="t">
            <a:noAutofit/>
          </a:bodyPr>
          <a:lstStyle/>
          <a:p>
            <a:pPr algn="l">
              <a:spcAft>
                <a:spcPts val="600"/>
              </a:spcAft>
            </a:pPr>
            <a:r>
              <a:rPr sz="1100" b="1" i="0" spc="150">
                <a:solidFill>
                  <a:srgbClr val="E4572E"/>
                </a:solidFill>
                <a:latin typeface="Arial"/>
              </a:rPr>
              <a:t>RESULTS  ·  RECONSTRUCTION METRICS</a:t>
            </a:r>
            <a:endParaRPr sz="1100"/>
          </a:p>
        </p:txBody>
      </p:sp>
      <p:sp>
        <p:nvSpPr>
          <p:cNvPr id="6" name="TextBox 5"/>
          <p:cNvSpPr txBox="1"/>
          <p:nvPr/>
        </p:nvSpPr>
        <p:spPr>
          <a:xfrm>
            <a:off x="548640" y="676656"/>
            <a:ext cx="11091672" cy="640080"/>
          </a:xfrm>
          <a:prstGeom prst="rect">
            <a:avLst/>
          </a:prstGeom>
          <a:noFill/>
        </p:spPr>
        <p:txBody>
          <a:bodyPr wrap="square" lIns="0" rIns="0" tIns="0" bIns="0" anchor="t">
            <a:noAutofit/>
          </a:bodyPr>
          <a:lstStyle/>
          <a:p>
            <a:pPr algn="l">
              <a:spcAft>
                <a:spcPts val="600"/>
              </a:spcAft>
            </a:pPr>
            <a:r>
              <a:rPr sz="2600" b="1" i="0">
                <a:solidFill>
                  <a:srgbClr val="14213D"/>
                </a:solidFill>
                <a:latin typeface="Georgia"/>
              </a:rPr>
              <a:t>Pointwise errors hit a floor at once, and EM sits on it</a:t>
            </a:r>
            <a:endParaRPr sz="2600"/>
          </a:p>
        </p:txBody>
      </p:sp>
      <p:sp>
        <p:nvSpPr>
          <p:cNvPr id="7" name="TextBox 6"/>
          <p:cNvSpPr txBox="1"/>
          <p:nvPr/>
        </p:nvSpPr>
        <p:spPr>
          <a:xfrm>
            <a:off x="548640" y="6419088"/>
            <a:ext cx="5486400" cy="228600"/>
          </a:xfrm>
          <a:prstGeom prst="rect">
            <a:avLst/>
          </a:prstGeom>
          <a:noFill/>
        </p:spPr>
        <p:txBody>
          <a:bodyPr wrap="square" lIns="0" rIns="0" tIns="0" bIns="0" anchor="t">
            <a:noAutofit/>
          </a:bodyPr>
          <a:lstStyle/>
          <a:p>
            <a:pPr algn="l">
              <a:spcAft>
                <a:spcPts val="600"/>
              </a:spcAft>
            </a:pPr>
            <a:r>
              <a:rPr sz="1000" b="0" i="0">
                <a:solidFill>
                  <a:srgbClr val="6B7280"/>
                </a:solidFill>
                <a:latin typeface="Arial"/>
              </a:rPr>
              <a:t>Michele Carlo Fanelli  ·  Bocconi University</a:t>
            </a:r>
            <a:endParaRPr sz="1000"/>
          </a:p>
        </p:txBody>
      </p:sp>
      <p:sp>
        <p:nvSpPr>
          <p:cNvPr id="8" name="TextBox 7"/>
          <p:cNvSpPr txBox="1"/>
          <p:nvPr/>
        </p:nvSpPr>
        <p:spPr>
          <a:xfrm>
            <a:off x="10268712" y="6419088"/>
            <a:ext cx="1371600" cy="228600"/>
          </a:xfrm>
          <a:prstGeom prst="rect">
            <a:avLst/>
          </a:prstGeom>
          <a:noFill/>
        </p:spPr>
        <p:txBody>
          <a:bodyPr wrap="square" lIns="0" rIns="0" tIns="0" bIns="0" anchor="t">
            <a:noAutofit/>
          </a:bodyPr>
          <a:lstStyle/>
          <a:p>
            <a:pPr algn="r">
              <a:spcAft>
                <a:spcPts val="600"/>
              </a:spcAft>
            </a:pPr>
            <a:r>
              <a:rPr sz="1000" b="0" i="0">
                <a:solidFill>
                  <a:srgbClr val="6B7280"/>
                </a:solidFill>
                <a:latin typeface="Arial"/>
              </a:rPr>
              <a:t>8 / 15</a:t>
            </a:r>
            <a:endParaRPr sz="1000"/>
          </a:p>
        </p:txBody>
      </p:sp>
      <p:pic>
        <p:nvPicPr>
          <p:cNvPr id="9" name="Picture 8" descr="chart_mae_floor.png"/>
          <p:cNvPicPr>
            <a:picLocks noChangeAspect="1"/>
          </p:cNvPicPr>
          <p:nvPr/>
        </p:nvPicPr>
        <p:blipFill>
          <a:blip r:embed="rId2"/>
          <a:stretch>
            <a:fillRect/>
          </a:stretch>
        </p:blipFill>
        <p:spPr>
          <a:xfrm>
            <a:off x="411480" y="1463040"/>
            <a:ext cx="6675120" cy="4526280"/>
          </a:xfrm>
          <a:prstGeom prst="rect">
            <a:avLst/>
          </a:prstGeom>
        </p:spPr>
      </p:pic>
      <p:sp>
        <p:nvSpPr>
          <p:cNvPr id="10" name="TextBox 9"/>
          <p:cNvSpPr txBox="1"/>
          <p:nvPr/>
        </p:nvSpPr>
        <p:spPr>
          <a:xfrm>
            <a:off x="548640" y="6035040"/>
            <a:ext cx="6400800" cy="274320"/>
          </a:xfrm>
          <a:prstGeom prst="rect">
            <a:avLst/>
          </a:prstGeom>
          <a:noFill/>
        </p:spPr>
        <p:txBody>
          <a:bodyPr wrap="square" lIns="0" rIns="0" tIns="0" bIns="0" anchor="t">
            <a:noAutofit/>
          </a:bodyPr>
          <a:lstStyle/>
          <a:p>
            <a:pPr algn="l">
              <a:spcAft>
                <a:spcPts val="600"/>
              </a:spcAft>
            </a:pPr>
            <a:r>
              <a:rPr sz="1050" b="0" i="0">
                <a:solidFill>
                  <a:srgbClr val="6B7280"/>
                </a:solidFill>
                <a:latin typeface="Arial"/>
              </a:rPr>
              <a:t>Sparse pattern, MAE on the imputed cells, by expected share of missing cells (Table 3.1).</a:t>
            </a:r>
            <a:endParaRPr sz="1050"/>
          </a:p>
        </p:txBody>
      </p:sp>
      <p:sp>
        <p:nvSpPr>
          <p:cNvPr id="11" name="TextBox 10"/>
          <p:cNvSpPr txBox="1"/>
          <p:nvPr/>
        </p:nvSpPr>
        <p:spPr>
          <a:xfrm>
            <a:off x="7452360" y="1600200"/>
            <a:ext cx="4206240" cy="548640"/>
          </a:xfrm>
          <a:prstGeom prst="rect">
            <a:avLst/>
          </a:prstGeom>
          <a:noFill/>
        </p:spPr>
        <p:txBody>
          <a:bodyPr wrap="square" lIns="0" rIns="0" tIns="0" bIns="0" anchor="t">
            <a:noAutofit/>
          </a:bodyPr>
          <a:lstStyle/>
          <a:p>
            <a:pPr algn="l">
              <a:spcAft>
                <a:spcPts val="600"/>
              </a:spcAft>
            </a:pPr>
            <a:r>
              <a:rPr sz="3000" b="1" i="0">
                <a:solidFill>
                  <a:srgbClr val="E4572E"/>
                </a:solidFill>
                <a:latin typeface="Georgia"/>
              </a:rPr>
              <a:t>0.0071 to 0.0080</a:t>
            </a:r>
            <a:endParaRPr sz="3000"/>
          </a:p>
        </p:txBody>
      </p:sp>
      <p:sp>
        <p:nvSpPr>
          <p:cNvPr id="12" name="TextBox 11"/>
          <p:cNvSpPr txBox="1"/>
          <p:nvPr/>
        </p:nvSpPr>
        <p:spPr>
          <a:xfrm>
            <a:off x="7452360" y="2176272"/>
            <a:ext cx="4206240" cy="274320"/>
          </a:xfrm>
          <a:prstGeom prst="rect">
            <a:avLst/>
          </a:prstGeom>
          <a:noFill/>
        </p:spPr>
        <p:txBody>
          <a:bodyPr wrap="square" lIns="0" rIns="0" tIns="0" bIns="0" anchor="t">
            <a:noAutofit/>
          </a:bodyPr>
          <a:lstStyle/>
          <a:p>
            <a:pPr algn="l">
              <a:spcAft>
                <a:spcPts val="600"/>
              </a:spcAft>
            </a:pPr>
            <a:r>
              <a:rPr sz="1250" b="0" i="0">
                <a:solidFill>
                  <a:srgbClr val="6B7280"/>
                </a:solidFill>
                <a:latin typeface="Arial"/>
              </a:rPr>
              <a:t>EM's MAE across all five sparse levels</a:t>
            </a:r>
            <a:endParaRPr sz="1250"/>
          </a:p>
        </p:txBody>
      </p:sp>
      <p:sp>
        <p:nvSpPr>
          <p:cNvPr id="13" name="TextBox 12"/>
          <p:cNvSpPr txBox="1"/>
          <p:nvPr/>
        </p:nvSpPr>
        <p:spPr>
          <a:xfrm>
            <a:off x="7452360" y="2697480"/>
            <a:ext cx="4187952" cy="3566160"/>
          </a:xfrm>
          <a:prstGeom prst="rect">
            <a:avLst/>
          </a:prstGeom>
          <a:noFill/>
        </p:spPr>
        <p:txBody>
          <a:bodyPr wrap="square" lIns="0" rIns="0" tIns="0" bIns="0" anchor="t">
            <a:noAutofit/>
          </a:bodyPr>
          <a:lstStyle/>
          <a:p>
            <a:pPr algn="l" marL="201168" indent="-201168">
              <a:spcAft>
                <a:spcPts val="1000"/>
              </a:spcAft>
              <a:buClr>
                <a:srgbClr val="E4572E"/>
              </a:buClr>
              <a:buSzPct val="100000"/>
              <a:buFont typeface="Arial"/>
              <a:buChar char="▪"/>
            </a:pPr>
            <a:r>
              <a:rPr sz="1450" b="0" i="0">
                <a:solidFill>
                  <a:srgbClr val="1F2937"/>
                </a:solidFill>
                <a:latin typeface="Arial"/>
              </a:rPr>
              <a:t>Daily returns are close to serially uncorrelated: what can be known about a missing entry is carried by the other assets on the same date.</a:t>
            </a:r>
            <a:endParaRPr sz="1450"/>
          </a:p>
          <a:p>
            <a:pPr algn="l" marL="201168" indent="-201168">
              <a:spcAft>
                <a:spcPts val="1000"/>
              </a:spcAft>
              <a:buClr>
                <a:srgbClr val="E4572E"/>
              </a:buClr>
              <a:buSzPct val="100000"/>
              <a:buFont typeface="Arial"/>
              <a:buChar char="▪"/>
            </a:pPr>
            <a:r>
              <a:rPr sz="1450" b="0" i="0">
                <a:solidFill>
                  <a:srgbClr val="1F2937"/>
                </a:solidFill>
                <a:latin typeface="Arial"/>
              </a:rPr>
              <a:t>EM's conditional mean extracts exactly that.</a:t>
            </a:r>
            <a:endParaRPr sz="1450"/>
          </a:p>
          <a:p>
            <a:pPr algn="l" marL="201168" indent="-201168">
              <a:spcAft>
                <a:spcPts val="1000"/>
              </a:spcAft>
              <a:buClr>
                <a:srgbClr val="E4572E"/>
              </a:buClr>
              <a:buSzPct val="100000"/>
              <a:buFont typeface="Arial"/>
              <a:buChar char="▪"/>
            </a:pPr>
            <a:r>
              <a:rPr sz="1450" b="0" i="0">
                <a:solidFill>
                  <a:srgbClr val="1F2937"/>
                </a:solidFill>
                <a:latin typeface="Arial"/>
              </a:rPr>
              <a:t>The five conditional methods are separated in the third decimal; the extra capacity of BRITS and CSDI has little to act on.</a:t>
            </a:r>
            <a:endParaRPr sz="1450"/>
          </a:p>
          <a:p>
            <a:pPr algn="l" marL="201168" indent="-201168">
              <a:spcAft>
                <a:spcPts val="1000"/>
              </a:spcAft>
              <a:buClr>
                <a:srgbClr val="E4572E"/>
              </a:buClr>
              <a:buSzPct val="100000"/>
              <a:buFont typeface="Arial"/>
              <a:buChar char="▪"/>
            </a:pPr>
            <a:r>
              <a:rPr sz="1450" b="0" i="0">
                <a:solidFill>
                  <a:srgbClr val="1F2937"/>
                </a:solidFill>
                <a:latin typeface="Arial"/>
              </a:rPr>
              <a:t>The ranking is stable across patterns: EM is rarely beaten, and never by a wide margin.</a:t>
            </a:r>
            <a:endParaRPr sz="145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429768"/>
            <a:ext cx="77724" cy="77724"/>
          </a:xfrm>
          <a:prstGeom prst="rect">
            <a:avLst/>
          </a:prstGeom>
          <a:solidFill>
            <a:srgbClr val="C4C9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62940" y="429768"/>
            <a:ext cx="77724" cy="77724"/>
          </a:xfrm>
          <a:prstGeom prst="rect">
            <a:avLst/>
          </a:prstGeom>
          <a:solidFill>
            <a:srgbClr val="C4C9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429768"/>
            <a:ext cx="77724" cy="77724"/>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370332"/>
            <a:ext cx="8229600" cy="274320"/>
          </a:xfrm>
          <a:prstGeom prst="rect">
            <a:avLst/>
          </a:prstGeom>
          <a:noFill/>
        </p:spPr>
        <p:txBody>
          <a:bodyPr wrap="square" lIns="0" rIns="0" tIns="0" bIns="0" anchor="t">
            <a:noAutofit/>
          </a:bodyPr>
          <a:lstStyle/>
          <a:p>
            <a:pPr algn="l">
              <a:spcAft>
                <a:spcPts val="600"/>
              </a:spcAft>
            </a:pPr>
            <a:r>
              <a:rPr sz="1100" b="1" i="0" spc="150">
                <a:solidFill>
                  <a:srgbClr val="E4572E"/>
                </a:solidFill>
                <a:latin typeface="Arial"/>
              </a:rPr>
              <a:t>RESULTS  ·  POINTWISE VERSUS STRUCTURAL</a:t>
            </a:r>
            <a:endParaRPr sz="1100"/>
          </a:p>
        </p:txBody>
      </p:sp>
      <p:sp>
        <p:nvSpPr>
          <p:cNvPr id="6" name="TextBox 5"/>
          <p:cNvSpPr txBox="1"/>
          <p:nvPr/>
        </p:nvSpPr>
        <p:spPr>
          <a:xfrm>
            <a:off x="548640" y="676656"/>
            <a:ext cx="11091672" cy="640080"/>
          </a:xfrm>
          <a:prstGeom prst="rect">
            <a:avLst/>
          </a:prstGeom>
          <a:noFill/>
        </p:spPr>
        <p:txBody>
          <a:bodyPr wrap="square" lIns="0" rIns="0" tIns="0" bIns="0" anchor="t">
            <a:noAutofit/>
          </a:bodyPr>
          <a:lstStyle/>
          <a:p>
            <a:pPr algn="l">
              <a:spcAft>
                <a:spcPts val="600"/>
              </a:spcAft>
            </a:pPr>
            <a:r>
              <a:rPr sz="2600" b="1" i="0">
                <a:solidFill>
                  <a:srgbClr val="14213D"/>
                </a:solidFill>
                <a:latin typeface="Georgia"/>
              </a:rPr>
              <a:t>Accurate cells do not make an accurate panel</a:t>
            </a:r>
            <a:endParaRPr sz="2600"/>
          </a:p>
        </p:txBody>
      </p:sp>
      <p:sp>
        <p:nvSpPr>
          <p:cNvPr id="7" name="TextBox 6"/>
          <p:cNvSpPr txBox="1"/>
          <p:nvPr/>
        </p:nvSpPr>
        <p:spPr>
          <a:xfrm>
            <a:off x="548640" y="6419088"/>
            <a:ext cx="5486400" cy="228600"/>
          </a:xfrm>
          <a:prstGeom prst="rect">
            <a:avLst/>
          </a:prstGeom>
          <a:noFill/>
        </p:spPr>
        <p:txBody>
          <a:bodyPr wrap="square" lIns="0" rIns="0" tIns="0" bIns="0" anchor="t">
            <a:noAutofit/>
          </a:bodyPr>
          <a:lstStyle/>
          <a:p>
            <a:pPr algn="l">
              <a:spcAft>
                <a:spcPts val="600"/>
              </a:spcAft>
            </a:pPr>
            <a:r>
              <a:rPr sz="1000" b="0" i="0">
                <a:solidFill>
                  <a:srgbClr val="6B7280"/>
                </a:solidFill>
                <a:latin typeface="Arial"/>
              </a:rPr>
              <a:t>Michele Carlo Fanelli  ·  Bocconi University</a:t>
            </a:r>
            <a:endParaRPr sz="1000"/>
          </a:p>
        </p:txBody>
      </p:sp>
      <p:sp>
        <p:nvSpPr>
          <p:cNvPr id="8" name="TextBox 7"/>
          <p:cNvSpPr txBox="1"/>
          <p:nvPr/>
        </p:nvSpPr>
        <p:spPr>
          <a:xfrm>
            <a:off x="10268712" y="6419088"/>
            <a:ext cx="1371600" cy="228600"/>
          </a:xfrm>
          <a:prstGeom prst="rect">
            <a:avLst/>
          </a:prstGeom>
          <a:noFill/>
        </p:spPr>
        <p:txBody>
          <a:bodyPr wrap="square" lIns="0" rIns="0" tIns="0" bIns="0" anchor="t">
            <a:noAutofit/>
          </a:bodyPr>
          <a:lstStyle/>
          <a:p>
            <a:pPr algn="r">
              <a:spcAft>
                <a:spcPts val="600"/>
              </a:spcAft>
            </a:pPr>
            <a:r>
              <a:rPr sz="1000" b="0" i="0">
                <a:solidFill>
                  <a:srgbClr val="6B7280"/>
                </a:solidFill>
                <a:latin typeface="Arial"/>
              </a:rPr>
              <a:t>9 / 15</a:t>
            </a:r>
            <a:endParaRPr sz="1000"/>
          </a:p>
        </p:txBody>
      </p:sp>
      <p:pic>
        <p:nvPicPr>
          <p:cNvPr id="9" name="Picture 8" descr="chart_coverr_growth.png"/>
          <p:cNvPicPr>
            <a:picLocks noChangeAspect="1"/>
          </p:cNvPicPr>
          <p:nvPr/>
        </p:nvPicPr>
        <p:blipFill>
          <a:blip r:embed="rId2"/>
          <a:stretch>
            <a:fillRect/>
          </a:stretch>
        </p:blipFill>
        <p:spPr>
          <a:xfrm>
            <a:off x="411480" y="1417320"/>
            <a:ext cx="5715000" cy="3429000"/>
          </a:xfrm>
          <a:prstGeom prst="rect">
            <a:avLst/>
          </a:prstGeom>
        </p:spPr>
      </p:pic>
      <p:pic>
        <p:nvPicPr>
          <p:cNvPr id="10" name="Picture 9" descr="chart_zero_ratio.png"/>
          <p:cNvPicPr>
            <a:picLocks noChangeAspect="1"/>
          </p:cNvPicPr>
          <p:nvPr/>
        </p:nvPicPr>
        <p:blipFill>
          <a:blip r:embed="rId3"/>
          <a:stretch>
            <a:fillRect/>
          </a:stretch>
        </p:blipFill>
        <p:spPr>
          <a:xfrm>
            <a:off x="6291072" y="1417320"/>
            <a:ext cx="5349240" cy="3429000"/>
          </a:xfrm>
          <a:prstGeom prst="rect">
            <a:avLst/>
          </a:prstGeom>
        </p:spPr>
      </p:pic>
      <p:sp>
        <p:nvSpPr>
          <p:cNvPr id="11" name="Rounded Rectangle 10"/>
          <p:cNvSpPr/>
          <p:nvPr/>
        </p:nvSpPr>
        <p:spPr>
          <a:xfrm>
            <a:off x="548640" y="4983480"/>
            <a:ext cx="3520440" cy="1261872"/>
          </a:xfrm>
          <a:prstGeom prst="roundRect">
            <a:avLst>
              <a:gd name="adj" fmla="val 5797"/>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5074920"/>
            <a:ext cx="3127248" cy="1115568"/>
          </a:xfrm>
          <a:prstGeom prst="rect">
            <a:avLst/>
          </a:prstGeom>
          <a:noFill/>
        </p:spPr>
        <p:txBody>
          <a:bodyPr wrap="square" lIns="0" rIns="0" tIns="0" bIns="0" anchor="ctr">
            <a:noAutofit/>
          </a:bodyPr>
          <a:lstStyle/>
          <a:p>
            <a:pPr algn="l">
              <a:spcAft>
                <a:spcPts val="600"/>
              </a:spcAft>
            </a:pPr>
            <a:r>
              <a:rPr sz="1250" b="0" i="0">
                <a:solidFill>
                  <a:srgbClr val="1F2937"/>
                </a:solidFill>
                <a:latin typeface="Arial"/>
              </a:rPr>
              <a:t>MAE averages over the filled cells, CovErr accumulates them over the panel: EM's CovErr grows almost 40-fold while its MAE stays flat.</a:t>
            </a:r>
            <a:endParaRPr sz="1250"/>
          </a:p>
        </p:txBody>
      </p:sp>
      <p:sp>
        <p:nvSpPr>
          <p:cNvPr id="13" name="Rounded Rectangle 12"/>
          <p:cNvSpPr/>
          <p:nvPr/>
        </p:nvSpPr>
        <p:spPr>
          <a:xfrm>
            <a:off x="4334255" y="4983480"/>
            <a:ext cx="3520440" cy="1261872"/>
          </a:xfrm>
          <a:prstGeom prst="roundRect">
            <a:avLst>
              <a:gd name="adj" fmla="val 5797"/>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35423" y="5074920"/>
            <a:ext cx="3127248" cy="1115568"/>
          </a:xfrm>
          <a:prstGeom prst="rect">
            <a:avLst/>
          </a:prstGeom>
          <a:noFill/>
        </p:spPr>
        <p:txBody>
          <a:bodyPr wrap="square" lIns="0" rIns="0" tIns="0" bIns="0" anchor="ctr">
            <a:noAutofit/>
          </a:bodyPr>
          <a:lstStyle/>
          <a:p>
            <a:pPr algn="l">
              <a:spcAft>
                <a:spcPts val="600"/>
              </a:spcAft>
            </a:pPr>
            <a:r>
              <a:rPr sz="1250" b="0" i="0">
                <a:solidFill>
                  <a:srgbClr val="1F2937"/>
                </a:solidFill>
                <a:latin typeface="Arial"/>
              </a:rPr>
              <a:t>At sparse 0.3, Zero's MAE is </a:t>
            </a:r>
            <a:r>
              <a:rPr sz="1250" b="1" i="0">
                <a:solidFill>
                  <a:srgbClr val="E4572E"/>
                </a:solidFill>
                <a:latin typeface="Arial"/>
              </a:rPr>
              <a:t>1.5 times</a:t>
            </a:r>
            <a:r>
              <a:rPr sz="1250" b="0" i="0">
                <a:solidFill>
                  <a:srgbClr val="1F2937"/>
                </a:solidFill>
                <a:latin typeface="Arial"/>
              </a:rPr>
              <a:t> the best method's and its CovErr </a:t>
            </a:r>
            <a:r>
              <a:rPr sz="1250" b="1" i="0">
                <a:solidFill>
                  <a:srgbClr val="E4572E"/>
                </a:solidFill>
                <a:latin typeface="Arial"/>
              </a:rPr>
              <a:t>8.9 times</a:t>
            </a:r>
            <a:r>
              <a:rPr sz="1250" b="0" i="0">
                <a:solidFill>
                  <a:srgbClr val="1F2937"/>
                </a:solidFill>
                <a:latin typeface="Arial"/>
              </a:rPr>
              <a:t> (ratios of the table values).</a:t>
            </a:r>
            <a:endParaRPr sz="1250"/>
          </a:p>
        </p:txBody>
      </p:sp>
      <p:sp>
        <p:nvSpPr>
          <p:cNvPr id="15" name="Rounded Rectangle 14"/>
          <p:cNvSpPr/>
          <p:nvPr/>
        </p:nvSpPr>
        <p:spPr>
          <a:xfrm>
            <a:off x="8119871" y="4983480"/>
            <a:ext cx="3520440" cy="1261872"/>
          </a:xfrm>
          <a:prstGeom prst="roundRect">
            <a:avLst>
              <a:gd name="adj" fmla="val 5797"/>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21040" y="5074920"/>
            <a:ext cx="3127248" cy="1115568"/>
          </a:xfrm>
          <a:prstGeom prst="rect">
            <a:avLst/>
          </a:prstGeom>
          <a:noFill/>
        </p:spPr>
        <p:txBody>
          <a:bodyPr wrap="square" lIns="0" rIns="0" tIns="0" bIns="0" anchor="ctr">
            <a:noAutofit/>
          </a:bodyPr>
          <a:lstStyle/>
          <a:p>
            <a:pPr algn="l">
              <a:spcAft>
                <a:spcPts val="600"/>
              </a:spcAft>
            </a:pPr>
            <a:r>
              <a:rPr sz="1250" b="0" i="0">
                <a:solidFill>
                  <a:srgbClr val="1F2937"/>
                </a:solidFill>
                <a:latin typeface="Arial"/>
              </a:rPr>
              <a:t>The best fill cell by cell is a conditional mean, less variable than the return it replaces: Low-rank loses to EM on MAE but beats it on CovErr at two stressed levels.</a:t>
            </a:r>
            <a:endParaRPr sz="125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429768"/>
            <a:ext cx="77724" cy="77724"/>
          </a:xfrm>
          <a:prstGeom prst="rect">
            <a:avLst/>
          </a:prstGeom>
          <a:solidFill>
            <a:srgbClr val="C4C9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62940" y="429768"/>
            <a:ext cx="77724" cy="77724"/>
          </a:xfrm>
          <a:prstGeom prst="rect">
            <a:avLst/>
          </a:prstGeom>
          <a:solidFill>
            <a:srgbClr val="C4C9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429768"/>
            <a:ext cx="77724" cy="77724"/>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370332"/>
            <a:ext cx="8229600" cy="274320"/>
          </a:xfrm>
          <a:prstGeom prst="rect">
            <a:avLst/>
          </a:prstGeom>
          <a:noFill/>
        </p:spPr>
        <p:txBody>
          <a:bodyPr wrap="square" lIns="0" rIns="0" tIns="0" bIns="0" anchor="t">
            <a:noAutofit/>
          </a:bodyPr>
          <a:lstStyle/>
          <a:p>
            <a:pPr algn="l">
              <a:spcAft>
                <a:spcPts val="600"/>
              </a:spcAft>
            </a:pPr>
            <a:r>
              <a:rPr sz="1100" b="1" i="0" spc="150">
                <a:solidFill>
                  <a:srgbClr val="E4572E"/>
                </a:solidFill>
                <a:latin typeface="Arial"/>
              </a:rPr>
              <a:t>RESULTS  ·  MISSINGNESS PATTERNS</a:t>
            </a:r>
            <a:endParaRPr sz="1100"/>
          </a:p>
        </p:txBody>
      </p:sp>
      <p:sp>
        <p:nvSpPr>
          <p:cNvPr id="6" name="TextBox 5"/>
          <p:cNvSpPr txBox="1"/>
          <p:nvPr/>
        </p:nvSpPr>
        <p:spPr>
          <a:xfrm>
            <a:off x="548640" y="676656"/>
            <a:ext cx="11091672" cy="640080"/>
          </a:xfrm>
          <a:prstGeom prst="rect">
            <a:avLst/>
          </a:prstGeom>
          <a:noFill/>
        </p:spPr>
        <p:txBody>
          <a:bodyPr wrap="square" lIns="0" rIns="0" tIns="0" bIns="0" anchor="t">
            <a:noAutofit/>
          </a:bodyPr>
          <a:lstStyle/>
          <a:p>
            <a:pPr algn="l">
              <a:spcAft>
                <a:spcPts val="600"/>
              </a:spcAft>
            </a:pPr>
            <a:r>
              <a:rPr sz="2600" b="1" i="0">
                <a:solidFill>
                  <a:srgbClr val="14213D"/>
                </a:solidFill>
                <a:latin typeface="Georgia"/>
              </a:rPr>
              <a:t>The mechanism matters more than the amount</a:t>
            </a:r>
            <a:endParaRPr sz="2600"/>
          </a:p>
        </p:txBody>
      </p:sp>
      <p:sp>
        <p:nvSpPr>
          <p:cNvPr id="7" name="TextBox 6"/>
          <p:cNvSpPr txBox="1"/>
          <p:nvPr/>
        </p:nvSpPr>
        <p:spPr>
          <a:xfrm>
            <a:off x="548640" y="6419088"/>
            <a:ext cx="5486400" cy="228600"/>
          </a:xfrm>
          <a:prstGeom prst="rect">
            <a:avLst/>
          </a:prstGeom>
          <a:noFill/>
        </p:spPr>
        <p:txBody>
          <a:bodyPr wrap="square" lIns="0" rIns="0" tIns="0" bIns="0" anchor="t">
            <a:noAutofit/>
          </a:bodyPr>
          <a:lstStyle/>
          <a:p>
            <a:pPr algn="l">
              <a:spcAft>
                <a:spcPts val="600"/>
              </a:spcAft>
            </a:pPr>
            <a:r>
              <a:rPr sz="1000" b="0" i="0">
                <a:solidFill>
                  <a:srgbClr val="6B7280"/>
                </a:solidFill>
                <a:latin typeface="Arial"/>
              </a:rPr>
              <a:t>Michele Carlo Fanelli  ·  Bocconi University</a:t>
            </a:r>
            <a:endParaRPr sz="1000"/>
          </a:p>
        </p:txBody>
      </p:sp>
      <p:sp>
        <p:nvSpPr>
          <p:cNvPr id="8" name="TextBox 7"/>
          <p:cNvSpPr txBox="1"/>
          <p:nvPr/>
        </p:nvSpPr>
        <p:spPr>
          <a:xfrm>
            <a:off x="10268712" y="6419088"/>
            <a:ext cx="1371600" cy="228600"/>
          </a:xfrm>
          <a:prstGeom prst="rect">
            <a:avLst/>
          </a:prstGeom>
          <a:noFill/>
        </p:spPr>
        <p:txBody>
          <a:bodyPr wrap="square" lIns="0" rIns="0" tIns="0" bIns="0" anchor="t">
            <a:noAutofit/>
          </a:bodyPr>
          <a:lstStyle/>
          <a:p>
            <a:pPr algn="r">
              <a:spcAft>
                <a:spcPts val="600"/>
              </a:spcAft>
            </a:pPr>
            <a:r>
              <a:rPr sz="1000" b="0" i="0">
                <a:solidFill>
                  <a:srgbClr val="6B7280"/>
                </a:solidFill>
                <a:latin typeface="Arial"/>
              </a:rPr>
              <a:t>10 / 15</a:t>
            </a:r>
            <a:endParaRPr sz="1000"/>
          </a:p>
        </p:txBody>
      </p:sp>
      <p:pic>
        <p:nvPicPr>
          <p:cNvPr id="9" name="Picture 8" descr="chart_mechanism.png"/>
          <p:cNvPicPr>
            <a:picLocks noChangeAspect="1"/>
          </p:cNvPicPr>
          <p:nvPr/>
        </p:nvPicPr>
        <p:blipFill>
          <a:blip r:embed="rId2"/>
          <a:stretch>
            <a:fillRect/>
          </a:stretch>
        </p:blipFill>
        <p:spPr>
          <a:xfrm>
            <a:off x="411480" y="1463040"/>
            <a:ext cx="6309360" cy="4526280"/>
          </a:xfrm>
          <a:prstGeom prst="rect">
            <a:avLst/>
          </a:prstGeom>
        </p:spPr>
      </p:pic>
      <p:sp>
        <p:nvSpPr>
          <p:cNvPr id="10" name="TextBox 9"/>
          <p:cNvSpPr txBox="1"/>
          <p:nvPr/>
        </p:nvSpPr>
        <p:spPr>
          <a:xfrm>
            <a:off x="548640" y="6035040"/>
            <a:ext cx="6126480" cy="274320"/>
          </a:xfrm>
          <a:prstGeom prst="rect">
            <a:avLst/>
          </a:prstGeom>
          <a:noFill/>
        </p:spPr>
        <p:txBody>
          <a:bodyPr wrap="square" lIns="0" rIns="0" tIns="0" bIns="0" anchor="t">
            <a:noAutofit/>
          </a:bodyPr>
          <a:lstStyle/>
          <a:p>
            <a:pPr algn="l">
              <a:spcAft>
                <a:spcPts val="600"/>
              </a:spcAft>
            </a:pPr>
            <a:r>
              <a:rPr sz="1050" b="0" i="0">
                <a:solidFill>
                  <a:srgbClr val="6B7280"/>
                </a:solidFill>
                <a:latin typeface="Arial"/>
              </a:rPr>
              <a:t>EM, covariance error by pattern at matched shares (Tables 3.1 to 3.3).</a:t>
            </a:r>
            <a:endParaRPr sz="1050"/>
          </a:p>
        </p:txBody>
      </p:sp>
      <p:sp>
        <p:nvSpPr>
          <p:cNvPr id="11" name="Rounded Rectangle 10"/>
          <p:cNvSpPr/>
          <p:nvPr/>
        </p:nvSpPr>
        <p:spPr>
          <a:xfrm>
            <a:off x="7040880" y="1536192"/>
            <a:ext cx="4599432" cy="1691640"/>
          </a:xfrm>
          <a:prstGeom prst="roundRect">
            <a:avLst>
              <a:gd name="adj" fmla="val 4324"/>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69480" y="1664208"/>
            <a:ext cx="4206240" cy="274320"/>
          </a:xfrm>
          <a:prstGeom prst="rect">
            <a:avLst/>
          </a:prstGeom>
          <a:noFill/>
        </p:spPr>
        <p:txBody>
          <a:bodyPr wrap="square" lIns="0" rIns="0" tIns="0" bIns="0" anchor="t">
            <a:noAutofit/>
          </a:bodyPr>
          <a:lstStyle/>
          <a:p>
            <a:pPr algn="l">
              <a:spcAft>
                <a:spcPts val="600"/>
              </a:spcAft>
            </a:pPr>
            <a:r>
              <a:rPr sz="1050" b="1" i="0" spc="120">
                <a:solidFill>
                  <a:srgbClr val="6B7280"/>
                </a:solidFill>
                <a:latin typeface="Arial"/>
              </a:rPr>
              <a:t>EM COVERR AT MATCHED SHARES</a:t>
            </a:r>
            <a:endParaRPr sz="1050"/>
          </a:p>
        </p:txBody>
      </p:sp>
      <p:sp>
        <p:nvSpPr>
          <p:cNvPr id="13" name="TextBox 12"/>
          <p:cNvSpPr txBox="1"/>
          <p:nvPr/>
        </p:nvSpPr>
        <p:spPr>
          <a:xfrm>
            <a:off x="7269480" y="1984248"/>
            <a:ext cx="1005840" cy="274320"/>
          </a:xfrm>
          <a:prstGeom prst="rect">
            <a:avLst/>
          </a:prstGeom>
          <a:noFill/>
        </p:spPr>
        <p:txBody>
          <a:bodyPr wrap="square" lIns="0" rIns="0" tIns="0" bIns="0" anchor="t">
            <a:noAutofit/>
          </a:bodyPr>
          <a:lstStyle/>
          <a:p>
            <a:pPr algn="l">
              <a:spcAft>
                <a:spcPts val="600"/>
              </a:spcAft>
            </a:pPr>
            <a:endParaRPr sz="1200"/>
          </a:p>
        </p:txBody>
      </p:sp>
      <p:sp>
        <p:nvSpPr>
          <p:cNvPr id="14" name="TextBox 13"/>
          <p:cNvSpPr txBox="1"/>
          <p:nvPr/>
        </p:nvSpPr>
        <p:spPr>
          <a:xfrm>
            <a:off x="8549640" y="1984248"/>
            <a:ext cx="1005840" cy="274320"/>
          </a:xfrm>
          <a:prstGeom prst="rect">
            <a:avLst/>
          </a:prstGeom>
          <a:noFill/>
        </p:spPr>
        <p:txBody>
          <a:bodyPr wrap="square" lIns="0" rIns="0" tIns="0" bIns="0" anchor="t">
            <a:noAutofit/>
          </a:bodyPr>
          <a:lstStyle/>
          <a:p>
            <a:pPr algn="l">
              <a:spcAft>
                <a:spcPts val="600"/>
              </a:spcAft>
            </a:pPr>
            <a:r>
              <a:rPr sz="1200" b="1" i="0">
                <a:solidFill>
                  <a:srgbClr val="14213D"/>
                </a:solidFill>
                <a:latin typeface="Arial"/>
              </a:rPr>
              <a:t>Sparse</a:t>
            </a:r>
            <a:endParaRPr sz="1200"/>
          </a:p>
        </p:txBody>
      </p:sp>
      <p:sp>
        <p:nvSpPr>
          <p:cNvPr id="15" name="TextBox 14"/>
          <p:cNvSpPr txBox="1"/>
          <p:nvPr/>
        </p:nvSpPr>
        <p:spPr>
          <a:xfrm>
            <a:off x="9582912" y="1984248"/>
            <a:ext cx="1005840" cy="274320"/>
          </a:xfrm>
          <a:prstGeom prst="rect">
            <a:avLst/>
          </a:prstGeom>
          <a:noFill/>
        </p:spPr>
        <p:txBody>
          <a:bodyPr wrap="square" lIns="0" rIns="0" tIns="0" bIns="0" anchor="t">
            <a:noAutofit/>
          </a:bodyPr>
          <a:lstStyle/>
          <a:p>
            <a:pPr algn="l">
              <a:spcAft>
                <a:spcPts val="600"/>
              </a:spcAft>
            </a:pPr>
            <a:r>
              <a:rPr sz="1200" b="1" i="0">
                <a:solidFill>
                  <a:srgbClr val="14213D"/>
                </a:solidFill>
                <a:latin typeface="Arial"/>
              </a:rPr>
              <a:t>Gaps</a:t>
            </a:r>
            <a:endParaRPr sz="1200"/>
          </a:p>
        </p:txBody>
      </p:sp>
      <p:sp>
        <p:nvSpPr>
          <p:cNvPr id="16" name="TextBox 15"/>
          <p:cNvSpPr txBox="1"/>
          <p:nvPr/>
        </p:nvSpPr>
        <p:spPr>
          <a:xfrm>
            <a:off x="10607040" y="1984248"/>
            <a:ext cx="1005840" cy="274320"/>
          </a:xfrm>
          <a:prstGeom prst="rect">
            <a:avLst/>
          </a:prstGeom>
          <a:noFill/>
        </p:spPr>
        <p:txBody>
          <a:bodyPr wrap="square" lIns="0" rIns="0" tIns="0" bIns="0" anchor="t">
            <a:noAutofit/>
          </a:bodyPr>
          <a:lstStyle/>
          <a:p>
            <a:pPr algn="l">
              <a:spcAft>
                <a:spcPts val="600"/>
              </a:spcAft>
            </a:pPr>
            <a:r>
              <a:rPr sz="1200" b="1" i="0">
                <a:solidFill>
                  <a:srgbClr val="14213D"/>
                </a:solidFill>
                <a:latin typeface="Arial"/>
              </a:rPr>
              <a:t>Stressed</a:t>
            </a:r>
            <a:endParaRPr sz="1200"/>
          </a:p>
        </p:txBody>
      </p:sp>
      <p:sp>
        <p:nvSpPr>
          <p:cNvPr id="17" name="TextBox 16"/>
          <p:cNvSpPr txBox="1"/>
          <p:nvPr/>
        </p:nvSpPr>
        <p:spPr>
          <a:xfrm>
            <a:off x="7269480" y="2331720"/>
            <a:ext cx="1280160" cy="320040"/>
          </a:xfrm>
          <a:prstGeom prst="rect">
            <a:avLst/>
          </a:prstGeom>
          <a:noFill/>
        </p:spPr>
        <p:txBody>
          <a:bodyPr wrap="square" lIns="0" rIns="0" tIns="0" bIns="0" anchor="t">
            <a:noAutofit/>
          </a:bodyPr>
          <a:lstStyle/>
          <a:p>
            <a:pPr algn="l">
              <a:spcAft>
                <a:spcPts val="600"/>
              </a:spcAft>
            </a:pPr>
            <a:r>
              <a:rPr sz="1300" b="0" i="0">
                <a:solidFill>
                  <a:srgbClr val="6B7280"/>
                </a:solidFill>
                <a:latin typeface="Arial"/>
              </a:rPr>
              <a:t>about 10%</a:t>
            </a:r>
            <a:endParaRPr sz="1300"/>
          </a:p>
        </p:txBody>
      </p:sp>
      <p:sp>
        <p:nvSpPr>
          <p:cNvPr id="18" name="TextBox 17"/>
          <p:cNvSpPr txBox="1"/>
          <p:nvPr/>
        </p:nvSpPr>
        <p:spPr>
          <a:xfrm>
            <a:off x="8549640" y="2331720"/>
            <a:ext cx="1051560" cy="365760"/>
          </a:xfrm>
          <a:prstGeom prst="rect">
            <a:avLst/>
          </a:prstGeom>
          <a:noFill/>
        </p:spPr>
        <p:txBody>
          <a:bodyPr wrap="square" lIns="0" rIns="0" tIns="0" bIns="0" anchor="t">
            <a:noAutofit/>
          </a:bodyPr>
          <a:lstStyle/>
          <a:p>
            <a:pPr algn="l">
              <a:spcAft>
                <a:spcPts val="600"/>
              </a:spcAft>
            </a:pPr>
            <a:r>
              <a:rPr sz="1400" b="0" i="0">
                <a:solidFill>
                  <a:srgbClr val="1F2937"/>
                </a:solidFill>
                <a:latin typeface="Arial"/>
              </a:rPr>
              <a:t>0.0237</a:t>
            </a:r>
            <a:endParaRPr sz="1400"/>
          </a:p>
        </p:txBody>
      </p:sp>
      <p:sp>
        <p:nvSpPr>
          <p:cNvPr id="19" name="TextBox 18"/>
          <p:cNvSpPr txBox="1"/>
          <p:nvPr/>
        </p:nvSpPr>
        <p:spPr>
          <a:xfrm>
            <a:off x="9582912" y="2331720"/>
            <a:ext cx="1051560" cy="365760"/>
          </a:xfrm>
          <a:prstGeom prst="rect">
            <a:avLst/>
          </a:prstGeom>
          <a:noFill/>
        </p:spPr>
        <p:txBody>
          <a:bodyPr wrap="square" lIns="0" rIns="0" tIns="0" bIns="0" anchor="t">
            <a:noAutofit/>
          </a:bodyPr>
          <a:lstStyle/>
          <a:p>
            <a:pPr algn="l">
              <a:spcAft>
                <a:spcPts val="600"/>
              </a:spcAft>
            </a:pPr>
            <a:r>
              <a:rPr sz="1400" b="0" i="0">
                <a:solidFill>
                  <a:srgbClr val="1F2937"/>
                </a:solidFill>
                <a:latin typeface="Arial"/>
              </a:rPr>
              <a:t>0.0238</a:t>
            </a:r>
            <a:endParaRPr sz="1400"/>
          </a:p>
        </p:txBody>
      </p:sp>
      <p:sp>
        <p:nvSpPr>
          <p:cNvPr id="20" name="TextBox 19"/>
          <p:cNvSpPr txBox="1"/>
          <p:nvPr/>
        </p:nvSpPr>
        <p:spPr>
          <a:xfrm>
            <a:off x="10607040" y="2331720"/>
            <a:ext cx="1051560" cy="365760"/>
          </a:xfrm>
          <a:prstGeom prst="rect">
            <a:avLst/>
          </a:prstGeom>
          <a:noFill/>
        </p:spPr>
        <p:txBody>
          <a:bodyPr wrap="square" lIns="0" rIns="0" tIns="0" bIns="0" anchor="t">
            <a:noAutofit/>
          </a:bodyPr>
          <a:lstStyle/>
          <a:p>
            <a:pPr algn="l">
              <a:spcAft>
                <a:spcPts val="600"/>
              </a:spcAft>
            </a:pPr>
            <a:r>
              <a:rPr sz="1400" b="0" i="0">
                <a:solidFill>
                  <a:srgbClr val="1F2937"/>
                </a:solidFill>
                <a:latin typeface="Arial"/>
              </a:rPr>
              <a:t>0.0554</a:t>
            </a:r>
            <a:endParaRPr sz="1400"/>
          </a:p>
        </p:txBody>
      </p:sp>
      <p:sp>
        <p:nvSpPr>
          <p:cNvPr id="21" name="TextBox 20"/>
          <p:cNvSpPr txBox="1"/>
          <p:nvPr/>
        </p:nvSpPr>
        <p:spPr>
          <a:xfrm>
            <a:off x="7269480" y="2715768"/>
            <a:ext cx="1280160" cy="320040"/>
          </a:xfrm>
          <a:prstGeom prst="rect">
            <a:avLst/>
          </a:prstGeom>
          <a:noFill/>
        </p:spPr>
        <p:txBody>
          <a:bodyPr wrap="square" lIns="0" rIns="0" tIns="0" bIns="0" anchor="t">
            <a:noAutofit/>
          </a:bodyPr>
          <a:lstStyle/>
          <a:p>
            <a:pPr algn="l">
              <a:spcAft>
                <a:spcPts val="600"/>
              </a:spcAft>
            </a:pPr>
            <a:r>
              <a:rPr sz="1300" b="0" i="0">
                <a:solidFill>
                  <a:srgbClr val="6B7280"/>
                </a:solidFill>
                <a:latin typeface="Arial"/>
              </a:rPr>
              <a:t>about 30%</a:t>
            </a:r>
            <a:endParaRPr sz="1300"/>
          </a:p>
        </p:txBody>
      </p:sp>
      <p:sp>
        <p:nvSpPr>
          <p:cNvPr id="22" name="TextBox 21"/>
          <p:cNvSpPr txBox="1"/>
          <p:nvPr/>
        </p:nvSpPr>
        <p:spPr>
          <a:xfrm>
            <a:off x="8549640" y="2715768"/>
            <a:ext cx="1051560" cy="365760"/>
          </a:xfrm>
          <a:prstGeom prst="rect">
            <a:avLst/>
          </a:prstGeom>
          <a:noFill/>
        </p:spPr>
        <p:txBody>
          <a:bodyPr wrap="square" lIns="0" rIns="0" tIns="0" bIns="0" anchor="t">
            <a:noAutofit/>
          </a:bodyPr>
          <a:lstStyle/>
          <a:p>
            <a:pPr algn="l">
              <a:spcAft>
                <a:spcPts val="600"/>
              </a:spcAft>
            </a:pPr>
            <a:r>
              <a:rPr sz="1400" b="0" i="0">
                <a:solidFill>
                  <a:srgbClr val="1F2937"/>
                </a:solidFill>
                <a:latin typeface="Arial"/>
              </a:rPr>
              <a:t>0.0565</a:t>
            </a:r>
            <a:endParaRPr sz="1400"/>
          </a:p>
        </p:txBody>
      </p:sp>
      <p:sp>
        <p:nvSpPr>
          <p:cNvPr id="23" name="TextBox 22"/>
          <p:cNvSpPr txBox="1"/>
          <p:nvPr/>
        </p:nvSpPr>
        <p:spPr>
          <a:xfrm>
            <a:off x="9582912" y="2715768"/>
            <a:ext cx="1051560" cy="365760"/>
          </a:xfrm>
          <a:prstGeom prst="rect">
            <a:avLst/>
          </a:prstGeom>
          <a:noFill/>
        </p:spPr>
        <p:txBody>
          <a:bodyPr wrap="square" lIns="0" rIns="0" tIns="0" bIns="0" anchor="t">
            <a:noAutofit/>
          </a:bodyPr>
          <a:lstStyle/>
          <a:p>
            <a:pPr algn="l">
              <a:spcAft>
                <a:spcPts val="600"/>
              </a:spcAft>
            </a:pPr>
            <a:r>
              <a:rPr sz="1400" b="0" i="0">
                <a:solidFill>
                  <a:srgbClr val="1F2937"/>
                </a:solidFill>
                <a:latin typeface="Arial"/>
              </a:rPr>
              <a:t>0.0589</a:t>
            </a:r>
            <a:endParaRPr sz="1400"/>
          </a:p>
        </p:txBody>
      </p:sp>
      <p:sp>
        <p:nvSpPr>
          <p:cNvPr id="24" name="TextBox 23"/>
          <p:cNvSpPr txBox="1"/>
          <p:nvPr/>
        </p:nvSpPr>
        <p:spPr>
          <a:xfrm>
            <a:off x="10607040" y="2670048"/>
            <a:ext cx="1051560" cy="365760"/>
          </a:xfrm>
          <a:prstGeom prst="rect">
            <a:avLst/>
          </a:prstGeom>
          <a:noFill/>
        </p:spPr>
        <p:txBody>
          <a:bodyPr wrap="square" lIns="0" rIns="0" tIns="0" bIns="0" anchor="t">
            <a:noAutofit/>
          </a:bodyPr>
          <a:lstStyle/>
          <a:p>
            <a:pPr algn="l">
              <a:spcAft>
                <a:spcPts val="600"/>
              </a:spcAft>
            </a:pPr>
            <a:r>
              <a:rPr sz="1800" b="1" i="0">
                <a:solidFill>
                  <a:srgbClr val="E4572E"/>
                </a:solidFill>
                <a:latin typeface="Georgia"/>
              </a:rPr>
              <a:t>0.6634</a:t>
            </a:r>
            <a:endParaRPr sz="1800"/>
          </a:p>
        </p:txBody>
      </p:sp>
      <p:sp>
        <p:nvSpPr>
          <p:cNvPr id="25" name="TextBox 24"/>
          <p:cNvSpPr txBox="1"/>
          <p:nvPr/>
        </p:nvSpPr>
        <p:spPr>
          <a:xfrm>
            <a:off x="7040880" y="3456432"/>
            <a:ext cx="4599432" cy="2834640"/>
          </a:xfrm>
          <a:prstGeom prst="rect">
            <a:avLst/>
          </a:prstGeom>
          <a:noFill/>
        </p:spPr>
        <p:txBody>
          <a:bodyPr wrap="square" lIns="0" rIns="0" tIns="0" bIns="0" anchor="t">
            <a:noAutofit/>
          </a:bodyPr>
          <a:lstStyle/>
          <a:p>
            <a:pPr algn="l" marL="201168" indent="-201168">
              <a:spcAft>
                <a:spcPts val="700"/>
              </a:spcAft>
              <a:buClr>
                <a:srgbClr val="E4572E"/>
              </a:buClr>
              <a:buSzPct val="100000"/>
              <a:buFont typeface="Arial"/>
              <a:buChar char="▪"/>
            </a:pPr>
            <a:r>
              <a:rPr sz="1300" b="0" i="0">
                <a:solidFill>
                  <a:srgbClr val="1F2937"/>
                </a:solidFill>
                <a:latin typeface="Arial"/>
              </a:rPr>
              <a:t>The two MCAR patterns are nearly interchangeable: with 49 other assets observed on each date, breaking the time axis costs a cross-sectional imputer little.</a:t>
            </a:r>
            <a:endParaRPr sz="1300"/>
          </a:p>
          <a:p>
            <a:pPr algn="l" marL="201168" indent="-201168">
              <a:spcAft>
                <a:spcPts val="700"/>
              </a:spcAft>
              <a:buClr>
                <a:srgbClr val="E4572E"/>
              </a:buClr>
              <a:buSzPct val="100000"/>
              <a:buFont typeface="Arial"/>
              <a:buChar char="▪"/>
            </a:pPr>
            <a:r>
              <a:rPr sz="1300" b="0" i="0">
                <a:solidFill>
                  <a:srgbClr val="1F2937"/>
                </a:solidFill>
                <a:latin typeface="Arial"/>
              </a:rPr>
              <a:t>Stressed deletions are aligned by date. They remove the conditioning set, and what they remove are the largest returns.</a:t>
            </a:r>
            <a:endParaRPr sz="1300"/>
          </a:p>
          <a:p>
            <a:pPr algn="l" marL="201168" indent="-201168">
              <a:spcAft>
                <a:spcPts val="700"/>
              </a:spcAft>
              <a:buClr>
                <a:srgbClr val="E4572E"/>
              </a:buClr>
              <a:buSzPct val="100000"/>
              <a:buFont typeface="Arial"/>
              <a:buChar char="▪"/>
            </a:pPr>
            <a:r>
              <a:rPr sz="1300" b="0" i="0">
                <a:solidFill>
                  <a:srgbClr val="1F2937"/>
                </a:solidFill>
                <a:latin typeface="Arial"/>
              </a:rPr>
              <a:t>BRITS falls behind where deletions are most extreme: MAE </a:t>
            </a:r>
            <a:r>
              <a:rPr sz="1300" b="1" i="0">
                <a:solidFill>
                  <a:srgbClr val="E4572E"/>
                </a:solidFill>
                <a:latin typeface="Arial"/>
              </a:rPr>
              <a:t>0.0301</a:t>
            </a:r>
            <a:r>
              <a:rPr sz="1300" b="0" i="0">
                <a:solidFill>
                  <a:srgbClr val="1F2937"/>
                </a:solidFill>
                <a:latin typeface="Arial"/>
              </a:rPr>
              <a:t> against EM's 0.0133 at (0, 0.1, 0.99).</a:t>
            </a:r>
            <a:endParaRPr sz="1300"/>
          </a:p>
          <a:p>
            <a:pPr algn="l" marL="201168" indent="-201168">
              <a:spcAft>
                <a:spcPts val="700"/>
              </a:spcAft>
              <a:buClr>
                <a:srgbClr val="E4572E"/>
              </a:buClr>
              <a:buSzPct val="100000"/>
              <a:buFont typeface="Arial"/>
              <a:buChar char="▪"/>
            </a:pPr>
            <a:r>
              <a:rPr sz="1300" b="0" i="0">
                <a:solidFill>
                  <a:srgbClr val="1F2937"/>
                </a:solidFill>
                <a:latin typeface="Arial"/>
              </a:rPr>
              <a:t>At (0.2, 1, 0.9) the ranking compresses: CovErr between 0.648 and 0.663 for every surviving model.</a:t>
            </a:r>
            <a:endParaRPr sz="130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429768"/>
            <a:ext cx="77724" cy="77724"/>
          </a:xfrm>
          <a:prstGeom prst="rect">
            <a:avLst/>
          </a:prstGeom>
          <a:solidFill>
            <a:srgbClr val="C4C9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62940" y="429768"/>
            <a:ext cx="77724" cy="77724"/>
          </a:xfrm>
          <a:prstGeom prst="rect">
            <a:avLst/>
          </a:prstGeom>
          <a:solidFill>
            <a:srgbClr val="C4C9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429768"/>
            <a:ext cx="77724" cy="77724"/>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370332"/>
            <a:ext cx="8229600" cy="274320"/>
          </a:xfrm>
          <a:prstGeom prst="rect">
            <a:avLst/>
          </a:prstGeom>
          <a:noFill/>
        </p:spPr>
        <p:txBody>
          <a:bodyPr wrap="square" lIns="0" rIns="0" tIns="0" bIns="0" anchor="t">
            <a:noAutofit/>
          </a:bodyPr>
          <a:lstStyle/>
          <a:p>
            <a:pPr algn="l">
              <a:spcAft>
                <a:spcPts val="600"/>
              </a:spcAft>
            </a:pPr>
            <a:r>
              <a:rPr sz="1100" b="1" i="0" spc="150">
                <a:solidFill>
                  <a:srgbClr val="E4572E"/>
                </a:solidFill>
                <a:latin typeface="Arial"/>
              </a:rPr>
              <a:t>RESULTS  ·  DOWNSTREAM EVALUATION</a:t>
            </a:r>
            <a:endParaRPr sz="1100"/>
          </a:p>
        </p:txBody>
      </p:sp>
      <p:sp>
        <p:nvSpPr>
          <p:cNvPr id="6" name="TextBox 5"/>
          <p:cNvSpPr txBox="1"/>
          <p:nvPr/>
        </p:nvSpPr>
        <p:spPr>
          <a:xfrm>
            <a:off x="548640" y="676656"/>
            <a:ext cx="11091672" cy="640080"/>
          </a:xfrm>
          <a:prstGeom prst="rect">
            <a:avLst/>
          </a:prstGeom>
          <a:noFill/>
        </p:spPr>
        <p:txBody>
          <a:bodyPr wrap="square" lIns="0" rIns="0" tIns="0" bIns="0" anchor="t">
            <a:noAutofit/>
          </a:bodyPr>
          <a:lstStyle/>
          <a:p>
            <a:pPr algn="l">
              <a:spcAft>
                <a:spcPts val="600"/>
              </a:spcAft>
            </a:pPr>
            <a:r>
              <a:rPr sz="2600" b="1" i="0">
                <a:solidFill>
                  <a:srgbClr val="14213D"/>
                </a:solidFill>
                <a:latin typeface="Georgia"/>
              </a:rPr>
              <a:t>Downstream I: the portfolio amplifies the distortion</a:t>
            </a:r>
            <a:endParaRPr sz="2600"/>
          </a:p>
        </p:txBody>
      </p:sp>
      <p:sp>
        <p:nvSpPr>
          <p:cNvPr id="7" name="TextBox 6"/>
          <p:cNvSpPr txBox="1"/>
          <p:nvPr/>
        </p:nvSpPr>
        <p:spPr>
          <a:xfrm>
            <a:off x="548640" y="6419088"/>
            <a:ext cx="5486400" cy="228600"/>
          </a:xfrm>
          <a:prstGeom prst="rect">
            <a:avLst/>
          </a:prstGeom>
          <a:noFill/>
        </p:spPr>
        <p:txBody>
          <a:bodyPr wrap="square" lIns="0" rIns="0" tIns="0" bIns="0" anchor="t">
            <a:noAutofit/>
          </a:bodyPr>
          <a:lstStyle/>
          <a:p>
            <a:pPr algn="l">
              <a:spcAft>
                <a:spcPts val="600"/>
              </a:spcAft>
            </a:pPr>
            <a:r>
              <a:rPr sz="1000" b="0" i="0">
                <a:solidFill>
                  <a:srgbClr val="6B7280"/>
                </a:solidFill>
                <a:latin typeface="Arial"/>
              </a:rPr>
              <a:t>Michele Carlo Fanelli  ·  Bocconi University</a:t>
            </a:r>
            <a:endParaRPr sz="1000"/>
          </a:p>
        </p:txBody>
      </p:sp>
      <p:sp>
        <p:nvSpPr>
          <p:cNvPr id="8" name="TextBox 7"/>
          <p:cNvSpPr txBox="1"/>
          <p:nvPr/>
        </p:nvSpPr>
        <p:spPr>
          <a:xfrm>
            <a:off x="10268712" y="6419088"/>
            <a:ext cx="1371600" cy="228600"/>
          </a:xfrm>
          <a:prstGeom prst="rect">
            <a:avLst/>
          </a:prstGeom>
          <a:noFill/>
        </p:spPr>
        <p:txBody>
          <a:bodyPr wrap="square" lIns="0" rIns="0" tIns="0" bIns="0" anchor="t">
            <a:noAutofit/>
          </a:bodyPr>
          <a:lstStyle/>
          <a:p>
            <a:pPr algn="r">
              <a:spcAft>
                <a:spcPts val="600"/>
              </a:spcAft>
            </a:pPr>
            <a:r>
              <a:rPr sz="1000" b="0" i="0">
                <a:solidFill>
                  <a:srgbClr val="6B7280"/>
                </a:solidFill>
                <a:latin typeface="Arial"/>
              </a:rPr>
              <a:t>11 / 15</a:t>
            </a:r>
            <a:endParaRPr sz="1000"/>
          </a:p>
        </p:txBody>
      </p:sp>
      <p:pic>
        <p:nvPicPr>
          <p:cNvPr id="9" name="Picture 8" descr="portfolio_realizations.png"/>
          <p:cNvPicPr>
            <a:picLocks noChangeAspect="1"/>
          </p:cNvPicPr>
          <p:nvPr/>
        </p:nvPicPr>
        <p:blipFill>
          <a:blip r:embed="rId2"/>
          <a:stretch>
            <a:fillRect/>
          </a:stretch>
        </p:blipFill>
        <p:spPr>
          <a:xfrm>
            <a:off x="548640" y="1371600"/>
            <a:ext cx="11091672" cy="2928895"/>
          </a:xfrm>
          <a:prstGeom prst="rect">
            <a:avLst/>
          </a:prstGeom>
        </p:spPr>
      </p:pic>
      <p:sp>
        <p:nvSpPr>
          <p:cNvPr id="10" name="Rounded Rectangle 9"/>
          <p:cNvSpPr/>
          <p:nvPr/>
        </p:nvSpPr>
        <p:spPr>
          <a:xfrm>
            <a:off x="548640" y="4434840"/>
            <a:ext cx="2624328" cy="1508760"/>
          </a:xfrm>
          <a:prstGeom prst="roundRect">
            <a:avLst>
              <a:gd name="adj" fmla="val 4848"/>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4553712"/>
            <a:ext cx="2258568" cy="292608"/>
          </a:xfrm>
          <a:prstGeom prst="rect">
            <a:avLst/>
          </a:prstGeom>
          <a:noFill/>
        </p:spPr>
        <p:txBody>
          <a:bodyPr wrap="square" lIns="0" rIns="0" tIns="0" bIns="0" anchor="t">
            <a:noAutofit/>
          </a:bodyPr>
          <a:lstStyle/>
          <a:p>
            <a:pPr algn="l">
              <a:spcAft>
                <a:spcPts val="600"/>
              </a:spcAft>
            </a:pPr>
            <a:r>
              <a:rPr sz="1500" b="1" i="0">
                <a:solidFill>
                  <a:srgbClr val="14213D"/>
                </a:solidFill>
                <a:latin typeface="Arial"/>
              </a:rPr>
              <a:t>Oracle</a:t>
            </a:r>
            <a:endParaRPr sz="1500"/>
          </a:p>
        </p:txBody>
      </p:sp>
      <p:sp>
        <p:nvSpPr>
          <p:cNvPr id="12" name="TextBox 11"/>
          <p:cNvSpPr txBox="1"/>
          <p:nvPr/>
        </p:nvSpPr>
        <p:spPr>
          <a:xfrm>
            <a:off x="749808" y="4892040"/>
            <a:ext cx="2258568" cy="1005840"/>
          </a:xfrm>
          <a:prstGeom prst="rect">
            <a:avLst/>
          </a:prstGeom>
          <a:noFill/>
        </p:spPr>
        <p:txBody>
          <a:bodyPr wrap="square" lIns="0" rIns="0" tIns="0" bIns="0" anchor="t">
            <a:noAutofit/>
          </a:bodyPr>
          <a:lstStyle/>
          <a:p>
            <a:pPr algn="l">
              <a:spcAft>
                <a:spcPts val="600"/>
              </a:spcAft>
            </a:pPr>
            <a:r>
              <a:rPr sz="1250" b="0" i="0">
                <a:solidFill>
                  <a:srgbClr val="1F2937"/>
                </a:solidFill>
                <a:latin typeface="Arial"/>
              </a:rPr>
              <a:t>Complete panel, annualised: mean 0.361, variance 0.049, Sharpe </a:t>
            </a:r>
            <a:r>
              <a:rPr sz="1250" b="1" i="0">
                <a:solidFill>
                  <a:srgbClr val="E4572E"/>
                </a:solidFill>
                <a:latin typeface="Arial"/>
              </a:rPr>
              <a:t>1.636</a:t>
            </a:r>
            <a:r>
              <a:rPr sz="1250" b="0" i="0">
                <a:solidFill>
                  <a:srgbClr val="1F2937"/>
                </a:solidFill>
                <a:latin typeface="Arial"/>
              </a:rPr>
              <a:t>.</a:t>
            </a:r>
            <a:endParaRPr sz="1250"/>
          </a:p>
        </p:txBody>
      </p:sp>
      <p:sp>
        <p:nvSpPr>
          <p:cNvPr id="13" name="Rounded Rectangle 12"/>
          <p:cNvSpPr/>
          <p:nvPr/>
        </p:nvSpPr>
        <p:spPr>
          <a:xfrm>
            <a:off x="3371392" y="4434840"/>
            <a:ext cx="2624328" cy="1508760"/>
          </a:xfrm>
          <a:prstGeom prst="roundRect">
            <a:avLst>
              <a:gd name="adj" fmla="val 4848"/>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72560" y="4553712"/>
            <a:ext cx="2258568" cy="292608"/>
          </a:xfrm>
          <a:prstGeom prst="rect">
            <a:avLst/>
          </a:prstGeom>
          <a:noFill/>
        </p:spPr>
        <p:txBody>
          <a:bodyPr wrap="square" lIns="0" rIns="0" tIns="0" bIns="0" anchor="t">
            <a:noAutofit/>
          </a:bodyPr>
          <a:lstStyle/>
          <a:p>
            <a:pPr algn="l">
              <a:spcAft>
                <a:spcPts val="600"/>
              </a:spcAft>
            </a:pPr>
            <a:r>
              <a:rPr sz="1500" b="1" i="0">
                <a:solidFill>
                  <a:srgbClr val="14213D"/>
                </a:solidFill>
                <a:latin typeface="Arial"/>
              </a:rPr>
              <a:t>Heavy MCAR</a:t>
            </a:r>
            <a:endParaRPr sz="1500"/>
          </a:p>
        </p:txBody>
      </p:sp>
      <p:sp>
        <p:nvSpPr>
          <p:cNvPr id="15" name="TextBox 14"/>
          <p:cNvSpPr txBox="1"/>
          <p:nvPr/>
        </p:nvSpPr>
        <p:spPr>
          <a:xfrm>
            <a:off x="3572560" y="4892040"/>
            <a:ext cx="2258568" cy="1005840"/>
          </a:xfrm>
          <a:prstGeom prst="rect">
            <a:avLst/>
          </a:prstGeom>
          <a:noFill/>
        </p:spPr>
        <p:txBody>
          <a:bodyPr wrap="square" lIns="0" rIns="0" tIns="0" bIns="0" anchor="t">
            <a:noAutofit/>
          </a:bodyPr>
          <a:lstStyle/>
          <a:p>
            <a:pPr algn="l">
              <a:spcAft>
                <a:spcPts val="600"/>
              </a:spcAft>
            </a:pPr>
            <a:r>
              <a:rPr sz="1250" b="0" i="0">
                <a:solidFill>
                  <a:srgbClr val="1F2937"/>
                </a:solidFill>
                <a:latin typeface="Arial"/>
              </a:rPr>
              <a:t>Variance rises from 0.049 to as much as 0.29 and </a:t>
            </a:r>
            <a:r>
              <a:rPr sz="1250" b="0" i="1">
                <a:solidFill>
                  <a:srgbClr val="1F2937"/>
                </a:solidFill>
                <a:latin typeface="Arial"/>
              </a:rPr>
              <a:t>L</a:t>
            </a:r>
            <a:r>
              <a:rPr sz="1250" b="0" i="0" baseline="30000">
                <a:solidFill>
                  <a:srgbClr val="1F2937"/>
                </a:solidFill>
                <a:latin typeface="Arial"/>
              </a:rPr>
              <a:t>1</a:t>
            </a:r>
            <a:r>
              <a:rPr sz="1250" b="0" i="0">
                <a:solidFill>
                  <a:srgbClr val="1F2937"/>
                </a:solidFill>
                <a:latin typeface="Arial"/>
              </a:rPr>
              <a:t> weight distances reach 14: the inverted covariance over-leverages.</a:t>
            </a:r>
            <a:endParaRPr sz="1250"/>
          </a:p>
        </p:txBody>
      </p:sp>
      <p:sp>
        <p:nvSpPr>
          <p:cNvPr id="16" name="Rounded Rectangle 15"/>
          <p:cNvSpPr/>
          <p:nvPr/>
        </p:nvSpPr>
        <p:spPr>
          <a:xfrm>
            <a:off x="6194145" y="4434840"/>
            <a:ext cx="2624328" cy="1508760"/>
          </a:xfrm>
          <a:prstGeom prst="roundRect">
            <a:avLst>
              <a:gd name="adj" fmla="val 4848"/>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95313" y="4553712"/>
            <a:ext cx="2258568" cy="292608"/>
          </a:xfrm>
          <a:prstGeom prst="rect">
            <a:avLst/>
          </a:prstGeom>
          <a:noFill/>
        </p:spPr>
        <p:txBody>
          <a:bodyPr wrap="square" lIns="0" rIns="0" tIns="0" bIns="0" anchor="t">
            <a:noAutofit/>
          </a:bodyPr>
          <a:lstStyle/>
          <a:p>
            <a:pPr algn="l">
              <a:spcAft>
                <a:spcPts val="600"/>
              </a:spcAft>
            </a:pPr>
            <a:r>
              <a:rPr sz="1500" b="1" i="0">
                <a:solidFill>
                  <a:srgbClr val="14213D"/>
                </a:solidFill>
                <a:latin typeface="Arial"/>
              </a:rPr>
              <a:t>Heavy MNAR</a:t>
            </a:r>
            <a:endParaRPr sz="1500"/>
          </a:p>
        </p:txBody>
      </p:sp>
      <p:sp>
        <p:nvSpPr>
          <p:cNvPr id="18" name="TextBox 17"/>
          <p:cNvSpPr txBox="1"/>
          <p:nvPr/>
        </p:nvSpPr>
        <p:spPr>
          <a:xfrm>
            <a:off x="6395313" y="4892040"/>
            <a:ext cx="2258568" cy="1005840"/>
          </a:xfrm>
          <a:prstGeom prst="rect">
            <a:avLst/>
          </a:prstGeom>
          <a:noFill/>
        </p:spPr>
        <p:txBody>
          <a:bodyPr wrap="square" lIns="0" rIns="0" tIns="0" bIns="0" anchor="t">
            <a:noAutofit/>
          </a:bodyPr>
          <a:lstStyle/>
          <a:p>
            <a:pPr algn="l">
              <a:spcAft>
                <a:spcPts val="600"/>
              </a:spcAft>
            </a:pPr>
            <a:r>
              <a:rPr sz="1250" b="0" i="0">
                <a:solidFill>
                  <a:srgbClr val="1F2937"/>
                </a:solidFill>
                <a:latin typeface="Arial"/>
              </a:rPr>
              <a:t>The imputers never see the volatility; their portfolios end at little more than half of the oracle's cumulative return.</a:t>
            </a:r>
            <a:endParaRPr sz="1250"/>
          </a:p>
        </p:txBody>
      </p:sp>
      <p:sp>
        <p:nvSpPr>
          <p:cNvPr id="19" name="Rounded Rectangle 18"/>
          <p:cNvSpPr/>
          <p:nvPr/>
        </p:nvSpPr>
        <p:spPr>
          <a:xfrm>
            <a:off x="9016898" y="4434840"/>
            <a:ext cx="2624328" cy="1508760"/>
          </a:xfrm>
          <a:prstGeom prst="roundRect">
            <a:avLst>
              <a:gd name="adj" fmla="val 4848"/>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218066" y="4553712"/>
            <a:ext cx="2258568" cy="292608"/>
          </a:xfrm>
          <a:prstGeom prst="rect">
            <a:avLst/>
          </a:prstGeom>
          <a:noFill/>
        </p:spPr>
        <p:txBody>
          <a:bodyPr wrap="square" lIns="0" rIns="0" tIns="0" bIns="0" anchor="t">
            <a:noAutofit/>
          </a:bodyPr>
          <a:lstStyle/>
          <a:p>
            <a:pPr algn="l">
              <a:spcAft>
                <a:spcPts val="600"/>
              </a:spcAft>
            </a:pPr>
            <a:r>
              <a:rPr sz="1500" b="1" i="0">
                <a:solidFill>
                  <a:srgbClr val="14213D"/>
                </a:solidFill>
                <a:latin typeface="Arial"/>
              </a:rPr>
              <a:t>Who fails</a:t>
            </a:r>
            <a:endParaRPr sz="1500"/>
          </a:p>
        </p:txBody>
      </p:sp>
      <p:sp>
        <p:nvSpPr>
          <p:cNvPr id="21" name="TextBox 20"/>
          <p:cNvSpPr txBox="1"/>
          <p:nvPr/>
        </p:nvSpPr>
        <p:spPr>
          <a:xfrm>
            <a:off x="9218066" y="4892040"/>
            <a:ext cx="2258568" cy="1005840"/>
          </a:xfrm>
          <a:prstGeom prst="rect">
            <a:avLst/>
          </a:prstGeom>
          <a:noFill/>
        </p:spPr>
        <p:txBody>
          <a:bodyPr wrap="square" lIns="0" rIns="0" tIns="0" bIns="0" anchor="t">
            <a:noAutofit/>
          </a:bodyPr>
          <a:lstStyle/>
          <a:p>
            <a:pPr algn="l">
              <a:spcAft>
                <a:spcPts val="600"/>
              </a:spcAft>
            </a:pPr>
            <a:r>
              <a:rPr sz="1250" b="0" i="0">
                <a:solidFill>
                  <a:srgbClr val="1F2937"/>
                </a:solidFill>
                <a:latin typeface="Arial"/>
              </a:rPr>
              <a:t>EM and Low-rank are never the worst. BRITS: Sharpe 1.30 against EM's 1.51 at (0.05, 0.5, 0.9).</a:t>
            </a:r>
            <a:endParaRPr sz="1250"/>
          </a:p>
        </p:txBody>
      </p:sp>
      <p:sp>
        <p:nvSpPr>
          <p:cNvPr id="22" name="TextBox 21"/>
          <p:cNvSpPr txBox="1"/>
          <p:nvPr/>
        </p:nvSpPr>
        <p:spPr>
          <a:xfrm>
            <a:off x="548640" y="6035040"/>
            <a:ext cx="11091672" cy="320040"/>
          </a:xfrm>
          <a:prstGeom prst="rect">
            <a:avLst/>
          </a:prstGeom>
          <a:noFill/>
        </p:spPr>
        <p:txBody>
          <a:bodyPr wrap="square" lIns="0" rIns="0" tIns="0" bIns="0" anchor="t">
            <a:noAutofit/>
          </a:bodyPr>
          <a:lstStyle/>
          <a:p>
            <a:pPr algn="l">
              <a:spcAft>
                <a:spcPts val="600"/>
              </a:spcAft>
            </a:pPr>
            <a:r>
              <a:rPr sz="1050" b="0" i="0">
                <a:solidFill>
                  <a:srgbClr val="6B7280"/>
                </a:solidFill>
                <a:latin typeface="Arial"/>
              </a:rPr>
              <a:t>In-sample diagnostic of reconstruction fidelity, not investment performance. Deletion: Sharpe near zero at sparse 0.1; its covariance is singular at the heavy levels.</a:t>
            </a:r>
            <a:endParaRPr sz="105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429768"/>
            <a:ext cx="77724" cy="77724"/>
          </a:xfrm>
          <a:prstGeom prst="rect">
            <a:avLst/>
          </a:prstGeom>
          <a:solidFill>
            <a:srgbClr val="C4C9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62940" y="429768"/>
            <a:ext cx="77724" cy="77724"/>
          </a:xfrm>
          <a:prstGeom prst="rect">
            <a:avLst/>
          </a:prstGeom>
          <a:solidFill>
            <a:srgbClr val="C4C9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429768"/>
            <a:ext cx="77724" cy="77724"/>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370332"/>
            <a:ext cx="8229600" cy="274320"/>
          </a:xfrm>
          <a:prstGeom prst="rect">
            <a:avLst/>
          </a:prstGeom>
          <a:noFill/>
        </p:spPr>
        <p:txBody>
          <a:bodyPr wrap="square" lIns="0" rIns="0" tIns="0" bIns="0" anchor="t">
            <a:noAutofit/>
          </a:bodyPr>
          <a:lstStyle/>
          <a:p>
            <a:pPr algn="l">
              <a:spcAft>
                <a:spcPts val="600"/>
              </a:spcAft>
            </a:pPr>
            <a:r>
              <a:rPr sz="1100" b="1" i="0" spc="150">
                <a:solidFill>
                  <a:srgbClr val="E4572E"/>
                </a:solidFill>
                <a:latin typeface="Arial"/>
              </a:rPr>
              <a:t>RESULTS  ·  DOWNSTREAM EVALUATION</a:t>
            </a:r>
            <a:endParaRPr sz="1100"/>
          </a:p>
        </p:txBody>
      </p:sp>
      <p:sp>
        <p:nvSpPr>
          <p:cNvPr id="6" name="TextBox 5"/>
          <p:cNvSpPr txBox="1"/>
          <p:nvPr/>
        </p:nvSpPr>
        <p:spPr>
          <a:xfrm>
            <a:off x="548640" y="676656"/>
            <a:ext cx="11091672" cy="640080"/>
          </a:xfrm>
          <a:prstGeom prst="rect">
            <a:avLst/>
          </a:prstGeom>
          <a:noFill/>
        </p:spPr>
        <p:txBody>
          <a:bodyPr wrap="square" lIns="0" rIns="0" tIns="0" bIns="0" anchor="t">
            <a:noAutofit/>
          </a:bodyPr>
          <a:lstStyle/>
          <a:p>
            <a:pPr algn="l">
              <a:spcAft>
                <a:spcPts val="600"/>
              </a:spcAft>
            </a:pPr>
            <a:r>
              <a:rPr sz="2600" b="1" i="0">
                <a:solidFill>
                  <a:srgbClr val="14213D"/>
                </a:solidFill>
                <a:latin typeface="Georgia"/>
              </a:rPr>
              <a:t>Downstream II: a robust market factor, a fragile subspace</a:t>
            </a:r>
            <a:endParaRPr sz="2600"/>
          </a:p>
        </p:txBody>
      </p:sp>
      <p:sp>
        <p:nvSpPr>
          <p:cNvPr id="7" name="TextBox 6"/>
          <p:cNvSpPr txBox="1"/>
          <p:nvPr/>
        </p:nvSpPr>
        <p:spPr>
          <a:xfrm>
            <a:off x="548640" y="6419088"/>
            <a:ext cx="5486400" cy="228600"/>
          </a:xfrm>
          <a:prstGeom prst="rect">
            <a:avLst/>
          </a:prstGeom>
          <a:noFill/>
        </p:spPr>
        <p:txBody>
          <a:bodyPr wrap="square" lIns="0" rIns="0" tIns="0" bIns="0" anchor="t">
            <a:noAutofit/>
          </a:bodyPr>
          <a:lstStyle/>
          <a:p>
            <a:pPr algn="l">
              <a:spcAft>
                <a:spcPts val="600"/>
              </a:spcAft>
            </a:pPr>
            <a:r>
              <a:rPr sz="1000" b="0" i="0">
                <a:solidFill>
                  <a:srgbClr val="6B7280"/>
                </a:solidFill>
                <a:latin typeface="Arial"/>
              </a:rPr>
              <a:t>Michele Carlo Fanelli  ·  Bocconi University</a:t>
            </a:r>
            <a:endParaRPr sz="1000"/>
          </a:p>
        </p:txBody>
      </p:sp>
      <p:sp>
        <p:nvSpPr>
          <p:cNvPr id="8" name="TextBox 7"/>
          <p:cNvSpPr txBox="1"/>
          <p:nvPr/>
        </p:nvSpPr>
        <p:spPr>
          <a:xfrm>
            <a:off x="10268712" y="6419088"/>
            <a:ext cx="1371600" cy="228600"/>
          </a:xfrm>
          <a:prstGeom prst="rect">
            <a:avLst/>
          </a:prstGeom>
          <a:noFill/>
        </p:spPr>
        <p:txBody>
          <a:bodyPr wrap="square" lIns="0" rIns="0" tIns="0" bIns="0" anchor="t">
            <a:noAutofit/>
          </a:bodyPr>
          <a:lstStyle/>
          <a:p>
            <a:pPr algn="r">
              <a:spcAft>
                <a:spcPts val="600"/>
              </a:spcAft>
            </a:pPr>
            <a:r>
              <a:rPr sz="1000" b="0" i="0">
                <a:solidFill>
                  <a:srgbClr val="6B7280"/>
                </a:solidFill>
                <a:latin typeface="Arial"/>
              </a:rPr>
              <a:t>12 / 15</a:t>
            </a:r>
            <a:endParaRPr sz="1000"/>
          </a:p>
        </p:txBody>
      </p:sp>
      <p:pic>
        <p:nvPicPr>
          <p:cNvPr id="9" name="Picture 8" descr="factor_structure.png"/>
          <p:cNvPicPr>
            <a:picLocks noChangeAspect="1"/>
          </p:cNvPicPr>
          <p:nvPr/>
        </p:nvPicPr>
        <p:blipFill>
          <a:blip r:embed="rId2"/>
          <a:stretch>
            <a:fillRect/>
          </a:stretch>
        </p:blipFill>
        <p:spPr>
          <a:xfrm>
            <a:off x="502920" y="1371600"/>
            <a:ext cx="7086600" cy="3157966"/>
          </a:xfrm>
          <a:prstGeom prst="rect">
            <a:avLst/>
          </a:prstGeom>
        </p:spPr>
      </p:pic>
      <p:sp>
        <p:nvSpPr>
          <p:cNvPr id="10" name="TextBox 9"/>
          <p:cNvSpPr txBox="1"/>
          <p:nvPr/>
        </p:nvSpPr>
        <p:spPr>
          <a:xfrm>
            <a:off x="548640" y="4584430"/>
            <a:ext cx="6949440" cy="457200"/>
          </a:xfrm>
          <a:prstGeom prst="rect">
            <a:avLst/>
          </a:prstGeom>
          <a:noFill/>
        </p:spPr>
        <p:txBody>
          <a:bodyPr wrap="square" lIns="0" rIns="0" tIns="0" bIns="0" anchor="t">
            <a:noAutofit/>
          </a:bodyPr>
          <a:lstStyle/>
          <a:p>
            <a:pPr algn="l">
              <a:spcAft>
                <a:spcPts val="600"/>
              </a:spcAft>
            </a:pPr>
            <a:r>
              <a:rPr sz="1050" b="0" i="0">
                <a:solidFill>
                  <a:srgbClr val="6B7280"/>
                </a:solidFill>
                <a:latin typeface="Arial"/>
              </a:rPr>
              <a:t>Top: variance share of the first 15 components (log scale). Bottom: ordered principal angles between the 15-factor subspaces, not per-factor errors. Heaviest level of each pattern.</a:t>
            </a:r>
            <a:endParaRPr sz="1050"/>
          </a:p>
        </p:txBody>
      </p:sp>
      <p:sp>
        <p:nvSpPr>
          <p:cNvPr id="11" name="TextBox 10"/>
          <p:cNvSpPr txBox="1"/>
          <p:nvPr/>
        </p:nvSpPr>
        <p:spPr>
          <a:xfrm>
            <a:off x="7909560" y="1417320"/>
            <a:ext cx="3749039" cy="384048"/>
          </a:xfrm>
          <a:prstGeom prst="rect">
            <a:avLst/>
          </a:prstGeom>
          <a:noFill/>
        </p:spPr>
        <p:txBody>
          <a:bodyPr wrap="square" lIns="0" rIns="0" tIns="0" bIns="0" anchor="t">
            <a:noAutofit/>
          </a:bodyPr>
          <a:lstStyle/>
          <a:p>
            <a:pPr algn="l">
              <a:spcAft>
                <a:spcPts val="600"/>
              </a:spcAft>
            </a:pPr>
            <a:r>
              <a:rPr sz="2100" b="1" i="0">
                <a:solidFill>
                  <a:srgbClr val="E4572E"/>
                </a:solidFill>
                <a:latin typeface="Georgia"/>
              </a:rPr>
              <a:t>D</a:t>
            </a:r>
            <a:r>
              <a:rPr sz="2100" b="1" i="0" baseline="-25000">
                <a:solidFill>
                  <a:srgbClr val="E4572E"/>
                </a:solidFill>
                <a:latin typeface="Georgia"/>
              </a:rPr>
              <a:t>1</a:t>
            </a:r>
            <a:r>
              <a:rPr sz="2100" b="1" i="0">
                <a:solidFill>
                  <a:srgbClr val="E4572E"/>
                </a:solidFill>
                <a:latin typeface="Georgia"/>
              </a:rPr>
              <a:t> &lt; 0.026</a:t>
            </a:r>
            <a:endParaRPr sz="2100"/>
          </a:p>
        </p:txBody>
      </p:sp>
      <p:sp>
        <p:nvSpPr>
          <p:cNvPr id="12" name="TextBox 11"/>
          <p:cNvSpPr txBox="1"/>
          <p:nvPr/>
        </p:nvSpPr>
        <p:spPr>
          <a:xfrm>
            <a:off x="7909560" y="1801368"/>
            <a:ext cx="3749039" cy="457200"/>
          </a:xfrm>
          <a:prstGeom prst="rect">
            <a:avLst/>
          </a:prstGeom>
          <a:noFill/>
        </p:spPr>
        <p:txBody>
          <a:bodyPr wrap="square" lIns="0" rIns="0" tIns="0" bIns="0" anchor="t">
            <a:noAutofit/>
          </a:bodyPr>
          <a:lstStyle/>
          <a:p>
            <a:pPr algn="l">
              <a:spcAft>
                <a:spcPts val="600"/>
              </a:spcAft>
            </a:pPr>
            <a:r>
              <a:rPr sz="1200" b="0" i="0">
                <a:solidFill>
                  <a:srgbClr val="1F2937"/>
                </a:solidFill>
                <a:latin typeface="Arial"/>
              </a:rPr>
              <a:t>Market direction at sparse 0.3: under 1.5 degrees</a:t>
            </a:r>
            <a:endParaRPr sz="1200"/>
          </a:p>
        </p:txBody>
      </p:sp>
      <p:sp>
        <p:nvSpPr>
          <p:cNvPr id="13" name="TextBox 12"/>
          <p:cNvSpPr txBox="1"/>
          <p:nvPr/>
        </p:nvSpPr>
        <p:spPr>
          <a:xfrm>
            <a:off x="7909560" y="2368296"/>
            <a:ext cx="3749039" cy="384048"/>
          </a:xfrm>
          <a:prstGeom prst="rect">
            <a:avLst/>
          </a:prstGeom>
          <a:noFill/>
        </p:spPr>
        <p:txBody>
          <a:bodyPr wrap="square" lIns="0" rIns="0" tIns="0" bIns="0" anchor="t">
            <a:noAutofit/>
          </a:bodyPr>
          <a:lstStyle/>
          <a:p>
            <a:pPr algn="l">
              <a:spcAft>
                <a:spcPts val="600"/>
              </a:spcAft>
            </a:pPr>
            <a:r>
              <a:rPr sz="2100" b="1" i="0">
                <a:solidFill>
                  <a:srgbClr val="E4572E"/>
                </a:solidFill>
                <a:latin typeface="Georgia"/>
              </a:rPr>
              <a:t>6 to 18×</a:t>
            </a:r>
            <a:endParaRPr sz="2100"/>
          </a:p>
        </p:txBody>
      </p:sp>
      <p:sp>
        <p:nvSpPr>
          <p:cNvPr id="14" name="TextBox 13"/>
          <p:cNvSpPr txBox="1"/>
          <p:nvPr/>
        </p:nvSpPr>
        <p:spPr>
          <a:xfrm>
            <a:off x="7909560" y="2752344"/>
            <a:ext cx="3749039" cy="457200"/>
          </a:xfrm>
          <a:prstGeom prst="rect">
            <a:avLst/>
          </a:prstGeom>
          <a:noFill/>
        </p:spPr>
        <p:txBody>
          <a:bodyPr wrap="square" lIns="0" rIns="0" tIns="0" bIns="0" anchor="t">
            <a:noAutofit/>
          </a:bodyPr>
          <a:lstStyle/>
          <a:p>
            <a:pPr algn="l">
              <a:spcAft>
                <a:spcPts val="600"/>
              </a:spcAft>
            </a:pPr>
            <a:r>
              <a:rPr sz="1200" b="0" i="0">
                <a:solidFill>
                  <a:srgbClr val="1F2937"/>
                </a:solidFill>
                <a:latin typeface="Arial"/>
              </a:rPr>
              <a:t>Larger D</a:t>
            </a:r>
            <a:r>
              <a:rPr sz="1200" b="0" i="0" baseline="-25000">
                <a:solidFill>
                  <a:srgbClr val="1F2937"/>
                </a:solidFill>
                <a:latin typeface="Arial"/>
              </a:rPr>
              <a:t>5</a:t>
            </a:r>
            <a:r>
              <a:rPr sz="1200" b="0" i="0">
                <a:solidFill>
                  <a:srgbClr val="1F2937"/>
                </a:solidFill>
                <a:latin typeface="Arial"/>
              </a:rPr>
              <a:t>: the five-factor subspace, 0.14 to 0.39</a:t>
            </a:r>
            <a:endParaRPr sz="1200"/>
          </a:p>
        </p:txBody>
      </p:sp>
      <p:sp>
        <p:nvSpPr>
          <p:cNvPr id="15" name="TextBox 14"/>
          <p:cNvSpPr txBox="1"/>
          <p:nvPr/>
        </p:nvSpPr>
        <p:spPr>
          <a:xfrm>
            <a:off x="7909560" y="3319272"/>
            <a:ext cx="3749039" cy="384048"/>
          </a:xfrm>
          <a:prstGeom prst="rect">
            <a:avLst/>
          </a:prstGeom>
          <a:noFill/>
        </p:spPr>
        <p:txBody>
          <a:bodyPr wrap="square" lIns="0" rIns="0" tIns="0" bIns="0" anchor="t">
            <a:noAutofit/>
          </a:bodyPr>
          <a:lstStyle/>
          <a:p>
            <a:pPr algn="l">
              <a:spcAft>
                <a:spcPts val="600"/>
              </a:spcAft>
            </a:pPr>
            <a:r>
              <a:rPr sz="2100" b="1" i="0">
                <a:solidFill>
                  <a:srgbClr val="E4572E"/>
                </a:solidFill>
                <a:latin typeface="Georgia"/>
              </a:rPr>
              <a:t>41.74% → 48.5%</a:t>
            </a:r>
            <a:endParaRPr sz="2100"/>
          </a:p>
        </p:txBody>
      </p:sp>
      <p:sp>
        <p:nvSpPr>
          <p:cNvPr id="16" name="TextBox 15"/>
          <p:cNvSpPr txBox="1"/>
          <p:nvPr/>
        </p:nvSpPr>
        <p:spPr>
          <a:xfrm>
            <a:off x="7909560" y="3703320"/>
            <a:ext cx="3749039" cy="457200"/>
          </a:xfrm>
          <a:prstGeom prst="rect">
            <a:avLst/>
          </a:prstGeom>
          <a:noFill/>
        </p:spPr>
        <p:txBody>
          <a:bodyPr wrap="square" lIns="0" rIns="0" tIns="0" bIns="0" anchor="t">
            <a:noAutofit/>
          </a:bodyPr>
          <a:lstStyle/>
          <a:p>
            <a:pPr algn="l">
              <a:spcAft>
                <a:spcPts val="600"/>
              </a:spcAft>
            </a:pPr>
            <a:r>
              <a:rPr sz="1200" b="0" i="0">
                <a:solidFill>
                  <a:srgbClr val="1F2937"/>
                </a:solidFill>
                <a:latin typeface="Arial"/>
              </a:rPr>
              <a:t>First-factor share at sparse 0.3: every conditional imputer raises it, to between 45.6% and 48.5%</a:t>
            </a:r>
            <a:endParaRPr sz="1200"/>
          </a:p>
        </p:txBody>
      </p:sp>
      <p:sp>
        <p:nvSpPr>
          <p:cNvPr id="17" name="TextBox 16"/>
          <p:cNvSpPr txBox="1"/>
          <p:nvPr/>
        </p:nvSpPr>
        <p:spPr>
          <a:xfrm>
            <a:off x="7909560" y="4270248"/>
            <a:ext cx="3749039" cy="384048"/>
          </a:xfrm>
          <a:prstGeom prst="rect">
            <a:avLst/>
          </a:prstGeom>
          <a:noFill/>
        </p:spPr>
        <p:txBody>
          <a:bodyPr wrap="square" lIns="0" rIns="0" tIns="0" bIns="0" anchor="t">
            <a:noAutofit/>
          </a:bodyPr>
          <a:lstStyle/>
          <a:p>
            <a:pPr algn="l">
              <a:spcAft>
                <a:spcPts val="600"/>
              </a:spcAft>
            </a:pPr>
            <a:r>
              <a:rPr sz="2100" b="1" i="0">
                <a:solidFill>
                  <a:srgbClr val="E4572E"/>
                </a:solidFill>
                <a:latin typeface="Georgia"/>
              </a:rPr>
              <a:t>10 of 15</a:t>
            </a:r>
            <a:endParaRPr sz="2100"/>
          </a:p>
        </p:txBody>
      </p:sp>
      <p:sp>
        <p:nvSpPr>
          <p:cNvPr id="18" name="TextBox 17"/>
          <p:cNvSpPr txBox="1"/>
          <p:nvPr/>
        </p:nvSpPr>
        <p:spPr>
          <a:xfrm>
            <a:off x="7909560" y="4654296"/>
            <a:ext cx="3749039" cy="457200"/>
          </a:xfrm>
          <a:prstGeom prst="rect">
            <a:avLst/>
          </a:prstGeom>
          <a:noFill/>
        </p:spPr>
        <p:txBody>
          <a:bodyPr wrap="square" lIns="0" rIns="0" tIns="0" bIns="0" anchor="t">
            <a:noAutofit/>
          </a:bodyPr>
          <a:lstStyle/>
          <a:p>
            <a:pPr algn="l">
              <a:spcAft>
                <a:spcPts val="600"/>
              </a:spcAft>
            </a:pPr>
            <a:r>
              <a:rPr sz="1200" b="0" i="0">
                <a:solidFill>
                  <a:srgbClr val="1F2937"/>
                </a:solidFill>
                <a:latin typeface="Arial"/>
              </a:rPr>
              <a:t>Levels where Low-rank has the largest D</a:t>
            </a:r>
            <a:r>
              <a:rPr sz="1200" b="0" i="0" baseline="-25000">
                <a:solidFill>
                  <a:srgbClr val="1F2937"/>
                </a:solidFill>
                <a:latin typeface="Arial"/>
              </a:rPr>
              <a:t>5</a:t>
            </a:r>
            <a:r>
              <a:rPr sz="1200" b="0" i="0">
                <a:solidFill>
                  <a:srgbClr val="1F2937"/>
                </a:solidFill>
                <a:latin typeface="Arial"/>
              </a:rPr>
              <a:t>, although it imposes a factor structure</a:t>
            </a:r>
            <a:endParaRPr sz="1200"/>
          </a:p>
        </p:txBody>
      </p:sp>
      <p:sp>
        <p:nvSpPr>
          <p:cNvPr id="19" name="TextBox 18"/>
          <p:cNvSpPr txBox="1"/>
          <p:nvPr/>
        </p:nvSpPr>
        <p:spPr>
          <a:xfrm>
            <a:off x="7909560" y="5221224"/>
            <a:ext cx="3749039" cy="384048"/>
          </a:xfrm>
          <a:prstGeom prst="rect">
            <a:avLst/>
          </a:prstGeom>
          <a:noFill/>
        </p:spPr>
        <p:txBody>
          <a:bodyPr wrap="square" lIns="0" rIns="0" tIns="0" bIns="0" anchor="t">
            <a:noAutofit/>
          </a:bodyPr>
          <a:lstStyle/>
          <a:p>
            <a:pPr algn="l">
              <a:spcAft>
                <a:spcPts val="600"/>
              </a:spcAft>
            </a:pPr>
            <a:r>
              <a:rPr sz="2100" b="1" i="0">
                <a:solidFill>
                  <a:srgbClr val="E4572E"/>
                </a:solidFill>
                <a:latin typeface="Georgia"/>
              </a:rPr>
              <a:t>≈ 25%</a:t>
            </a:r>
            <a:endParaRPr sz="2100"/>
          </a:p>
        </p:txBody>
      </p:sp>
      <p:sp>
        <p:nvSpPr>
          <p:cNvPr id="20" name="TextBox 19"/>
          <p:cNvSpPr txBox="1"/>
          <p:nvPr/>
        </p:nvSpPr>
        <p:spPr>
          <a:xfrm>
            <a:off x="7909560" y="5605272"/>
            <a:ext cx="3749039" cy="457200"/>
          </a:xfrm>
          <a:prstGeom prst="rect">
            <a:avLst/>
          </a:prstGeom>
          <a:noFill/>
        </p:spPr>
        <p:txBody>
          <a:bodyPr wrap="square" lIns="0" rIns="0" tIns="0" bIns="0" anchor="t">
            <a:noAutofit/>
          </a:bodyPr>
          <a:lstStyle/>
          <a:p>
            <a:pPr algn="l">
              <a:spcAft>
                <a:spcPts val="600"/>
              </a:spcAft>
            </a:pPr>
            <a:r>
              <a:rPr sz="1200" b="0" i="0">
                <a:solidFill>
                  <a:srgbClr val="1F2937"/>
                </a:solidFill>
                <a:latin typeface="Arial"/>
              </a:rPr>
              <a:t>First-factor share at (0.2, 1, 0.9), for all four methods that can be evaluated</a:t>
            </a:r>
            <a:endParaRPr sz="1200"/>
          </a:p>
        </p:txBody>
      </p:sp>
      <p:sp>
        <p:nvSpPr>
          <p:cNvPr id="21" name="Rounded Rectangle 20"/>
          <p:cNvSpPr/>
          <p:nvPr/>
        </p:nvSpPr>
        <p:spPr>
          <a:xfrm>
            <a:off x="548640" y="5074920"/>
            <a:ext cx="7040880" cy="1207008"/>
          </a:xfrm>
          <a:prstGeom prst="roundRect">
            <a:avLst>
              <a:gd name="adj" fmla="val 606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formula_inverse.png"/>
          <p:cNvPicPr>
            <a:picLocks noChangeAspect="1"/>
          </p:cNvPicPr>
          <p:nvPr/>
        </p:nvPicPr>
        <p:blipFill>
          <a:blip r:embed="rId3"/>
          <a:stretch>
            <a:fillRect/>
          </a:stretch>
        </p:blipFill>
        <p:spPr>
          <a:xfrm>
            <a:off x="777240" y="5175504"/>
            <a:ext cx="1776330" cy="313650"/>
          </a:xfrm>
          <a:prstGeom prst="rect">
            <a:avLst/>
          </a:prstGeom>
        </p:spPr>
      </p:pic>
      <p:sp>
        <p:nvSpPr>
          <p:cNvPr id="23" name="TextBox 22"/>
          <p:cNvSpPr txBox="1"/>
          <p:nvPr/>
        </p:nvSpPr>
        <p:spPr>
          <a:xfrm>
            <a:off x="777240" y="5650992"/>
            <a:ext cx="6629400" cy="566928"/>
          </a:xfrm>
          <a:prstGeom prst="rect">
            <a:avLst/>
          </a:prstGeom>
          <a:noFill/>
        </p:spPr>
        <p:txBody>
          <a:bodyPr wrap="square" lIns="0" rIns="0" tIns="0" bIns="0" anchor="t">
            <a:noAutofit/>
          </a:bodyPr>
          <a:lstStyle/>
          <a:p>
            <a:pPr algn="l">
              <a:spcAft>
                <a:spcPts val="600"/>
              </a:spcAft>
            </a:pPr>
            <a:r>
              <a:rPr sz="1200" b="0" i="0">
                <a:solidFill>
                  <a:srgbClr val="1F2937"/>
                </a:solidFill>
                <a:latin typeface="Arial"/>
              </a:rPr>
              <a:t>The portfolio loads most on the trailing directions, the ones the imputations recover worst. Its error maximisation is the factor distortion seen through an inverse.</a:t>
            </a:r>
            <a:endParaRPr sz="120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429768"/>
            <a:ext cx="77724" cy="77724"/>
          </a:xfrm>
          <a:prstGeom prst="rect">
            <a:avLst/>
          </a:prstGeom>
          <a:solidFill>
            <a:srgbClr val="C4C9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62940" y="429768"/>
            <a:ext cx="77724" cy="77724"/>
          </a:xfrm>
          <a:prstGeom prst="rect">
            <a:avLst/>
          </a:prstGeom>
          <a:solidFill>
            <a:srgbClr val="C4C9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429768"/>
            <a:ext cx="77724" cy="77724"/>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370332"/>
            <a:ext cx="8229600" cy="274320"/>
          </a:xfrm>
          <a:prstGeom prst="rect">
            <a:avLst/>
          </a:prstGeom>
          <a:noFill/>
        </p:spPr>
        <p:txBody>
          <a:bodyPr wrap="square" lIns="0" rIns="0" tIns="0" bIns="0" anchor="t">
            <a:noAutofit/>
          </a:bodyPr>
          <a:lstStyle/>
          <a:p>
            <a:pPr algn="l">
              <a:spcAft>
                <a:spcPts val="600"/>
              </a:spcAft>
            </a:pPr>
            <a:r>
              <a:rPr sz="1100" b="1" i="0" spc="150">
                <a:solidFill>
                  <a:srgbClr val="E4572E"/>
                </a:solidFill>
                <a:latin typeface="Arial"/>
              </a:rPr>
              <a:t>RESULTS  ·  COMPUTATIONAL COST</a:t>
            </a:r>
            <a:endParaRPr sz="1100"/>
          </a:p>
        </p:txBody>
      </p:sp>
      <p:sp>
        <p:nvSpPr>
          <p:cNvPr id="6" name="TextBox 5"/>
          <p:cNvSpPr txBox="1"/>
          <p:nvPr/>
        </p:nvSpPr>
        <p:spPr>
          <a:xfrm>
            <a:off x="548640" y="676656"/>
            <a:ext cx="11091672" cy="640080"/>
          </a:xfrm>
          <a:prstGeom prst="rect">
            <a:avLst/>
          </a:prstGeom>
          <a:noFill/>
        </p:spPr>
        <p:txBody>
          <a:bodyPr wrap="square" lIns="0" rIns="0" tIns="0" bIns="0" anchor="t">
            <a:noAutofit/>
          </a:bodyPr>
          <a:lstStyle/>
          <a:p>
            <a:pPr algn="l">
              <a:spcAft>
                <a:spcPts val="600"/>
              </a:spcAft>
            </a:pPr>
            <a:r>
              <a:rPr sz="2600" b="1" i="0">
                <a:solidFill>
                  <a:srgbClr val="14213D"/>
                </a:solidFill>
                <a:latin typeface="Georgia"/>
              </a:rPr>
              <a:t>The deep models did not earn their cost</a:t>
            </a:r>
            <a:endParaRPr sz="2600"/>
          </a:p>
        </p:txBody>
      </p:sp>
      <p:sp>
        <p:nvSpPr>
          <p:cNvPr id="7" name="TextBox 6"/>
          <p:cNvSpPr txBox="1"/>
          <p:nvPr/>
        </p:nvSpPr>
        <p:spPr>
          <a:xfrm>
            <a:off x="548640" y="6419088"/>
            <a:ext cx="5486400" cy="228600"/>
          </a:xfrm>
          <a:prstGeom prst="rect">
            <a:avLst/>
          </a:prstGeom>
          <a:noFill/>
        </p:spPr>
        <p:txBody>
          <a:bodyPr wrap="square" lIns="0" rIns="0" tIns="0" bIns="0" anchor="t">
            <a:noAutofit/>
          </a:bodyPr>
          <a:lstStyle/>
          <a:p>
            <a:pPr algn="l">
              <a:spcAft>
                <a:spcPts val="600"/>
              </a:spcAft>
            </a:pPr>
            <a:r>
              <a:rPr sz="1000" b="0" i="0">
                <a:solidFill>
                  <a:srgbClr val="6B7280"/>
                </a:solidFill>
                <a:latin typeface="Arial"/>
              </a:rPr>
              <a:t>Michele Carlo Fanelli  ·  Bocconi University</a:t>
            </a:r>
            <a:endParaRPr sz="1000"/>
          </a:p>
        </p:txBody>
      </p:sp>
      <p:sp>
        <p:nvSpPr>
          <p:cNvPr id="8" name="TextBox 7"/>
          <p:cNvSpPr txBox="1"/>
          <p:nvPr/>
        </p:nvSpPr>
        <p:spPr>
          <a:xfrm>
            <a:off x="10268712" y="6419088"/>
            <a:ext cx="1371600" cy="228600"/>
          </a:xfrm>
          <a:prstGeom prst="rect">
            <a:avLst/>
          </a:prstGeom>
          <a:noFill/>
        </p:spPr>
        <p:txBody>
          <a:bodyPr wrap="square" lIns="0" rIns="0" tIns="0" bIns="0" anchor="t">
            <a:noAutofit/>
          </a:bodyPr>
          <a:lstStyle/>
          <a:p>
            <a:pPr algn="r">
              <a:spcAft>
                <a:spcPts val="600"/>
              </a:spcAft>
            </a:pPr>
            <a:r>
              <a:rPr sz="1000" b="0" i="0">
                <a:solidFill>
                  <a:srgbClr val="6B7280"/>
                </a:solidFill>
                <a:latin typeface="Arial"/>
              </a:rPr>
              <a:t>13 / 15</a:t>
            </a:r>
            <a:endParaRPr sz="1000"/>
          </a:p>
        </p:txBody>
      </p:sp>
      <p:sp>
        <p:nvSpPr>
          <p:cNvPr id="9" name="Rounded Rectangle 8"/>
          <p:cNvSpPr/>
          <p:nvPr/>
        </p:nvSpPr>
        <p:spPr>
          <a:xfrm>
            <a:off x="548640" y="1600200"/>
            <a:ext cx="2624328" cy="2697480"/>
          </a:xfrm>
          <a:prstGeom prst="roundRect">
            <a:avLst>
              <a:gd name="adj" fmla="val 2787"/>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783080"/>
            <a:ext cx="2624328" cy="914400"/>
          </a:xfrm>
          <a:prstGeom prst="rect">
            <a:avLst/>
          </a:prstGeom>
          <a:noFill/>
        </p:spPr>
        <p:txBody>
          <a:bodyPr wrap="square" lIns="0" rIns="0" tIns="0" bIns="0" anchor="t">
            <a:noAutofit/>
          </a:bodyPr>
          <a:lstStyle/>
          <a:p>
            <a:pPr algn="ctr">
              <a:spcAft>
                <a:spcPts val="600"/>
              </a:spcAft>
            </a:pPr>
            <a:r>
              <a:rPr sz="5600" b="1" i="0">
                <a:solidFill>
                  <a:srgbClr val="FF9500"/>
                </a:solidFill>
                <a:latin typeface="Georgia"/>
              </a:rPr>
              <a:t>1 s</a:t>
            </a:r>
            <a:endParaRPr sz="5600"/>
          </a:p>
        </p:txBody>
      </p:sp>
      <p:sp>
        <p:nvSpPr>
          <p:cNvPr id="11" name="TextBox 10"/>
          <p:cNvSpPr txBox="1"/>
          <p:nvPr/>
        </p:nvSpPr>
        <p:spPr>
          <a:xfrm>
            <a:off x="731520" y="2788920"/>
            <a:ext cx="2258568" cy="320040"/>
          </a:xfrm>
          <a:prstGeom prst="rect">
            <a:avLst/>
          </a:prstGeom>
          <a:noFill/>
        </p:spPr>
        <p:txBody>
          <a:bodyPr wrap="square" lIns="0" rIns="0" tIns="0" bIns="0" anchor="t">
            <a:noAutofit/>
          </a:bodyPr>
          <a:lstStyle/>
          <a:p>
            <a:pPr algn="ctr">
              <a:spcAft>
                <a:spcPts val="600"/>
              </a:spcAft>
            </a:pPr>
            <a:r>
              <a:rPr sz="1600" b="1" i="0">
                <a:solidFill>
                  <a:srgbClr val="14213D"/>
                </a:solidFill>
                <a:latin typeface="Arial"/>
              </a:rPr>
              <a:t>EM</a:t>
            </a:r>
            <a:endParaRPr sz="1600"/>
          </a:p>
        </p:txBody>
      </p:sp>
      <p:sp>
        <p:nvSpPr>
          <p:cNvPr id="12" name="TextBox 11"/>
          <p:cNvSpPr txBox="1"/>
          <p:nvPr/>
        </p:nvSpPr>
        <p:spPr>
          <a:xfrm>
            <a:off x="777240" y="3154680"/>
            <a:ext cx="2167128" cy="1051560"/>
          </a:xfrm>
          <a:prstGeom prst="rect">
            <a:avLst/>
          </a:prstGeom>
          <a:noFill/>
        </p:spPr>
        <p:txBody>
          <a:bodyPr wrap="square" lIns="0" rIns="0" tIns="0" bIns="0" anchor="t">
            <a:noAutofit/>
          </a:bodyPr>
          <a:lstStyle/>
          <a:p>
            <a:pPr algn="ctr">
              <a:spcAft>
                <a:spcPts val="600"/>
              </a:spcAft>
            </a:pPr>
            <a:r>
              <a:rPr sz="1300" b="0" i="0">
                <a:solidFill>
                  <a:srgbClr val="1F2937"/>
                </a:solidFill>
                <a:latin typeface="Arial"/>
              </a:rPr>
              <a:t>about one second to fill a 4125 × 50 panel</a:t>
            </a:r>
            <a:endParaRPr sz="1300"/>
          </a:p>
        </p:txBody>
      </p:sp>
      <p:sp>
        <p:nvSpPr>
          <p:cNvPr id="13" name="Rounded Rectangle 12"/>
          <p:cNvSpPr/>
          <p:nvPr/>
        </p:nvSpPr>
        <p:spPr>
          <a:xfrm>
            <a:off x="3371392" y="1600200"/>
            <a:ext cx="2624328" cy="2697480"/>
          </a:xfrm>
          <a:prstGeom prst="roundRect">
            <a:avLst>
              <a:gd name="adj" fmla="val 2787"/>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371392" y="1783080"/>
            <a:ext cx="2624328" cy="914400"/>
          </a:xfrm>
          <a:prstGeom prst="rect">
            <a:avLst/>
          </a:prstGeom>
          <a:noFill/>
        </p:spPr>
        <p:txBody>
          <a:bodyPr wrap="square" lIns="0" rIns="0" tIns="0" bIns="0" anchor="t">
            <a:noAutofit/>
          </a:bodyPr>
          <a:lstStyle/>
          <a:p>
            <a:pPr algn="ctr">
              <a:spcAft>
                <a:spcPts val="600"/>
              </a:spcAft>
            </a:pPr>
            <a:r>
              <a:rPr sz="5600" b="1" i="0">
                <a:solidFill>
                  <a:srgbClr val="14213D"/>
                </a:solidFill>
                <a:latin typeface="Georgia"/>
              </a:rPr>
              <a:t>1 h</a:t>
            </a:r>
            <a:endParaRPr sz="5600"/>
          </a:p>
        </p:txBody>
      </p:sp>
      <p:sp>
        <p:nvSpPr>
          <p:cNvPr id="15" name="TextBox 14"/>
          <p:cNvSpPr txBox="1"/>
          <p:nvPr/>
        </p:nvSpPr>
        <p:spPr>
          <a:xfrm>
            <a:off x="3554272" y="2788920"/>
            <a:ext cx="2258568" cy="320040"/>
          </a:xfrm>
          <a:prstGeom prst="rect">
            <a:avLst/>
          </a:prstGeom>
          <a:noFill/>
        </p:spPr>
        <p:txBody>
          <a:bodyPr wrap="square" lIns="0" rIns="0" tIns="0" bIns="0" anchor="t">
            <a:noAutofit/>
          </a:bodyPr>
          <a:lstStyle/>
          <a:p>
            <a:pPr algn="ctr">
              <a:spcAft>
                <a:spcPts val="600"/>
              </a:spcAft>
            </a:pPr>
            <a:r>
              <a:rPr sz="1600" b="1" i="0">
                <a:solidFill>
                  <a:srgbClr val="14213D"/>
                </a:solidFill>
                <a:latin typeface="Arial"/>
              </a:rPr>
              <a:t>BRITS</a:t>
            </a:r>
            <a:endParaRPr sz="1600"/>
          </a:p>
        </p:txBody>
      </p:sp>
      <p:sp>
        <p:nvSpPr>
          <p:cNvPr id="16" name="TextBox 15"/>
          <p:cNvSpPr txBox="1"/>
          <p:nvPr/>
        </p:nvSpPr>
        <p:spPr>
          <a:xfrm>
            <a:off x="3599992" y="3154680"/>
            <a:ext cx="2167128" cy="1051560"/>
          </a:xfrm>
          <a:prstGeom prst="rect">
            <a:avLst/>
          </a:prstGeom>
          <a:noFill/>
        </p:spPr>
        <p:txBody>
          <a:bodyPr wrap="square" lIns="0" rIns="0" tIns="0" bIns="0" anchor="t">
            <a:noAutofit/>
          </a:bodyPr>
          <a:lstStyle/>
          <a:p>
            <a:pPr algn="ctr">
              <a:spcAft>
                <a:spcPts val="600"/>
              </a:spcAft>
            </a:pPr>
            <a:r>
              <a:rPr sz="1300" b="0" i="0">
                <a:solidFill>
                  <a:srgbClr val="1F2937"/>
                </a:solidFill>
                <a:latin typeface="Arial"/>
              </a:rPr>
              <a:t>just under an hour of training per panel (10,000 epochs)</a:t>
            </a:r>
            <a:endParaRPr sz="1300"/>
          </a:p>
        </p:txBody>
      </p:sp>
      <p:sp>
        <p:nvSpPr>
          <p:cNvPr id="17" name="Rounded Rectangle 16"/>
          <p:cNvSpPr/>
          <p:nvPr/>
        </p:nvSpPr>
        <p:spPr>
          <a:xfrm>
            <a:off x="6194145" y="1600200"/>
            <a:ext cx="2624328" cy="2697480"/>
          </a:xfrm>
          <a:prstGeom prst="roundRect">
            <a:avLst>
              <a:gd name="adj" fmla="val 2787"/>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94145" y="1783080"/>
            <a:ext cx="2624328" cy="914400"/>
          </a:xfrm>
          <a:prstGeom prst="rect">
            <a:avLst/>
          </a:prstGeom>
          <a:noFill/>
        </p:spPr>
        <p:txBody>
          <a:bodyPr wrap="square" lIns="0" rIns="0" tIns="0" bIns="0" anchor="t">
            <a:noAutofit/>
          </a:bodyPr>
          <a:lstStyle/>
          <a:p>
            <a:pPr algn="ctr">
              <a:spcAft>
                <a:spcPts val="600"/>
              </a:spcAft>
            </a:pPr>
            <a:r>
              <a:rPr sz="5600" b="1" i="0">
                <a:solidFill>
                  <a:srgbClr val="E4572E"/>
                </a:solidFill>
                <a:latin typeface="Georgia"/>
              </a:rPr>
              <a:t>4 h</a:t>
            </a:r>
            <a:endParaRPr sz="5600"/>
          </a:p>
        </p:txBody>
      </p:sp>
      <p:sp>
        <p:nvSpPr>
          <p:cNvPr id="19" name="TextBox 18"/>
          <p:cNvSpPr txBox="1"/>
          <p:nvPr/>
        </p:nvSpPr>
        <p:spPr>
          <a:xfrm>
            <a:off x="6377025" y="2788920"/>
            <a:ext cx="2258568" cy="320040"/>
          </a:xfrm>
          <a:prstGeom prst="rect">
            <a:avLst/>
          </a:prstGeom>
          <a:noFill/>
        </p:spPr>
        <p:txBody>
          <a:bodyPr wrap="square" lIns="0" rIns="0" tIns="0" bIns="0" anchor="t">
            <a:noAutofit/>
          </a:bodyPr>
          <a:lstStyle/>
          <a:p>
            <a:pPr algn="ctr">
              <a:spcAft>
                <a:spcPts val="600"/>
              </a:spcAft>
            </a:pPr>
            <a:r>
              <a:rPr sz="1600" b="1" i="0">
                <a:solidFill>
                  <a:srgbClr val="14213D"/>
                </a:solidFill>
                <a:latin typeface="Arial"/>
              </a:rPr>
              <a:t>CSDI</a:t>
            </a:r>
            <a:endParaRPr sz="1600"/>
          </a:p>
        </p:txBody>
      </p:sp>
      <p:sp>
        <p:nvSpPr>
          <p:cNvPr id="20" name="TextBox 19"/>
          <p:cNvSpPr txBox="1"/>
          <p:nvPr/>
        </p:nvSpPr>
        <p:spPr>
          <a:xfrm>
            <a:off x="6422745" y="3154680"/>
            <a:ext cx="2167128" cy="1051560"/>
          </a:xfrm>
          <a:prstGeom prst="rect">
            <a:avLst/>
          </a:prstGeom>
          <a:noFill/>
        </p:spPr>
        <p:txBody>
          <a:bodyPr wrap="square" lIns="0" rIns="0" tIns="0" bIns="0" anchor="t">
            <a:noAutofit/>
          </a:bodyPr>
          <a:lstStyle/>
          <a:p>
            <a:pPr algn="ctr">
              <a:spcAft>
                <a:spcPts val="600"/>
              </a:spcAft>
            </a:pPr>
            <a:r>
              <a:rPr sz="1300" b="0" i="0">
                <a:solidFill>
                  <a:srgbClr val="1F2937"/>
                </a:solidFill>
                <a:latin typeface="Arial"/>
              </a:rPr>
              <a:t>just under four hours of training per panel, then about 24 minutes of sampling</a:t>
            </a:r>
            <a:endParaRPr sz="1300"/>
          </a:p>
        </p:txBody>
      </p:sp>
      <p:sp>
        <p:nvSpPr>
          <p:cNvPr id="21" name="Rounded Rectangle 20"/>
          <p:cNvSpPr/>
          <p:nvPr/>
        </p:nvSpPr>
        <p:spPr>
          <a:xfrm>
            <a:off x="9016898" y="1600200"/>
            <a:ext cx="2624328" cy="2697480"/>
          </a:xfrm>
          <a:prstGeom prst="roundRect">
            <a:avLst>
              <a:gd name="adj" fmla="val 2787"/>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016898" y="1783080"/>
            <a:ext cx="2624328" cy="914400"/>
          </a:xfrm>
          <a:prstGeom prst="rect">
            <a:avLst/>
          </a:prstGeom>
          <a:noFill/>
        </p:spPr>
        <p:txBody>
          <a:bodyPr wrap="square" lIns="0" rIns="0" tIns="0" bIns="0" anchor="t">
            <a:noAutofit/>
          </a:bodyPr>
          <a:lstStyle/>
          <a:p>
            <a:pPr algn="ctr">
              <a:spcAft>
                <a:spcPts val="600"/>
              </a:spcAft>
            </a:pPr>
            <a:r>
              <a:rPr sz="5600" b="1" i="0">
                <a:solidFill>
                  <a:srgbClr val="14213D"/>
                </a:solidFill>
                <a:latin typeface="Georgia"/>
              </a:rPr>
              <a:t>70 h</a:t>
            </a:r>
            <a:endParaRPr sz="5600"/>
          </a:p>
        </p:txBody>
      </p:sp>
      <p:sp>
        <p:nvSpPr>
          <p:cNvPr id="23" name="TextBox 22"/>
          <p:cNvSpPr txBox="1"/>
          <p:nvPr/>
        </p:nvSpPr>
        <p:spPr>
          <a:xfrm>
            <a:off x="9199778" y="2788920"/>
            <a:ext cx="2258568" cy="320040"/>
          </a:xfrm>
          <a:prstGeom prst="rect">
            <a:avLst/>
          </a:prstGeom>
          <a:noFill/>
        </p:spPr>
        <p:txBody>
          <a:bodyPr wrap="square" lIns="0" rIns="0" tIns="0" bIns="0" anchor="t">
            <a:noAutofit/>
          </a:bodyPr>
          <a:lstStyle/>
          <a:p>
            <a:pPr algn="ctr">
              <a:spcAft>
                <a:spcPts val="600"/>
              </a:spcAft>
            </a:pPr>
            <a:r>
              <a:rPr sz="1600" b="1" i="0">
                <a:solidFill>
                  <a:srgbClr val="14213D"/>
                </a:solidFill>
                <a:latin typeface="Arial"/>
              </a:rPr>
              <a:t>All neural training</a:t>
            </a:r>
            <a:endParaRPr sz="1600"/>
          </a:p>
        </p:txBody>
      </p:sp>
      <p:sp>
        <p:nvSpPr>
          <p:cNvPr id="24" name="TextBox 23"/>
          <p:cNvSpPr txBox="1"/>
          <p:nvPr/>
        </p:nvSpPr>
        <p:spPr>
          <a:xfrm>
            <a:off x="9245498" y="3154680"/>
            <a:ext cx="2167128" cy="1051560"/>
          </a:xfrm>
          <a:prstGeom prst="rect">
            <a:avLst/>
          </a:prstGeom>
          <a:noFill/>
        </p:spPr>
        <p:txBody>
          <a:bodyPr wrap="square" lIns="0" rIns="0" tIns="0" bIns="0" anchor="t">
            <a:noAutofit/>
          </a:bodyPr>
          <a:lstStyle/>
          <a:p>
            <a:pPr algn="ctr">
              <a:spcAft>
                <a:spcPts val="600"/>
              </a:spcAft>
            </a:pPr>
            <a:r>
              <a:rPr sz="1300" b="0" i="0">
                <a:solidFill>
                  <a:srgbClr val="1F2937"/>
                </a:solidFill>
                <a:latin typeface="Arial"/>
              </a:rPr>
              <a:t>roughly seventy hours for the 15 levels, four fifths of it on CSDI</a:t>
            </a:r>
            <a:endParaRPr sz="1300"/>
          </a:p>
        </p:txBody>
      </p:sp>
      <p:sp>
        <p:nvSpPr>
          <p:cNvPr id="25" name="TextBox 24"/>
          <p:cNvSpPr txBox="1"/>
          <p:nvPr/>
        </p:nvSpPr>
        <p:spPr>
          <a:xfrm>
            <a:off x="548640" y="4617720"/>
            <a:ext cx="11091672" cy="822960"/>
          </a:xfrm>
          <a:prstGeom prst="rect">
            <a:avLst/>
          </a:prstGeom>
          <a:noFill/>
        </p:spPr>
        <p:txBody>
          <a:bodyPr wrap="square" lIns="0" rIns="0" tIns="0" bIns="0" anchor="t">
            <a:noAutofit/>
          </a:bodyPr>
          <a:lstStyle/>
          <a:p>
            <a:pPr algn="l">
              <a:spcAft>
                <a:spcPts val="600"/>
              </a:spcAft>
            </a:pPr>
            <a:r>
              <a:rPr sz="2200" b="0" i="0">
                <a:solidFill>
                  <a:srgbClr val="14213D"/>
                </a:solidFill>
                <a:latin typeface="Georgia"/>
              </a:rPr>
              <a:t>CSDI matches EM's accuracy at about </a:t>
            </a:r>
            <a:r>
              <a:rPr sz="2200" b="1" i="0">
                <a:solidFill>
                  <a:srgbClr val="14213D"/>
                </a:solidFill>
                <a:latin typeface="Georgia"/>
              </a:rPr>
              <a:t>four orders of magnitude</a:t>
            </a:r>
            <a:r>
              <a:rPr sz="2200" b="0" i="0">
                <a:solidFill>
                  <a:srgbClr val="14213D"/>
                </a:solidFill>
                <a:latin typeface="Georgia"/>
              </a:rPr>
              <a:t> more computation, and BRITS falls behind at two stressed levels.</a:t>
            </a:r>
            <a:endParaRPr sz="2200"/>
          </a:p>
        </p:txBody>
      </p:sp>
      <p:sp>
        <p:nvSpPr>
          <p:cNvPr id="26" name="TextBox 25"/>
          <p:cNvSpPr txBox="1"/>
          <p:nvPr/>
        </p:nvSpPr>
        <p:spPr>
          <a:xfrm>
            <a:off x="548640" y="5623560"/>
            <a:ext cx="11091672" cy="548640"/>
          </a:xfrm>
          <a:prstGeom prst="rect">
            <a:avLst/>
          </a:prstGeom>
          <a:noFill/>
        </p:spPr>
        <p:txBody>
          <a:bodyPr wrap="square" lIns="0" rIns="0" tIns="0" bIns="0" anchor="t">
            <a:noAutofit/>
          </a:bodyPr>
          <a:lstStyle/>
          <a:p>
            <a:pPr algn="l">
              <a:spcAft>
                <a:spcPts val="600"/>
              </a:spcAft>
            </a:pPr>
            <a:r>
              <a:rPr sz="1200" b="0" i="0">
                <a:solidFill>
                  <a:srgbClr val="6B7280"/>
                </a:solidFill>
                <a:latin typeface="Arial"/>
              </a:rPr>
              <a:t>Single Apple Mac mini (M4, 16 GB), CPU-only PyTorch. Small networks: about 120,000 parameters for BRITS and 47,000 for CSDI.  Times are approximate, as reported in Section 3.3 of the thesis.</a:t>
            </a:r>
            <a:endParaRPr sz="1200"/>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429768"/>
            <a:ext cx="77724" cy="77724"/>
          </a:xfrm>
          <a:prstGeom prst="rect">
            <a:avLst/>
          </a:prstGeom>
          <a:solidFill>
            <a:srgbClr val="C4C9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62940" y="429768"/>
            <a:ext cx="77724" cy="77724"/>
          </a:xfrm>
          <a:prstGeom prst="rect">
            <a:avLst/>
          </a:prstGeom>
          <a:solidFill>
            <a:srgbClr val="C4C9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429768"/>
            <a:ext cx="77724" cy="77724"/>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370332"/>
            <a:ext cx="8229600" cy="274320"/>
          </a:xfrm>
          <a:prstGeom prst="rect">
            <a:avLst/>
          </a:prstGeom>
          <a:noFill/>
        </p:spPr>
        <p:txBody>
          <a:bodyPr wrap="square" lIns="0" rIns="0" tIns="0" bIns="0" anchor="t">
            <a:noAutofit/>
          </a:bodyPr>
          <a:lstStyle/>
          <a:p>
            <a:pPr algn="l">
              <a:spcAft>
                <a:spcPts val="600"/>
              </a:spcAft>
            </a:pPr>
            <a:r>
              <a:rPr sz="1100" b="1" i="0" spc="150">
                <a:solidFill>
                  <a:srgbClr val="E4572E"/>
                </a:solidFill>
                <a:latin typeface="Arial"/>
              </a:rPr>
              <a:t>CONCLUSION  ·  SUMMARY</a:t>
            </a:r>
            <a:endParaRPr sz="1100"/>
          </a:p>
        </p:txBody>
      </p:sp>
      <p:sp>
        <p:nvSpPr>
          <p:cNvPr id="6" name="TextBox 5"/>
          <p:cNvSpPr txBox="1"/>
          <p:nvPr/>
        </p:nvSpPr>
        <p:spPr>
          <a:xfrm>
            <a:off x="548640" y="676656"/>
            <a:ext cx="11091672" cy="640080"/>
          </a:xfrm>
          <a:prstGeom prst="rect">
            <a:avLst/>
          </a:prstGeom>
          <a:noFill/>
        </p:spPr>
        <p:txBody>
          <a:bodyPr wrap="square" lIns="0" rIns="0" tIns="0" bIns="0" anchor="t">
            <a:noAutofit/>
          </a:bodyPr>
          <a:lstStyle/>
          <a:p>
            <a:pPr algn="l">
              <a:spcAft>
                <a:spcPts val="600"/>
              </a:spcAft>
            </a:pPr>
            <a:r>
              <a:rPr sz="2600" b="1" i="0">
                <a:solidFill>
                  <a:srgbClr val="14213D"/>
                </a:solidFill>
                <a:latin typeface="Georgia"/>
              </a:rPr>
              <a:t>Answers to the four questions</a:t>
            </a:r>
            <a:endParaRPr sz="2600"/>
          </a:p>
        </p:txBody>
      </p:sp>
      <p:sp>
        <p:nvSpPr>
          <p:cNvPr id="7" name="TextBox 6"/>
          <p:cNvSpPr txBox="1"/>
          <p:nvPr/>
        </p:nvSpPr>
        <p:spPr>
          <a:xfrm>
            <a:off x="548640" y="6419088"/>
            <a:ext cx="5486400" cy="228600"/>
          </a:xfrm>
          <a:prstGeom prst="rect">
            <a:avLst/>
          </a:prstGeom>
          <a:noFill/>
        </p:spPr>
        <p:txBody>
          <a:bodyPr wrap="square" lIns="0" rIns="0" tIns="0" bIns="0" anchor="t">
            <a:noAutofit/>
          </a:bodyPr>
          <a:lstStyle/>
          <a:p>
            <a:pPr algn="l">
              <a:spcAft>
                <a:spcPts val="600"/>
              </a:spcAft>
            </a:pPr>
            <a:r>
              <a:rPr sz="1000" b="0" i="0">
                <a:solidFill>
                  <a:srgbClr val="6B7280"/>
                </a:solidFill>
                <a:latin typeface="Arial"/>
              </a:rPr>
              <a:t>Michele Carlo Fanelli  ·  Bocconi University</a:t>
            </a:r>
            <a:endParaRPr sz="1000"/>
          </a:p>
        </p:txBody>
      </p:sp>
      <p:sp>
        <p:nvSpPr>
          <p:cNvPr id="8" name="TextBox 7"/>
          <p:cNvSpPr txBox="1"/>
          <p:nvPr/>
        </p:nvSpPr>
        <p:spPr>
          <a:xfrm>
            <a:off x="10268712" y="6419088"/>
            <a:ext cx="1371600" cy="228600"/>
          </a:xfrm>
          <a:prstGeom prst="rect">
            <a:avLst/>
          </a:prstGeom>
          <a:noFill/>
        </p:spPr>
        <p:txBody>
          <a:bodyPr wrap="square" lIns="0" rIns="0" tIns="0" bIns="0" anchor="t">
            <a:noAutofit/>
          </a:bodyPr>
          <a:lstStyle/>
          <a:p>
            <a:pPr algn="r">
              <a:spcAft>
                <a:spcPts val="600"/>
              </a:spcAft>
            </a:pPr>
            <a:r>
              <a:rPr sz="1000" b="0" i="0">
                <a:solidFill>
                  <a:srgbClr val="6B7280"/>
                </a:solidFill>
                <a:latin typeface="Arial"/>
              </a:rPr>
              <a:t>14 / 15</a:t>
            </a:r>
            <a:endParaRPr sz="1000"/>
          </a:p>
        </p:txBody>
      </p:sp>
      <p:sp>
        <p:nvSpPr>
          <p:cNvPr id="9" name="Rounded Rectangle 8"/>
          <p:cNvSpPr/>
          <p:nvPr/>
        </p:nvSpPr>
        <p:spPr>
          <a:xfrm>
            <a:off x="548640" y="1554480"/>
            <a:ext cx="5408676" cy="1700784"/>
          </a:xfrm>
          <a:prstGeom prst="roundRect">
            <a:avLst>
              <a:gd name="adj" fmla="val 4301"/>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737360"/>
            <a:ext cx="548640" cy="731520"/>
          </a:xfrm>
          <a:prstGeom prst="rect">
            <a:avLst/>
          </a:prstGeom>
          <a:noFill/>
        </p:spPr>
        <p:txBody>
          <a:bodyPr wrap="square" lIns="0" rIns="0" tIns="0" bIns="0" anchor="t">
            <a:noAutofit/>
          </a:bodyPr>
          <a:lstStyle/>
          <a:p>
            <a:pPr algn="l">
              <a:spcAft>
                <a:spcPts val="600"/>
              </a:spcAft>
            </a:pPr>
            <a:r>
              <a:rPr sz="4000" b="1" i="0">
                <a:solidFill>
                  <a:srgbClr val="E4572E"/>
                </a:solidFill>
                <a:latin typeface="Georgia"/>
              </a:rPr>
              <a:t>1</a:t>
            </a:r>
            <a:endParaRPr sz="4000"/>
          </a:p>
        </p:txBody>
      </p:sp>
      <p:sp>
        <p:nvSpPr>
          <p:cNvPr id="11" name="TextBox 10"/>
          <p:cNvSpPr txBox="1"/>
          <p:nvPr/>
        </p:nvSpPr>
        <p:spPr>
          <a:xfrm>
            <a:off x="1463040" y="1773936"/>
            <a:ext cx="4297680" cy="365760"/>
          </a:xfrm>
          <a:prstGeom prst="rect">
            <a:avLst/>
          </a:prstGeom>
          <a:noFill/>
        </p:spPr>
        <p:txBody>
          <a:bodyPr wrap="square" lIns="0" rIns="0" tIns="0" bIns="0" anchor="t">
            <a:noAutofit/>
          </a:bodyPr>
          <a:lstStyle/>
          <a:p>
            <a:pPr algn="l">
              <a:spcAft>
                <a:spcPts val="600"/>
              </a:spcAft>
            </a:pPr>
            <a:r>
              <a:rPr sz="1700" b="1" i="0">
                <a:solidFill>
                  <a:srgbClr val="14213D"/>
                </a:solidFill>
                <a:latin typeface="Arial"/>
              </a:rPr>
              <a:t>Mechanism or amount?</a:t>
            </a:r>
            <a:endParaRPr sz="1700"/>
          </a:p>
        </p:txBody>
      </p:sp>
      <p:sp>
        <p:nvSpPr>
          <p:cNvPr id="12" name="TextBox 11"/>
          <p:cNvSpPr txBox="1"/>
          <p:nvPr/>
        </p:nvSpPr>
        <p:spPr>
          <a:xfrm>
            <a:off x="1463040" y="2157984"/>
            <a:ext cx="4251960" cy="1014984"/>
          </a:xfrm>
          <a:prstGeom prst="rect">
            <a:avLst/>
          </a:prstGeom>
          <a:noFill/>
        </p:spPr>
        <p:txBody>
          <a:bodyPr wrap="square" lIns="0" rIns="0" tIns="0" bIns="0" anchor="t">
            <a:noAutofit/>
          </a:bodyPr>
          <a:lstStyle/>
          <a:p>
            <a:pPr algn="l">
              <a:spcAft>
                <a:spcPts val="600"/>
              </a:spcAft>
            </a:pPr>
            <a:r>
              <a:rPr sz="1350" b="1" i="0">
                <a:solidFill>
                  <a:srgbClr val="1F2937"/>
                </a:solidFill>
                <a:latin typeface="Arial"/>
              </a:rPr>
              <a:t>The mechanism, in this experiment.</a:t>
            </a:r>
            <a:r>
              <a:rPr sz="1350" b="0" i="0">
                <a:solidFill>
                  <a:srgbClr val="1F2937"/>
                </a:solidFill>
                <a:latin typeface="Arial"/>
              </a:rPr>
              <a:t> Under MCAR the methods hold with 30% missing; under stressed MNAR they break at far smaller shares, and at the heaviest level no method separates.</a:t>
            </a:r>
            <a:endParaRPr sz="1350"/>
          </a:p>
        </p:txBody>
      </p:sp>
      <p:sp>
        <p:nvSpPr>
          <p:cNvPr id="13" name="Rounded Rectangle 12"/>
          <p:cNvSpPr/>
          <p:nvPr/>
        </p:nvSpPr>
        <p:spPr>
          <a:xfrm>
            <a:off x="6231636" y="1554480"/>
            <a:ext cx="5408676" cy="1700784"/>
          </a:xfrm>
          <a:prstGeom prst="roundRect">
            <a:avLst>
              <a:gd name="adj" fmla="val 4301"/>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05955" y="1737360"/>
            <a:ext cx="548640" cy="731520"/>
          </a:xfrm>
          <a:prstGeom prst="rect">
            <a:avLst/>
          </a:prstGeom>
          <a:noFill/>
        </p:spPr>
        <p:txBody>
          <a:bodyPr wrap="square" lIns="0" rIns="0" tIns="0" bIns="0" anchor="t">
            <a:noAutofit/>
          </a:bodyPr>
          <a:lstStyle/>
          <a:p>
            <a:pPr algn="l">
              <a:spcAft>
                <a:spcPts val="600"/>
              </a:spcAft>
            </a:pPr>
            <a:r>
              <a:rPr sz="4000" b="1" i="0">
                <a:solidFill>
                  <a:srgbClr val="E4572E"/>
                </a:solidFill>
                <a:latin typeface="Georgia"/>
              </a:rPr>
              <a:t>2</a:t>
            </a:r>
            <a:endParaRPr sz="4000"/>
          </a:p>
        </p:txBody>
      </p:sp>
      <p:sp>
        <p:nvSpPr>
          <p:cNvPr id="15" name="TextBox 14"/>
          <p:cNvSpPr txBox="1"/>
          <p:nvPr/>
        </p:nvSpPr>
        <p:spPr>
          <a:xfrm>
            <a:off x="7146036" y="1773936"/>
            <a:ext cx="4297680" cy="365760"/>
          </a:xfrm>
          <a:prstGeom prst="rect">
            <a:avLst/>
          </a:prstGeom>
          <a:noFill/>
        </p:spPr>
        <p:txBody>
          <a:bodyPr wrap="square" lIns="0" rIns="0" tIns="0" bIns="0" anchor="t">
            <a:noAutofit/>
          </a:bodyPr>
          <a:lstStyle/>
          <a:p>
            <a:pPr algn="l">
              <a:spcAft>
                <a:spcPts val="600"/>
              </a:spcAft>
            </a:pPr>
            <a:r>
              <a:rPr sz="1700" b="1" i="0">
                <a:solidFill>
                  <a:srgbClr val="14213D"/>
                </a:solidFill>
                <a:latin typeface="Arial"/>
              </a:rPr>
              <a:t>Do the deep imputers earn their cost?</a:t>
            </a:r>
            <a:endParaRPr sz="1700"/>
          </a:p>
        </p:txBody>
      </p:sp>
      <p:sp>
        <p:nvSpPr>
          <p:cNvPr id="16" name="TextBox 15"/>
          <p:cNvSpPr txBox="1"/>
          <p:nvPr/>
        </p:nvSpPr>
        <p:spPr>
          <a:xfrm>
            <a:off x="7146036" y="2157984"/>
            <a:ext cx="4251960" cy="1014984"/>
          </a:xfrm>
          <a:prstGeom prst="rect">
            <a:avLst/>
          </a:prstGeom>
          <a:noFill/>
        </p:spPr>
        <p:txBody>
          <a:bodyPr wrap="square" lIns="0" rIns="0" tIns="0" bIns="0" anchor="t">
            <a:noAutofit/>
          </a:bodyPr>
          <a:lstStyle/>
          <a:p>
            <a:pPr algn="l">
              <a:spcAft>
                <a:spcPts val="600"/>
              </a:spcAft>
            </a:pPr>
            <a:r>
              <a:rPr sz="1350" b="1" i="0">
                <a:solidFill>
                  <a:srgbClr val="1F2937"/>
                </a:solidFill>
                <a:latin typeface="Arial"/>
              </a:rPr>
              <a:t>Not here.</a:t>
            </a:r>
            <a:r>
              <a:rPr sz="1350" b="0" i="0">
                <a:solidFill>
                  <a:srgbClr val="1F2937"/>
                </a:solidFill>
                <a:latin typeface="Arial"/>
              </a:rPr>
              <a:t> EM is rarely beaten; CSDI matches it at four orders of magnitude more cost; BRITS falls behind at two stressed levels.</a:t>
            </a:r>
            <a:endParaRPr sz="1350"/>
          </a:p>
        </p:txBody>
      </p:sp>
      <p:sp>
        <p:nvSpPr>
          <p:cNvPr id="17" name="Rounded Rectangle 16"/>
          <p:cNvSpPr/>
          <p:nvPr/>
        </p:nvSpPr>
        <p:spPr>
          <a:xfrm>
            <a:off x="548640" y="3456432"/>
            <a:ext cx="5408676" cy="1700784"/>
          </a:xfrm>
          <a:prstGeom prst="roundRect">
            <a:avLst>
              <a:gd name="adj" fmla="val 4301"/>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3639312"/>
            <a:ext cx="548640" cy="731520"/>
          </a:xfrm>
          <a:prstGeom prst="rect">
            <a:avLst/>
          </a:prstGeom>
          <a:noFill/>
        </p:spPr>
        <p:txBody>
          <a:bodyPr wrap="square" lIns="0" rIns="0" tIns="0" bIns="0" anchor="t">
            <a:noAutofit/>
          </a:bodyPr>
          <a:lstStyle/>
          <a:p>
            <a:pPr algn="l">
              <a:spcAft>
                <a:spcPts val="600"/>
              </a:spcAft>
            </a:pPr>
            <a:r>
              <a:rPr sz="4000" b="1" i="0">
                <a:solidFill>
                  <a:srgbClr val="E4572E"/>
                </a:solidFill>
                <a:latin typeface="Georgia"/>
              </a:rPr>
              <a:t>3</a:t>
            </a:r>
            <a:endParaRPr sz="4000"/>
          </a:p>
        </p:txBody>
      </p:sp>
      <p:sp>
        <p:nvSpPr>
          <p:cNvPr id="19" name="TextBox 18"/>
          <p:cNvSpPr txBox="1"/>
          <p:nvPr/>
        </p:nvSpPr>
        <p:spPr>
          <a:xfrm>
            <a:off x="1463040" y="3675888"/>
            <a:ext cx="4297680" cy="365760"/>
          </a:xfrm>
          <a:prstGeom prst="rect">
            <a:avLst/>
          </a:prstGeom>
          <a:noFill/>
        </p:spPr>
        <p:txBody>
          <a:bodyPr wrap="square" lIns="0" rIns="0" tIns="0" bIns="0" anchor="t">
            <a:noAutofit/>
          </a:bodyPr>
          <a:lstStyle/>
          <a:p>
            <a:pPr algn="l">
              <a:spcAft>
                <a:spcPts val="600"/>
              </a:spcAft>
            </a:pPr>
            <a:r>
              <a:rPr sz="1700" b="1" i="0">
                <a:solidFill>
                  <a:srgbClr val="14213D"/>
                </a:solidFill>
                <a:latin typeface="Arial"/>
              </a:rPr>
              <a:t>Is pointwise accuracy a good proxy?</a:t>
            </a:r>
            <a:endParaRPr sz="1700"/>
          </a:p>
        </p:txBody>
      </p:sp>
      <p:sp>
        <p:nvSpPr>
          <p:cNvPr id="20" name="TextBox 19"/>
          <p:cNvSpPr txBox="1"/>
          <p:nvPr/>
        </p:nvSpPr>
        <p:spPr>
          <a:xfrm>
            <a:off x="1463040" y="4059936"/>
            <a:ext cx="4251960" cy="1014984"/>
          </a:xfrm>
          <a:prstGeom prst="rect">
            <a:avLst/>
          </a:prstGeom>
          <a:noFill/>
        </p:spPr>
        <p:txBody>
          <a:bodyPr wrap="square" lIns="0" rIns="0" tIns="0" bIns="0" anchor="t">
            <a:noAutofit/>
          </a:bodyPr>
          <a:lstStyle/>
          <a:p>
            <a:pPr algn="l">
              <a:spcAft>
                <a:spcPts val="600"/>
              </a:spcAft>
            </a:pPr>
            <a:r>
              <a:rPr sz="1350" b="1" i="0">
                <a:solidFill>
                  <a:srgbClr val="1F2937"/>
                </a:solidFill>
                <a:latin typeface="Arial"/>
              </a:rPr>
              <a:t>Poor.</a:t>
            </a:r>
            <a:r>
              <a:rPr sz="1350" b="0" i="0">
                <a:solidFill>
                  <a:srgbClr val="1F2937"/>
                </a:solidFill>
                <a:latin typeface="Arial"/>
              </a:rPr>
              <a:t> Zero's MAE is 1.5 times the best and its CovErr about 9 times. Conditional fills inflate the first factor, from 41.7% to as much as 48.5%, which no pointwise metric registers.</a:t>
            </a:r>
            <a:endParaRPr sz="1350"/>
          </a:p>
        </p:txBody>
      </p:sp>
      <p:sp>
        <p:nvSpPr>
          <p:cNvPr id="21" name="Rounded Rectangle 20"/>
          <p:cNvSpPr/>
          <p:nvPr/>
        </p:nvSpPr>
        <p:spPr>
          <a:xfrm>
            <a:off x="6231636" y="3456432"/>
            <a:ext cx="5408676" cy="1700784"/>
          </a:xfrm>
          <a:prstGeom prst="roundRect">
            <a:avLst>
              <a:gd name="adj" fmla="val 4301"/>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05955" y="3639312"/>
            <a:ext cx="548640" cy="731520"/>
          </a:xfrm>
          <a:prstGeom prst="rect">
            <a:avLst/>
          </a:prstGeom>
          <a:noFill/>
        </p:spPr>
        <p:txBody>
          <a:bodyPr wrap="square" lIns="0" rIns="0" tIns="0" bIns="0" anchor="t">
            <a:noAutofit/>
          </a:bodyPr>
          <a:lstStyle/>
          <a:p>
            <a:pPr algn="l">
              <a:spcAft>
                <a:spcPts val="600"/>
              </a:spcAft>
            </a:pPr>
            <a:r>
              <a:rPr sz="4000" b="1" i="0">
                <a:solidFill>
                  <a:srgbClr val="E4572E"/>
                </a:solidFill>
                <a:latin typeface="Georgia"/>
              </a:rPr>
              <a:t>4</a:t>
            </a:r>
            <a:endParaRPr sz="4000"/>
          </a:p>
        </p:txBody>
      </p:sp>
      <p:sp>
        <p:nvSpPr>
          <p:cNvPr id="23" name="TextBox 22"/>
          <p:cNvSpPr txBox="1"/>
          <p:nvPr/>
        </p:nvSpPr>
        <p:spPr>
          <a:xfrm>
            <a:off x="7146036" y="3675888"/>
            <a:ext cx="4297680" cy="365760"/>
          </a:xfrm>
          <a:prstGeom prst="rect">
            <a:avLst/>
          </a:prstGeom>
          <a:noFill/>
        </p:spPr>
        <p:txBody>
          <a:bodyPr wrap="square" lIns="0" rIns="0" tIns="0" bIns="0" anchor="t">
            <a:noAutofit/>
          </a:bodyPr>
          <a:lstStyle/>
          <a:p>
            <a:pPr algn="l">
              <a:spcAft>
                <a:spcPts val="600"/>
              </a:spcAft>
            </a:pPr>
            <a:r>
              <a:rPr sz="1700" b="1" i="0">
                <a:solidFill>
                  <a:srgbClr val="14213D"/>
                </a:solidFill>
                <a:latin typeface="Arial"/>
              </a:rPr>
              <a:t>Do the rankings survive downstream?</a:t>
            </a:r>
            <a:endParaRPr sz="1700"/>
          </a:p>
        </p:txBody>
      </p:sp>
      <p:sp>
        <p:nvSpPr>
          <p:cNvPr id="24" name="TextBox 23"/>
          <p:cNvSpPr txBox="1"/>
          <p:nvPr/>
        </p:nvSpPr>
        <p:spPr>
          <a:xfrm>
            <a:off x="7146036" y="4059936"/>
            <a:ext cx="4251960" cy="1014984"/>
          </a:xfrm>
          <a:prstGeom prst="rect">
            <a:avLst/>
          </a:prstGeom>
          <a:noFill/>
        </p:spPr>
        <p:txBody>
          <a:bodyPr wrap="square" lIns="0" rIns="0" tIns="0" bIns="0" anchor="t">
            <a:noAutofit/>
          </a:bodyPr>
          <a:lstStyle/>
          <a:p>
            <a:pPr algn="l">
              <a:spcAft>
                <a:spcPts val="600"/>
              </a:spcAft>
            </a:pPr>
            <a:r>
              <a:rPr sz="1350" b="1" i="0">
                <a:solidFill>
                  <a:srgbClr val="1F2937"/>
                </a:solidFill>
                <a:latin typeface="Arial"/>
              </a:rPr>
              <a:t>Largely, and the exceptions are informative.</a:t>
            </a:r>
            <a:r>
              <a:rPr sz="1350" b="0" i="0">
                <a:solidFill>
                  <a:srgbClr val="1F2937"/>
                </a:solidFill>
                <a:latin typeface="Arial"/>
              </a:rPr>
              <a:t> Low-rank: accurate cells, worst five-factor subspace at 10 of 15 levels. Deletion: inefficient in the tables, unstable portfolios downstream.</a:t>
            </a:r>
            <a:endParaRPr sz="1350"/>
          </a:p>
        </p:txBody>
      </p:sp>
      <p:sp>
        <p:nvSpPr>
          <p:cNvPr id="25" name="Rounded Rectangle 24"/>
          <p:cNvSpPr/>
          <p:nvPr/>
        </p:nvSpPr>
        <p:spPr>
          <a:xfrm>
            <a:off x="548640" y="5358384"/>
            <a:ext cx="11091672" cy="777240"/>
          </a:xfrm>
          <a:prstGeom prst="roundRect">
            <a:avLst>
              <a:gd name="adj" fmla="val 9411"/>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5358384"/>
            <a:ext cx="11091672" cy="777240"/>
          </a:xfrm>
          <a:prstGeom prst="rect">
            <a:avLst/>
          </a:prstGeom>
          <a:noFill/>
        </p:spPr>
        <p:txBody>
          <a:bodyPr wrap="square" lIns="0" rIns="0" tIns="0" bIns="0" anchor="ctr">
            <a:noAutofit/>
          </a:bodyPr>
          <a:lstStyle/>
          <a:p>
            <a:pPr algn="ctr">
              <a:spcAft>
                <a:spcPts val="600"/>
              </a:spcAft>
            </a:pPr>
            <a:r>
              <a:rPr sz="2400" b="1" i="0">
                <a:solidFill>
                  <a:srgbClr val="FFFFFF"/>
                </a:solidFill>
                <a:latin typeface="Georgia"/>
              </a:rPr>
              <a:t>Score an imputation against the use it is put to.</a:t>
            </a:r>
            <a:endParaRPr sz="2400"/>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29768"/>
            <a:ext cx="77724" cy="77724"/>
          </a:xfrm>
          <a:prstGeom prst="rect">
            <a:avLst/>
          </a:prstGeom>
          <a:solidFill>
            <a:srgbClr val="C4C9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62940" y="429768"/>
            <a:ext cx="77724" cy="77724"/>
          </a:xfrm>
          <a:prstGeom prst="rect">
            <a:avLst/>
          </a:prstGeom>
          <a:solidFill>
            <a:srgbClr val="C4C9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429768"/>
            <a:ext cx="77724" cy="77724"/>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370332"/>
            <a:ext cx="8229600" cy="274320"/>
          </a:xfrm>
          <a:prstGeom prst="rect">
            <a:avLst/>
          </a:prstGeom>
          <a:noFill/>
        </p:spPr>
        <p:txBody>
          <a:bodyPr wrap="square" lIns="0" rIns="0" tIns="0" bIns="0" anchor="t">
            <a:noAutofit/>
          </a:bodyPr>
          <a:lstStyle/>
          <a:p>
            <a:pPr algn="l">
              <a:spcAft>
                <a:spcPts val="600"/>
              </a:spcAft>
            </a:pPr>
            <a:r>
              <a:rPr sz="1100" b="1" i="0" spc="150">
                <a:solidFill>
                  <a:srgbClr val="E4572E"/>
                </a:solidFill>
                <a:latin typeface="Arial"/>
              </a:rPr>
              <a:t>CONCLUSION  ·  LIMITATIONS AND FUTURE WORK</a:t>
            </a:r>
            <a:endParaRPr sz="1100"/>
          </a:p>
        </p:txBody>
      </p:sp>
      <p:sp>
        <p:nvSpPr>
          <p:cNvPr id="7" name="TextBox 6"/>
          <p:cNvSpPr txBox="1"/>
          <p:nvPr/>
        </p:nvSpPr>
        <p:spPr>
          <a:xfrm>
            <a:off x="548640" y="676656"/>
            <a:ext cx="11091672" cy="640080"/>
          </a:xfrm>
          <a:prstGeom prst="rect">
            <a:avLst/>
          </a:prstGeom>
          <a:noFill/>
        </p:spPr>
        <p:txBody>
          <a:bodyPr wrap="square" lIns="0" rIns="0" tIns="0" bIns="0" anchor="t">
            <a:noAutofit/>
          </a:bodyPr>
          <a:lstStyle/>
          <a:p>
            <a:pPr algn="l">
              <a:spcAft>
                <a:spcPts val="600"/>
              </a:spcAft>
            </a:pPr>
            <a:r>
              <a:rPr sz="2600" b="1" i="0">
                <a:solidFill>
                  <a:srgbClr val="FFFFFF"/>
                </a:solidFill>
                <a:latin typeface="Georgia"/>
              </a:rPr>
              <a:t>Limitations and future work</a:t>
            </a:r>
            <a:endParaRPr sz="2600"/>
          </a:p>
        </p:txBody>
      </p:sp>
      <p:sp>
        <p:nvSpPr>
          <p:cNvPr id="8" name="TextBox 7"/>
          <p:cNvSpPr txBox="1"/>
          <p:nvPr/>
        </p:nvSpPr>
        <p:spPr>
          <a:xfrm>
            <a:off x="548640" y="6419088"/>
            <a:ext cx="5486400" cy="228600"/>
          </a:xfrm>
          <a:prstGeom prst="rect">
            <a:avLst/>
          </a:prstGeom>
          <a:noFill/>
        </p:spPr>
        <p:txBody>
          <a:bodyPr wrap="square" lIns="0" rIns="0" tIns="0" bIns="0" anchor="t">
            <a:noAutofit/>
          </a:bodyPr>
          <a:lstStyle/>
          <a:p>
            <a:pPr algn="l">
              <a:spcAft>
                <a:spcPts val="600"/>
              </a:spcAft>
            </a:pPr>
            <a:r>
              <a:rPr sz="1000" b="0" i="0">
                <a:solidFill>
                  <a:srgbClr val="C9D3E3"/>
                </a:solidFill>
                <a:latin typeface="Arial"/>
              </a:rPr>
              <a:t>Michele Carlo Fanelli  ·  Bocconi University</a:t>
            </a:r>
            <a:endParaRPr sz="1000"/>
          </a:p>
        </p:txBody>
      </p:sp>
      <p:sp>
        <p:nvSpPr>
          <p:cNvPr id="9" name="TextBox 8"/>
          <p:cNvSpPr txBox="1"/>
          <p:nvPr/>
        </p:nvSpPr>
        <p:spPr>
          <a:xfrm>
            <a:off x="10268712" y="6419088"/>
            <a:ext cx="1371600" cy="228600"/>
          </a:xfrm>
          <a:prstGeom prst="rect">
            <a:avLst/>
          </a:prstGeom>
          <a:noFill/>
        </p:spPr>
        <p:txBody>
          <a:bodyPr wrap="square" lIns="0" rIns="0" tIns="0" bIns="0" anchor="t">
            <a:noAutofit/>
          </a:bodyPr>
          <a:lstStyle/>
          <a:p>
            <a:pPr algn="r">
              <a:spcAft>
                <a:spcPts val="600"/>
              </a:spcAft>
            </a:pPr>
            <a:r>
              <a:rPr sz="1000" b="0" i="0">
                <a:solidFill>
                  <a:srgbClr val="C9D3E3"/>
                </a:solidFill>
                <a:latin typeface="Arial"/>
              </a:rPr>
              <a:t>15 / 15</a:t>
            </a:r>
            <a:endParaRPr sz="1000"/>
          </a:p>
        </p:txBody>
      </p:sp>
      <p:sp>
        <p:nvSpPr>
          <p:cNvPr id="10" name="TextBox 9"/>
          <p:cNvSpPr txBox="1"/>
          <p:nvPr/>
        </p:nvSpPr>
        <p:spPr>
          <a:xfrm>
            <a:off x="548640" y="1572768"/>
            <a:ext cx="5120640" cy="274320"/>
          </a:xfrm>
          <a:prstGeom prst="rect">
            <a:avLst/>
          </a:prstGeom>
          <a:noFill/>
        </p:spPr>
        <p:txBody>
          <a:bodyPr wrap="square" lIns="0" rIns="0" tIns="0" bIns="0" anchor="t">
            <a:noAutofit/>
          </a:bodyPr>
          <a:lstStyle/>
          <a:p>
            <a:pPr algn="l">
              <a:spcAft>
                <a:spcPts val="600"/>
              </a:spcAft>
            </a:pPr>
            <a:r>
              <a:rPr sz="1200" b="1" i="0" spc="150">
                <a:solidFill>
                  <a:srgbClr val="E4572E"/>
                </a:solidFill>
                <a:latin typeface="Arial"/>
              </a:rPr>
              <a:t>LIMITATIONS</a:t>
            </a:r>
            <a:endParaRPr sz="1200"/>
          </a:p>
        </p:txBody>
      </p:sp>
      <p:sp>
        <p:nvSpPr>
          <p:cNvPr id="11" name="TextBox 10"/>
          <p:cNvSpPr txBox="1"/>
          <p:nvPr/>
        </p:nvSpPr>
        <p:spPr>
          <a:xfrm>
            <a:off x="548640" y="1965960"/>
            <a:ext cx="5166360" cy="3108960"/>
          </a:xfrm>
          <a:prstGeom prst="rect">
            <a:avLst/>
          </a:prstGeom>
          <a:noFill/>
        </p:spPr>
        <p:txBody>
          <a:bodyPr wrap="square" lIns="0" rIns="0" tIns="0" bIns="0" anchor="t">
            <a:noAutofit/>
          </a:bodyPr>
          <a:lstStyle/>
          <a:p>
            <a:pPr algn="l" marL="201168" indent="-201168">
              <a:spcAft>
                <a:spcPts val="1000"/>
              </a:spcAft>
              <a:buClr>
                <a:srgbClr val="E4572E"/>
              </a:buClr>
              <a:buSzPct val="100000"/>
              <a:buFont typeface="Arial"/>
              <a:buChar char="▪"/>
            </a:pPr>
            <a:r>
              <a:rPr sz="1550" b="0" i="0">
                <a:solidFill>
                  <a:srgbClr val="FFFFFF"/>
                </a:solidFill>
                <a:latin typeface="Arial"/>
              </a:rPr>
              <a:t>One panel: fifty liquid large caps, daily, one period, one run per configuration</a:t>
            </a:r>
            <a:endParaRPr sz="1550"/>
          </a:p>
          <a:p>
            <a:pPr algn="l" marL="201168" indent="-201168">
              <a:spcAft>
                <a:spcPts val="1000"/>
              </a:spcAft>
              <a:buClr>
                <a:srgbClr val="E4572E"/>
              </a:buClr>
              <a:buSzPct val="100000"/>
              <a:buFont typeface="Arial"/>
              <a:buChar char="▪"/>
            </a:pPr>
            <a:r>
              <a:rPr sz="1550" b="0" i="0">
                <a:solidFill>
                  <a:srgbClr val="FFFFFF"/>
                </a:solidFill>
                <a:latin typeface="Arial"/>
              </a:rPr>
              <a:t>Injected missingness; the stressed pattern is a stylised MNAR that mixes the selection rule with date-aligned deletion</a:t>
            </a:r>
            <a:endParaRPr sz="1550"/>
          </a:p>
          <a:p>
            <a:pPr algn="l" marL="201168" indent="-201168">
              <a:spcAft>
                <a:spcPts val="1000"/>
              </a:spcAft>
              <a:buClr>
                <a:srgbClr val="E4572E"/>
              </a:buClr>
              <a:buSzPct val="100000"/>
              <a:buFont typeface="Arial"/>
              <a:buChar char="▪"/>
            </a:pPr>
            <a:r>
              <a:rPr sz="1550" b="0" i="0">
                <a:solidFill>
                  <a:srgbClr val="FFFFFF"/>
                </a:solidFill>
                <a:latin typeface="Arial"/>
              </a:rPr>
              <a:t>Gaussian EM without the Student-</a:t>
            </a:r>
            <a:r>
              <a:rPr sz="1550" b="0" i="1">
                <a:solidFill>
                  <a:srgbClr val="FFFFFF"/>
                </a:solidFill>
                <a:latin typeface="Arial"/>
              </a:rPr>
              <a:t>t</a:t>
            </a:r>
            <a:r>
              <a:rPr sz="1550" b="0" i="0">
                <a:solidFill>
                  <a:srgbClr val="FFFFFF"/>
                </a:solidFill>
                <a:latin typeface="Arial"/>
              </a:rPr>
              <a:t> refinement; both downstream models read the covariance; the portfolio is in sample</a:t>
            </a:r>
            <a:endParaRPr sz="1550"/>
          </a:p>
          <a:p>
            <a:pPr algn="l" marL="201168" indent="-201168">
              <a:spcAft>
                <a:spcPts val="1000"/>
              </a:spcAft>
              <a:buClr>
                <a:srgbClr val="E4572E"/>
              </a:buClr>
              <a:buSzPct val="100000"/>
              <a:buFont typeface="Arial"/>
              <a:buChar char="▪"/>
            </a:pPr>
            <a:r>
              <a:rPr sz="1550" b="0" i="0">
                <a:solidFill>
                  <a:srgbClr val="FFFFFF"/>
                </a:solidFill>
                <a:latin typeface="Arial"/>
              </a:rPr>
              <a:t>Offline setting: BRITS and CSDI use observations after the gap</a:t>
            </a:r>
            <a:endParaRPr sz="1550"/>
          </a:p>
        </p:txBody>
      </p:sp>
      <p:sp>
        <p:nvSpPr>
          <p:cNvPr id="12" name="TextBox 11"/>
          <p:cNvSpPr txBox="1"/>
          <p:nvPr/>
        </p:nvSpPr>
        <p:spPr>
          <a:xfrm>
            <a:off x="6231636" y="1572768"/>
            <a:ext cx="5120640" cy="274320"/>
          </a:xfrm>
          <a:prstGeom prst="rect">
            <a:avLst/>
          </a:prstGeom>
          <a:noFill/>
        </p:spPr>
        <p:txBody>
          <a:bodyPr wrap="square" lIns="0" rIns="0" tIns="0" bIns="0" anchor="t">
            <a:noAutofit/>
          </a:bodyPr>
          <a:lstStyle/>
          <a:p>
            <a:pPr algn="l">
              <a:spcAft>
                <a:spcPts val="600"/>
              </a:spcAft>
            </a:pPr>
            <a:r>
              <a:rPr sz="1200" b="1" i="0" spc="150">
                <a:solidFill>
                  <a:srgbClr val="E4572E"/>
                </a:solidFill>
                <a:latin typeface="Arial"/>
              </a:rPr>
              <a:t>FUTURE WORK</a:t>
            </a:r>
            <a:endParaRPr sz="1200"/>
          </a:p>
        </p:txBody>
      </p:sp>
      <p:sp>
        <p:nvSpPr>
          <p:cNvPr id="13" name="TextBox 12"/>
          <p:cNvSpPr txBox="1"/>
          <p:nvPr/>
        </p:nvSpPr>
        <p:spPr>
          <a:xfrm>
            <a:off x="6231636" y="1965960"/>
            <a:ext cx="5166360" cy="3108960"/>
          </a:xfrm>
          <a:prstGeom prst="rect">
            <a:avLst/>
          </a:prstGeom>
          <a:noFill/>
        </p:spPr>
        <p:txBody>
          <a:bodyPr wrap="square" lIns="0" rIns="0" tIns="0" bIns="0" anchor="t">
            <a:noAutofit/>
          </a:bodyPr>
          <a:lstStyle/>
          <a:p>
            <a:pPr algn="l" marL="201168" indent="-201168">
              <a:spcAft>
                <a:spcPts val="1000"/>
              </a:spcAft>
              <a:buClr>
                <a:srgbClr val="E4572E"/>
              </a:buClr>
              <a:buSzPct val="100000"/>
              <a:buFont typeface="Arial"/>
              <a:buChar char="▪"/>
            </a:pPr>
            <a:r>
              <a:rPr sz="1550" b="0" i="0">
                <a:solidFill>
                  <a:srgbClr val="FFFFFF"/>
                </a:solidFill>
                <a:latin typeface="Arial"/>
              </a:rPr>
              <a:t>Causal imputation with only past data, to measure the cost of filling in real time</a:t>
            </a:r>
            <a:endParaRPr sz="1550"/>
          </a:p>
          <a:p>
            <a:pPr algn="l" marL="201168" indent="-201168">
              <a:spcAft>
                <a:spcPts val="1000"/>
              </a:spcAft>
              <a:buClr>
                <a:srgbClr val="E4572E"/>
              </a:buClr>
              <a:buSzPct val="100000"/>
              <a:buFont typeface="Arial"/>
              <a:buChar char="▪"/>
            </a:pPr>
            <a:r>
              <a:rPr sz="1550" b="0" i="0">
                <a:solidFill>
                  <a:srgbClr val="FFFFFF"/>
                </a:solidFill>
                <a:latin typeface="Arial"/>
              </a:rPr>
              <a:t>Downstream tests beyond the second moment: VaR backtests, hedging, trading rules</a:t>
            </a:r>
            <a:endParaRPr sz="1550"/>
          </a:p>
          <a:p>
            <a:pPr algn="l" marL="201168" indent="-201168">
              <a:spcAft>
                <a:spcPts val="1000"/>
              </a:spcAft>
              <a:buClr>
                <a:srgbClr val="E4572E"/>
              </a:buClr>
              <a:buSzPct val="100000"/>
              <a:buFont typeface="Arial"/>
              <a:buChar char="▪"/>
            </a:pPr>
            <a:r>
              <a:rPr sz="1550" b="0" i="0">
                <a:solidFill>
                  <a:srgbClr val="FFFFFF"/>
                </a:solidFill>
                <a:latin typeface="Arial"/>
              </a:rPr>
              <a:t>Multiple imputation: let the decision see the spread of the CSDI draws</a:t>
            </a:r>
            <a:endParaRPr sz="1550"/>
          </a:p>
          <a:p>
            <a:pPr algn="l" marL="201168" indent="-201168">
              <a:spcAft>
                <a:spcPts val="1000"/>
              </a:spcAft>
              <a:buClr>
                <a:srgbClr val="E4572E"/>
              </a:buClr>
              <a:buSzPct val="100000"/>
              <a:buFont typeface="Arial"/>
              <a:buChar char="▪"/>
            </a:pPr>
            <a:r>
              <a:rPr sz="1550" b="0" i="0">
                <a:solidFill>
                  <a:srgbClr val="FFFFFF"/>
                </a:solidFill>
                <a:latin typeface="Arial"/>
              </a:rPr>
              <a:t>Larger cross sections, other frequencies and asset classes, real gaps</a:t>
            </a:r>
            <a:endParaRPr sz="1550"/>
          </a:p>
        </p:txBody>
      </p:sp>
      <p:sp>
        <p:nvSpPr>
          <p:cNvPr id="14" name="TextBox 13"/>
          <p:cNvSpPr txBox="1"/>
          <p:nvPr/>
        </p:nvSpPr>
        <p:spPr>
          <a:xfrm>
            <a:off x="548640" y="5257800"/>
            <a:ext cx="7315200" cy="822960"/>
          </a:xfrm>
          <a:prstGeom prst="rect">
            <a:avLst/>
          </a:prstGeom>
          <a:noFill/>
        </p:spPr>
        <p:txBody>
          <a:bodyPr wrap="square" lIns="0" rIns="0" tIns="0" bIns="0" anchor="t">
            <a:noAutofit/>
          </a:bodyPr>
          <a:lstStyle/>
          <a:p>
            <a:pPr algn="l">
              <a:spcAft>
                <a:spcPts val="600"/>
              </a:spcAft>
            </a:pPr>
            <a:r>
              <a:rPr sz="4400" b="1" i="0">
                <a:solidFill>
                  <a:srgbClr val="FFFFFF"/>
                </a:solidFill>
                <a:latin typeface="Georgia"/>
              </a:rPr>
              <a:t>Thank you</a:t>
            </a:r>
            <a:endParaRPr sz="4400"/>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548640" y="393192"/>
            <a:ext cx="77724" cy="77724"/>
          </a:xfrm>
          <a:prstGeom prst="rect">
            <a:avLst/>
          </a:prstGeom>
          <a:solidFill>
            <a:srgbClr val="C4C9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62940" y="393192"/>
            <a:ext cx="77724" cy="77724"/>
          </a:xfrm>
          <a:prstGeom prst="rect">
            <a:avLst/>
          </a:prstGeom>
          <a:solidFill>
            <a:srgbClr val="C4C9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393192"/>
            <a:ext cx="77724" cy="77724"/>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329184"/>
            <a:ext cx="8229600" cy="274320"/>
          </a:xfrm>
          <a:prstGeom prst="rect">
            <a:avLst/>
          </a:prstGeom>
          <a:noFill/>
        </p:spPr>
        <p:txBody>
          <a:bodyPr wrap="square" lIns="0" rIns="0" tIns="0" bIns="0" anchor="t">
            <a:noAutofit/>
          </a:bodyPr>
          <a:lstStyle/>
          <a:p>
            <a:pPr algn="l">
              <a:spcAft>
                <a:spcPts val="600"/>
              </a:spcAft>
            </a:pPr>
            <a:r>
              <a:rPr sz="1100" b="1" i="0" spc="150">
                <a:solidFill>
                  <a:srgbClr val="E4572E"/>
                </a:solidFill>
                <a:latin typeface="Arial"/>
              </a:rPr>
              <a:t>BACKUP</a:t>
            </a:r>
            <a:endParaRPr sz="1100"/>
          </a:p>
        </p:txBody>
      </p:sp>
      <p:sp>
        <p:nvSpPr>
          <p:cNvPr id="6" name="TextBox 5"/>
          <p:cNvSpPr txBox="1"/>
          <p:nvPr/>
        </p:nvSpPr>
        <p:spPr>
          <a:xfrm>
            <a:off x="548640" y="585216"/>
            <a:ext cx="11091672" cy="411480"/>
          </a:xfrm>
          <a:prstGeom prst="rect">
            <a:avLst/>
          </a:prstGeom>
          <a:noFill/>
        </p:spPr>
        <p:txBody>
          <a:bodyPr wrap="square" lIns="0" rIns="0" tIns="0" bIns="0" anchor="t">
            <a:noAutofit/>
          </a:bodyPr>
          <a:lstStyle/>
          <a:p>
            <a:pPr algn="l">
              <a:spcAft>
                <a:spcPts val="600"/>
              </a:spcAft>
            </a:pPr>
            <a:r>
              <a:rPr sz="1750" b="1" i="0">
                <a:solidFill>
                  <a:srgbClr val="14213D"/>
                </a:solidFill>
                <a:latin typeface="Georgia"/>
              </a:rPr>
              <a:t>Evaluation scores under sparse missingness (Table 3.1; best per level in bold)</a:t>
            </a:r>
            <a:endParaRPr sz="1750"/>
          </a:p>
        </p:txBody>
      </p:sp>
      <p:graphicFrame>
        <p:nvGraphicFramePr>
          <p:cNvPr id="7" name="Table 6"/>
          <p:cNvGraphicFramePr>
            <a:graphicFrameLocks noGrp="1"/>
          </p:cNvGraphicFramePr>
          <p:nvPr/>
        </p:nvGraphicFramePr>
        <p:xfrm>
          <a:off x="548640" y="1051560"/>
          <a:ext cx="5440680" cy="5372100"/>
        </p:xfrm>
        <a:graphic>
          <a:graphicData uri="http://schemas.openxmlformats.org/drawingml/2006/table">
            <a:tbl>
              <a:tblPr firstRow="0" bandRow="0">
                <a:tableStyleId>{2D5ABB26-0587-4C30-8999-92F81FD0307C}</a:tableStyleId>
              </a:tblPr>
              <a:tblGrid>
                <a:gridCol w="713232"/>
                <a:gridCol w="658368"/>
                <a:gridCol w="658368"/>
                <a:gridCol w="658368"/>
                <a:gridCol w="658368"/>
                <a:gridCol w="658368"/>
                <a:gridCol w="777240"/>
                <a:gridCol w="658368"/>
              </a:tblGrid>
              <a:tr h="214884">
                <a:tc>
                  <a:txBody>
                    <a:bodyPr wrap="none"/>
                    <a:lstStyle/>
                    <a:p>
                      <a:pPr algn="l"/>
                      <a:r>
                        <a:rPr sz="800" b="1" i="0">
                          <a:solidFill>
                            <a:srgbClr val="1F2937"/>
                          </a:solidFill>
                          <a:latin typeface="Arial"/>
                        </a:rPr>
                        <a:t>Model</a:t>
                      </a:r>
                      <a:endParaRPr sz="800"/>
                    </a:p>
                  </a:txBody>
                  <a:tcPr marL="36576" marR="36576" marT="0" marB="0" anchor="ctr">
                    <a:lnT w="15875">
                      <a:solidFill>
                        <a:srgbClr val="14213D"/>
                      </a:solidFill>
                    </a:lnT>
                    <a:lnB w="9525">
                      <a:solidFill>
                        <a:srgbClr val="14213D"/>
                      </a:solidFill>
                    </a:lnB>
                    <a:noFill/>
                  </a:tcPr>
                </a:tc>
                <a:tc>
                  <a:txBody>
                    <a:bodyPr wrap="none"/>
                    <a:lstStyle/>
                    <a:p>
                      <a:pPr algn="r"/>
                      <a:r>
                        <a:rPr sz="800" b="1" i="0">
                          <a:solidFill>
                            <a:srgbClr val="1F2937"/>
                          </a:solidFill>
                          <a:latin typeface="Arial"/>
                        </a:rPr>
                        <a:t>MAE</a:t>
                      </a:r>
                      <a:endParaRPr sz="800"/>
                    </a:p>
                  </a:txBody>
                  <a:tcPr marL="36576" marR="36576" marT="0" marB="0" anchor="ctr">
                    <a:lnT w="15875">
                      <a:solidFill>
                        <a:srgbClr val="14213D"/>
                      </a:solidFill>
                    </a:lnT>
                    <a:lnB w="9525">
                      <a:solidFill>
                        <a:srgbClr val="14213D"/>
                      </a:solidFill>
                    </a:lnB>
                    <a:noFill/>
                  </a:tcPr>
                </a:tc>
                <a:tc>
                  <a:txBody>
                    <a:bodyPr wrap="none"/>
                    <a:lstStyle/>
                    <a:p>
                      <a:pPr algn="r"/>
                      <a:r>
                        <a:rPr sz="800" b="1" i="0">
                          <a:solidFill>
                            <a:srgbClr val="1F2937"/>
                          </a:solidFill>
                          <a:latin typeface="Arial"/>
                        </a:rPr>
                        <a:t>RMSE</a:t>
                      </a:r>
                      <a:endParaRPr sz="800"/>
                    </a:p>
                  </a:txBody>
                  <a:tcPr marL="36576" marR="36576" marT="0" marB="0" anchor="ctr">
                    <a:lnT w="15875">
                      <a:solidFill>
                        <a:srgbClr val="14213D"/>
                      </a:solidFill>
                    </a:lnT>
                    <a:lnB w="9525">
                      <a:solidFill>
                        <a:srgbClr val="14213D"/>
                      </a:solidFill>
                    </a:lnB>
                    <a:noFill/>
                  </a:tcPr>
                </a:tc>
                <a:tc>
                  <a:txBody>
                    <a:bodyPr wrap="none"/>
                    <a:lstStyle/>
                    <a:p>
                      <a:pPr algn="r"/>
                      <a:r>
                        <a:rPr sz="800" b="1" i="0">
                          <a:solidFill>
                            <a:srgbClr val="1F2937"/>
                          </a:solidFill>
                          <a:latin typeface="Arial"/>
                        </a:rPr>
                        <a:t>CovErr</a:t>
                      </a:r>
                      <a:endParaRPr sz="800"/>
                    </a:p>
                  </a:txBody>
                  <a:tcPr marL="36576" marR="36576" marT="0" marB="0" anchor="ctr">
                    <a:lnT w="15875">
                      <a:solidFill>
                        <a:srgbClr val="14213D"/>
                      </a:solidFill>
                    </a:lnT>
                    <a:lnB w="9525">
                      <a:solidFill>
                        <a:srgbClr val="14213D"/>
                      </a:solidFill>
                    </a:lnB>
                    <a:noFill/>
                  </a:tcPr>
                </a:tc>
                <a:tc>
                  <a:txBody>
                    <a:bodyPr wrap="none"/>
                    <a:lstStyle/>
                    <a:p>
                      <a:pPr algn="r"/>
                      <a:r>
                        <a:rPr sz="800" b="1" i="0">
                          <a:solidFill>
                            <a:srgbClr val="1F2937"/>
                          </a:solidFill>
                          <a:latin typeface="Arial"/>
                        </a:rPr>
                        <a:t>VaRErr</a:t>
                      </a:r>
                      <a:endParaRPr sz="800"/>
                    </a:p>
                  </a:txBody>
                  <a:tcPr marL="36576" marR="36576" marT="0" marB="0" anchor="ctr">
                    <a:lnT w="15875">
                      <a:solidFill>
                        <a:srgbClr val="14213D"/>
                      </a:solidFill>
                    </a:lnT>
                    <a:lnB w="9525">
                      <a:solidFill>
                        <a:srgbClr val="14213D"/>
                      </a:solidFill>
                    </a:lnB>
                    <a:noFill/>
                  </a:tcPr>
                </a:tc>
                <a:tc>
                  <a:txBody>
                    <a:bodyPr wrap="none"/>
                    <a:lstStyle/>
                    <a:p>
                      <a:pPr algn="r"/>
                      <a:r>
                        <a:rPr sz="800" b="1" i="0">
                          <a:solidFill>
                            <a:srgbClr val="1F2937"/>
                          </a:solidFill>
                          <a:latin typeface="Arial"/>
                        </a:rPr>
                        <a:t>WassErr</a:t>
                      </a:r>
                      <a:endParaRPr sz="800"/>
                    </a:p>
                  </a:txBody>
                  <a:tcPr marL="36576" marR="36576" marT="0" marB="0" anchor="ctr">
                    <a:lnT w="15875">
                      <a:solidFill>
                        <a:srgbClr val="14213D"/>
                      </a:solidFill>
                    </a:lnT>
                    <a:lnB w="9525">
                      <a:solidFill>
                        <a:srgbClr val="14213D"/>
                      </a:solidFill>
                    </a:lnB>
                    <a:noFill/>
                  </a:tcPr>
                </a:tc>
                <a:tc>
                  <a:txBody>
                    <a:bodyPr wrap="none"/>
                    <a:lstStyle/>
                    <a:p>
                      <a:pPr algn="r"/>
                      <a:r>
                        <a:rPr sz="800" b="1" i="0">
                          <a:solidFill>
                            <a:srgbClr val="1F2937"/>
                          </a:solidFill>
                          <a:latin typeface="Arial"/>
                        </a:rPr>
                        <a:t>AbsACFErr</a:t>
                      </a:r>
                      <a:endParaRPr sz="800"/>
                    </a:p>
                  </a:txBody>
                  <a:tcPr marL="36576" marR="36576" marT="0" marB="0" anchor="ctr">
                    <a:lnT w="15875">
                      <a:solidFill>
                        <a:srgbClr val="14213D"/>
                      </a:solidFill>
                    </a:lnT>
                    <a:lnB w="9525">
                      <a:solidFill>
                        <a:srgbClr val="14213D"/>
                      </a:solidFill>
                    </a:lnB>
                    <a:noFill/>
                  </a:tcPr>
                </a:tc>
                <a:tc>
                  <a:txBody>
                    <a:bodyPr wrap="none"/>
                    <a:lstStyle/>
                    <a:p>
                      <a:pPr algn="r"/>
                      <a:r>
                        <a:rPr sz="800" b="1" i="0">
                          <a:solidFill>
                            <a:srgbClr val="1F2937"/>
                          </a:solidFill>
                          <a:latin typeface="Arial"/>
                        </a:rPr>
                        <a:t>LevErr</a:t>
                      </a:r>
                      <a:endParaRPr sz="800"/>
                    </a:p>
                  </a:txBody>
                  <a:tcPr marL="36576" marR="36576" marT="0" marB="0" anchor="ctr">
                    <a:lnT w="15875">
                      <a:solidFill>
                        <a:srgbClr val="14213D"/>
                      </a:solidFill>
                    </a:lnT>
                    <a:lnB w="9525">
                      <a:solidFill>
                        <a:srgbClr val="14213D"/>
                      </a:solidFill>
                    </a:lnB>
                    <a:noFill/>
                  </a:tcPr>
                </a:tc>
              </a:tr>
              <a:tr h="214884">
                <a:tc gridSpan="8">
                  <a:txBody>
                    <a:bodyPr wrap="none"/>
                    <a:lstStyle/>
                    <a:p>
                      <a:pPr algn="l"/>
                      <a:r>
                        <a:rPr sz="800" b="1" i="0">
                          <a:solidFill>
                            <a:srgbClr val="E4572E"/>
                          </a:solidFill>
                          <a:latin typeface="Arial"/>
                        </a:rPr>
                        <a:t>Level 0.001</a:t>
                      </a: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r>
              <a:tr h="214884">
                <a:tc>
                  <a:txBody>
                    <a:bodyPr wrap="none"/>
                    <a:lstStyle/>
                    <a:p>
                      <a:pPr algn="l"/>
                      <a:r>
                        <a:rPr sz="800" b="0" i="0">
                          <a:solidFill>
                            <a:srgbClr val="1F2937"/>
                          </a:solidFill>
                          <a:latin typeface="Arial"/>
                        </a:rPr>
                        <a:t>Deletion</a:t>
                      </a:r>
                      <a:endParaRPr sz="800"/>
                    </a:p>
                  </a:txBody>
                  <a:tcPr marL="36576" marR="36576" marT="0" marB="0" anchor="ctr">
                    <a:noFill/>
                  </a:tcPr>
                </a:tc>
                <a:tc>
                  <a:txBody>
                    <a:bodyPr wrap="none"/>
                    <a:lstStyle/>
                    <a:p>
                      <a:pPr algn="r"/>
                      <a:r>
                        <a:rPr sz="800" b="0" i="0">
                          <a:solidFill>
                            <a:srgbClr val="1F2937"/>
                          </a:solidFill>
                          <a:latin typeface="Arial"/>
                        </a:rPr>
                        <a:t>--</a:t>
                      </a:r>
                      <a:endParaRPr sz="800"/>
                    </a:p>
                  </a:txBody>
                  <a:tcPr marL="36576" marR="36576" marT="0" marB="0" anchor="ctr">
                    <a:noFill/>
                  </a:tcPr>
                </a:tc>
                <a:tc>
                  <a:txBody>
                    <a:bodyPr wrap="none"/>
                    <a:lstStyle/>
                    <a:p>
                      <a:pPr algn="r"/>
                      <a:r>
                        <a:rPr sz="800" b="0" i="0">
                          <a:solidFill>
                            <a:srgbClr val="1F2937"/>
                          </a:solidFill>
                          <a:latin typeface="Arial"/>
                        </a:rPr>
                        <a:t>--</a:t>
                      </a:r>
                      <a:endParaRPr sz="800"/>
                    </a:p>
                  </a:txBody>
                  <a:tcPr marL="36576" marR="36576" marT="0" marB="0" anchor="ctr">
                    <a:noFill/>
                  </a:tcPr>
                </a:tc>
                <a:tc>
                  <a:txBody>
                    <a:bodyPr wrap="none"/>
                    <a:lstStyle/>
                    <a:p>
                      <a:pPr algn="r"/>
                      <a:r>
                        <a:rPr sz="800" b="0" i="0">
                          <a:solidFill>
                            <a:srgbClr val="1F2937"/>
                          </a:solidFill>
                          <a:latin typeface="Arial"/>
                        </a:rPr>
                        <a:t>0.0119</a:t>
                      </a:r>
                      <a:endParaRPr sz="800"/>
                    </a:p>
                  </a:txBody>
                  <a:tcPr marL="36576" marR="36576" marT="0" marB="0" anchor="ctr">
                    <a:noFill/>
                  </a:tcPr>
                </a:tc>
                <a:tc>
                  <a:txBody>
                    <a:bodyPr wrap="none"/>
                    <a:lstStyle/>
                    <a:p>
                      <a:pPr algn="r"/>
                      <a:r>
                        <a:rPr sz="800" b="0" i="0">
                          <a:solidFill>
                            <a:srgbClr val="1F2937"/>
                          </a:solidFill>
                          <a:latin typeface="Arial"/>
                        </a:rPr>
                        <a:t>0.0001</a:t>
                      </a:r>
                      <a:endParaRPr sz="800"/>
                    </a:p>
                  </a:txBody>
                  <a:tcPr marL="36576" marR="36576" marT="0" marB="0" anchor="ctr">
                    <a:noFill/>
                  </a:tcPr>
                </a:tc>
                <a:tc>
                  <a:txBody>
                    <a:bodyPr wrap="none"/>
                    <a:lstStyle/>
                    <a:p>
                      <a:pPr algn="r"/>
                      <a:r>
                        <a:rPr sz="800" b="0" i="0">
                          <a:solidFill>
                            <a:srgbClr val="1F2937"/>
                          </a:solidFill>
                          <a:latin typeface="Arial"/>
                        </a:rPr>
                        <a:t>0.0001</a:t>
                      </a:r>
                      <a:endParaRPr sz="800"/>
                    </a:p>
                  </a:txBody>
                  <a:tcPr marL="36576" marR="36576" marT="0" marB="0" anchor="ctr">
                    <a:noFill/>
                  </a:tcPr>
                </a:tc>
                <a:tc>
                  <a:txBody>
                    <a:bodyPr wrap="none"/>
                    <a:lstStyle/>
                    <a:p>
                      <a:pPr algn="r"/>
                      <a:r>
                        <a:rPr sz="800" b="0" i="0">
                          <a:solidFill>
                            <a:srgbClr val="1F2937"/>
                          </a:solidFill>
                          <a:latin typeface="Arial"/>
                        </a:rPr>
                        <a:t>0.0101</a:t>
                      </a:r>
                      <a:endParaRPr sz="800"/>
                    </a:p>
                  </a:txBody>
                  <a:tcPr marL="36576" marR="36576" marT="0" marB="0" anchor="ctr">
                    <a:noFill/>
                  </a:tcPr>
                </a:tc>
                <a:tc>
                  <a:txBody>
                    <a:bodyPr wrap="none"/>
                    <a:lstStyle/>
                    <a:p>
                      <a:pPr algn="r"/>
                      <a:r>
                        <a:rPr sz="800" b="0" i="0">
                          <a:solidFill>
                            <a:srgbClr val="1F2937"/>
                          </a:solidFill>
                          <a:latin typeface="Arial"/>
                        </a:rPr>
                        <a:t>0.0114</a:t>
                      </a:r>
                      <a:endParaRPr sz="800"/>
                    </a:p>
                  </a:txBody>
                  <a:tcPr marL="36576" marR="36576" marT="0" marB="0" anchor="ctr">
                    <a:noFill/>
                  </a:tcPr>
                </a:tc>
              </a:tr>
              <a:tr h="214884">
                <a:tc>
                  <a:txBody>
                    <a:bodyPr wrap="none"/>
                    <a:lstStyle/>
                    <a:p>
                      <a:pPr algn="l"/>
                      <a:r>
                        <a:rPr sz="800" b="0" i="0">
                          <a:solidFill>
                            <a:srgbClr val="1F2937"/>
                          </a:solidFill>
                          <a:latin typeface="Arial"/>
                        </a:rPr>
                        <a:t>Zero</a:t>
                      </a:r>
                      <a:endParaRPr sz="800"/>
                    </a:p>
                  </a:txBody>
                  <a:tcPr marL="36576" marR="36576" marT="0" marB="0" anchor="ctr">
                    <a:noFill/>
                  </a:tcPr>
                </a:tc>
                <a:tc>
                  <a:txBody>
                    <a:bodyPr wrap="none"/>
                    <a:lstStyle/>
                    <a:p>
                      <a:pPr algn="r"/>
                      <a:r>
                        <a:rPr sz="800" b="0" i="0">
                          <a:solidFill>
                            <a:srgbClr val="1F2937"/>
                          </a:solidFill>
                          <a:latin typeface="Arial"/>
                        </a:rPr>
                        <a:t>0.0118</a:t>
                      </a:r>
                      <a:endParaRPr sz="800"/>
                    </a:p>
                  </a:txBody>
                  <a:tcPr marL="36576" marR="36576" marT="0" marB="0" anchor="ctr">
                    <a:noFill/>
                  </a:tcPr>
                </a:tc>
                <a:tc>
                  <a:txBody>
                    <a:bodyPr wrap="none"/>
                    <a:lstStyle/>
                    <a:p>
                      <a:pPr algn="r"/>
                      <a:r>
                        <a:rPr sz="800" b="0" i="0">
                          <a:solidFill>
                            <a:srgbClr val="1F2937"/>
                          </a:solidFill>
                          <a:latin typeface="Arial"/>
                        </a:rPr>
                        <a:t>0.0194</a:t>
                      </a:r>
                      <a:endParaRPr sz="800"/>
                    </a:p>
                  </a:txBody>
                  <a:tcPr marL="36576" marR="36576" marT="0" marB="0" anchor="ctr">
                    <a:noFill/>
                  </a:tcPr>
                </a:tc>
                <a:tc>
                  <a:txBody>
                    <a:bodyPr wrap="none"/>
                    <a:lstStyle/>
                    <a:p>
                      <a:pPr algn="r"/>
                      <a:r>
                        <a:rPr sz="800" b="0" i="0">
                          <a:solidFill>
                            <a:srgbClr val="1F2937"/>
                          </a:solidFill>
                          <a:latin typeface="Arial"/>
                        </a:rPr>
                        <a:t>0.0026</a:t>
                      </a:r>
                      <a:endParaRPr sz="800"/>
                    </a:p>
                  </a:txBody>
                  <a:tcPr marL="36576" marR="36576" marT="0" marB="0" anchor="ctr">
                    <a:noFill/>
                  </a:tcPr>
                </a:tc>
                <a:tc>
                  <a:txBody>
                    <a:bodyPr wrap="none"/>
                    <a:lstStyle/>
                    <a:p>
                      <a:pPr algn="r"/>
                      <a:r>
                        <a:rPr sz="800" b="1" i="0">
                          <a:solidFill>
                            <a:srgbClr val="1F2937"/>
                          </a:solidFill>
                          <a:latin typeface="Arial"/>
                        </a:rPr>
                        <a:t>0.0000</a:t>
                      </a:r>
                      <a:endParaRPr sz="800"/>
                    </a:p>
                  </a:txBody>
                  <a:tcPr marL="36576" marR="36576" marT="0" marB="0" anchor="ctr">
                    <a:noFill/>
                  </a:tcPr>
                </a:tc>
                <a:tc>
                  <a:txBody>
                    <a:bodyPr wrap="none"/>
                    <a:lstStyle/>
                    <a:p>
                      <a:pPr algn="r"/>
                      <a:r>
                        <a:rPr sz="800" b="1" i="0">
                          <a:solidFill>
                            <a:srgbClr val="1F2937"/>
                          </a:solidFill>
                          <a:latin typeface="Arial"/>
                        </a:rPr>
                        <a:t>0.0000</a:t>
                      </a:r>
                      <a:endParaRPr sz="800"/>
                    </a:p>
                  </a:txBody>
                  <a:tcPr marL="36576" marR="36576" marT="0" marB="0" anchor="ctr">
                    <a:noFill/>
                  </a:tcPr>
                </a:tc>
                <a:tc>
                  <a:txBody>
                    <a:bodyPr wrap="none"/>
                    <a:lstStyle/>
                    <a:p>
                      <a:pPr algn="r"/>
                      <a:r>
                        <a:rPr sz="800" b="0" i="0">
                          <a:solidFill>
                            <a:srgbClr val="1F2937"/>
                          </a:solidFill>
                          <a:latin typeface="Arial"/>
                        </a:rPr>
                        <a:t>0.0009</a:t>
                      </a:r>
                      <a:endParaRPr sz="800"/>
                    </a:p>
                  </a:txBody>
                  <a:tcPr marL="36576" marR="36576" marT="0" marB="0" anchor="ctr">
                    <a:noFill/>
                  </a:tcPr>
                </a:tc>
                <a:tc>
                  <a:txBody>
                    <a:bodyPr wrap="none"/>
                    <a:lstStyle/>
                    <a:p>
                      <a:pPr algn="r"/>
                      <a:r>
                        <a:rPr sz="800" b="0" i="0">
                          <a:solidFill>
                            <a:srgbClr val="1F2937"/>
                          </a:solidFill>
                          <a:latin typeface="Arial"/>
                        </a:rPr>
                        <a:t>0.0008</a:t>
                      </a:r>
                      <a:endParaRPr sz="800"/>
                    </a:p>
                  </a:txBody>
                  <a:tcPr marL="36576" marR="36576" marT="0" marB="0" anchor="ctr">
                    <a:noFill/>
                  </a:tcPr>
                </a:tc>
              </a:tr>
              <a:tr h="214884">
                <a:tc>
                  <a:txBody>
                    <a:bodyPr wrap="none"/>
                    <a:lstStyle/>
                    <a:p>
                      <a:pPr algn="l"/>
                      <a:r>
                        <a:rPr sz="800" b="0" i="0">
                          <a:solidFill>
                            <a:srgbClr val="1F2937"/>
                          </a:solidFill>
                          <a:latin typeface="Arial"/>
                        </a:rPr>
                        <a:t>KNN</a:t>
                      </a:r>
                      <a:endParaRPr sz="800"/>
                    </a:p>
                  </a:txBody>
                  <a:tcPr marL="36576" marR="36576" marT="0" marB="0" anchor="ctr">
                    <a:noFill/>
                  </a:tcPr>
                </a:tc>
                <a:tc>
                  <a:txBody>
                    <a:bodyPr wrap="none"/>
                    <a:lstStyle/>
                    <a:p>
                      <a:pPr algn="r"/>
                      <a:r>
                        <a:rPr sz="800" b="0" i="0">
                          <a:solidFill>
                            <a:srgbClr val="1F2937"/>
                          </a:solidFill>
                          <a:latin typeface="Arial"/>
                        </a:rPr>
                        <a:t>0.0099</a:t>
                      </a:r>
                      <a:endParaRPr sz="800"/>
                    </a:p>
                  </a:txBody>
                  <a:tcPr marL="36576" marR="36576" marT="0" marB="0" anchor="ctr">
                    <a:noFill/>
                  </a:tcPr>
                </a:tc>
                <a:tc>
                  <a:txBody>
                    <a:bodyPr wrap="none"/>
                    <a:lstStyle/>
                    <a:p>
                      <a:pPr algn="r"/>
                      <a:r>
                        <a:rPr sz="800" b="0" i="0">
                          <a:solidFill>
                            <a:srgbClr val="1F2937"/>
                          </a:solidFill>
                          <a:latin typeface="Arial"/>
                        </a:rPr>
                        <a:t>0.0168</a:t>
                      </a:r>
                      <a:endParaRPr sz="800"/>
                    </a:p>
                  </a:txBody>
                  <a:tcPr marL="36576" marR="36576" marT="0" marB="0" anchor="ctr">
                    <a:noFill/>
                  </a:tcPr>
                </a:tc>
                <a:tc>
                  <a:txBody>
                    <a:bodyPr wrap="none"/>
                    <a:lstStyle/>
                    <a:p>
                      <a:pPr algn="r"/>
                      <a:r>
                        <a:rPr sz="800" b="0" i="0">
                          <a:solidFill>
                            <a:srgbClr val="1F2937"/>
                          </a:solidFill>
                          <a:latin typeface="Arial"/>
                        </a:rPr>
                        <a:t>0.0018</a:t>
                      </a:r>
                      <a:endParaRPr sz="800"/>
                    </a:p>
                  </a:txBody>
                  <a:tcPr marL="36576" marR="36576" marT="0" marB="0" anchor="ctr">
                    <a:noFill/>
                  </a:tcPr>
                </a:tc>
                <a:tc>
                  <a:txBody>
                    <a:bodyPr wrap="none"/>
                    <a:lstStyle/>
                    <a:p>
                      <a:pPr algn="r"/>
                      <a:r>
                        <a:rPr sz="800" b="1" i="0">
                          <a:solidFill>
                            <a:srgbClr val="1F2937"/>
                          </a:solidFill>
                          <a:latin typeface="Arial"/>
                        </a:rPr>
                        <a:t>0.0000</a:t>
                      </a:r>
                      <a:endParaRPr sz="800"/>
                    </a:p>
                  </a:txBody>
                  <a:tcPr marL="36576" marR="36576" marT="0" marB="0" anchor="ctr">
                    <a:noFill/>
                  </a:tcPr>
                </a:tc>
                <a:tc>
                  <a:txBody>
                    <a:bodyPr wrap="none"/>
                    <a:lstStyle/>
                    <a:p>
                      <a:pPr algn="r"/>
                      <a:r>
                        <a:rPr sz="800" b="1" i="0">
                          <a:solidFill>
                            <a:srgbClr val="1F2937"/>
                          </a:solidFill>
                          <a:latin typeface="Arial"/>
                        </a:rPr>
                        <a:t>0.0000</a:t>
                      </a:r>
                      <a:endParaRPr sz="800"/>
                    </a:p>
                  </a:txBody>
                  <a:tcPr marL="36576" marR="36576" marT="0" marB="0" anchor="ctr">
                    <a:noFill/>
                  </a:tcPr>
                </a:tc>
                <a:tc>
                  <a:txBody>
                    <a:bodyPr wrap="none"/>
                    <a:lstStyle/>
                    <a:p>
                      <a:pPr algn="r"/>
                      <a:r>
                        <a:rPr sz="800" b="0" i="0">
                          <a:solidFill>
                            <a:srgbClr val="1F2937"/>
                          </a:solidFill>
                          <a:latin typeface="Arial"/>
                        </a:rPr>
                        <a:t>0.0006</a:t>
                      </a:r>
                      <a:endParaRPr sz="800"/>
                    </a:p>
                  </a:txBody>
                  <a:tcPr marL="36576" marR="36576" marT="0" marB="0" anchor="ctr">
                    <a:noFill/>
                  </a:tcPr>
                </a:tc>
                <a:tc>
                  <a:txBody>
                    <a:bodyPr wrap="none"/>
                    <a:lstStyle/>
                    <a:p>
                      <a:pPr algn="r"/>
                      <a:r>
                        <a:rPr sz="800" b="0" i="0">
                          <a:solidFill>
                            <a:srgbClr val="1F2937"/>
                          </a:solidFill>
                          <a:latin typeface="Arial"/>
                        </a:rPr>
                        <a:t>0.0005</a:t>
                      </a:r>
                      <a:endParaRPr sz="800"/>
                    </a:p>
                  </a:txBody>
                  <a:tcPr marL="36576" marR="36576" marT="0" marB="0" anchor="ctr">
                    <a:noFill/>
                  </a:tcPr>
                </a:tc>
              </a:tr>
              <a:tr h="214884">
                <a:tc>
                  <a:txBody>
                    <a:bodyPr wrap="none"/>
                    <a:lstStyle/>
                    <a:p>
                      <a:pPr algn="l"/>
                      <a:r>
                        <a:rPr sz="800" b="0" i="0">
                          <a:solidFill>
                            <a:srgbClr val="1F2937"/>
                          </a:solidFill>
                          <a:latin typeface="Arial"/>
                        </a:rPr>
                        <a:t>LowRank</a:t>
                      </a:r>
                      <a:endParaRPr sz="800"/>
                    </a:p>
                  </a:txBody>
                  <a:tcPr marL="36576" marR="36576" marT="0" marB="0" anchor="ctr">
                    <a:noFill/>
                  </a:tcPr>
                </a:tc>
                <a:tc>
                  <a:txBody>
                    <a:bodyPr wrap="none"/>
                    <a:lstStyle/>
                    <a:p>
                      <a:pPr algn="r"/>
                      <a:r>
                        <a:rPr sz="800" b="0" i="0">
                          <a:solidFill>
                            <a:srgbClr val="1F2937"/>
                          </a:solidFill>
                          <a:latin typeface="Arial"/>
                        </a:rPr>
                        <a:t>0.0084</a:t>
                      </a:r>
                      <a:endParaRPr sz="800"/>
                    </a:p>
                  </a:txBody>
                  <a:tcPr marL="36576" marR="36576" marT="0" marB="0" anchor="ctr">
                    <a:noFill/>
                  </a:tcPr>
                </a:tc>
                <a:tc>
                  <a:txBody>
                    <a:bodyPr wrap="none"/>
                    <a:lstStyle/>
                    <a:p>
                      <a:pPr algn="r"/>
                      <a:r>
                        <a:rPr sz="800" b="0" i="0">
                          <a:solidFill>
                            <a:srgbClr val="1F2937"/>
                          </a:solidFill>
                          <a:latin typeface="Arial"/>
                        </a:rPr>
                        <a:t>0.0152</a:t>
                      </a:r>
                      <a:endParaRPr sz="800"/>
                    </a:p>
                  </a:txBody>
                  <a:tcPr marL="36576" marR="36576" marT="0" marB="0" anchor="ctr">
                    <a:noFill/>
                  </a:tcPr>
                </a:tc>
                <a:tc>
                  <a:txBody>
                    <a:bodyPr wrap="none"/>
                    <a:lstStyle/>
                    <a:p>
                      <a:pPr algn="r"/>
                      <a:r>
                        <a:rPr sz="800" b="0" i="0">
                          <a:solidFill>
                            <a:srgbClr val="1F2937"/>
                          </a:solidFill>
                          <a:latin typeface="Arial"/>
                        </a:rPr>
                        <a:t>0.0016</a:t>
                      </a:r>
                      <a:endParaRPr sz="800"/>
                    </a:p>
                  </a:txBody>
                  <a:tcPr marL="36576" marR="36576" marT="0" marB="0" anchor="ctr">
                    <a:noFill/>
                  </a:tcPr>
                </a:tc>
                <a:tc>
                  <a:txBody>
                    <a:bodyPr wrap="none"/>
                    <a:lstStyle/>
                    <a:p>
                      <a:pPr algn="r"/>
                      <a:r>
                        <a:rPr sz="800" b="1" i="0">
                          <a:solidFill>
                            <a:srgbClr val="1F2937"/>
                          </a:solidFill>
                          <a:latin typeface="Arial"/>
                        </a:rPr>
                        <a:t>0.0000</a:t>
                      </a:r>
                      <a:endParaRPr sz="800"/>
                    </a:p>
                  </a:txBody>
                  <a:tcPr marL="36576" marR="36576" marT="0" marB="0" anchor="ctr">
                    <a:noFill/>
                  </a:tcPr>
                </a:tc>
                <a:tc>
                  <a:txBody>
                    <a:bodyPr wrap="none"/>
                    <a:lstStyle/>
                    <a:p>
                      <a:pPr algn="r"/>
                      <a:r>
                        <a:rPr sz="800" b="1" i="0">
                          <a:solidFill>
                            <a:srgbClr val="1F2937"/>
                          </a:solidFill>
                          <a:latin typeface="Arial"/>
                        </a:rPr>
                        <a:t>0.0000</a:t>
                      </a:r>
                      <a:endParaRPr sz="800"/>
                    </a:p>
                  </a:txBody>
                  <a:tcPr marL="36576" marR="36576" marT="0" marB="0" anchor="ctr">
                    <a:noFill/>
                  </a:tcPr>
                </a:tc>
                <a:tc>
                  <a:txBody>
                    <a:bodyPr wrap="none"/>
                    <a:lstStyle/>
                    <a:p>
                      <a:pPr algn="r"/>
                      <a:r>
                        <a:rPr sz="800" b="1" i="0">
                          <a:solidFill>
                            <a:srgbClr val="1F2937"/>
                          </a:solidFill>
                          <a:latin typeface="Arial"/>
                        </a:rPr>
                        <a:t>0.0005</a:t>
                      </a:r>
                      <a:endParaRPr sz="800"/>
                    </a:p>
                  </a:txBody>
                  <a:tcPr marL="36576" marR="36576" marT="0" marB="0" anchor="ctr">
                    <a:noFill/>
                  </a:tcPr>
                </a:tc>
                <a:tc>
                  <a:txBody>
                    <a:bodyPr wrap="none"/>
                    <a:lstStyle/>
                    <a:p>
                      <a:pPr algn="r"/>
                      <a:r>
                        <a:rPr sz="800" b="1" i="0">
                          <a:solidFill>
                            <a:srgbClr val="1F2937"/>
                          </a:solidFill>
                          <a:latin typeface="Arial"/>
                        </a:rPr>
                        <a:t>0.0004</a:t>
                      </a:r>
                      <a:endParaRPr sz="800"/>
                    </a:p>
                  </a:txBody>
                  <a:tcPr marL="36576" marR="36576" marT="0" marB="0" anchor="ctr">
                    <a:noFill/>
                  </a:tcPr>
                </a:tc>
              </a:tr>
              <a:tr h="214884">
                <a:tc>
                  <a:txBody>
                    <a:bodyPr wrap="none"/>
                    <a:lstStyle/>
                    <a:p>
                      <a:pPr algn="l"/>
                      <a:r>
                        <a:rPr sz="800" b="0" i="0">
                          <a:solidFill>
                            <a:srgbClr val="1F2937"/>
                          </a:solidFill>
                          <a:latin typeface="Arial"/>
                        </a:rPr>
                        <a:t>EM</a:t>
                      </a:r>
                      <a:endParaRPr sz="800"/>
                    </a:p>
                  </a:txBody>
                  <a:tcPr marL="36576" marR="36576" marT="0" marB="0" anchor="ctr">
                    <a:noFill/>
                  </a:tcPr>
                </a:tc>
                <a:tc>
                  <a:txBody>
                    <a:bodyPr wrap="none"/>
                    <a:lstStyle/>
                    <a:p>
                      <a:pPr algn="r"/>
                      <a:r>
                        <a:rPr sz="800" b="1" i="0">
                          <a:solidFill>
                            <a:srgbClr val="1F2937"/>
                          </a:solidFill>
                          <a:latin typeface="Arial"/>
                        </a:rPr>
                        <a:t>0.0080</a:t>
                      </a:r>
                      <a:endParaRPr sz="800"/>
                    </a:p>
                  </a:txBody>
                  <a:tcPr marL="36576" marR="36576" marT="0" marB="0" anchor="ctr">
                    <a:noFill/>
                  </a:tcPr>
                </a:tc>
                <a:tc>
                  <a:txBody>
                    <a:bodyPr wrap="none"/>
                    <a:lstStyle/>
                    <a:p>
                      <a:pPr algn="r"/>
                      <a:r>
                        <a:rPr sz="800" b="1" i="0">
                          <a:solidFill>
                            <a:srgbClr val="1F2937"/>
                          </a:solidFill>
                          <a:latin typeface="Arial"/>
                        </a:rPr>
                        <a:t>0.0147</a:t>
                      </a:r>
                      <a:endParaRPr sz="800"/>
                    </a:p>
                  </a:txBody>
                  <a:tcPr marL="36576" marR="36576" marT="0" marB="0" anchor="ctr">
                    <a:noFill/>
                  </a:tcPr>
                </a:tc>
                <a:tc>
                  <a:txBody>
                    <a:bodyPr wrap="none"/>
                    <a:lstStyle/>
                    <a:p>
                      <a:pPr algn="r"/>
                      <a:r>
                        <a:rPr sz="800" b="1" i="0">
                          <a:solidFill>
                            <a:srgbClr val="1F2937"/>
                          </a:solidFill>
                          <a:latin typeface="Arial"/>
                        </a:rPr>
                        <a:t>0.0015</a:t>
                      </a:r>
                      <a:endParaRPr sz="800"/>
                    </a:p>
                  </a:txBody>
                  <a:tcPr marL="36576" marR="36576" marT="0" marB="0" anchor="ctr">
                    <a:noFill/>
                  </a:tcPr>
                </a:tc>
                <a:tc>
                  <a:txBody>
                    <a:bodyPr wrap="none"/>
                    <a:lstStyle/>
                    <a:p>
                      <a:pPr algn="r"/>
                      <a:r>
                        <a:rPr sz="800" b="1" i="0">
                          <a:solidFill>
                            <a:srgbClr val="1F2937"/>
                          </a:solidFill>
                          <a:latin typeface="Arial"/>
                        </a:rPr>
                        <a:t>0.0000</a:t>
                      </a:r>
                      <a:endParaRPr sz="800"/>
                    </a:p>
                  </a:txBody>
                  <a:tcPr marL="36576" marR="36576" marT="0" marB="0" anchor="ctr">
                    <a:noFill/>
                  </a:tcPr>
                </a:tc>
                <a:tc>
                  <a:txBody>
                    <a:bodyPr wrap="none"/>
                    <a:lstStyle/>
                    <a:p>
                      <a:pPr algn="r"/>
                      <a:r>
                        <a:rPr sz="800" b="1" i="0">
                          <a:solidFill>
                            <a:srgbClr val="1F2937"/>
                          </a:solidFill>
                          <a:latin typeface="Arial"/>
                        </a:rPr>
                        <a:t>0.0000</a:t>
                      </a:r>
                      <a:endParaRPr sz="800"/>
                    </a:p>
                  </a:txBody>
                  <a:tcPr marL="36576" marR="36576" marT="0" marB="0" anchor="ctr">
                    <a:noFill/>
                  </a:tcPr>
                </a:tc>
                <a:tc>
                  <a:txBody>
                    <a:bodyPr wrap="none"/>
                    <a:lstStyle/>
                    <a:p>
                      <a:pPr algn="r"/>
                      <a:r>
                        <a:rPr sz="800" b="1" i="0">
                          <a:solidFill>
                            <a:srgbClr val="1F2937"/>
                          </a:solidFill>
                          <a:latin typeface="Arial"/>
                        </a:rPr>
                        <a:t>0.0005</a:t>
                      </a:r>
                      <a:endParaRPr sz="800"/>
                    </a:p>
                  </a:txBody>
                  <a:tcPr marL="36576" marR="36576" marT="0" marB="0" anchor="ctr">
                    <a:noFill/>
                  </a:tcPr>
                </a:tc>
                <a:tc>
                  <a:txBody>
                    <a:bodyPr wrap="none"/>
                    <a:lstStyle/>
                    <a:p>
                      <a:pPr algn="r"/>
                      <a:r>
                        <a:rPr sz="800" b="1" i="0">
                          <a:solidFill>
                            <a:srgbClr val="1F2937"/>
                          </a:solidFill>
                          <a:latin typeface="Arial"/>
                        </a:rPr>
                        <a:t>0.0004</a:t>
                      </a:r>
                      <a:endParaRPr sz="800"/>
                    </a:p>
                  </a:txBody>
                  <a:tcPr marL="36576" marR="36576" marT="0" marB="0" anchor="ctr">
                    <a:noFill/>
                  </a:tcPr>
                </a:tc>
              </a:tr>
              <a:tr h="214884">
                <a:tc>
                  <a:txBody>
                    <a:bodyPr wrap="none"/>
                    <a:lstStyle/>
                    <a:p>
                      <a:pPr algn="l"/>
                      <a:r>
                        <a:rPr sz="800" b="0" i="0">
                          <a:solidFill>
                            <a:srgbClr val="1F2937"/>
                          </a:solidFill>
                          <a:latin typeface="Arial"/>
                        </a:rPr>
                        <a:t>BRITS</a:t>
                      </a:r>
                      <a:endParaRPr sz="800"/>
                    </a:p>
                  </a:txBody>
                  <a:tcPr marL="36576" marR="36576" marT="0" marB="0" anchor="ctr">
                    <a:noFill/>
                  </a:tcPr>
                </a:tc>
                <a:tc>
                  <a:txBody>
                    <a:bodyPr wrap="none"/>
                    <a:lstStyle/>
                    <a:p>
                      <a:pPr algn="r"/>
                      <a:r>
                        <a:rPr sz="800" b="0" i="0">
                          <a:solidFill>
                            <a:srgbClr val="1F2937"/>
                          </a:solidFill>
                          <a:latin typeface="Arial"/>
                        </a:rPr>
                        <a:t>0.0091</a:t>
                      </a:r>
                      <a:endParaRPr sz="800"/>
                    </a:p>
                  </a:txBody>
                  <a:tcPr marL="36576" marR="36576" marT="0" marB="0" anchor="ctr">
                    <a:noFill/>
                  </a:tcPr>
                </a:tc>
                <a:tc>
                  <a:txBody>
                    <a:bodyPr wrap="none"/>
                    <a:lstStyle/>
                    <a:p>
                      <a:pPr algn="r"/>
                      <a:r>
                        <a:rPr sz="800" b="0" i="0">
                          <a:solidFill>
                            <a:srgbClr val="1F2937"/>
                          </a:solidFill>
                          <a:latin typeface="Arial"/>
                        </a:rPr>
                        <a:t>0.0158</a:t>
                      </a:r>
                      <a:endParaRPr sz="800"/>
                    </a:p>
                  </a:txBody>
                  <a:tcPr marL="36576" marR="36576" marT="0" marB="0" anchor="ctr">
                    <a:noFill/>
                  </a:tcPr>
                </a:tc>
                <a:tc>
                  <a:txBody>
                    <a:bodyPr wrap="none"/>
                    <a:lstStyle/>
                    <a:p>
                      <a:pPr algn="r"/>
                      <a:r>
                        <a:rPr sz="800" b="0" i="0">
                          <a:solidFill>
                            <a:srgbClr val="1F2937"/>
                          </a:solidFill>
                          <a:latin typeface="Arial"/>
                        </a:rPr>
                        <a:t>0.0016</a:t>
                      </a:r>
                      <a:endParaRPr sz="800"/>
                    </a:p>
                  </a:txBody>
                  <a:tcPr marL="36576" marR="36576" marT="0" marB="0" anchor="ctr">
                    <a:noFill/>
                  </a:tcPr>
                </a:tc>
                <a:tc>
                  <a:txBody>
                    <a:bodyPr wrap="none"/>
                    <a:lstStyle/>
                    <a:p>
                      <a:pPr algn="r"/>
                      <a:r>
                        <a:rPr sz="800" b="1" i="0">
                          <a:solidFill>
                            <a:srgbClr val="1F2937"/>
                          </a:solidFill>
                          <a:latin typeface="Arial"/>
                        </a:rPr>
                        <a:t>0.0000</a:t>
                      </a:r>
                      <a:endParaRPr sz="800"/>
                    </a:p>
                  </a:txBody>
                  <a:tcPr marL="36576" marR="36576" marT="0" marB="0" anchor="ctr">
                    <a:noFill/>
                  </a:tcPr>
                </a:tc>
                <a:tc>
                  <a:txBody>
                    <a:bodyPr wrap="none"/>
                    <a:lstStyle/>
                    <a:p>
                      <a:pPr algn="r"/>
                      <a:r>
                        <a:rPr sz="800" b="1" i="0">
                          <a:solidFill>
                            <a:srgbClr val="1F2937"/>
                          </a:solidFill>
                          <a:latin typeface="Arial"/>
                        </a:rPr>
                        <a:t>0.0000</a:t>
                      </a:r>
                      <a:endParaRPr sz="800"/>
                    </a:p>
                  </a:txBody>
                  <a:tcPr marL="36576" marR="36576" marT="0" marB="0" anchor="ctr">
                    <a:noFill/>
                  </a:tcPr>
                </a:tc>
                <a:tc>
                  <a:txBody>
                    <a:bodyPr wrap="none"/>
                    <a:lstStyle/>
                    <a:p>
                      <a:pPr algn="r"/>
                      <a:r>
                        <a:rPr sz="800" b="1" i="0">
                          <a:solidFill>
                            <a:srgbClr val="1F2937"/>
                          </a:solidFill>
                          <a:latin typeface="Arial"/>
                        </a:rPr>
                        <a:t>0.0005</a:t>
                      </a:r>
                      <a:endParaRPr sz="800"/>
                    </a:p>
                  </a:txBody>
                  <a:tcPr marL="36576" marR="36576" marT="0" marB="0" anchor="ctr">
                    <a:noFill/>
                  </a:tcPr>
                </a:tc>
                <a:tc>
                  <a:txBody>
                    <a:bodyPr wrap="none"/>
                    <a:lstStyle/>
                    <a:p>
                      <a:pPr algn="r"/>
                      <a:r>
                        <a:rPr sz="800" b="1" i="0">
                          <a:solidFill>
                            <a:srgbClr val="1F2937"/>
                          </a:solidFill>
                          <a:latin typeface="Arial"/>
                        </a:rPr>
                        <a:t>0.0004</a:t>
                      </a:r>
                      <a:endParaRPr sz="800"/>
                    </a:p>
                  </a:txBody>
                  <a:tcPr marL="36576" marR="36576" marT="0" marB="0" anchor="ctr">
                    <a:noFill/>
                  </a:tcPr>
                </a:tc>
              </a:tr>
              <a:tr h="214884">
                <a:tc>
                  <a:txBody>
                    <a:bodyPr wrap="none"/>
                    <a:lstStyle/>
                    <a:p>
                      <a:pPr algn="l"/>
                      <a:r>
                        <a:rPr sz="800" b="0" i="0">
                          <a:solidFill>
                            <a:srgbClr val="1F2937"/>
                          </a:solidFill>
                          <a:latin typeface="Arial"/>
                        </a:rPr>
                        <a:t>CSDI</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0.0081</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0.0151</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0.0016</a:t>
                      </a:r>
                      <a:endParaRPr sz="800"/>
                    </a:p>
                  </a:txBody>
                  <a:tcPr marL="36576" marR="36576" marT="0" marB="0" anchor="ctr">
                    <a:lnB w="6350">
                      <a:solidFill>
                        <a:srgbClr val="D0D5DD"/>
                      </a:solidFill>
                    </a:lnB>
                    <a:noFill/>
                  </a:tcPr>
                </a:tc>
                <a:tc>
                  <a:txBody>
                    <a:bodyPr wrap="none"/>
                    <a:lstStyle/>
                    <a:p>
                      <a:pPr algn="r"/>
                      <a:r>
                        <a:rPr sz="800" b="1" i="0">
                          <a:solidFill>
                            <a:srgbClr val="1F2937"/>
                          </a:solidFill>
                          <a:latin typeface="Arial"/>
                        </a:rPr>
                        <a:t>0.0000</a:t>
                      </a:r>
                      <a:endParaRPr sz="800"/>
                    </a:p>
                  </a:txBody>
                  <a:tcPr marL="36576" marR="36576" marT="0" marB="0" anchor="ctr">
                    <a:lnB w="6350">
                      <a:solidFill>
                        <a:srgbClr val="D0D5DD"/>
                      </a:solidFill>
                    </a:lnB>
                    <a:noFill/>
                  </a:tcPr>
                </a:tc>
                <a:tc>
                  <a:txBody>
                    <a:bodyPr wrap="none"/>
                    <a:lstStyle/>
                    <a:p>
                      <a:pPr algn="r"/>
                      <a:r>
                        <a:rPr sz="800" b="1" i="0">
                          <a:solidFill>
                            <a:srgbClr val="1F2937"/>
                          </a:solidFill>
                          <a:latin typeface="Arial"/>
                        </a:rPr>
                        <a:t>0.0000</a:t>
                      </a:r>
                      <a:endParaRPr sz="800"/>
                    </a:p>
                  </a:txBody>
                  <a:tcPr marL="36576" marR="36576" marT="0" marB="0" anchor="ctr">
                    <a:lnB w="6350">
                      <a:solidFill>
                        <a:srgbClr val="D0D5DD"/>
                      </a:solidFill>
                    </a:lnB>
                    <a:noFill/>
                  </a:tcPr>
                </a:tc>
                <a:tc>
                  <a:txBody>
                    <a:bodyPr wrap="none"/>
                    <a:lstStyle/>
                    <a:p>
                      <a:pPr algn="r"/>
                      <a:r>
                        <a:rPr sz="800" b="1" i="0">
                          <a:solidFill>
                            <a:srgbClr val="1F2937"/>
                          </a:solidFill>
                          <a:latin typeface="Arial"/>
                        </a:rPr>
                        <a:t>0.0005</a:t>
                      </a:r>
                      <a:endParaRPr sz="800"/>
                    </a:p>
                  </a:txBody>
                  <a:tcPr marL="36576" marR="36576" marT="0" marB="0" anchor="ctr">
                    <a:lnB w="6350">
                      <a:solidFill>
                        <a:srgbClr val="D0D5DD"/>
                      </a:solidFill>
                    </a:lnB>
                    <a:noFill/>
                  </a:tcPr>
                </a:tc>
                <a:tc>
                  <a:txBody>
                    <a:bodyPr wrap="none"/>
                    <a:lstStyle/>
                    <a:p>
                      <a:pPr algn="r"/>
                      <a:r>
                        <a:rPr sz="800" b="1" i="0">
                          <a:solidFill>
                            <a:srgbClr val="1F2937"/>
                          </a:solidFill>
                          <a:latin typeface="Arial"/>
                        </a:rPr>
                        <a:t>0.0004</a:t>
                      </a:r>
                      <a:endParaRPr sz="800"/>
                    </a:p>
                  </a:txBody>
                  <a:tcPr marL="36576" marR="36576" marT="0" marB="0" anchor="ctr">
                    <a:lnB w="6350">
                      <a:solidFill>
                        <a:srgbClr val="D0D5DD"/>
                      </a:solidFill>
                    </a:lnB>
                    <a:noFill/>
                  </a:tcPr>
                </a:tc>
              </a:tr>
              <a:tr h="214884">
                <a:tc gridSpan="8">
                  <a:txBody>
                    <a:bodyPr wrap="none"/>
                    <a:lstStyle/>
                    <a:p>
                      <a:pPr algn="l"/>
                      <a:r>
                        <a:rPr sz="800" b="1" i="0">
                          <a:solidFill>
                            <a:srgbClr val="E4572E"/>
                          </a:solidFill>
                          <a:latin typeface="Arial"/>
                        </a:rPr>
                        <a:t>Level 0.01</a:t>
                      </a: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r>
              <a:tr h="214884">
                <a:tc>
                  <a:txBody>
                    <a:bodyPr wrap="none"/>
                    <a:lstStyle/>
                    <a:p>
                      <a:pPr algn="l"/>
                      <a:r>
                        <a:rPr sz="800" b="0" i="0">
                          <a:solidFill>
                            <a:srgbClr val="1F2937"/>
                          </a:solidFill>
                          <a:latin typeface="Arial"/>
                        </a:rPr>
                        <a:t>Deletion</a:t>
                      </a:r>
                      <a:endParaRPr sz="800"/>
                    </a:p>
                  </a:txBody>
                  <a:tcPr marL="36576" marR="36576" marT="0" marB="0" anchor="ctr">
                    <a:noFill/>
                  </a:tcPr>
                </a:tc>
                <a:tc>
                  <a:txBody>
                    <a:bodyPr wrap="none"/>
                    <a:lstStyle/>
                    <a:p>
                      <a:pPr algn="r"/>
                      <a:r>
                        <a:rPr sz="800" b="0" i="0">
                          <a:solidFill>
                            <a:srgbClr val="1F2937"/>
                          </a:solidFill>
                          <a:latin typeface="Arial"/>
                        </a:rPr>
                        <a:t>--</a:t>
                      </a:r>
                      <a:endParaRPr sz="800"/>
                    </a:p>
                  </a:txBody>
                  <a:tcPr marL="36576" marR="36576" marT="0" marB="0" anchor="ctr">
                    <a:noFill/>
                  </a:tcPr>
                </a:tc>
                <a:tc>
                  <a:txBody>
                    <a:bodyPr wrap="none"/>
                    <a:lstStyle/>
                    <a:p>
                      <a:pPr algn="r"/>
                      <a:r>
                        <a:rPr sz="800" b="0" i="0">
                          <a:solidFill>
                            <a:srgbClr val="1F2937"/>
                          </a:solidFill>
                          <a:latin typeface="Arial"/>
                        </a:rPr>
                        <a:t>--</a:t>
                      </a:r>
                      <a:endParaRPr sz="800"/>
                    </a:p>
                  </a:txBody>
                  <a:tcPr marL="36576" marR="36576" marT="0" marB="0" anchor="ctr">
                    <a:noFill/>
                  </a:tcPr>
                </a:tc>
                <a:tc>
                  <a:txBody>
                    <a:bodyPr wrap="none"/>
                    <a:lstStyle/>
                    <a:p>
                      <a:pPr algn="r"/>
                      <a:r>
                        <a:rPr sz="800" b="0" i="0">
                          <a:solidFill>
                            <a:srgbClr val="1F2937"/>
                          </a:solidFill>
                          <a:latin typeface="Arial"/>
                        </a:rPr>
                        <a:t>0.0532</a:t>
                      </a:r>
                      <a:endParaRPr sz="800"/>
                    </a:p>
                  </a:txBody>
                  <a:tcPr marL="36576" marR="36576" marT="0" marB="0" anchor="ctr">
                    <a:noFill/>
                  </a:tcPr>
                </a:tc>
                <a:tc>
                  <a:txBody>
                    <a:bodyPr wrap="none"/>
                    <a:lstStyle/>
                    <a:p>
                      <a:pPr algn="r"/>
                      <a:r>
                        <a:rPr sz="800" b="0" i="0">
                          <a:solidFill>
                            <a:srgbClr val="1F2937"/>
                          </a:solidFill>
                          <a:latin typeface="Arial"/>
                        </a:rPr>
                        <a:t>0.0005</a:t>
                      </a:r>
                      <a:endParaRPr sz="800"/>
                    </a:p>
                  </a:txBody>
                  <a:tcPr marL="36576" marR="36576" marT="0" marB="0" anchor="ctr">
                    <a:noFill/>
                  </a:tcPr>
                </a:tc>
                <a:tc>
                  <a:txBody>
                    <a:bodyPr wrap="none"/>
                    <a:lstStyle/>
                    <a:p>
                      <a:pPr algn="r"/>
                      <a:r>
                        <a:rPr sz="800" b="0" i="0">
                          <a:solidFill>
                            <a:srgbClr val="1F2937"/>
                          </a:solidFill>
                          <a:latin typeface="Arial"/>
                        </a:rPr>
                        <a:t>0.0004</a:t>
                      </a:r>
                      <a:endParaRPr sz="800"/>
                    </a:p>
                  </a:txBody>
                  <a:tcPr marL="36576" marR="36576" marT="0" marB="0" anchor="ctr">
                    <a:noFill/>
                  </a:tcPr>
                </a:tc>
                <a:tc>
                  <a:txBody>
                    <a:bodyPr wrap="none"/>
                    <a:lstStyle/>
                    <a:p>
                      <a:pPr algn="r"/>
                      <a:r>
                        <a:rPr sz="800" b="0" i="0">
                          <a:solidFill>
                            <a:srgbClr val="1F2937"/>
                          </a:solidFill>
                          <a:latin typeface="Arial"/>
                        </a:rPr>
                        <a:t>0.0247</a:t>
                      </a:r>
                      <a:endParaRPr sz="800"/>
                    </a:p>
                  </a:txBody>
                  <a:tcPr marL="36576" marR="36576" marT="0" marB="0" anchor="ctr">
                    <a:noFill/>
                  </a:tcPr>
                </a:tc>
                <a:tc>
                  <a:txBody>
                    <a:bodyPr wrap="none"/>
                    <a:lstStyle/>
                    <a:p>
                      <a:pPr algn="r"/>
                      <a:r>
                        <a:rPr sz="800" b="0" i="0">
                          <a:solidFill>
                            <a:srgbClr val="1F2937"/>
                          </a:solidFill>
                          <a:latin typeface="Arial"/>
                        </a:rPr>
                        <a:t>0.0334</a:t>
                      </a:r>
                      <a:endParaRPr sz="800"/>
                    </a:p>
                  </a:txBody>
                  <a:tcPr marL="36576" marR="36576" marT="0" marB="0" anchor="ctr">
                    <a:noFill/>
                  </a:tcPr>
                </a:tc>
              </a:tr>
              <a:tr h="214884">
                <a:tc>
                  <a:txBody>
                    <a:bodyPr wrap="none"/>
                    <a:lstStyle/>
                    <a:p>
                      <a:pPr algn="l"/>
                      <a:r>
                        <a:rPr sz="800" b="0" i="0">
                          <a:solidFill>
                            <a:srgbClr val="1F2937"/>
                          </a:solidFill>
                          <a:latin typeface="Arial"/>
                        </a:rPr>
                        <a:t>Zero</a:t>
                      </a:r>
                      <a:endParaRPr sz="800"/>
                    </a:p>
                  </a:txBody>
                  <a:tcPr marL="36576" marR="36576" marT="0" marB="0" anchor="ctr">
                    <a:noFill/>
                  </a:tcPr>
                </a:tc>
                <a:tc>
                  <a:txBody>
                    <a:bodyPr wrap="none"/>
                    <a:lstStyle/>
                    <a:p>
                      <a:pPr algn="r"/>
                      <a:r>
                        <a:rPr sz="800" b="0" i="0">
                          <a:solidFill>
                            <a:srgbClr val="1F2937"/>
                          </a:solidFill>
                          <a:latin typeface="Arial"/>
                        </a:rPr>
                        <a:t>0.0107</a:t>
                      </a:r>
                      <a:endParaRPr sz="800"/>
                    </a:p>
                  </a:txBody>
                  <a:tcPr marL="36576" marR="36576" marT="0" marB="0" anchor="ctr">
                    <a:noFill/>
                  </a:tcPr>
                </a:tc>
                <a:tc>
                  <a:txBody>
                    <a:bodyPr wrap="none"/>
                    <a:lstStyle/>
                    <a:p>
                      <a:pPr algn="r"/>
                      <a:r>
                        <a:rPr sz="800" b="0" i="0">
                          <a:solidFill>
                            <a:srgbClr val="1F2937"/>
                          </a:solidFill>
                          <a:latin typeface="Arial"/>
                        </a:rPr>
                        <a:t>0.0161</a:t>
                      </a:r>
                      <a:endParaRPr sz="800"/>
                    </a:p>
                  </a:txBody>
                  <a:tcPr marL="36576" marR="36576" marT="0" marB="0" anchor="ctr">
                    <a:noFill/>
                  </a:tcPr>
                </a:tc>
                <a:tc>
                  <a:txBody>
                    <a:bodyPr wrap="none"/>
                    <a:lstStyle/>
                    <a:p>
                      <a:pPr algn="r"/>
                      <a:r>
                        <a:rPr sz="800" b="0" i="0">
                          <a:solidFill>
                            <a:srgbClr val="1F2937"/>
                          </a:solidFill>
                          <a:latin typeface="Arial"/>
                        </a:rPr>
                        <a:t>0.0205</a:t>
                      </a:r>
                      <a:endParaRPr sz="800"/>
                    </a:p>
                  </a:txBody>
                  <a:tcPr marL="36576" marR="36576" marT="0" marB="0" anchor="ctr">
                    <a:noFill/>
                  </a:tcPr>
                </a:tc>
                <a:tc>
                  <a:txBody>
                    <a:bodyPr wrap="none"/>
                    <a:lstStyle/>
                    <a:p>
                      <a:pPr algn="r"/>
                      <a:r>
                        <a:rPr sz="800" b="0" i="0">
                          <a:solidFill>
                            <a:srgbClr val="1F2937"/>
                          </a:solidFill>
                          <a:latin typeface="Arial"/>
                        </a:rPr>
                        <a:t>0.0001</a:t>
                      </a:r>
                      <a:endParaRPr sz="800"/>
                    </a:p>
                  </a:txBody>
                  <a:tcPr marL="36576" marR="36576" marT="0" marB="0" anchor="ctr">
                    <a:noFill/>
                  </a:tcPr>
                </a:tc>
                <a:tc>
                  <a:txBody>
                    <a:bodyPr wrap="none"/>
                    <a:lstStyle/>
                    <a:p>
                      <a:pPr algn="r"/>
                      <a:r>
                        <a:rPr sz="800" b="0" i="0">
                          <a:solidFill>
                            <a:srgbClr val="1F2937"/>
                          </a:solidFill>
                          <a:latin typeface="Arial"/>
                        </a:rPr>
                        <a:t>0.0001</a:t>
                      </a:r>
                      <a:endParaRPr sz="800"/>
                    </a:p>
                  </a:txBody>
                  <a:tcPr marL="36576" marR="36576" marT="0" marB="0" anchor="ctr">
                    <a:noFill/>
                  </a:tcPr>
                </a:tc>
                <a:tc>
                  <a:txBody>
                    <a:bodyPr wrap="none"/>
                    <a:lstStyle/>
                    <a:p>
                      <a:pPr algn="r"/>
                      <a:r>
                        <a:rPr sz="800" b="0" i="0">
                          <a:solidFill>
                            <a:srgbClr val="1F2937"/>
                          </a:solidFill>
                          <a:latin typeface="Arial"/>
                        </a:rPr>
                        <a:t>0.0035</a:t>
                      </a:r>
                      <a:endParaRPr sz="800"/>
                    </a:p>
                  </a:txBody>
                  <a:tcPr marL="36576" marR="36576" marT="0" marB="0" anchor="ctr">
                    <a:noFill/>
                  </a:tcPr>
                </a:tc>
                <a:tc>
                  <a:txBody>
                    <a:bodyPr wrap="none"/>
                    <a:lstStyle/>
                    <a:p>
                      <a:pPr algn="r"/>
                      <a:r>
                        <a:rPr sz="800" b="0" i="0">
                          <a:solidFill>
                            <a:srgbClr val="1F2937"/>
                          </a:solidFill>
                          <a:latin typeface="Arial"/>
                        </a:rPr>
                        <a:t>0.0027</a:t>
                      </a:r>
                      <a:endParaRPr sz="800"/>
                    </a:p>
                  </a:txBody>
                  <a:tcPr marL="36576" marR="36576" marT="0" marB="0" anchor="ctr">
                    <a:noFill/>
                  </a:tcPr>
                </a:tc>
              </a:tr>
              <a:tr h="214884">
                <a:tc>
                  <a:txBody>
                    <a:bodyPr wrap="none"/>
                    <a:lstStyle/>
                    <a:p>
                      <a:pPr algn="l"/>
                      <a:r>
                        <a:rPr sz="800" b="0" i="0">
                          <a:solidFill>
                            <a:srgbClr val="1F2937"/>
                          </a:solidFill>
                          <a:latin typeface="Arial"/>
                        </a:rPr>
                        <a:t>KNN</a:t>
                      </a:r>
                      <a:endParaRPr sz="800"/>
                    </a:p>
                  </a:txBody>
                  <a:tcPr marL="36576" marR="36576" marT="0" marB="0" anchor="ctr">
                    <a:noFill/>
                  </a:tcPr>
                </a:tc>
                <a:tc>
                  <a:txBody>
                    <a:bodyPr wrap="none"/>
                    <a:lstStyle/>
                    <a:p>
                      <a:pPr algn="r"/>
                      <a:r>
                        <a:rPr sz="800" b="0" i="0">
                          <a:solidFill>
                            <a:srgbClr val="1F2937"/>
                          </a:solidFill>
                          <a:latin typeface="Arial"/>
                        </a:rPr>
                        <a:t>0.0081</a:t>
                      </a:r>
                      <a:endParaRPr sz="800"/>
                    </a:p>
                  </a:txBody>
                  <a:tcPr marL="36576" marR="36576" marT="0" marB="0" anchor="ctr">
                    <a:noFill/>
                  </a:tcPr>
                </a:tc>
                <a:tc>
                  <a:txBody>
                    <a:bodyPr wrap="none"/>
                    <a:lstStyle/>
                    <a:p>
                      <a:pPr algn="r"/>
                      <a:r>
                        <a:rPr sz="800" b="0" i="0">
                          <a:solidFill>
                            <a:srgbClr val="1F2937"/>
                          </a:solidFill>
                          <a:latin typeface="Arial"/>
                        </a:rPr>
                        <a:t>0.0123</a:t>
                      </a:r>
                      <a:endParaRPr sz="800"/>
                    </a:p>
                  </a:txBody>
                  <a:tcPr marL="36576" marR="36576" marT="0" marB="0" anchor="ctr">
                    <a:noFill/>
                  </a:tcPr>
                </a:tc>
                <a:tc>
                  <a:txBody>
                    <a:bodyPr wrap="none"/>
                    <a:lstStyle/>
                    <a:p>
                      <a:pPr algn="r"/>
                      <a:r>
                        <a:rPr sz="800" b="0" i="0">
                          <a:solidFill>
                            <a:srgbClr val="1F2937"/>
                          </a:solidFill>
                          <a:latin typeface="Arial"/>
                        </a:rPr>
                        <a:t>0.0069</a:t>
                      </a:r>
                      <a:endParaRPr sz="800"/>
                    </a:p>
                  </a:txBody>
                  <a:tcPr marL="36576" marR="36576" marT="0" marB="0" anchor="ctr">
                    <a:noFill/>
                  </a:tcPr>
                </a:tc>
                <a:tc>
                  <a:txBody>
                    <a:bodyPr wrap="none"/>
                    <a:lstStyle/>
                    <a:p>
                      <a:pPr algn="r"/>
                      <a:r>
                        <a:rPr sz="800" b="0" i="0">
                          <a:solidFill>
                            <a:srgbClr val="1F2937"/>
                          </a:solidFill>
                          <a:latin typeface="Arial"/>
                        </a:rPr>
                        <a:t>0.0001</a:t>
                      </a:r>
                      <a:endParaRPr sz="800"/>
                    </a:p>
                  </a:txBody>
                  <a:tcPr marL="36576" marR="36576" marT="0" marB="0" anchor="ctr">
                    <a:noFill/>
                  </a:tcPr>
                </a:tc>
                <a:tc>
                  <a:txBody>
                    <a:bodyPr wrap="none"/>
                    <a:lstStyle/>
                    <a:p>
                      <a:pPr algn="r"/>
                      <a:r>
                        <a:rPr sz="800" b="1" i="0">
                          <a:solidFill>
                            <a:srgbClr val="1F2937"/>
                          </a:solidFill>
                          <a:latin typeface="Arial"/>
                        </a:rPr>
                        <a:t>0.0000</a:t>
                      </a:r>
                      <a:endParaRPr sz="800"/>
                    </a:p>
                  </a:txBody>
                  <a:tcPr marL="36576" marR="36576" marT="0" marB="0" anchor="ctr">
                    <a:noFill/>
                  </a:tcPr>
                </a:tc>
                <a:tc>
                  <a:txBody>
                    <a:bodyPr wrap="none"/>
                    <a:lstStyle/>
                    <a:p>
                      <a:pPr algn="r"/>
                      <a:r>
                        <a:rPr sz="800" b="0" i="0">
                          <a:solidFill>
                            <a:srgbClr val="1F2937"/>
                          </a:solidFill>
                          <a:latin typeface="Arial"/>
                        </a:rPr>
                        <a:t>0.0019</a:t>
                      </a:r>
                      <a:endParaRPr sz="800"/>
                    </a:p>
                  </a:txBody>
                  <a:tcPr marL="36576" marR="36576" marT="0" marB="0" anchor="ctr">
                    <a:noFill/>
                  </a:tcPr>
                </a:tc>
                <a:tc>
                  <a:txBody>
                    <a:bodyPr wrap="none"/>
                    <a:lstStyle/>
                    <a:p>
                      <a:pPr algn="r"/>
                      <a:r>
                        <a:rPr sz="800" b="0" i="0">
                          <a:solidFill>
                            <a:srgbClr val="1F2937"/>
                          </a:solidFill>
                          <a:latin typeface="Arial"/>
                        </a:rPr>
                        <a:t>0.0017</a:t>
                      </a:r>
                      <a:endParaRPr sz="800"/>
                    </a:p>
                  </a:txBody>
                  <a:tcPr marL="36576" marR="36576" marT="0" marB="0" anchor="ctr">
                    <a:noFill/>
                  </a:tcPr>
                </a:tc>
              </a:tr>
              <a:tr h="214884">
                <a:tc>
                  <a:txBody>
                    <a:bodyPr wrap="none"/>
                    <a:lstStyle/>
                    <a:p>
                      <a:pPr algn="l"/>
                      <a:r>
                        <a:rPr sz="800" b="0" i="0">
                          <a:solidFill>
                            <a:srgbClr val="1F2937"/>
                          </a:solidFill>
                          <a:latin typeface="Arial"/>
                        </a:rPr>
                        <a:t>LowRank</a:t>
                      </a:r>
                      <a:endParaRPr sz="800"/>
                    </a:p>
                  </a:txBody>
                  <a:tcPr marL="36576" marR="36576" marT="0" marB="0" anchor="ctr">
                    <a:noFill/>
                  </a:tcPr>
                </a:tc>
                <a:tc>
                  <a:txBody>
                    <a:bodyPr wrap="none"/>
                    <a:lstStyle/>
                    <a:p>
                      <a:pPr algn="r"/>
                      <a:r>
                        <a:rPr sz="800" b="0" i="0">
                          <a:solidFill>
                            <a:srgbClr val="1F2937"/>
                          </a:solidFill>
                          <a:latin typeface="Arial"/>
                        </a:rPr>
                        <a:t>0.0077</a:t>
                      </a:r>
                      <a:endParaRPr sz="800"/>
                    </a:p>
                  </a:txBody>
                  <a:tcPr marL="36576" marR="36576" marT="0" marB="0" anchor="ctr">
                    <a:noFill/>
                  </a:tcPr>
                </a:tc>
                <a:tc>
                  <a:txBody>
                    <a:bodyPr wrap="none"/>
                    <a:lstStyle/>
                    <a:p>
                      <a:pPr algn="r"/>
                      <a:r>
                        <a:rPr sz="800" b="0" i="0">
                          <a:solidFill>
                            <a:srgbClr val="1F2937"/>
                          </a:solidFill>
                          <a:latin typeface="Arial"/>
                        </a:rPr>
                        <a:t>0.0117</a:t>
                      </a:r>
                      <a:endParaRPr sz="800"/>
                    </a:p>
                  </a:txBody>
                  <a:tcPr marL="36576" marR="36576" marT="0" marB="0" anchor="ctr">
                    <a:noFill/>
                  </a:tcPr>
                </a:tc>
                <a:tc>
                  <a:txBody>
                    <a:bodyPr wrap="none"/>
                    <a:lstStyle/>
                    <a:p>
                      <a:pPr algn="r"/>
                      <a:r>
                        <a:rPr sz="800" b="0" i="0">
                          <a:solidFill>
                            <a:srgbClr val="1F2937"/>
                          </a:solidFill>
                          <a:latin typeface="Arial"/>
                        </a:rPr>
                        <a:t>0.0054</a:t>
                      </a:r>
                      <a:endParaRPr sz="800"/>
                    </a:p>
                  </a:txBody>
                  <a:tcPr marL="36576" marR="36576" marT="0" marB="0" anchor="ctr">
                    <a:noFill/>
                  </a:tcPr>
                </a:tc>
                <a:tc>
                  <a:txBody>
                    <a:bodyPr wrap="none"/>
                    <a:lstStyle/>
                    <a:p>
                      <a:pPr algn="r"/>
                      <a:r>
                        <a:rPr sz="800" b="1" i="0">
                          <a:solidFill>
                            <a:srgbClr val="1F2937"/>
                          </a:solidFill>
                          <a:latin typeface="Arial"/>
                        </a:rPr>
                        <a:t>0.0000</a:t>
                      </a:r>
                      <a:endParaRPr sz="800"/>
                    </a:p>
                  </a:txBody>
                  <a:tcPr marL="36576" marR="36576" marT="0" marB="0" anchor="ctr">
                    <a:noFill/>
                  </a:tcPr>
                </a:tc>
                <a:tc>
                  <a:txBody>
                    <a:bodyPr wrap="none"/>
                    <a:lstStyle/>
                    <a:p>
                      <a:pPr algn="r"/>
                      <a:r>
                        <a:rPr sz="800" b="1" i="0">
                          <a:solidFill>
                            <a:srgbClr val="1F2937"/>
                          </a:solidFill>
                          <a:latin typeface="Arial"/>
                        </a:rPr>
                        <a:t>0.0000</a:t>
                      </a:r>
                      <a:endParaRPr sz="800"/>
                    </a:p>
                  </a:txBody>
                  <a:tcPr marL="36576" marR="36576" marT="0" marB="0" anchor="ctr">
                    <a:noFill/>
                  </a:tcPr>
                </a:tc>
                <a:tc>
                  <a:txBody>
                    <a:bodyPr wrap="none"/>
                    <a:lstStyle/>
                    <a:p>
                      <a:pPr algn="r"/>
                      <a:r>
                        <a:rPr sz="800" b="0" i="0">
                          <a:solidFill>
                            <a:srgbClr val="1F2937"/>
                          </a:solidFill>
                          <a:latin typeface="Arial"/>
                        </a:rPr>
                        <a:t>0.0016</a:t>
                      </a:r>
                      <a:endParaRPr sz="800"/>
                    </a:p>
                  </a:txBody>
                  <a:tcPr marL="36576" marR="36576" marT="0" marB="0" anchor="ctr">
                    <a:noFill/>
                  </a:tcPr>
                </a:tc>
                <a:tc>
                  <a:txBody>
                    <a:bodyPr wrap="none"/>
                    <a:lstStyle/>
                    <a:p>
                      <a:pPr algn="r"/>
                      <a:r>
                        <a:rPr sz="800" b="0" i="0">
                          <a:solidFill>
                            <a:srgbClr val="1F2937"/>
                          </a:solidFill>
                          <a:latin typeface="Arial"/>
                        </a:rPr>
                        <a:t>0.0015</a:t>
                      </a:r>
                      <a:endParaRPr sz="800"/>
                    </a:p>
                  </a:txBody>
                  <a:tcPr marL="36576" marR="36576" marT="0" marB="0" anchor="ctr">
                    <a:noFill/>
                  </a:tcPr>
                </a:tc>
              </a:tr>
              <a:tr h="214884">
                <a:tc>
                  <a:txBody>
                    <a:bodyPr wrap="none"/>
                    <a:lstStyle/>
                    <a:p>
                      <a:pPr algn="l"/>
                      <a:r>
                        <a:rPr sz="800" b="0" i="0">
                          <a:solidFill>
                            <a:srgbClr val="1F2937"/>
                          </a:solidFill>
                          <a:latin typeface="Arial"/>
                        </a:rPr>
                        <a:t>EM</a:t>
                      </a:r>
                      <a:endParaRPr sz="800"/>
                    </a:p>
                  </a:txBody>
                  <a:tcPr marL="36576" marR="36576" marT="0" marB="0" anchor="ctr">
                    <a:noFill/>
                  </a:tcPr>
                </a:tc>
                <a:tc>
                  <a:txBody>
                    <a:bodyPr wrap="none"/>
                    <a:lstStyle/>
                    <a:p>
                      <a:pPr algn="r"/>
                      <a:r>
                        <a:rPr sz="800" b="0" i="0">
                          <a:solidFill>
                            <a:srgbClr val="1F2937"/>
                          </a:solidFill>
                          <a:latin typeface="Arial"/>
                        </a:rPr>
                        <a:t>0.0071</a:t>
                      </a:r>
                      <a:endParaRPr sz="800"/>
                    </a:p>
                  </a:txBody>
                  <a:tcPr marL="36576" marR="36576" marT="0" marB="0" anchor="ctr">
                    <a:noFill/>
                  </a:tcPr>
                </a:tc>
                <a:tc>
                  <a:txBody>
                    <a:bodyPr wrap="none"/>
                    <a:lstStyle/>
                    <a:p>
                      <a:pPr algn="r"/>
                      <a:r>
                        <a:rPr sz="800" b="0" i="0">
                          <a:solidFill>
                            <a:srgbClr val="1F2937"/>
                          </a:solidFill>
                          <a:latin typeface="Arial"/>
                        </a:rPr>
                        <a:t>0.0109</a:t>
                      </a:r>
                      <a:endParaRPr sz="800"/>
                    </a:p>
                  </a:txBody>
                  <a:tcPr marL="36576" marR="36576" marT="0" marB="0" anchor="ctr">
                    <a:noFill/>
                  </a:tcPr>
                </a:tc>
                <a:tc>
                  <a:txBody>
                    <a:bodyPr wrap="none"/>
                    <a:lstStyle/>
                    <a:p>
                      <a:pPr algn="r"/>
                      <a:r>
                        <a:rPr sz="800" b="0" i="0">
                          <a:solidFill>
                            <a:srgbClr val="1F2937"/>
                          </a:solidFill>
                          <a:latin typeface="Arial"/>
                        </a:rPr>
                        <a:t>0.0051</a:t>
                      </a:r>
                      <a:endParaRPr sz="800"/>
                    </a:p>
                  </a:txBody>
                  <a:tcPr marL="36576" marR="36576" marT="0" marB="0" anchor="ctr">
                    <a:noFill/>
                  </a:tcPr>
                </a:tc>
                <a:tc>
                  <a:txBody>
                    <a:bodyPr wrap="none"/>
                    <a:lstStyle/>
                    <a:p>
                      <a:pPr algn="r"/>
                      <a:r>
                        <a:rPr sz="800" b="1" i="0">
                          <a:solidFill>
                            <a:srgbClr val="1F2937"/>
                          </a:solidFill>
                          <a:latin typeface="Arial"/>
                        </a:rPr>
                        <a:t>0.0000</a:t>
                      </a:r>
                      <a:endParaRPr sz="800"/>
                    </a:p>
                  </a:txBody>
                  <a:tcPr marL="36576" marR="36576" marT="0" marB="0" anchor="ctr">
                    <a:noFill/>
                  </a:tcPr>
                </a:tc>
                <a:tc>
                  <a:txBody>
                    <a:bodyPr wrap="none"/>
                    <a:lstStyle/>
                    <a:p>
                      <a:pPr algn="r"/>
                      <a:r>
                        <a:rPr sz="800" b="1" i="0">
                          <a:solidFill>
                            <a:srgbClr val="1F2937"/>
                          </a:solidFill>
                          <a:latin typeface="Arial"/>
                        </a:rPr>
                        <a:t>0.0000</a:t>
                      </a:r>
                      <a:endParaRPr sz="800"/>
                    </a:p>
                  </a:txBody>
                  <a:tcPr marL="36576" marR="36576" marT="0" marB="0" anchor="ctr">
                    <a:noFill/>
                  </a:tcPr>
                </a:tc>
                <a:tc>
                  <a:txBody>
                    <a:bodyPr wrap="none"/>
                    <a:lstStyle/>
                    <a:p>
                      <a:pPr algn="r"/>
                      <a:r>
                        <a:rPr sz="800" b="1" i="0">
                          <a:solidFill>
                            <a:srgbClr val="1F2937"/>
                          </a:solidFill>
                          <a:latin typeface="Arial"/>
                        </a:rPr>
                        <a:t>0.0015</a:t>
                      </a:r>
                      <a:endParaRPr sz="800"/>
                    </a:p>
                  </a:txBody>
                  <a:tcPr marL="36576" marR="36576" marT="0" marB="0" anchor="ctr">
                    <a:noFill/>
                  </a:tcPr>
                </a:tc>
                <a:tc>
                  <a:txBody>
                    <a:bodyPr wrap="none"/>
                    <a:lstStyle/>
                    <a:p>
                      <a:pPr algn="r"/>
                      <a:r>
                        <a:rPr sz="800" b="1" i="0">
                          <a:solidFill>
                            <a:srgbClr val="1F2937"/>
                          </a:solidFill>
                          <a:latin typeface="Arial"/>
                        </a:rPr>
                        <a:t>0.0014</a:t>
                      </a:r>
                      <a:endParaRPr sz="800"/>
                    </a:p>
                  </a:txBody>
                  <a:tcPr marL="36576" marR="36576" marT="0" marB="0" anchor="ctr">
                    <a:noFill/>
                  </a:tcPr>
                </a:tc>
              </a:tr>
              <a:tr h="214884">
                <a:tc>
                  <a:txBody>
                    <a:bodyPr wrap="none"/>
                    <a:lstStyle/>
                    <a:p>
                      <a:pPr algn="l"/>
                      <a:r>
                        <a:rPr sz="800" b="0" i="0">
                          <a:solidFill>
                            <a:srgbClr val="1F2937"/>
                          </a:solidFill>
                          <a:latin typeface="Arial"/>
                        </a:rPr>
                        <a:t>BRITS</a:t>
                      </a:r>
                      <a:endParaRPr sz="800"/>
                    </a:p>
                  </a:txBody>
                  <a:tcPr marL="36576" marR="36576" marT="0" marB="0" anchor="ctr">
                    <a:noFill/>
                  </a:tcPr>
                </a:tc>
                <a:tc>
                  <a:txBody>
                    <a:bodyPr wrap="none"/>
                    <a:lstStyle/>
                    <a:p>
                      <a:pPr algn="r"/>
                      <a:r>
                        <a:rPr sz="800" b="0" i="0">
                          <a:solidFill>
                            <a:srgbClr val="1F2937"/>
                          </a:solidFill>
                          <a:latin typeface="Arial"/>
                        </a:rPr>
                        <a:t>0.0076</a:t>
                      </a:r>
                      <a:endParaRPr sz="800"/>
                    </a:p>
                  </a:txBody>
                  <a:tcPr marL="36576" marR="36576" marT="0" marB="0" anchor="ctr">
                    <a:noFill/>
                  </a:tcPr>
                </a:tc>
                <a:tc>
                  <a:txBody>
                    <a:bodyPr wrap="none"/>
                    <a:lstStyle/>
                    <a:p>
                      <a:pPr algn="r"/>
                      <a:r>
                        <a:rPr sz="800" b="0" i="0">
                          <a:solidFill>
                            <a:srgbClr val="1F2937"/>
                          </a:solidFill>
                          <a:latin typeface="Arial"/>
                        </a:rPr>
                        <a:t>0.0116</a:t>
                      </a:r>
                      <a:endParaRPr sz="800"/>
                    </a:p>
                  </a:txBody>
                  <a:tcPr marL="36576" marR="36576" marT="0" marB="0" anchor="ctr">
                    <a:noFill/>
                  </a:tcPr>
                </a:tc>
                <a:tc>
                  <a:txBody>
                    <a:bodyPr wrap="none"/>
                    <a:lstStyle/>
                    <a:p>
                      <a:pPr algn="r"/>
                      <a:r>
                        <a:rPr sz="800" b="0" i="0">
                          <a:solidFill>
                            <a:srgbClr val="1F2937"/>
                          </a:solidFill>
                          <a:latin typeface="Arial"/>
                        </a:rPr>
                        <a:t>0.0064</a:t>
                      </a:r>
                      <a:endParaRPr sz="800"/>
                    </a:p>
                  </a:txBody>
                  <a:tcPr marL="36576" marR="36576" marT="0" marB="0" anchor="ctr">
                    <a:noFill/>
                  </a:tcPr>
                </a:tc>
                <a:tc>
                  <a:txBody>
                    <a:bodyPr wrap="none"/>
                    <a:lstStyle/>
                    <a:p>
                      <a:pPr algn="r"/>
                      <a:r>
                        <a:rPr sz="800" b="0" i="0">
                          <a:solidFill>
                            <a:srgbClr val="1F2937"/>
                          </a:solidFill>
                          <a:latin typeface="Arial"/>
                        </a:rPr>
                        <a:t>0.0001</a:t>
                      </a:r>
                      <a:endParaRPr sz="800"/>
                    </a:p>
                  </a:txBody>
                  <a:tcPr marL="36576" marR="36576" marT="0" marB="0" anchor="ctr">
                    <a:noFill/>
                  </a:tcPr>
                </a:tc>
                <a:tc>
                  <a:txBody>
                    <a:bodyPr wrap="none"/>
                    <a:lstStyle/>
                    <a:p>
                      <a:pPr algn="r"/>
                      <a:r>
                        <a:rPr sz="800" b="1" i="0">
                          <a:solidFill>
                            <a:srgbClr val="1F2937"/>
                          </a:solidFill>
                          <a:latin typeface="Arial"/>
                        </a:rPr>
                        <a:t>0.0000</a:t>
                      </a:r>
                      <a:endParaRPr sz="800"/>
                    </a:p>
                  </a:txBody>
                  <a:tcPr marL="36576" marR="36576" marT="0" marB="0" anchor="ctr">
                    <a:noFill/>
                  </a:tcPr>
                </a:tc>
                <a:tc>
                  <a:txBody>
                    <a:bodyPr wrap="none"/>
                    <a:lstStyle/>
                    <a:p>
                      <a:pPr algn="r"/>
                      <a:r>
                        <a:rPr sz="800" b="0" i="0">
                          <a:solidFill>
                            <a:srgbClr val="1F2937"/>
                          </a:solidFill>
                          <a:latin typeface="Arial"/>
                        </a:rPr>
                        <a:t>0.0017</a:t>
                      </a:r>
                      <a:endParaRPr sz="800"/>
                    </a:p>
                  </a:txBody>
                  <a:tcPr marL="36576" marR="36576" marT="0" marB="0" anchor="ctr">
                    <a:noFill/>
                  </a:tcPr>
                </a:tc>
                <a:tc>
                  <a:txBody>
                    <a:bodyPr wrap="none"/>
                    <a:lstStyle/>
                    <a:p>
                      <a:pPr algn="r"/>
                      <a:r>
                        <a:rPr sz="800" b="0" i="0">
                          <a:solidFill>
                            <a:srgbClr val="1F2937"/>
                          </a:solidFill>
                          <a:latin typeface="Arial"/>
                        </a:rPr>
                        <a:t>0.0016</a:t>
                      </a:r>
                      <a:endParaRPr sz="800"/>
                    </a:p>
                  </a:txBody>
                  <a:tcPr marL="36576" marR="36576" marT="0" marB="0" anchor="ctr">
                    <a:noFill/>
                  </a:tcPr>
                </a:tc>
              </a:tr>
              <a:tr h="214884">
                <a:tc>
                  <a:txBody>
                    <a:bodyPr wrap="none"/>
                    <a:lstStyle/>
                    <a:p>
                      <a:pPr algn="l"/>
                      <a:r>
                        <a:rPr sz="800" b="0" i="0">
                          <a:solidFill>
                            <a:srgbClr val="1F2937"/>
                          </a:solidFill>
                          <a:latin typeface="Arial"/>
                        </a:rPr>
                        <a:t>CSDI</a:t>
                      </a:r>
                      <a:endParaRPr sz="800"/>
                    </a:p>
                  </a:txBody>
                  <a:tcPr marL="36576" marR="36576" marT="0" marB="0" anchor="ctr">
                    <a:lnB w="6350">
                      <a:solidFill>
                        <a:srgbClr val="D0D5DD"/>
                      </a:solidFill>
                    </a:lnB>
                    <a:noFill/>
                  </a:tcPr>
                </a:tc>
                <a:tc>
                  <a:txBody>
                    <a:bodyPr wrap="none"/>
                    <a:lstStyle/>
                    <a:p>
                      <a:pPr algn="r"/>
                      <a:r>
                        <a:rPr sz="800" b="1" i="0">
                          <a:solidFill>
                            <a:srgbClr val="1F2937"/>
                          </a:solidFill>
                          <a:latin typeface="Arial"/>
                        </a:rPr>
                        <a:t>0.0069</a:t>
                      </a:r>
                      <a:endParaRPr sz="800"/>
                    </a:p>
                  </a:txBody>
                  <a:tcPr marL="36576" marR="36576" marT="0" marB="0" anchor="ctr">
                    <a:lnB w="6350">
                      <a:solidFill>
                        <a:srgbClr val="D0D5DD"/>
                      </a:solidFill>
                    </a:lnB>
                    <a:noFill/>
                  </a:tcPr>
                </a:tc>
                <a:tc>
                  <a:txBody>
                    <a:bodyPr wrap="none"/>
                    <a:lstStyle/>
                    <a:p>
                      <a:pPr algn="r"/>
                      <a:r>
                        <a:rPr sz="800" b="1" i="0">
                          <a:solidFill>
                            <a:srgbClr val="1F2937"/>
                          </a:solidFill>
                          <a:latin typeface="Arial"/>
                        </a:rPr>
                        <a:t>0.0107</a:t>
                      </a:r>
                      <a:endParaRPr sz="800"/>
                    </a:p>
                  </a:txBody>
                  <a:tcPr marL="36576" marR="36576" marT="0" marB="0" anchor="ctr">
                    <a:lnB w="6350">
                      <a:solidFill>
                        <a:srgbClr val="D0D5DD"/>
                      </a:solidFill>
                    </a:lnB>
                    <a:noFill/>
                  </a:tcPr>
                </a:tc>
                <a:tc>
                  <a:txBody>
                    <a:bodyPr wrap="none"/>
                    <a:lstStyle/>
                    <a:p>
                      <a:pPr algn="r"/>
                      <a:r>
                        <a:rPr sz="800" b="1" i="0">
                          <a:solidFill>
                            <a:srgbClr val="1F2937"/>
                          </a:solidFill>
                          <a:latin typeface="Arial"/>
                        </a:rPr>
                        <a:t>0.0050</a:t>
                      </a:r>
                      <a:endParaRPr sz="800"/>
                    </a:p>
                  </a:txBody>
                  <a:tcPr marL="36576" marR="36576" marT="0" marB="0" anchor="ctr">
                    <a:lnB w="6350">
                      <a:solidFill>
                        <a:srgbClr val="D0D5DD"/>
                      </a:solidFill>
                    </a:lnB>
                    <a:noFill/>
                  </a:tcPr>
                </a:tc>
                <a:tc>
                  <a:txBody>
                    <a:bodyPr wrap="none"/>
                    <a:lstStyle/>
                    <a:p>
                      <a:pPr algn="r"/>
                      <a:r>
                        <a:rPr sz="800" b="1" i="0">
                          <a:solidFill>
                            <a:srgbClr val="1F2937"/>
                          </a:solidFill>
                          <a:latin typeface="Arial"/>
                        </a:rPr>
                        <a:t>0.0000</a:t>
                      </a:r>
                      <a:endParaRPr sz="800"/>
                    </a:p>
                  </a:txBody>
                  <a:tcPr marL="36576" marR="36576" marT="0" marB="0" anchor="ctr">
                    <a:lnB w="6350">
                      <a:solidFill>
                        <a:srgbClr val="D0D5DD"/>
                      </a:solidFill>
                    </a:lnB>
                    <a:noFill/>
                  </a:tcPr>
                </a:tc>
                <a:tc>
                  <a:txBody>
                    <a:bodyPr wrap="none"/>
                    <a:lstStyle/>
                    <a:p>
                      <a:pPr algn="r"/>
                      <a:r>
                        <a:rPr sz="800" b="1" i="0">
                          <a:solidFill>
                            <a:srgbClr val="1F2937"/>
                          </a:solidFill>
                          <a:latin typeface="Arial"/>
                        </a:rPr>
                        <a:t>0.0000</a:t>
                      </a:r>
                      <a:endParaRPr sz="800"/>
                    </a:p>
                  </a:txBody>
                  <a:tcPr marL="36576" marR="36576" marT="0" marB="0" anchor="ctr">
                    <a:lnB w="6350">
                      <a:solidFill>
                        <a:srgbClr val="D0D5DD"/>
                      </a:solidFill>
                    </a:lnB>
                    <a:noFill/>
                  </a:tcPr>
                </a:tc>
                <a:tc>
                  <a:txBody>
                    <a:bodyPr wrap="none"/>
                    <a:lstStyle/>
                    <a:p>
                      <a:pPr algn="r"/>
                      <a:r>
                        <a:rPr sz="800" b="1" i="0">
                          <a:solidFill>
                            <a:srgbClr val="1F2937"/>
                          </a:solidFill>
                          <a:latin typeface="Arial"/>
                        </a:rPr>
                        <a:t>0.0015</a:t>
                      </a:r>
                      <a:endParaRPr sz="800"/>
                    </a:p>
                  </a:txBody>
                  <a:tcPr marL="36576" marR="36576" marT="0" marB="0" anchor="ctr">
                    <a:lnB w="6350">
                      <a:solidFill>
                        <a:srgbClr val="D0D5DD"/>
                      </a:solidFill>
                    </a:lnB>
                    <a:noFill/>
                  </a:tcPr>
                </a:tc>
                <a:tc>
                  <a:txBody>
                    <a:bodyPr wrap="none"/>
                    <a:lstStyle/>
                    <a:p>
                      <a:pPr algn="r"/>
                      <a:r>
                        <a:rPr sz="800" b="1" i="0">
                          <a:solidFill>
                            <a:srgbClr val="1F2937"/>
                          </a:solidFill>
                          <a:latin typeface="Arial"/>
                        </a:rPr>
                        <a:t>0.0014</a:t>
                      </a:r>
                      <a:endParaRPr sz="800"/>
                    </a:p>
                  </a:txBody>
                  <a:tcPr marL="36576" marR="36576" marT="0" marB="0" anchor="ctr">
                    <a:lnB w="6350">
                      <a:solidFill>
                        <a:srgbClr val="D0D5DD"/>
                      </a:solidFill>
                    </a:lnB>
                    <a:noFill/>
                  </a:tcPr>
                </a:tc>
              </a:tr>
              <a:tr h="214884">
                <a:tc gridSpan="8">
                  <a:txBody>
                    <a:bodyPr wrap="none"/>
                    <a:lstStyle/>
                    <a:p>
                      <a:pPr algn="l"/>
                      <a:r>
                        <a:rPr sz="800" b="1" i="0">
                          <a:solidFill>
                            <a:srgbClr val="E4572E"/>
                          </a:solidFill>
                          <a:latin typeface="Arial"/>
                        </a:rPr>
                        <a:t>Level 0.05</a:t>
                      </a: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r>
              <a:tr h="214884">
                <a:tc>
                  <a:txBody>
                    <a:bodyPr wrap="none"/>
                    <a:lstStyle/>
                    <a:p>
                      <a:pPr algn="l"/>
                      <a:r>
                        <a:rPr sz="800" b="0" i="0">
                          <a:solidFill>
                            <a:srgbClr val="1F2937"/>
                          </a:solidFill>
                          <a:latin typeface="Arial"/>
                        </a:rPr>
                        <a:t>Deletion</a:t>
                      </a:r>
                      <a:endParaRPr sz="800"/>
                    </a:p>
                  </a:txBody>
                  <a:tcPr marL="36576" marR="36576" marT="0" marB="0" anchor="ctr">
                    <a:noFill/>
                  </a:tcPr>
                </a:tc>
                <a:tc>
                  <a:txBody>
                    <a:bodyPr wrap="none"/>
                    <a:lstStyle/>
                    <a:p>
                      <a:pPr algn="r"/>
                      <a:r>
                        <a:rPr sz="800" b="0" i="0">
                          <a:solidFill>
                            <a:srgbClr val="1F2937"/>
                          </a:solidFill>
                          <a:latin typeface="Arial"/>
                        </a:rPr>
                        <a:t>--</a:t>
                      </a:r>
                      <a:endParaRPr sz="800"/>
                    </a:p>
                  </a:txBody>
                  <a:tcPr marL="36576" marR="36576" marT="0" marB="0" anchor="ctr">
                    <a:noFill/>
                  </a:tcPr>
                </a:tc>
                <a:tc>
                  <a:txBody>
                    <a:bodyPr wrap="none"/>
                    <a:lstStyle/>
                    <a:p>
                      <a:pPr algn="r"/>
                      <a:r>
                        <a:rPr sz="800" b="0" i="0">
                          <a:solidFill>
                            <a:srgbClr val="1F2937"/>
                          </a:solidFill>
                          <a:latin typeface="Arial"/>
                        </a:rPr>
                        <a:t>--</a:t>
                      </a:r>
                      <a:endParaRPr sz="800"/>
                    </a:p>
                  </a:txBody>
                  <a:tcPr marL="36576" marR="36576" marT="0" marB="0" anchor="ctr">
                    <a:noFill/>
                  </a:tcPr>
                </a:tc>
                <a:tc>
                  <a:txBody>
                    <a:bodyPr wrap="none"/>
                    <a:lstStyle/>
                    <a:p>
                      <a:pPr algn="r"/>
                      <a:r>
                        <a:rPr sz="800" b="0" i="0">
                          <a:solidFill>
                            <a:srgbClr val="1F2937"/>
                          </a:solidFill>
                          <a:latin typeface="Arial"/>
                        </a:rPr>
                        <a:t>0.1951</a:t>
                      </a:r>
                      <a:endParaRPr sz="800"/>
                    </a:p>
                  </a:txBody>
                  <a:tcPr marL="36576" marR="36576" marT="0" marB="0" anchor="ctr">
                    <a:noFill/>
                  </a:tcPr>
                </a:tc>
                <a:tc>
                  <a:txBody>
                    <a:bodyPr wrap="none"/>
                    <a:lstStyle/>
                    <a:p>
                      <a:pPr algn="r"/>
                      <a:r>
                        <a:rPr sz="800" b="0" i="0">
                          <a:solidFill>
                            <a:srgbClr val="1F2937"/>
                          </a:solidFill>
                          <a:latin typeface="Arial"/>
                        </a:rPr>
                        <a:t>0.0019</a:t>
                      </a:r>
                      <a:endParaRPr sz="800"/>
                    </a:p>
                  </a:txBody>
                  <a:tcPr marL="36576" marR="36576" marT="0" marB="0" anchor="ctr">
                    <a:noFill/>
                  </a:tcPr>
                </a:tc>
                <a:tc>
                  <a:txBody>
                    <a:bodyPr wrap="none"/>
                    <a:lstStyle/>
                    <a:p>
                      <a:pPr algn="r"/>
                      <a:r>
                        <a:rPr sz="800" b="0" i="0">
                          <a:solidFill>
                            <a:srgbClr val="1F2937"/>
                          </a:solidFill>
                          <a:latin typeface="Arial"/>
                        </a:rPr>
                        <a:t>0.0012</a:t>
                      </a:r>
                      <a:endParaRPr sz="800"/>
                    </a:p>
                  </a:txBody>
                  <a:tcPr marL="36576" marR="36576" marT="0" marB="0" anchor="ctr">
                    <a:noFill/>
                  </a:tcPr>
                </a:tc>
                <a:tc>
                  <a:txBody>
                    <a:bodyPr wrap="none"/>
                    <a:lstStyle/>
                    <a:p>
                      <a:pPr algn="r"/>
                      <a:r>
                        <a:rPr sz="800" b="0" i="0">
                          <a:solidFill>
                            <a:srgbClr val="1F2937"/>
                          </a:solidFill>
                          <a:latin typeface="Arial"/>
                        </a:rPr>
                        <a:t>0.1334</a:t>
                      </a:r>
                      <a:endParaRPr sz="800"/>
                    </a:p>
                  </a:txBody>
                  <a:tcPr marL="36576" marR="36576" marT="0" marB="0" anchor="ctr">
                    <a:noFill/>
                  </a:tcPr>
                </a:tc>
                <a:tc>
                  <a:txBody>
                    <a:bodyPr wrap="none"/>
                    <a:lstStyle/>
                    <a:p>
                      <a:pPr algn="r"/>
                      <a:r>
                        <a:rPr sz="800" b="0" i="0">
                          <a:solidFill>
                            <a:srgbClr val="1F2937"/>
                          </a:solidFill>
                          <a:latin typeface="Arial"/>
                        </a:rPr>
                        <a:t>0.0515</a:t>
                      </a:r>
                      <a:endParaRPr sz="800"/>
                    </a:p>
                  </a:txBody>
                  <a:tcPr marL="36576" marR="36576" marT="0" marB="0" anchor="ctr">
                    <a:noFill/>
                  </a:tcPr>
                </a:tc>
              </a:tr>
              <a:tr h="214884">
                <a:tc>
                  <a:txBody>
                    <a:bodyPr wrap="none"/>
                    <a:lstStyle/>
                    <a:p>
                      <a:pPr algn="l"/>
                      <a:r>
                        <a:rPr sz="800" b="0" i="0">
                          <a:solidFill>
                            <a:srgbClr val="1F2937"/>
                          </a:solidFill>
                          <a:latin typeface="Arial"/>
                        </a:rPr>
                        <a:t>Zero</a:t>
                      </a:r>
                      <a:endParaRPr sz="800"/>
                    </a:p>
                  </a:txBody>
                  <a:tcPr marL="36576" marR="36576" marT="0" marB="0" anchor="ctr">
                    <a:noFill/>
                  </a:tcPr>
                </a:tc>
                <a:tc>
                  <a:txBody>
                    <a:bodyPr wrap="none"/>
                    <a:lstStyle/>
                    <a:p>
                      <a:pPr algn="r"/>
                      <a:r>
                        <a:rPr sz="800" b="0" i="0">
                          <a:solidFill>
                            <a:srgbClr val="1F2937"/>
                          </a:solidFill>
                          <a:latin typeface="Arial"/>
                        </a:rPr>
                        <a:t>0.0111</a:t>
                      </a:r>
                      <a:endParaRPr sz="800"/>
                    </a:p>
                  </a:txBody>
                  <a:tcPr marL="36576" marR="36576" marT="0" marB="0" anchor="ctr">
                    <a:noFill/>
                  </a:tcPr>
                </a:tc>
                <a:tc>
                  <a:txBody>
                    <a:bodyPr wrap="none"/>
                    <a:lstStyle/>
                    <a:p>
                      <a:pPr algn="r"/>
                      <a:r>
                        <a:rPr sz="800" b="0" i="0">
                          <a:solidFill>
                            <a:srgbClr val="1F2937"/>
                          </a:solidFill>
                          <a:latin typeface="Arial"/>
                        </a:rPr>
                        <a:t>0.0167</a:t>
                      </a:r>
                      <a:endParaRPr sz="800"/>
                    </a:p>
                  </a:txBody>
                  <a:tcPr marL="36576" marR="36576" marT="0" marB="0" anchor="ctr">
                    <a:noFill/>
                  </a:tcPr>
                </a:tc>
                <a:tc>
                  <a:txBody>
                    <a:bodyPr wrap="none"/>
                    <a:lstStyle/>
                    <a:p>
                      <a:pPr algn="r"/>
                      <a:r>
                        <a:rPr sz="800" b="0" i="0">
                          <a:solidFill>
                            <a:srgbClr val="1F2937"/>
                          </a:solidFill>
                          <a:latin typeface="Arial"/>
                        </a:rPr>
                        <a:t>0.1044</a:t>
                      </a:r>
                      <a:endParaRPr sz="800"/>
                    </a:p>
                  </a:txBody>
                  <a:tcPr marL="36576" marR="36576" marT="0" marB="0" anchor="ctr">
                    <a:noFill/>
                  </a:tcPr>
                </a:tc>
                <a:tc>
                  <a:txBody>
                    <a:bodyPr wrap="none"/>
                    <a:lstStyle/>
                    <a:p>
                      <a:pPr algn="r"/>
                      <a:r>
                        <a:rPr sz="800" b="0" i="0">
                          <a:solidFill>
                            <a:srgbClr val="1F2937"/>
                          </a:solidFill>
                          <a:latin typeface="Arial"/>
                        </a:rPr>
                        <a:t>0.0005</a:t>
                      </a:r>
                      <a:endParaRPr sz="800"/>
                    </a:p>
                  </a:txBody>
                  <a:tcPr marL="36576" marR="36576" marT="0" marB="0" anchor="ctr">
                    <a:noFill/>
                  </a:tcPr>
                </a:tc>
                <a:tc>
                  <a:txBody>
                    <a:bodyPr wrap="none"/>
                    <a:lstStyle/>
                    <a:p>
                      <a:pPr algn="r"/>
                      <a:r>
                        <a:rPr sz="800" b="0" i="0">
                          <a:solidFill>
                            <a:srgbClr val="1F2937"/>
                          </a:solidFill>
                          <a:latin typeface="Arial"/>
                        </a:rPr>
                        <a:t>0.0006</a:t>
                      </a:r>
                      <a:endParaRPr sz="800"/>
                    </a:p>
                  </a:txBody>
                  <a:tcPr marL="36576" marR="36576" marT="0" marB="0" anchor="ctr">
                    <a:noFill/>
                  </a:tcPr>
                </a:tc>
                <a:tc>
                  <a:txBody>
                    <a:bodyPr wrap="none"/>
                    <a:lstStyle/>
                    <a:p>
                      <a:pPr algn="r"/>
                      <a:r>
                        <a:rPr sz="800" b="0" i="0">
                          <a:solidFill>
                            <a:srgbClr val="1F2937"/>
                          </a:solidFill>
                          <a:latin typeface="Arial"/>
                        </a:rPr>
                        <a:t>0.0132</a:t>
                      </a:r>
                      <a:endParaRPr sz="800"/>
                    </a:p>
                  </a:txBody>
                  <a:tcPr marL="36576" marR="36576" marT="0" marB="0" anchor="ctr">
                    <a:noFill/>
                  </a:tcPr>
                </a:tc>
                <a:tc>
                  <a:txBody>
                    <a:bodyPr wrap="none"/>
                    <a:lstStyle/>
                    <a:p>
                      <a:pPr algn="r"/>
                      <a:r>
                        <a:rPr sz="800" b="0" i="0">
                          <a:solidFill>
                            <a:srgbClr val="1F2937"/>
                          </a:solidFill>
                          <a:latin typeface="Arial"/>
                        </a:rPr>
                        <a:t>0.0073</a:t>
                      </a:r>
                      <a:endParaRPr sz="800"/>
                    </a:p>
                  </a:txBody>
                  <a:tcPr marL="36576" marR="36576" marT="0" marB="0" anchor="ctr">
                    <a:noFill/>
                  </a:tcPr>
                </a:tc>
              </a:tr>
              <a:tr h="214884">
                <a:tc>
                  <a:txBody>
                    <a:bodyPr wrap="none"/>
                    <a:lstStyle/>
                    <a:p>
                      <a:pPr algn="l"/>
                      <a:r>
                        <a:rPr sz="800" b="0" i="0">
                          <a:solidFill>
                            <a:srgbClr val="1F2937"/>
                          </a:solidFill>
                          <a:latin typeface="Arial"/>
                        </a:rPr>
                        <a:t>KNN</a:t>
                      </a:r>
                      <a:endParaRPr sz="800"/>
                    </a:p>
                  </a:txBody>
                  <a:tcPr marL="36576" marR="36576" marT="0" marB="0" anchor="ctr">
                    <a:noFill/>
                  </a:tcPr>
                </a:tc>
                <a:tc>
                  <a:txBody>
                    <a:bodyPr wrap="none"/>
                    <a:lstStyle/>
                    <a:p>
                      <a:pPr algn="r"/>
                      <a:r>
                        <a:rPr sz="800" b="0" i="0">
                          <a:solidFill>
                            <a:srgbClr val="1F2937"/>
                          </a:solidFill>
                          <a:latin typeface="Arial"/>
                        </a:rPr>
                        <a:t>0.0084</a:t>
                      </a:r>
                      <a:endParaRPr sz="800"/>
                    </a:p>
                  </a:txBody>
                  <a:tcPr marL="36576" marR="36576" marT="0" marB="0" anchor="ctr">
                    <a:noFill/>
                  </a:tcPr>
                </a:tc>
                <a:tc>
                  <a:txBody>
                    <a:bodyPr wrap="none"/>
                    <a:lstStyle/>
                    <a:p>
                      <a:pPr algn="r"/>
                      <a:r>
                        <a:rPr sz="800" b="0" i="0">
                          <a:solidFill>
                            <a:srgbClr val="1F2937"/>
                          </a:solidFill>
                          <a:latin typeface="Arial"/>
                        </a:rPr>
                        <a:t>0.0127</a:t>
                      </a:r>
                      <a:endParaRPr sz="800"/>
                    </a:p>
                  </a:txBody>
                  <a:tcPr marL="36576" marR="36576" marT="0" marB="0" anchor="ctr">
                    <a:noFill/>
                  </a:tcPr>
                </a:tc>
                <a:tc>
                  <a:txBody>
                    <a:bodyPr wrap="none"/>
                    <a:lstStyle/>
                    <a:p>
                      <a:pPr algn="r"/>
                      <a:r>
                        <a:rPr sz="800" b="0" i="0">
                          <a:solidFill>
                            <a:srgbClr val="1F2937"/>
                          </a:solidFill>
                          <a:latin typeface="Arial"/>
                        </a:rPr>
                        <a:t>0.0283</a:t>
                      </a:r>
                      <a:endParaRPr sz="800"/>
                    </a:p>
                  </a:txBody>
                  <a:tcPr marL="36576" marR="36576" marT="0" marB="0" anchor="ctr">
                    <a:noFill/>
                  </a:tcPr>
                </a:tc>
                <a:tc>
                  <a:txBody>
                    <a:bodyPr wrap="none"/>
                    <a:lstStyle/>
                    <a:p>
                      <a:pPr algn="r"/>
                      <a:r>
                        <a:rPr sz="800" b="0" i="0">
                          <a:solidFill>
                            <a:srgbClr val="1F2937"/>
                          </a:solidFill>
                          <a:latin typeface="Arial"/>
                        </a:rPr>
                        <a:t>0.0003</a:t>
                      </a:r>
                      <a:endParaRPr sz="800"/>
                    </a:p>
                  </a:txBody>
                  <a:tcPr marL="36576" marR="36576" marT="0" marB="0" anchor="ctr">
                    <a:noFill/>
                  </a:tcPr>
                </a:tc>
                <a:tc>
                  <a:txBody>
                    <a:bodyPr wrap="none"/>
                    <a:lstStyle/>
                    <a:p>
                      <a:pPr algn="r"/>
                      <a:r>
                        <a:rPr sz="800" b="0" i="0">
                          <a:solidFill>
                            <a:srgbClr val="1F2937"/>
                          </a:solidFill>
                          <a:latin typeface="Arial"/>
                        </a:rPr>
                        <a:t>0.0002</a:t>
                      </a:r>
                      <a:endParaRPr sz="800"/>
                    </a:p>
                  </a:txBody>
                  <a:tcPr marL="36576" marR="36576" marT="0" marB="0" anchor="ctr">
                    <a:noFill/>
                  </a:tcPr>
                </a:tc>
                <a:tc>
                  <a:txBody>
                    <a:bodyPr wrap="none"/>
                    <a:lstStyle/>
                    <a:p>
                      <a:pPr algn="r"/>
                      <a:r>
                        <a:rPr sz="800" b="0" i="0">
                          <a:solidFill>
                            <a:srgbClr val="1F2937"/>
                          </a:solidFill>
                          <a:latin typeface="Arial"/>
                        </a:rPr>
                        <a:t>0.0047</a:t>
                      </a:r>
                      <a:endParaRPr sz="800"/>
                    </a:p>
                  </a:txBody>
                  <a:tcPr marL="36576" marR="36576" marT="0" marB="0" anchor="ctr">
                    <a:noFill/>
                  </a:tcPr>
                </a:tc>
                <a:tc>
                  <a:txBody>
                    <a:bodyPr wrap="none"/>
                    <a:lstStyle/>
                    <a:p>
                      <a:pPr algn="r"/>
                      <a:r>
                        <a:rPr sz="800" b="0" i="0">
                          <a:solidFill>
                            <a:srgbClr val="1F2937"/>
                          </a:solidFill>
                          <a:latin typeface="Arial"/>
                        </a:rPr>
                        <a:t>0.0045</a:t>
                      </a:r>
                      <a:endParaRPr sz="800"/>
                    </a:p>
                  </a:txBody>
                  <a:tcPr marL="36576" marR="36576" marT="0" marB="0" anchor="ctr">
                    <a:noFill/>
                  </a:tcPr>
                </a:tc>
              </a:tr>
              <a:tr h="214884">
                <a:tc>
                  <a:txBody>
                    <a:bodyPr wrap="none"/>
                    <a:lstStyle/>
                    <a:p>
                      <a:pPr algn="l"/>
                      <a:r>
                        <a:rPr sz="800" b="0" i="0">
                          <a:solidFill>
                            <a:srgbClr val="1F2937"/>
                          </a:solidFill>
                          <a:latin typeface="Arial"/>
                        </a:rPr>
                        <a:t>LowRank</a:t>
                      </a:r>
                      <a:endParaRPr sz="800"/>
                    </a:p>
                  </a:txBody>
                  <a:tcPr marL="36576" marR="36576" marT="0" marB="0" anchor="ctr">
                    <a:noFill/>
                  </a:tcPr>
                </a:tc>
                <a:tc>
                  <a:txBody>
                    <a:bodyPr wrap="none"/>
                    <a:lstStyle/>
                    <a:p>
                      <a:pPr algn="r"/>
                      <a:r>
                        <a:rPr sz="800" b="0" i="0">
                          <a:solidFill>
                            <a:srgbClr val="1F2937"/>
                          </a:solidFill>
                          <a:latin typeface="Arial"/>
                        </a:rPr>
                        <a:t>0.0078</a:t>
                      </a:r>
                      <a:endParaRPr sz="800"/>
                    </a:p>
                  </a:txBody>
                  <a:tcPr marL="36576" marR="36576" marT="0" marB="0" anchor="ctr">
                    <a:noFill/>
                  </a:tcPr>
                </a:tc>
                <a:tc>
                  <a:txBody>
                    <a:bodyPr wrap="none"/>
                    <a:lstStyle/>
                    <a:p>
                      <a:pPr algn="r"/>
                      <a:r>
                        <a:rPr sz="800" b="0" i="0">
                          <a:solidFill>
                            <a:srgbClr val="1F2937"/>
                          </a:solidFill>
                          <a:latin typeface="Arial"/>
                        </a:rPr>
                        <a:t>0.0118</a:t>
                      </a:r>
                      <a:endParaRPr sz="800"/>
                    </a:p>
                  </a:txBody>
                  <a:tcPr marL="36576" marR="36576" marT="0" marB="0" anchor="ctr">
                    <a:noFill/>
                  </a:tcPr>
                </a:tc>
                <a:tc>
                  <a:txBody>
                    <a:bodyPr wrap="none"/>
                    <a:lstStyle/>
                    <a:p>
                      <a:pPr algn="r"/>
                      <a:r>
                        <a:rPr sz="800" b="0" i="0">
                          <a:solidFill>
                            <a:srgbClr val="1F2937"/>
                          </a:solidFill>
                          <a:latin typeface="Arial"/>
                        </a:rPr>
                        <a:t>0.0169</a:t>
                      </a:r>
                      <a:endParaRPr sz="800"/>
                    </a:p>
                  </a:txBody>
                  <a:tcPr marL="36576" marR="36576" marT="0" marB="0" anchor="ctr">
                    <a:noFill/>
                  </a:tcPr>
                </a:tc>
                <a:tc>
                  <a:txBody>
                    <a:bodyPr wrap="none"/>
                    <a:lstStyle/>
                    <a:p>
                      <a:pPr algn="r"/>
                      <a:r>
                        <a:rPr sz="800" b="1" i="0">
                          <a:solidFill>
                            <a:srgbClr val="1F2937"/>
                          </a:solidFill>
                          <a:latin typeface="Arial"/>
                        </a:rPr>
                        <a:t>0.0002</a:t>
                      </a:r>
                      <a:endParaRPr sz="800"/>
                    </a:p>
                  </a:txBody>
                  <a:tcPr marL="36576" marR="36576" marT="0" marB="0" anchor="ctr">
                    <a:noFill/>
                  </a:tcPr>
                </a:tc>
                <a:tc>
                  <a:txBody>
                    <a:bodyPr wrap="none"/>
                    <a:lstStyle/>
                    <a:p>
                      <a:pPr algn="r"/>
                      <a:r>
                        <a:rPr sz="800" b="1" i="0">
                          <a:solidFill>
                            <a:srgbClr val="1F2937"/>
                          </a:solidFill>
                          <a:latin typeface="Arial"/>
                        </a:rPr>
                        <a:t>0.0001</a:t>
                      </a:r>
                      <a:endParaRPr sz="800"/>
                    </a:p>
                  </a:txBody>
                  <a:tcPr marL="36576" marR="36576" marT="0" marB="0" anchor="ctr">
                    <a:noFill/>
                  </a:tcPr>
                </a:tc>
                <a:tc>
                  <a:txBody>
                    <a:bodyPr wrap="none"/>
                    <a:lstStyle/>
                    <a:p>
                      <a:pPr algn="r"/>
                      <a:r>
                        <a:rPr sz="800" b="0" i="0">
                          <a:solidFill>
                            <a:srgbClr val="1F2937"/>
                          </a:solidFill>
                          <a:latin typeface="Arial"/>
                        </a:rPr>
                        <a:t>0.0045</a:t>
                      </a:r>
                      <a:endParaRPr sz="800"/>
                    </a:p>
                  </a:txBody>
                  <a:tcPr marL="36576" marR="36576" marT="0" marB="0" anchor="ctr">
                    <a:noFill/>
                  </a:tcPr>
                </a:tc>
                <a:tc>
                  <a:txBody>
                    <a:bodyPr wrap="none"/>
                    <a:lstStyle/>
                    <a:p>
                      <a:pPr algn="r"/>
                      <a:r>
                        <a:rPr sz="800" b="0" i="0">
                          <a:solidFill>
                            <a:srgbClr val="1F2937"/>
                          </a:solidFill>
                          <a:latin typeface="Arial"/>
                        </a:rPr>
                        <a:t>0.0041</a:t>
                      </a:r>
                      <a:endParaRPr sz="800"/>
                    </a:p>
                  </a:txBody>
                  <a:tcPr marL="36576" marR="36576" marT="0" marB="0" anchor="ctr">
                    <a:noFill/>
                  </a:tcPr>
                </a:tc>
              </a:tr>
              <a:tr h="214884">
                <a:tc>
                  <a:txBody>
                    <a:bodyPr wrap="none"/>
                    <a:lstStyle/>
                    <a:p>
                      <a:pPr algn="l"/>
                      <a:r>
                        <a:rPr sz="800" b="0" i="0">
                          <a:solidFill>
                            <a:srgbClr val="1F2937"/>
                          </a:solidFill>
                          <a:latin typeface="Arial"/>
                        </a:rPr>
                        <a:t>EM</a:t>
                      </a:r>
                      <a:endParaRPr sz="800"/>
                    </a:p>
                  </a:txBody>
                  <a:tcPr marL="36576" marR="36576" marT="0" marB="0" anchor="ctr">
                    <a:noFill/>
                  </a:tcPr>
                </a:tc>
                <a:tc>
                  <a:txBody>
                    <a:bodyPr wrap="none"/>
                    <a:lstStyle/>
                    <a:p>
                      <a:pPr algn="r"/>
                      <a:r>
                        <a:rPr sz="800" b="1" i="0">
                          <a:solidFill>
                            <a:srgbClr val="1F2937"/>
                          </a:solidFill>
                          <a:latin typeface="Arial"/>
                        </a:rPr>
                        <a:t>0.0072</a:t>
                      </a:r>
                      <a:endParaRPr sz="800"/>
                    </a:p>
                  </a:txBody>
                  <a:tcPr marL="36576" marR="36576" marT="0" marB="0" anchor="ctr">
                    <a:noFill/>
                  </a:tcPr>
                </a:tc>
                <a:tc>
                  <a:txBody>
                    <a:bodyPr wrap="none"/>
                    <a:lstStyle/>
                    <a:p>
                      <a:pPr algn="r"/>
                      <a:r>
                        <a:rPr sz="800" b="0" i="0">
                          <a:solidFill>
                            <a:srgbClr val="1F2937"/>
                          </a:solidFill>
                          <a:latin typeface="Arial"/>
                        </a:rPr>
                        <a:t>0.0113</a:t>
                      </a:r>
                      <a:endParaRPr sz="800"/>
                    </a:p>
                  </a:txBody>
                  <a:tcPr marL="36576" marR="36576" marT="0" marB="0" anchor="ctr">
                    <a:noFill/>
                  </a:tcPr>
                </a:tc>
                <a:tc>
                  <a:txBody>
                    <a:bodyPr wrap="none"/>
                    <a:lstStyle/>
                    <a:p>
                      <a:pPr algn="r"/>
                      <a:r>
                        <a:rPr sz="800" b="0" i="0">
                          <a:solidFill>
                            <a:srgbClr val="1F2937"/>
                          </a:solidFill>
                          <a:latin typeface="Arial"/>
                        </a:rPr>
                        <a:t>0.0151</a:t>
                      </a:r>
                      <a:endParaRPr sz="800"/>
                    </a:p>
                  </a:txBody>
                  <a:tcPr marL="36576" marR="36576" marT="0" marB="0" anchor="ctr">
                    <a:noFill/>
                  </a:tcPr>
                </a:tc>
                <a:tc>
                  <a:txBody>
                    <a:bodyPr wrap="none"/>
                    <a:lstStyle/>
                    <a:p>
                      <a:pPr algn="r"/>
                      <a:r>
                        <a:rPr sz="800" b="1" i="0">
                          <a:solidFill>
                            <a:srgbClr val="1F2937"/>
                          </a:solidFill>
                          <a:latin typeface="Arial"/>
                        </a:rPr>
                        <a:t>0.0002</a:t>
                      </a:r>
                      <a:endParaRPr sz="800"/>
                    </a:p>
                  </a:txBody>
                  <a:tcPr marL="36576" marR="36576" marT="0" marB="0" anchor="ctr">
                    <a:noFill/>
                  </a:tcPr>
                </a:tc>
                <a:tc>
                  <a:txBody>
                    <a:bodyPr wrap="none"/>
                    <a:lstStyle/>
                    <a:p>
                      <a:pPr algn="r"/>
                      <a:r>
                        <a:rPr sz="800" b="0" i="0">
                          <a:solidFill>
                            <a:srgbClr val="1F2937"/>
                          </a:solidFill>
                          <a:latin typeface="Arial"/>
                        </a:rPr>
                        <a:t>0.0002</a:t>
                      </a:r>
                      <a:endParaRPr sz="800"/>
                    </a:p>
                  </a:txBody>
                  <a:tcPr marL="36576" marR="36576" marT="0" marB="0" anchor="ctr">
                    <a:noFill/>
                  </a:tcPr>
                </a:tc>
                <a:tc>
                  <a:txBody>
                    <a:bodyPr wrap="none"/>
                    <a:lstStyle/>
                    <a:p>
                      <a:pPr algn="r"/>
                      <a:r>
                        <a:rPr sz="800" b="0" i="0">
                          <a:solidFill>
                            <a:srgbClr val="1F2937"/>
                          </a:solidFill>
                          <a:latin typeface="Arial"/>
                        </a:rPr>
                        <a:t>0.0044</a:t>
                      </a:r>
                      <a:endParaRPr sz="800"/>
                    </a:p>
                  </a:txBody>
                  <a:tcPr marL="36576" marR="36576" marT="0" marB="0" anchor="ctr">
                    <a:noFill/>
                  </a:tcPr>
                </a:tc>
                <a:tc>
                  <a:txBody>
                    <a:bodyPr wrap="none"/>
                    <a:lstStyle/>
                    <a:p>
                      <a:pPr algn="r"/>
                      <a:r>
                        <a:rPr sz="800" b="1" i="0">
                          <a:solidFill>
                            <a:srgbClr val="1F2937"/>
                          </a:solidFill>
                          <a:latin typeface="Arial"/>
                        </a:rPr>
                        <a:t>0.0039</a:t>
                      </a:r>
                      <a:endParaRPr sz="800"/>
                    </a:p>
                  </a:txBody>
                  <a:tcPr marL="36576" marR="36576" marT="0" marB="0" anchor="ctr">
                    <a:noFill/>
                  </a:tcPr>
                </a:tc>
              </a:tr>
              <a:tr h="214884">
                <a:tc>
                  <a:txBody>
                    <a:bodyPr wrap="none"/>
                    <a:lstStyle/>
                    <a:p>
                      <a:pPr algn="l"/>
                      <a:r>
                        <a:rPr sz="800" b="0" i="0">
                          <a:solidFill>
                            <a:srgbClr val="1F2937"/>
                          </a:solidFill>
                          <a:latin typeface="Arial"/>
                        </a:rPr>
                        <a:t>BRITS</a:t>
                      </a:r>
                      <a:endParaRPr sz="800"/>
                    </a:p>
                  </a:txBody>
                  <a:tcPr marL="36576" marR="36576" marT="0" marB="0" anchor="ctr">
                    <a:noFill/>
                  </a:tcPr>
                </a:tc>
                <a:tc>
                  <a:txBody>
                    <a:bodyPr wrap="none"/>
                    <a:lstStyle/>
                    <a:p>
                      <a:pPr algn="r"/>
                      <a:r>
                        <a:rPr sz="800" b="0" i="0">
                          <a:solidFill>
                            <a:srgbClr val="1F2937"/>
                          </a:solidFill>
                          <a:latin typeface="Arial"/>
                        </a:rPr>
                        <a:t>0.0073</a:t>
                      </a:r>
                      <a:endParaRPr sz="800"/>
                    </a:p>
                  </a:txBody>
                  <a:tcPr marL="36576" marR="36576" marT="0" marB="0" anchor="ctr">
                    <a:noFill/>
                  </a:tcPr>
                </a:tc>
                <a:tc>
                  <a:txBody>
                    <a:bodyPr wrap="none"/>
                    <a:lstStyle/>
                    <a:p>
                      <a:pPr algn="r"/>
                      <a:r>
                        <a:rPr sz="800" b="0" i="0">
                          <a:solidFill>
                            <a:srgbClr val="1F2937"/>
                          </a:solidFill>
                          <a:latin typeface="Arial"/>
                        </a:rPr>
                        <a:t>0.0113</a:t>
                      </a:r>
                      <a:endParaRPr sz="800"/>
                    </a:p>
                  </a:txBody>
                  <a:tcPr marL="36576" marR="36576" marT="0" marB="0" anchor="ctr">
                    <a:noFill/>
                  </a:tcPr>
                </a:tc>
                <a:tc>
                  <a:txBody>
                    <a:bodyPr wrap="none"/>
                    <a:lstStyle/>
                    <a:p>
                      <a:pPr algn="r"/>
                      <a:r>
                        <a:rPr sz="800" b="1" i="0">
                          <a:solidFill>
                            <a:srgbClr val="1F2937"/>
                          </a:solidFill>
                          <a:latin typeface="Arial"/>
                        </a:rPr>
                        <a:t>0.0145</a:t>
                      </a:r>
                      <a:endParaRPr sz="800"/>
                    </a:p>
                  </a:txBody>
                  <a:tcPr marL="36576" marR="36576" marT="0" marB="0" anchor="ctr">
                    <a:noFill/>
                  </a:tcPr>
                </a:tc>
                <a:tc>
                  <a:txBody>
                    <a:bodyPr wrap="none"/>
                    <a:lstStyle/>
                    <a:p>
                      <a:pPr algn="r"/>
                      <a:r>
                        <a:rPr sz="800" b="1" i="0">
                          <a:solidFill>
                            <a:srgbClr val="1F2937"/>
                          </a:solidFill>
                          <a:latin typeface="Arial"/>
                        </a:rPr>
                        <a:t>0.0002</a:t>
                      </a:r>
                      <a:endParaRPr sz="800"/>
                    </a:p>
                  </a:txBody>
                  <a:tcPr marL="36576" marR="36576" marT="0" marB="0" anchor="ctr">
                    <a:noFill/>
                  </a:tcPr>
                </a:tc>
                <a:tc>
                  <a:txBody>
                    <a:bodyPr wrap="none"/>
                    <a:lstStyle/>
                    <a:p>
                      <a:pPr algn="r"/>
                      <a:r>
                        <a:rPr sz="800" b="0" i="0">
                          <a:solidFill>
                            <a:srgbClr val="1F2937"/>
                          </a:solidFill>
                          <a:latin typeface="Arial"/>
                        </a:rPr>
                        <a:t>0.0002</a:t>
                      </a:r>
                      <a:endParaRPr sz="800"/>
                    </a:p>
                  </a:txBody>
                  <a:tcPr marL="36576" marR="36576" marT="0" marB="0" anchor="ctr">
                    <a:noFill/>
                  </a:tcPr>
                </a:tc>
                <a:tc>
                  <a:txBody>
                    <a:bodyPr wrap="none"/>
                    <a:lstStyle/>
                    <a:p>
                      <a:pPr algn="r"/>
                      <a:r>
                        <a:rPr sz="800" b="1" i="0">
                          <a:solidFill>
                            <a:srgbClr val="1F2937"/>
                          </a:solidFill>
                          <a:latin typeface="Arial"/>
                        </a:rPr>
                        <a:t>0.0043</a:t>
                      </a:r>
                      <a:endParaRPr sz="800"/>
                    </a:p>
                  </a:txBody>
                  <a:tcPr marL="36576" marR="36576" marT="0" marB="0" anchor="ctr">
                    <a:noFill/>
                  </a:tcPr>
                </a:tc>
                <a:tc>
                  <a:txBody>
                    <a:bodyPr wrap="none"/>
                    <a:lstStyle/>
                    <a:p>
                      <a:pPr algn="r"/>
                      <a:r>
                        <a:rPr sz="800" b="0" i="0">
                          <a:solidFill>
                            <a:srgbClr val="1F2937"/>
                          </a:solidFill>
                          <a:latin typeface="Arial"/>
                        </a:rPr>
                        <a:t>0.0040</a:t>
                      </a:r>
                      <a:endParaRPr sz="800"/>
                    </a:p>
                  </a:txBody>
                  <a:tcPr marL="36576" marR="36576" marT="0" marB="0" anchor="ctr">
                    <a:noFill/>
                  </a:tcPr>
                </a:tc>
              </a:tr>
              <a:tr h="214884">
                <a:tc>
                  <a:txBody>
                    <a:bodyPr wrap="none"/>
                    <a:lstStyle/>
                    <a:p>
                      <a:pPr algn="l"/>
                      <a:r>
                        <a:rPr sz="800" b="0" i="0">
                          <a:solidFill>
                            <a:srgbClr val="1F2937"/>
                          </a:solidFill>
                          <a:latin typeface="Arial"/>
                        </a:rPr>
                        <a:t>CSDI</a:t>
                      </a:r>
                      <a:endParaRPr sz="800"/>
                    </a:p>
                  </a:txBody>
                  <a:tcPr marL="36576" marR="36576" marT="0" marB="0" anchor="ctr">
                    <a:lnB w="15875">
                      <a:solidFill>
                        <a:srgbClr val="14213D"/>
                      </a:solidFill>
                    </a:lnB>
                    <a:noFill/>
                  </a:tcPr>
                </a:tc>
                <a:tc>
                  <a:txBody>
                    <a:bodyPr wrap="none"/>
                    <a:lstStyle/>
                    <a:p>
                      <a:pPr algn="r"/>
                      <a:r>
                        <a:rPr sz="800" b="1" i="0">
                          <a:solidFill>
                            <a:srgbClr val="1F2937"/>
                          </a:solidFill>
                          <a:latin typeface="Arial"/>
                        </a:rPr>
                        <a:t>0.0072</a:t>
                      </a:r>
                      <a:endParaRPr sz="800"/>
                    </a:p>
                  </a:txBody>
                  <a:tcPr marL="36576" marR="36576" marT="0" marB="0" anchor="ctr">
                    <a:lnB w="15875">
                      <a:solidFill>
                        <a:srgbClr val="14213D"/>
                      </a:solidFill>
                    </a:lnB>
                    <a:noFill/>
                  </a:tcPr>
                </a:tc>
                <a:tc>
                  <a:txBody>
                    <a:bodyPr wrap="none"/>
                    <a:lstStyle/>
                    <a:p>
                      <a:pPr algn="r"/>
                      <a:r>
                        <a:rPr sz="800" b="1" i="0">
                          <a:solidFill>
                            <a:srgbClr val="1F2937"/>
                          </a:solidFill>
                          <a:latin typeface="Arial"/>
                        </a:rPr>
                        <a:t>0.0112</a:t>
                      </a:r>
                      <a:endParaRPr sz="800"/>
                    </a:p>
                  </a:txBody>
                  <a:tcPr marL="36576" marR="36576" marT="0" marB="0" anchor="ctr">
                    <a:lnB w="15875">
                      <a:solidFill>
                        <a:srgbClr val="14213D"/>
                      </a:solidFill>
                    </a:lnB>
                    <a:noFill/>
                  </a:tcPr>
                </a:tc>
                <a:tc>
                  <a:txBody>
                    <a:bodyPr wrap="none"/>
                    <a:lstStyle/>
                    <a:p>
                      <a:pPr algn="r"/>
                      <a:r>
                        <a:rPr sz="800" b="0" i="0">
                          <a:solidFill>
                            <a:srgbClr val="1F2937"/>
                          </a:solidFill>
                          <a:latin typeface="Arial"/>
                        </a:rPr>
                        <a:t>0.0149</a:t>
                      </a:r>
                      <a:endParaRPr sz="800"/>
                    </a:p>
                  </a:txBody>
                  <a:tcPr marL="36576" marR="36576" marT="0" marB="0" anchor="ctr">
                    <a:lnB w="15875">
                      <a:solidFill>
                        <a:srgbClr val="14213D"/>
                      </a:solidFill>
                    </a:lnB>
                    <a:noFill/>
                  </a:tcPr>
                </a:tc>
                <a:tc>
                  <a:txBody>
                    <a:bodyPr wrap="none"/>
                    <a:lstStyle/>
                    <a:p>
                      <a:pPr algn="r"/>
                      <a:r>
                        <a:rPr sz="800" b="1" i="0">
                          <a:solidFill>
                            <a:srgbClr val="1F2937"/>
                          </a:solidFill>
                          <a:latin typeface="Arial"/>
                        </a:rPr>
                        <a:t>0.0002</a:t>
                      </a:r>
                      <a:endParaRPr sz="800"/>
                    </a:p>
                  </a:txBody>
                  <a:tcPr marL="36576" marR="36576" marT="0" marB="0" anchor="ctr">
                    <a:lnB w="15875">
                      <a:solidFill>
                        <a:srgbClr val="14213D"/>
                      </a:solidFill>
                    </a:lnB>
                    <a:noFill/>
                  </a:tcPr>
                </a:tc>
                <a:tc>
                  <a:txBody>
                    <a:bodyPr wrap="none"/>
                    <a:lstStyle/>
                    <a:p>
                      <a:pPr algn="r"/>
                      <a:r>
                        <a:rPr sz="800" b="0" i="0">
                          <a:solidFill>
                            <a:srgbClr val="1F2937"/>
                          </a:solidFill>
                          <a:latin typeface="Arial"/>
                        </a:rPr>
                        <a:t>0.0002</a:t>
                      </a:r>
                      <a:endParaRPr sz="800"/>
                    </a:p>
                  </a:txBody>
                  <a:tcPr marL="36576" marR="36576" marT="0" marB="0" anchor="ctr">
                    <a:lnB w="15875">
                      <a:solidFill>
                        <a:srgbClr val="14213D"/>
                      </a:solidFill>
                    </a:lnB>
                    <a:noFill/>
                  </a:tcPr>
                </a:tc>
                <a:tc>
                  <a:txBody>
                    <a:bodyPr wrap="none"/>
                    <a:lstStyle/>
                    <a:p>
                      <a:pPr algn="r"/>
                      <a:r>
                        <a:rPr sz="800" b="0" i="0">
                          <a:solidFill>
                            <a:srgbClr val="1F2937"/>
                          </a:solidFill>
                          <a:latin typeface="Arial"/>
                        </a:rPr>
                        <a:t>0.0051</a:t>
                      </a:r>
                      <a:endParaRPr sz="800"/>
                    </a:p>
                  </a:txBody>
                  <a:tcPr marL="36576" marR="36576" marT="0" marB="0" anchor="ctr">
                    <a:lnB w="15875">
                      <a:solidFill>
                        <a:srgbClr val="14213D"/>
                      </a:solidFill>
                    </a:lnB>
                    <a:noFill/>
                  </a:tcPr>
                </a:tc>
                <a:tc>
                  <a:txBody>
                    <a:bodyPr wrap="none"/>
                    <a:lstStyle/>
                    <a:p>
                      <a:pPr algn="r"/>
                      <a:r>
                        <a:rPr sz="800" b="0" i="0">
                          <a:solidFill>
                            <a:srgbClr val="1F2937"/>
                          </a:solidFill>
                          <a:latin typeface="Arial"/>
                        </a:rPr>
                        <a:t>0.0041</a:t>
                      </a:r>
                      <a:endParaRPr sz="800"/>
                    </a:p>
                  </a:txBody>
                  <a:tcPr marL="36576" marR="36576" marT="0" marB="0" anchor="ctr">
                    <a:lnB w="15875">
                      <a:solidFill>
                        <a:srgbClr val="14213D"/>
                      </a:solidFill>
                    </a:lnB>
                    <a:noFill/>
                  </a:tcPr>
                </a:tc>
              </a:tr>
            </a:tbl>
          </a:graphicData>
        </a:graphic>
      </p:graphicFrame>
      <p:graphicFrame>
        <p:nvGraphicFramePr>
          <p:cNvPr id="8" name="Table 7"/>
          <p:cNvGraphicFramePr>
            <a:graphicFrameLocks noGrp="1"/>
          </p:cNvGraphicFramePr>
          <p:nvPr/>
        </p:nvGraphicFramePr>
        <p:xfrm>
          <a:off x="6217920" y="1051560"/>
          <a:ext cx="5440680" cy="3653028"/>
        </p:xfrm>
        <a:graphic>
          <a:graphicData uri="http://schemas.openxmlformats.org/drawingml/2006/table">
            <a:tbl>
              <a:tblPr firstRow="0" bandRow="0">
                <a:tableStyleId>{2D5ABB26-0587-4C30-8999-92F81FD0307C}</a:tableStyleId>
              </a:tblPr>
              <a:tblGrid>
                <a:gridCol w="713232"/>
                <a:gridCol w="658368"/>
                <a:gridCol w="658368"/>
                <a:gridCol w="658368"/>
                <a:gridCol w="658368"/>
                <a:gridCol w="658368"/>
                <a:gridCol w="777240"/>
                <a:gridCol w="658368"/>
              </a:tblGrid>
              <a:tr h="214884">
                <a:tc>
                  <a:txBody>
                    <a:bodyPr wrap="none"/>
                    <a:lstStyle/>
                    <a:p>
                      <a:pPr algn="l"/>
                      <a:r>
                        <a:rPr sz="800" b="1" i="0">
                          <a:solidFill>
                            <a:srgbClr val="1F2937"/>
                          </a:solidFill>
                          <a:latin typeface="Arial"/>
                        </a:rPr>
                        <a:t>Model</a:t>
                      </a:r>
                      <a:endParaRPr sz="800"/>
                    </a:p>
                  </a:txBody>
                  <a:tcPr marL="36576" marR="36576" marT="0" marB="0" anchor="ctr">
                    <a:lnT w="15875">
                      <a:solidFill>
                        <a:srgbClr val="14213D"/>
                      </a:solidFill>
                    </a:lnT>
                    <a:lnB w="9525">
                      <a:solidFill>
                        <a:srgbClr val="14213D"/>
                      </a:solidFill>
                    </a:lnB>
                    <a:noFill/>
                  </a:tcPr>
                </a:tc>
                <a:tc>
                  <a:txBody>
                    <a:bodyPr wrap="none"/>
                    <a:lstStyle/>
                    <a:p>
                      <a:pPr algn="r"/>
                      <a:r>
                        <a:rPr sz="800" b="1" i="0">
                          <a:solidFill>
                            <a:srgbClr val="1F2937"/>
                          </a:solidFill>
                          <a:latin typeface="Arial"/>
                        </a:rPr>
                        <a:t>MAE</a:t>
                      </a:r>
                      <a:endParaRPr sz="800"/>
                    </a:p>
                  </a:txBody>
                  <a:tcPr marL="36576" marR="36576" marT="0" marB="0" anchor="ctr">
                    <a:lnT w="15875">
                      <a:solidFill>
                        <a:srgbClr val="14213D"/>
                      </a:solidFill>
                    </a:lnT>
                    <a:lnB w="9525">
                      <a:solidFill>
                        <a:srgbClr val="14213D"/>
                      </a:solidFill>
                    </a:lnB>
                    <a:noFill/>
                  </a:tcPr>
                </a:tc>
                <a:tc>
                  <a:txBody>
                    <a:bodyPr wrap="none"/>
                    <a:lstStyle/>
                    <a:p>
                      <a:pPr algn="r"/>
                      <a:r>
                        <a:rPr sz="800" b="1" i="0">
                          <a:solidFill>
                            <a:srgbClr val="1F2937"/>
                          </a:solidFill>
                          <a:latin typeface="Arial"/>
                        </a:rPr>
                        <a:t>RMSE</a:t>
                      </a:r>
                      <a:endParaRPr sz="800"/>
                    </a:p>
                  </a:txBody>
                  <a:tcPr marL="36576" marR="36576" marT="0" marB="0" anchor="ctr">
                    <a:lnT w="15875">
                      <a:solidFill>
                        <a:srgbClr val="14213D"/>
                      </a:solidFill>
                    </a:lnT>
                    <a:lnB w="9525">
                      <a:solidFill>
                        <a:srgbClr val="14213D"/>
                      </a:solidFill>
                    </a:lnB>
                    <a:noFill/>
                  </a:tcPr>
                </a:tc>
                <a:tc>
                  <a:txBody>
                    <a:bodyPr wrap="none"/>
                    <a:lstStyle/>
                    <a:p>
                      <a:pPr algn="r"/>
                      <a:r>
                        <a:rPr sz="800" b="1" i="0">
                          <a:solidFill>
                            <a:srgbClr val="1F2937"/>
                          </a:solidFill>
                          <a:latin typeface="Arial"/>
                        </a:rPr>
                        <a:t>CovErr</a:t>
                      </a:r>
                      <a:endParaRPr sz="800"/>
                    </a:p>
                  </a:txBody>
                  <a:tcPr marL="36576" marR="36576" marT="0" marB="0" anchor="ctr">
                    <a:lnT w="15875">
                      <a:solidFill>
                        <a:srgbClr val="14213D"/>
                      </a:solidFill>
                    </a:lnT>
                    <a:lnB w="9525">
                      <a:solidFill>
                        <a:srgbClr val="14213D"/>
                      </a:solidFill>
                    </a:lnB>
                    <a:noFill/>
                  </a:tcPr>
                </a:tc>
                <a:tc>
                  <a:txBody>
                    <a:bodyPr wrap="none"/>
                    <a:lstStyle/>
                    <a:p>
                      <a:pPr algn="r"/>
                      <a:r>
                        <a:rPr sz="800" b="1" i="0">
                          <a:solidFill>
                            <a:srgbClr val="1F2937"/>
                          </a:solidFill>
                          <a:latin typeface="Arial"/>
                        </a:rPr>
                        <a:t>VaRErr</a:t>
                      </a:r>
                      <a:endParaRPr sz="800"/>
                    </a:p>
                  </a:txBody>
                  <a:tcPr marL="36576" marR="36576" marT="0" marB="0" anchor="ctr">
                    <a:lnT w="15875">
                      <a:solidFill>
                        <a:srgbClr val="14213D"/>
                      </a:solidFill>
                    </a:lnT>
                    <a:lnB w="9525">
                      <a:solidFill>
                        <a:srgbClr val="14213D"/>
                      </a:solidFill>
                    </a:lnB>
                    <a:noFill/>
                  </a:tcPr>
                </a:tc>
                <a:tc>
                  <a:txBody>
                    <a:bodyPr wrap="none"/>
                    <a:lstStyle/>
                    <a:p>
                      <a:pPr algn="r"/>
                      <a:r>
                        <a:rPr sz="800" b="1" i="0">
                          <a:solidFill>
                            <a:srgbClr val="1F2937"/>
                          </a:solidFill>
                          <a:latin typeface="Arial"/>
                        </a:rPr>
                        <a:t>WassErr</a:t>
                      </a:r>
                      <a:endParaRPr sz="800"/>
                    </a:p>
                  </a:txBody>
                  <a:tcPr marL="36576" marR="36576" marT="0" marB="0" anchor="ctr">
                    <a:lnT w="15875">
                      <a:solidFill>
                        <a:srgbClr val="14213D"/>
                      </a:solidFill>
                    </a:lnT>
                    <a:lnB w="9525">
                      <a:solidFill>
                        <a:srgbClr val="14213D"/>
                      </a:solidFill>
                    </a:lnB>
                    <a:noFill/>
                  </a:tcPr>
                </a:tc>
                <a:tc>
                  <a:txBody>
                    <a:bodyPr wrap="none"/>
                    <a:lstStyle/>
                    <a:p>
                      <a:pPr algn="r"/>
                      <a:r>
                        <a:rPr sz="800" b="1" i="0">
                          <a:solidFill>
                            <a:srgbClr val="1F2937"/>
                          </a:solidFill>
                          <a:latin typeface="Arial"/>
                        </a:rPr>
                        <a:t>AbsACFErr</a:t>
                      </a:r>
                      <a:endParaRPr sz="800"/>
                    </a:p>
                  </a:txBody>
                  <a:tcPr marL="36576" marR="36576" marT="0" marB="0" anchor="ctr">
                    <a:lnT w="15875">
                      <a:solidFill>
                        <a:srgbClr val="14213D"/>
                      </a:solidFill>
                    </a:lnT>
                    <a:lnB w="9525">
                      <a:solidFill>
                        <a:srgbClr val="14213D"/>
                      </a:solidFill>
                    </a:lnB>
                    <a:noFill/>
                  </a:tcPr>
                </a:tc>
                <a:tc>
                  <a:txBody>
                    <a:bodyPr wrap="none"/>
                    <a:lstStyle/>
                    <a:p>
                      <a:pPr algn="r"/>
                      <a:r>
                        <a:rPr sz="800" b="1" i="0">
                          <a:solidFill>
                            <a:srgbClr val="1F2937"/>
                          </a:solidFill>
                          <a:latin typeface="Arial"/>
                        </a:rPr>
                        <a:t>LevErr</a:t>
                      </a:r>
                      <a:endParaRPr sz="800"/>
                    </a:p>
                  </a:txBody>
                  <a:tcPr marL="36576" marR="36576" marT="0" marB="0" anchor="ctr">
                    <a:lnT w="15875">
                      <a:solidFill>
                        <a:srgbClr val="14213D"/>
                      </a:solidFill>
                    </a:lnT>
                    <a:lnB w="9525">
                      <a:solidFill>
                        <a:srgbClr val="14213D"/>
                      </a:solidFill>
                    </a:lnB>
                    <a:noFill/>
                  </a:tcPr>
                </a:tc>
              </a:tr>
              <a:tr h="214884">
                <a:tc gridSpan="8">
                  <a:txBody>
                    <a:bodyPr wrap="none"/>
                    <a:lstStyle/>
                    <a:p>
                      <a:pPr algn="l"/>
                      <a:r>
                        <a:rPr sz="800" b="1" i="0">
                          <a:solidFill>
                            <a:srgbClr val="E4572E"/>
                          </a:solidFill>
                          <a:latin typeface="Arial"/>
                        </a:rPr>
                        <a:t>Level 0.1</a:t>
                      </a: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r>
              <a:tr h="214884">
                <a:tc>
                  <a:txBody>
                    <a:bodyPr wrap="none"/>
                    <a:lstStyle/>
                    <a:p>
                      <a:pPr algn="l"/>
                      <a:r>
                        <a:rPr sz="800" b="0" i="0">
                          <a:solidFill>
                            <a:srgbClr val="1F2937"/>
                          </a:solidFill>
                          <a:latin typeface="Arial"/>
                        </a:rPr>
                        <a:t>Deletion</a:t>
                      </a:r>
                      <a:endParaRPr sz="800"/>
                    </a:p>
                  </a:txBody>
                  <a:tcPr marL="36576" marR="36576" marT="0" marB="0" anchor="ctr">
                    <a:noFill/>
                  </a:tcPr>
                </a:tc>
                <a:tc>
                  <a:txBody>
                    <a:bodyPr wrap="none"/>
                    <a:lstStyle/>
                    <a:p>
                      <a:pPr algn="r"/>
                      <a:r>
                        <a:rPr sz="800" b="0" i="0">
                          <a:solidFill>
                            <a:srgbClr val="1F2937"/>
                          </a:solidFill>
                          <a:latin typeface="Arial"/>
                        </a:rPr>
                        <a:t>--</a:t>
                      </a:r>
                      <a:endParaRPr sz="800"/>
                    </a:p>
                  </a:txBody>
                  <a:tcPr marL="36576" marR="36576" marT="0" marB="0" anchor="ctr">
                    <a:noFill/>
                  </a:tcPr>
                </a:tc>
                <a:tc>
                  <a:txBody>
                    <a:bodyPr wrap="none"/>
                    <a:lstStyle/>
                    <a:p>
                      <a:pPr algn="r"/>
                      <a:r>
                        <a:rPr sz="800" b="0" i="0">
                          <a:solidFill>
                            <a:srgbClr val="1F2937"/>
                          </a:solidFill>
                          <a:latin typeface="Arial"/>
                        </a:rPr>
                        <a:t>--</a:t>
                      </a:r>
                      <a:endParaRPr sz="800"/>
                    </a:p>
                  </a:txBody>
                  <a:tcPr marL="36576" marR="36576" marT="0" marB="0" anchor="ctr">
                    <a:noFill/>
                  </a:tcPr>
                </a:tc>
                <a:tc>
                  <a:txBody>
                    <a:bodyPr wrap="none"/>
                    <a:lstStyle/>
                    <a:p>
                      <a:pPr algn="r"/>
                      <a:r>
                        <a:rPr sz="800" b="0" i="0">
                          <a:solidFill>
                            <a:srgbClr val="1F2937"/>
                          </a:solidFill>
                          <a:latin typeface="Arial"/>
                        </a:rPr>
                        <a:t>0.4492</a:t>
                      </a:r>
                      <a:endParaRPr sz="800"/>
                    </a:p>
                  </a:txBody>
                  <a:tcPr marL="36576" marR="36576" marT="0" marB="0" anchor="ctr">
                    <a:noFill/>
                  </a:tcPr>
                </a:tc>
                <a:tc>
                  <a:txBody>
                    <a:bodyPr wrap="none"/>
                    <a:lstStyle/>
                    <a:p>
                      <a:pPr algn="r"/>
                      <a:r>
                        <a:rPr sz="800" b="0" i="0">
                          <a:solidFill>
                            <a:srgbClr val="1F2937"/>
                          </a:solidFill>
                          <a:latin typeface="Arial"/>
                        </a:rPr>
                        <a:t>0.0091</a:t>
                      </a:r>
                      <a:endParaRPr sz="800"/>
                    </a:p>
                  </a:txBody>
                  <a:tcPr marL="36576" marR="36576" marT="0" marB="0" anchor="ctr">
                    <a:noFill/>
                  </a:tcPr>
                </a:tc>
                <a:tc>
                  <a:txBody>
                    <a:bodyPr wrap="none"/>
                    <a:lstStyle/>
                    <a:p>
                      <a:pPr algn="r"/>
                      <a:r>
                        <a:rPr sz="800" b="0" i="0">
                          <a:solidFill>
                            <a:srgbClr val="1F2937"/>
                          </a:solidFill>
                          <a:latin typeface="Arial"/>
                        </a:rPr>
                        <a:t>0.0051</a:t>
                      </a:r>
                      <a:endParaRPr sz="800"/>
                    </a:p>
                  </a:txBody>
                  <a:tcPr marL="36576" marR="36576" marT="0" marB="0" anchor="ctr">
                    <a:noFill/>
                  </a:tcPr>
                </a:tc>
                <a:tc>
                  <a:txBody>
                    <a:bodyPr wrap="none"/>
                    <a:lstStyle/>
                    <a:p>
                      <a:pPr algn="r"/>
                      <a:r>
                        <a:rPr sz="800" b="0" i="0">
                          <a:solidFill>
                            <a:srgbClr val="1F2937"/>
                          </a:solidFill>
                          <a:latin typeface="Arial"/>
                        </a:rPr>
                        <a:t>--</a:t>
                      </a:r>
                      <a:endParaRPr sz="800"/>
                    </a:p>
                  </a:txBody>
                  <a:tcPr marL="36576" marR="36576" marT="0" marB="0" anchor="ctr">
                    <a:noFill/>
                  </a:tcPr>
                </a:tc>
                <a:tc>
                  <a:txBody>
                    <a:bodyPr wrap="none"/>
                    <a:lstStyle/>
                    <a:p>
                      <a:pPr algn="r"/>
                      <a:r>
                        <a:rPr sz="800" b="0" i="0">
                          <a:solidFill>
                            <a:srgbClr val="1F2937"/>
                          </a:solidFill>
                          <a:latin typeface="Arial"/>
                        </a:rPr>
                        <a:t>--</a:t>
                      </a:r>
                      <a:endParaRPr sz="800"/>
                    </a:p>
                  </a:txBody>
                  <a:tcPr marL="36576" marR="36576" marT="0" marB="0" anchor="ctr">
                    <a:noFill/>
                  </a:tcPr>
                </a:tc>
              </a:tr>
              <a:tr h="214884">
                <a:tc>
                  <a:txBody>
                    <a:bodyPr wrap="none"/>
                    <a:lstStyle/>
                    <a:p>
                      <a:pPr algn="l"/>
                      <a:r>
                        <a:rPr sz="800" b="0" i="0">
                          <a:solidFill>
                            <a:srgbClr val="1F2937"/>
                          </a:solidFill>
                          <a:latin typeface="Arial"/>
                        </a:rPr>
                        <a:t>Zero</a:t>
                      </a:r>
                      <a:endParaRPr sz="800"/>
                    </a:p>
                  </a:txBody>
                  <a:tcPr marL="36576" marR="36576" marT="0" marB="0" anchor="ctr">
                    <a:noFill/>
                  </a:tcPr>
                </a:tc>
                <a:tc>
                  <a:txBody>
                    <a:bodyPr wrap="none"/>
                    <a:lstStyle/>
                    <a:p>
                      <a:pPr algn="r"/>
                      <a:r>
                        <a:rPr sz="800" b="0" i="0">
                          <a:solidFill>
                            <a:srgbClr val="1F2937"/>
                          </a:solidFill>
                          <a:latin typeface="Arial"/>
                        </a:rPr>
                        <a:t>0.0109</a:t>
                      </a:r>
                      <a:endParaRPr sz="800"/>
                    </a:p>
                  </a:txBody>
                  <a:tcPr marL="36576" marR="36576" marT="0" marB="0" anchor="ctr">
                    <a:noFill/>
                  </a:tcPr>
                </a:tc>
                <a:tc>
                  <a:txBody>
                    <a:bodyPr wrap="none"/>
                    <a:lstStyle/>
                    <a:p>
                      <a:pPr algn="r"/>
                      <a:r>
                        <a:rPr sz="800" b="0" i="0">
                          <a:solidFill>
                            <a:srgbClr val="1F2937"/>
                          </a:solidFill>
                          <a:latin typeface="Arial"/>
                        </a:rPr>
                        <a:t>0.0163</a:t>
                      </a:r>
                      <a:endParaRPr sz="800"/>
                    </a:p>
                  </a:txBody>
                  <a:tcPr marL="36576" marR="36576" marT="0" marB="0" anchor="ctr">
                    <a:noFill/>
                  </a:tcPr>
                </a:tc>
                <a:tc>
                  <a:txBody>
                    <a:bodyPr wrap="none"/>
                    <a:lstStyle/>
                    <a:p>
                      <a:pPr algn="r"/>
                      <a:r>
                        <a:rPr sz="800" b="0" i="0">
                          <a:solidFill>
                            <a:srgbClr val="1F2937"/>
                          </a:solidFill>
                          <a:latin typeface="Arial"/>
                        </a:rPr>
                        <a:t>0.1872</a:t>
                      </a:r>
                      <a:endParaRPr sz="800"/>
                    </a:p>
                  </a:txBody>
                  <a:tcPr marL="36576" marR="36576" marT="0" marB="0" anchor="ctr">
                    <a:noFill/>
                  </a:tcPr>
                </a:tc>
                <a:tc>
                  <a:txBody>
                    <a:bodyPr wrap="none"/>
                    <a:lstStyle/>
                    <a:p>
                      <a:pPr algn="r"/>
                      <a:r>
                        <a:rPr sz="800" b="0" i="0">
                          <a:solidFill>
                            <a:srgbClr val="1F2937"/>
                          </a:solidFill>
                          <a:latin typeface="Arial"/>
                        </a:rPr>
                        <a:t>0.0011</a:t>
                      </a:r>
                      <a:endParaRPr sz="800"/>
                    </a:p>
                  </a:txBody>
                  <a:tcPr marL="36576" marR="36576" marT="0" marB="0" anchor="ctr">
                    <a:noFill/>
                  </a:tcPr>
                </a:tc>
                <a:tc>
                  <a:txBody>
                    <a:bodyPr wrap="none"/>
                    <a:lstStyle/>
                    <a:p>
                      <a:pPr algn="r"/>
                      <a:r>
                        <a:rPr sz="800" b="0" i="0">
                          <a:solidFill>
                            <a:srgbClr val="1F2937"/>
                          </a:solidFill>
                          <a:latin typeface="Arial"/>
                        </a:rPr>
                        <a:t>0.0011</a:t>
                      </a:r>
                      <a:endParaRPr sz="800"/>
                    </a:p>
                  </a:txBody>
                  <a:tcPr marL="36576" marR="36576" marT="0" marB="0" anchor="ctr">
                    <a:noFill/>
                  </a:tcPr>
                </a:tc>
                <a:tc>
                  <a:txBody>
                    <a:bodyPr wrap="none"/>
                    <a:lstStyle/>
                    <a:p>
                      <a:pPr algn="r"/>
                      <a:r>
                        <a:rPr sz="800" b="0" i="0">
                          <a:solidFill>
                            <a:srgbClr val="1F2937"/>
                          </a:solidFill>
                          <a:latin typeface="Arial"/>
                        </a:rPr>
                        <a:t>0.0276</a:t>
                      </a:r>
                      <a:endParaRPr sz="800"/>
                    </a:p>
                  </a:txBody>
                  <a:tcPr marL="36576" marR="36576" marT="0" marB="0" anchor="ctr">
                    <a:noFill/>
                  </a:tcPr>
                </a:tc>
                <a:tc>
                  <a:txBody>
                    <a:bodyPr wrap="none"/>
                    <a:lstStyle/>
                    <a:p>
                      <a:pPr algn="r"/>
                      <a:r>
                        <a:rPr sz="800" b="0" i="0">
                          <a:solidFill>
                            <a:srgbClr val="1F2937"/>
                          </a:solidFill>
                          <a:latin typeface="Arial"/>
                        </a:rPr>
                        <a:t>0.0111</a:t>
                      </a:r>
                      <a:endParaRPr sz="800"/>
                    </a:p>
                  </a:txBody>
                  <a:tcPr marL="36576" marR="36576" marT="0" marB="0" anchor="ctr">
                    <a:noFill/>
                  </a:tcPr>
                </a:tc>
              </a:tr>
              <a:tr h="214884">
                <a:tc>
                  <a:txBody>
                    <a:bodyPr wrap="none"/>
                    <a:lstStyle/>
                    <a:p>
                      <a:pPr algn="l"/>
                      <a:r>
                        <a:rPr sz="800" b="0" i="0">
                          <a:solidFill>
                            <a:srgbClr val="1F2937"/>
                          </a:solidFill>
                          <a:latin typeface="Arial"/>
                        </a:rPr>
                        <a:t>KNN</a:t>
                      </a:r>
                      <a:endParaRPr sz="800"/>
                    </a:p>
                  </a:txBody>
                  <a:tcPr marL="36576" marR="36576" marT="0" marB="0" anchor="ctr">
                    <a:noFill/>
                  </a:tcPr>
                </a:tc>
                <a:tc>
                  <a:txBody>
                    <a:bodyPr wrap="none"/>
                    <a:lstStyle/>
                    <a:p>
                      <a:pPr algn="r"/>
                      <a:r>
                        <a:rPr sz="800" b="0" i="0">
                          <a:solidFill>
                            <a:srgbClr val="1F2937"/>
                          </a:solidFill>
                          <a:latin typeface="Arial"/>
                        </a:rPr>
                        <a:t>0.0083</a:t>
                      </a:r>
                      <a:endParaRPr sz="800"/>
                    </a:p>
                  </a:txBody>
                  <a:tcPr marL="36576" marR="36576" marT="0" marB="0" anchor="ctr">
                    <a:noFill/>
                  </a:tcPr>
                </a:tc>
                <a:tc>
                  <a:txBody>
                    <a:bodyPr wrap="none"/>
                    <a:lstStyle/>
                    <a:p>
                      <a:pPr algn="r"/>
                      <a:r>
                        <a:rPr sz="800" b="0" i="0">
                          <a:solidFill>
                            <a:srgbClr val="1F2937"/>
                          </a:solidFill>
                          <a:latin typeface="Arial"/>
                        </a:rPr>
                        <a:t>0.0125</a:t>
                      </a:r>
                      <a:endParaRPr sz="800"/>
                    </a:p>
                  </a:txBody>
                  <a:tcPr marL="36576" marR="36576" marT="0" marB="0" anchor="ctr">
                    <a:noFill/>
                  </a:tcPr>
                </a:tc>
                <a:tc>
                  <a:txBody>
                    <a:bodyPr wrap="none"/>
                    <a:lstStyle/>
                    <a:p>
                      <a:pPr algn="r"/>
                      <a:r>
                        <a:rPr sz="800" b="0" i="0">
                          <a:solidFill>
                            <a:srgbClr val="1F2937"/>
                          </a:solidFill>
                          <a:latin typeface="Arial"/>
                        </a:rPr>
                        <a:t>0.0487</a:t>
                      </a:r>
                      <a:endParaRPr sz="800"/>
                    </a:p>
                  </a:txBody>
                  <a:tcPr marL="36576" marR="36576" marT="0" marB="0" anchor="ctr">
                    <a:noFill/>
                  </a:tcPr>
                </a:tc>
                <a:tc>
                  <a:txBody>
                    <a:bodyPr wrap="none"/>
                    <a:lstStyle/>
                    <a:p>
                      <a:pPr algn="r"/>
                      <a:r>
                        <a:rPr sz="800" b="0" i="0">
                          <a:solidFill>
                            <a:srgbClr val="1F2937"/>
                          </a:solidFill>
                          <a:latin typeface="Arial"/>
                        </a:rPr>
                        <a:t>0.0007</a:t>
                      </a:r>
                      <a:endParaRPr sz="800"/>
                    </a:p>
                  </a:txBody>
                  <a:tcPr marL="36576" marR="36576" marT="0" marB="0" anchor="ctr">
                    <a:noFill/>
                  </a:tcPr>
                </a:tc>
                <a:tc>
                  <a:txBody>
                    <a:bodyPr wrap="none"/>
                    <a:lstStyle/>
                    <a:p>
                      <a:pPr algn="r"/>
                      <a:r>
                        <a:rPr sz="800" b="0" i="0">
                          <a:solidFill>
                            <a:srgbClr val="1F2937"/>
                          </a:solidFill>
                          <a:latin typeface="Arial"/>
                        </a:rPr>
                        <a:t>0.0004</a:t>
                      </a:r>
                      <a:endParaRPr sz="800"/>
                    </a:p>
                  </a:txBody>
                  <a:tcPr marL="36576" marR="36576" marT="0" marB="0" anchor="ctr">
                    <a:noFill/>
                  </a:tcPr>
                </a:tc>
                <a:tc>
                  <a:txBody>
                    <a:bodyPr wrap="none"/>
                    <a:lstStyle/>
                    <a:p>
                      <a:pPr algn="r"/>
                      <a:r>
                        <a:rPr sz="800" b="0" i="0">
                          <a:solidFill>
                            <a:srgbClr val="1F2937"/>
                          </a:solidFill>
                          <a:latin typeface="Arial"/>
                        </a:rPr>
                        <a:t>0.0090</a:t>
                      </a:r>
                      <a:endParaRPr sz="800"/>
                    </a:p>
                  </a:txBody>
                  <a:tcPr marL="36576" marR="36576" marT="0" marB="0" anchor="ctr">
                    <a:noFill/>
                  </a:tcPr>
                </a:tc>
                <a:tc>
                  <a:txBody>
                    <a:bodyPr wrap="none"/>
                    <a:lstStyle/>
                    <a:p>
                      <a:pPr algn="r"/>
                      <a:r>
                        <a:rPr sz="800" b="0" i="0">
                          <a:solidFill>
                            <a:srgbClr val="1F2937"/>
                          </a:solidFill>
                          <a:latin typeface="Arial"/>
                        </a:rPr>
                        <a:t>0.0067</a:t>
                      </a:r>
                      <a:endParaRPr sz="800"/>
                    </a:p>
                  </a:txBody>
                  <a:tcPr marL="36576" marR="36576" marT="0" marB="0" anchor="ctr">
                    <a:noFill/>
                  </a:tcPr>
                </a:tc>
              </a:tr>
              <a:tr h="214884">
                <a:tc>
                  <a:txBody>
                    <a:bodyPr wrap="none"/>
                    <a:lstStyle/>
                    <a:p>
                      <a:pPr algn="l"/>
                      <a:r>
                        <a:rPr sz="800" b="0" i="0">
                          <a:solidFill>
                            <a:srgbClr val="1F2937"/>
                          </a:solidFill>
                          <a:latin typeface="Arial"/>
                        </a:rPr>
                        <a:t>LowRank</a:t>
                      </a:r>
                      <a:endParaRPr sz="800"/>
                    </a:p>
                  </a:txBody>
                  <a:tcPr marL="36576" marR="36576" marT="0" marB="0" anchor="ctr">
                    <a:noFill/>
                  </a:tcPr>
                </a:tc>
                <a:tc>
                  <a:txBody>
                    <a:bodyPr wrap="none"/>
                    <a:lstStyle/>
                    <a:p>
                      <a:pPr algn="r"/>
                      <a:r>
                        <a:rPr sz="800" b="0" i="0">
                          <a:solidFill>
                            <a:srgbClr val="1F2937"/>
                          </a:solidFill>
                          <a:latin typeface="Arial"/>
                        </a:rPr>
                        <a:t>0.0077</a:t>
                      </a:r>
                      <a:endParaRPr sz="800"/>
                    </a:p>
                  </a:txBody>
                  <a:tcPr marL="36576" marR="36576" marT="0" marB="0" anchor="ctr">
                    <a:noFill/>
                  </a:tcPr>
                </a:tc>
                <a:tc>
                  <a:txBody>
                    <a:bodyPr wrap="none"/>
                    <a:lstStyle/>
                    <a:p>
                      <a:pPr algn="r"/>
                      <a:r>
                        <a:rPr sz="800" b="0" i="0">
                          <a:solidFill>
                            <a:srgbClr val="1F2937"/>
                          </a:solidFill>
                          <a:latin typeface="Arial"/>
                        </a:rPr>
                        <a:t>0.0116</a:t>
                      </a:r>
                      <a:endParaRPr sz="800"/>
                    </a:p>
                  </a:txBody>
                  <a:tcPr marL="36576" marR="36576" marT="0" marB="0" anchor="ctr">
                    <a:noFill/>
                  </a:tcPr>
                </a:tc>
                <a:tc>
                  <a:txBody>
                    <a:bodyPr wrap="none"/>
                    <a:lstStyle/>
                    <a:p>
                      <a:pPr algn="r"/>
                      <a:r>
                        <a:rPr sz="800" b="0" i="0">
                          <a:solidFill>
                            <a:srgbClr val="1F2937"/>
                          </a:solidFill>
                          <a:latin typeface="Arial"/>
                        </a:rPr>
                        <a:t>0.0282</a:t>
                      </a:r>
                      <a:endParaRPr sz="800"/>
                    </a:p>
                  </a:txBody>
                  <a:tcPr marL="36576" marR="36576" marT="0" marB="0" anchor="ctr">
                    <a:noFill/>
                  </a:tcPr>
                </a:tc>
                <a:tc>
                  <a:txBody>
                    <a:bodyPr wrap="none"/>
                    <a:lstStyle/>
                    <a:p>
                      <a:pPr algn="r"/>
                      <a:r>
                        <a:rPr sz="800" b="1" i="0">
                          <a:solidFill>
                            <a:srgbClr val="1F2937"/>
                          </a:solidFill>
                          <a:latin typeface="Arial"/>
                        </a:rPr>
                        <a:t>0.0004</a:t>
                      </a:r>
                      <a:endParaRPr sz="800"/>
                    </a:p>
                  </a:txBody>
                  <a:tcPr marL="36576" marR="36576" marT="0" marB="0" anchor="ctr">
                    <a:noFill/>
                  </a:tcPr>
                </a:tc>
                <a:tc>
                  <a:txBody>
                    <a:bodyPr wrap="none"/>
                    <a:lstStyle/>
                    <a:p>
                      <a:pPr algn="r"/>
                      <a:r>
                        <a:rPr sz="800" b="1" i="0">
                          <a:solidFill>
                            <a:srgbClr val="1F2937"/>
                          </a:solidFill>
                          <a:latin typeface="Arial"/>
                        </a:rPr>
                        <a:t>0.0003</a:t>
                      </a:r>
                      <a:endParaRPr sz="800"/>
                    </a:p>
                  </a:txBody>
                  <a:tcPr marL="36576" marR="36576" marT="0" marB="0" anchor="ctr">
                    <a:noFill/>
                  </a:tcPr>
                </a:tc>
                <a:tc>
                  <a:txBody>
                    <a:bodyPr wrap="none"/>
                    <a:lstStyle/>
                    <a:p>
                      <a:pPr algn="r"/>
                      <a:r>
                        <a:rPr sz="800" b="0" i="0">
                          <a:solidFill>
                            <a:srgbClr val="1F2937"/>
                          </a:solidFill>
                          <a:latin typeface="Arial"/>
                        </a:rPr>
                        <a:t>0.0072</a:t>
                      </a:r>
                      <a:endParaRPr sz="800"/>
                    </a:p>
                  </a:txBody>
                  <a:tcPr marL="36576" marR="36576" marT="0" marB="0" anchor="ctr">
                    <a:noFill/>
                  </a:tcPr>
                </a:tc>
                <a:tc>
                  <a:txBody>
                    <a:bodyPr wrap="none"/>
                    <a:lstStyle/>
                    <a:p>
                      <a:pPr algn="r"/>
                      <a:r>
                        <a:rPr sz="800" b="0" i="0">
                          <a:solidFill>
                            <a:srgbClr val="1F2937"/>
                          </a:solidFill>
                          <a:latin typeface="Arial"/>
                        </a:rPr>
                        <a:t>0.0058</a:t>
                      </a:r>
                      <a:endParaRPr sz="800"/>
                    </a:p>
                  </a:txBody>
                  <a:tcPr marL="36576" marR="36576" marT="0" marB="0" anchor="ctr">
                    <a:noFill/>
                  </a:tcPr>
                </a:tc>
              </a:tr>
              <a:tr h="214884">
                <a:tc>
                  <a:txBody>
                    <a:bodyPr wrap="none"/>
                    <a:lstStyle/>
                    <a:p>
                      <a:pPr algn="l"/>
                      <a:r>
                        <a:rPr sz="800" b="0" i="0">
                          <a:solidFill>
                            <a:srgbClr val="1F2937"/>
                          </a:solidFill>
                          <a:latin typeface="Arial"/>
                        </a:rPr>
                        <a:t>EM</a:t>
                      </a:r>
                      <a:endParaRPr sz="800"/>
                    </a:p>
                  </a:txBody>
                  <a:tcPr marL="36576" marR="36576" marT="0" marB="0" anchor="ctr">
                    <a:noFill/>
                  </a:tcPr>
                </a:tc>
                <a:tc>
                  <a:txBody>
                    <a:bodyPr wrap="none"/>
                    <a:lstStyle/>
                    <a:p>
                      <a:pPr algn="r"/>
                      <a:r>
                        <a:rPr sz="800" b="1" i="0">
                          <a:solidFill>
                            <a:srgbClr val="1F2937"/>
                          </a:solidFill>
                          <a:latin typeface="Arial"/>
                        </a:rPr>
                        <a:t>0.0071</a:t>
                      </a:r>
                      <a:endParaRPr sz="800"/>
                    </a:p>
                  </a:txBody>
                  <a:tcPr marL="36576" marR="36576" marT="0" marB="0" anchor="ctr">
                    <a:noFill/>
                  </a:tcPr>
                </a:tc>
                <a:tc>
                  <a:txBody>
                    <a:bodyPr wrap="none"/>
                    <a:lstStyle/>
                    <a:p>
                      <a:pPr algn="r"/>
                      <a:r>
                        <a:rPr sz="800" b="1" i="0">
                          <a:solidFill>
                            <a:srgbClr val="1F2937"/>
                          </a:solidFill>
                          <a:latin typeface="Arial"/>
                        </a:rPr>
                        <a:t>0.0110</a:t>
                      </a:r>
                      <a:endParaRPr sz="800"/>
                    </a:p>
                  </a:txBody>
                  <a:tcPr marL="36576" marR="36576" marT="0" marB="0" anchor="ctr">
                    <a:noFill/>
                  </a:tcPr>
                </a:tc>
                <a:tc>
                  <a:txBody>
                    <a:bodyPr wrap="none"/>
                    <a:lstStyle/>
                    <a:p>
                      <a:pPr algn="r"/>
                      <a:r>
                        <a:rPr sz="800" b="1" i="0">
                          <a:solidFill>
                            <a:srgbClr val="1F2937"/>
                          </a:solidFill>
                          <a:latin typeface="Arial"/>
                        </a:rPr>
                        <a:t>0.0237</a:t>
                      </a:r>
                      <a:endParaRPr sz="800"/>
                    </a:p>
                  </a:txBody>
                  <a:tcPr marL="36576" marR="36576" marT="0" marB="0" anchor="ctr">
                    <a:noFill/>
                  </a:tcPr>
                </a:tc>
                <a:tc>
                  <a:txBody>
                    <a:bodyPr wrap="none"/>
                    <a:lstStyle/>
                    <a:p>
                      <a:pPr algn="r"/>
                      <a:r>
                        <a:rPr sz="800" b="0" i="0">
                          <a:solidFill>
                            <a:srgbClr val="1F2937"/>
                          </a:solidFill>
                          <a:latin typeface="Arial"/>
                        </a:rPr>
                        <a:t>0.0005</a:t>
                      </a:r>
                      <a:endParaRPr sz="800"/>
                    </a:p>
                  </a:txBody>
                  <a:tcPr marL="36576" marR="36576" marT="0" marB="0" anchor="ctr">
                    <a:noFill/>
                  </a:tcPr>
                </a:tc>
                <a:tc>
                  <a:txBody>
                    <a:bodyPr wrap="none"/>
                    <a:lstStyle/>
                    <a:p>
                      <a:pPr algn="r"/>
                      <a:r>
                        <a:rPr sz="800" b="1" i="0">
                          <a:solidFill>
                            <a:srgbClr val="1F2937"/>
                          </a:solidFill>
                          <a:latin typeface="Arial"/>
                        </a:rPr>
                        <a:t>0.0003</a:t>
                      </a:r>
                      <a:endParaRPr sz="800"/>
                    </a:p>
                  </a:txBody>
                  <a:tcPr marL="36576" marR="36576" marT="0" marB="0" anchor="ctr">
                    <a:noFill/>
                  </a:tcPr>
                </a:tc>
                <a:tc>
                  <a:txBody>
                    <a:bodyPr wrap="none"/>
                    <a:lstStyle/>
                    <a:p>
                      <a:pPr algn="r"/>
                      <a:r>
                        <a:rPr sz="800" b="1" i="0">
                          <a:solidFill>
                            <a:srgbClr val="1F2937"/>
                          </a:solidFill>
                          <a:latin typeface="Arial"/>
                        </a:rPr>
                        <a:t>0.0068</a:t>
                      </a:r>
                      <a:endParaRPr sz="800"/>
                    </a:p>
                  </a:txBody>
                  <a:tcPr marL="36576" marR="36576" marT="0" marB="0" anchor="ctr">
                    <a:noFill/>
                  </a:tcPr>
                </a:tc>
                <a:tc>
                  <a:txBody>
                    <a:bodyPr wrap="none"/>
                    <a:lstStyle/>
                    <a:p>
                      <a:pPr algn="r"/>
                      <a:r>
                        <a:rPr sz="800" b="1" i="0">
                          <a:solidFill>
                            <a:srgbClr val="1F2937"/>
                          </a:solidFill>
                          <a:latin typeface="Arial"/>
                        </a:rPr>
                        <a:t>0.0056</a:t>
                      </a:r>
                      <a:endParaRPr sz="800"/>
                    </a:p>
                  </a:txBody>
                  <a:tcPr marL="36576" marR="36576" marT="0" marB="0" anchor="ctr">
                    <a:noFill/>
                  </a:tcPr>
                </a:tc>
              </a:tr>
              <a:tr h="214884">
                <a:tc>
                  <a:txBody>
                    <a:bodyPr wrap="none"/>
                    <a:lstStyle/>
                    <a:p>
                      <a:pPr algn="l"/>
                      <a:r>
                        <a:rPr sz="800" b="0" i="0">
                          <a:solidFill>
                            <a:srgbClr val="1F2937"/>
                          </a:solidFill>
                          <a:latin typeface="Arial"/>
                        </a:rPr>
                        <a:t>BRITS</a:t>
                      </a:r>
                      <a:endParaRPr sz="800"/>
                    </a:p>
                  </a:txBody>
                  <a:tcPr marL="36576" marR="36576" marT="0" marB="0" anchor="ctr">
                    <a:noFill/>
                  </a:tcPr>
                </a:tc>
                <a:tc>
                  <a:txBody>
                    <a:bodyPr wrap="none"/>
                    <a:lstStyle/>
                    <a:p>
                      <a:pPr algn="r"/>
                      <a:r>
                        <a:rPr sz="800" b="0" i="0">
                          <a:solidFill>
                            <a:srgbClr val="1F2937"/>
                          </a:solidFill>
                          <a:latin typeface="Arial"/>
                        </a:rPr>
                        <a:t>0.0072</a:t>
                      </a:r>
                      <a:endParaRPr sz="800"/>
                    </a:p>
                  </a:txBody>
                  <a:tcPr marL="36576" marR="36576" marT="0" marB="0" anchor="ctr">
                    <a:noFill/>
                  </a:tcPr>
                </a:tc>
                <a:tc>
                  <a:txBody>
                    <a:bodyPr wrap="none"/>
                    <a:lstStyle/>
                    <a:p>
                      <a:pPr algn="r"/>
                      <a:r>
                        <a:rPr sz="800" b="0" i="0">
                          <a:solidFill>
                            <a:srgbClr val="1F2937"/>
                          </a:solidFill>
                          <a:latin typeface="Arial"/>
                        </a:rPr>
                        <a:t>0.0111</a:t>
                      </a:r>
                      <a:endParaRPr sz="800"/>
                    </a:p>
                  </a:txBody>
                  <a:tcPr marL="36576" marR="36576" marT="0" marB="0" anchor="ctr">
                    <a:noFill/>
                  </a:tcPr>
                </a:tc>
                <a:tc>
                  <a:txBody>
                    <a:bodyPr wrap="none"/>
                    <a:lstStyle/>
                    <a:p>
                      <a:pPr algn="r"/>
                      <a:r>
                        <a:rPr sz="800" b="0" i="0">
                          <a:solidFill>
                            <a:srgbClr val="1F2937"/>
                          </a:solidFill>
                          <a:latin typeface="Arial"/>
                        </a:rPr>
                        <a:t>0.0238</a:t>
                      </a:r>
                      <a:endParaRPr sz="800"/>
                    </a:p>
                  </a:txBody>
                  <a:tcPr marL="36576" marR="36576" marT="0" marB="0" anchor="ctr">
                    <a:noFill/>
                  </a:tcPr>
                </a:tc>
                <a:tc>
                  <a:txBody>
                    <a:bodyPr wrap="none"/>
                    <a:lstStyle/>
                    <a:p>
                      <a:pPr algn="r"/>
                      <a:r>
                        <a:rPr sz="800" b="0" i="0">
                          <a:solidFill>
                            <a:srgbClr val="1F2937"/>
                          </a:solidFill>
                          <a:latin typeface="Arial"/>
                        </a:rPr>
                        <a:t>0.0005</a:t>
                      </a:r>
                      <a:endParaRPr sz="800"/>
                    </a:p>
                  </a:txBody>
                  <a:tcPr marL="36576" marR="36576" marT="0" marB="0" anchor="ctr">
                    <a:noFill/>
                  </a:tcPr>
                </a:tc>
                <a:tc>
                  <a:txBody>
                    <a:bodyPr wrap="none"/>
                    <a:lstStyle/>
                    <a:p>
                      <a:pPr algn="r"/>
                      <a:r>
                        <a:rPr sz="800" b="1" i="0">
                          <a:solidFill>
                            <a:srgbClr val="1F2937"/>
                          </a:solidFill>
                          <a:latin typeface="Arial"/>
                        </a:rPr>
                        <a:t>0.0003</a:t>
                      </a:r>
                      <a:endParaRPr sz="800"/>
                    </a:p>
                  </a:txBody>
                  <a:tcPr marL="36576" marR="36576" marT="0" marB="0" anchor="ctr">
                    <a:noFill/>
                  </a:tcPr>
                </a:tc>
                <a:tc>
                  <a:txBody>
                    <a:bodyPr wrap="none"/>
                    <a:lstStyle/>
                    <a:p>
                      <a:pPr algn="r"/>
                      <a:r>
                        <a:rPr sz="800" b="1" i="0">
                          <a:solidFill>
                            <a:srgbClr val="1F2937"/>
                          </a:solidFill>
                          <a:latin typeface="Arial"/>
                        </a:rPr>
                        <a:t>0.0068</a:t>
                      </a:r>
                      <a:endParaRPr sz="800"/>
                    </a:p>
                  </a:txBody>
                  <a:tcPr marL="36576" marR="36576" marT="0" marB="0" anchor="ctr">
                    <a:noFill/>
                  </a:tcPr>
                </a:tc>
                <a:tc>
                  <a:txBody>
                    <a:bodyPr wrap="none"/>
                    <a:lstStyle/>
                    <a:p>
                      <a:pPr algn="r"/>
                      <a:r>
                        <a:rPr sz="800" b="0" i="0">
                          <a:solidFill>
                            <a:srgbClr val="1F2937"/>
                          </a:solidFill>
                          <a:latin typeface="Arial"/>
                        </a:rPr>
                        <a:t>0.0057</a:t>
                      </a:r>
                      <a:endParaRPr sz="800"/>
                    </a:p>
                  </a:txBody>
                  <a:tcPr marL="36576" marR="36576" marT="0" marB="0" anchor="ctr">
                    <a:noFill/>
                  </a:tcPr>
                </a:tc>
              </a:tr>
              <a:tr h="214884">
                <a:tc>
                  <a:txBody>
                    <a:bodyPr wrap="none"/>
                    <a:lstStyle/>
                    <a:p>
                      <a:pPr algn="l"/>
                      <a:r>
                        <a:rPr sz="800" b="0" i="0">
                          <a:solidFill>
                            <a:srgbClr val="1F2937"/>
                          </a:solidFill>
                          <a:latin typeface="Arial"/>
                        </a:rPr>
                        <a:t>CSDI</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0.0072</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0.0111</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0.0261</a:t>
                      </a:r>
                      <a:endParaRPr sz="800"/>
                    </a:p>
                  </a:txBody>
                  <a:tcPr marL="36576" marR="36576" marT="0" marB="0" anchor="ctr">
                    <a:lnB w="6350">
                      <a:solidFill>
                        <a:srgbClr val="D0D5DD"/>
                      </a:solidFill>
                    </a:lnB>
                    <a:noFill/>
                  </a:tcPr>
                </a:tc>
                <a:tc>
                  <a:txBody>
                    <a:bodyPr wrap="none"/>
                    <a:lstStyle/>
                    <a:p>
                      <a:pPr algn="r"/>
                      <a:r>
                        <a:rPr sz="800" b="1" i="0">
                          <a:solidFill>
                            <a:srgbClr val="1F2937"/>
                          </a:solidFill>
                          <a:latin typeface="Arial"/>
                        </a:rPr>
                        <a:t>0.0004</a:t>
                      </a:r>
                      <a:endParaRPr sz="800"/>
                    </a:p>
                  </a:txBody>
                  <a:tcPr marL="36576" marR="36576" marT="0" marB="0" anchor="ctr">
                    <a:lnB w="6350">
                      <a:solidFill>
                        <a:srgbClr val="D0D5DD"/>
                      </a:solidFill>
                    </a:lnB>
                    <a:noFill/>
                  </a:tcPr>
                </a:tc>
                <a:tc>
                  <a:txBody>
                    <a:bodyPr wrap="none"/>
                    <a:lstStyle/>
                    <a:p>
                      <a:pPr algn="r"/>
                      <a:r>
                        <a:rPr sz="800" b="1" i="0">
                          <a:solidFill>
                            <a:srgbClr val="1F2937"/>
                          </a:solidFill>
                          <a:latin typeface="Arial"/>
                        </a:rPr>
                        <a:t>0.0003</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0.0077</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0.0057</a:t>
                      </a:r>
                      <a:endParaRPr sz="800"/>
                    </a:p>
                  </a:txBody>
                  <a:tcPr marL="36576" marR="36576" marT="0" marB="0" anchor="ctr">
                    <a:lnB w="6350">
                      <a:solidFill>
                        <a:srgbClr val="D0D5DD"/>
                      </a:solidFill>
                    </a:lnB>
                    <a:noFill/>
                  </a:tcPr>
                </a:tc>
              </a:tr>
              <a:tr h="214884">
                <a:tc gridSpan="8">
                  <a:txBody>
                    <a:bodyPr wrap="none"/>
                    <a:lstStyle/>
                    <a:p>
                      <a:pPr algn="l"/>
                      <a:r>
                        <a:rPr sz="800" b="1" i="0">
                          <a:solidFill>
                            <a:srgbClr val="E4572E"/>
                          </a:solidFill>
                          <a:latin typeface="Arial"/>
                        </a:rPr>
                        <a:t>Level 0.3</a:t>
                      </a: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r>
              <a:tr h="214884">
                <a:tc>
                  <a:txBody>
                    <a:bodyPr wrap="none"/>
                    <a:lstStyle/>
                    <a:p>
                      <a:pPr algn="l"/>
                      <a:r>
                        <a:rPr sz="800" b="0" i="0">
                          <a:solidFill>
                            <a:srgbClr val="1F2937"/>
                          </a:solidFill>
                          <a:latin typeface="Arial"/>
                        </a:rPr>
                        <a:t>Deletion</a:t>
                      </a:r>
                      <a:endParaRPr sz="800"/>
                    </a:p>
                  </a:txBody>
                  <a:tcPr marL="36576" marR="36576" marT="0" marB="0" anchor="ctr">
                    <a:noFill/>
                  </a:tcPr>
                </a:tc>
                <a:tc>
                  <a:txBody>
                    <a:bodyPr wrap="none"/>
                    <a:lstStyle/>
                    <a:p>
                      <a:pPr algn="r"/>
                      <a:r>
                        <a:rPr sz="800" b="0" i="0">
                          <a:solidFill>
                            <a:srgbClr val="1F2937"/>
                          </a:solidFill>
                          <a:latin typeface="Arial"/>
                        </a:rPr>
                        <a:t>--</a:t>
                      </a:r>
                      <a:endParaRPr sz="800"/>
                    </a:p>
                  </a:txBody>
                  <a:tcPr marL="36576" marR="36576" marT="0" marB="0" anchor="ctr">
                    <a:noFill/>
                  </a:tcPr>
                </a:tc>
                <a:tc>
                  <a:txBody>
                    <a:bodyPr wrap="none"/>
                    <a:lstStyle/>
                    <a:p>
                      <a:pPr algn="r"/>
                      <a:r>
                        <a:rPr sz="800" b="0" i="0">
                          <a:solidFill>
                            <a:srgbClr val="1F2937"/>
                          </a:solidFill>
                          <a:latin typeface="Arial"/>
                        </a:rPr>
                        <a:t>--</a:t>
                      </a:r>
                      <a:endParaRPr sz="800"/>
                    </a:p>
                  </a:txBody>
                  <a:tcPr marL="36576" marR="36576" marT="0" marB="0" anchor="ctr">
                    <a:noFill/>
                  </a:tcPr>
                </a:tc>
                <a:tc>
                  <a:txBody>
                    <a:bodyPr wrap="none"/>
                    <a:lstStyle/>
                    <a:p>
                      <a:pPr algn="r"/>
                      <a:r>
                        <a:rPr sz="800" b="0" i="0">
                          <a:solidFill>
                            <a:srgbClr val="1F2937"/>
                          </a:solidFill>
                          <a:latin typeface="Arial"/>
                        </a:rPr>
                        <a:t>--</a:t>
                      </a:r>
                      <a:endParaRPr sz="800"/>
                    </a:p>
                  </a:txBody>
                  <a:tcPr marL="36576" marR="36576" marT="0" marB="0" anchor="ctr">
                    <a:noFill/>
                  </a:tcPr>
                </a:tc>
                <a:tc>
                  <a:txBody>
                    <a:bodyPr wrap="none"/>
                    <a:lstStyle/>
                    <a:p>
                      <a:pPr algn="r"/>
                      <a:r>
                        <a:rPr sz="800" b="0" i="0">
                          <a:solidFill>
                            <a:srgbClr val="1F2937"/>
                          </a:solidFill>
                          <a:latin typeface="Arial"/>
                        </a:rPr>
                        <a:t>--</a:t>
                      </a:r>
                      <a:endParaRPr sz="800"/>
                    </a:p>
                  </a:txBody>
                  <a:tcPr marL="36576" marR="36576" marT="0" marB="0" anchor="ctr">
                    <a:noFill/>
                  </a:tcPr>
                </a:tc>
                <a:tc>
                  <a:txBody>
                    <a:bodyPr wrap="none"/>
                    <a:lstStyle/>
                    <a:p>
                      <a:pPr algn="r"/>
                      <a:r>
                        <a:rPr sz="800" b="0" i="0">
                          <a:solidFill>
                            <a:srgbClr val="1F2937"/>
                          </a:solidFill>
                          <a:latin typeface="Arial"/>
                        </a:rPr>
                        <a:t>--</a:t>
                      </a:r>
                      <a:endParaRPr sz="800"/>
                    </a:p>
                  </a:txBody>
                  <a:tcPr marL="36576" marR="36576" marT="0" marB="0" anchor="ctr">
                    <a:noFill/>
                  </a:tcPr>
                </a:tc>
                <a:tc>
                  <a:txBody>
                    <a:bodyPr wrap="none"/>
                    <a:lstStyle/>
                    <a:p>
                      <a:pPr algn="r"/>
                      <a:r>
                        <a:rPr sz="800" b="0" i="0">
                          <a:solidFill>
                            <a:srgbClr val="1F2937"/>
                          </a:solidFill>
                          <a:latin typeface="Arial"/>
                        </a:rPr>
                        <a:t>--</a:t>
                      </a:r>
                      <a:endParaRPr sz="800"/>
                    </a:p>
                  </a:txBody>
                  <a:tcPr marL="36576" marR="36576" marT="0" marB="0" anchor="ctr">
                    <a:noFill/>
                  </a:tcPr>
                </a:tc>
                <a:tc>
                  <a:txBody>
                    <a:bodyPr wrap="none"/>
                    <a:lstStyle/>
                    <a:p>
                      <a:pPr algn="r"/>
                      <a:r>
                        <a:rPr sz="800" b="0" i="0">
                          <a:solidFill>
                            <a:srgbClr val="1F2937"/>
                          </a:solidFill>
                          <a:latin typeface="Arial"/>
                        </a:rPr>
                        <a:t>--</a:t>
                      </a:r>
                      <a:endParaRPr sz="800"/>
                    </a:p>
                  </a:txBody>
                  <a:tcPr marL="36576" marR="36576" marT="0" marB="0" anchor="ctr">
                    <a:noFill/>
                  </a:tcPr>
                </a:tc>
              </a:tr>
              <a:tr h="214884">
                <a:tc>
                  <a:txBody>
                    <a:bodyPr wrap="none"/>
                    <a:lstStyle/>
                    <a:p>
                      <a:pPr algn="l"/>
                      <a:r>
                        <a:rPr sz="800" b="0" i="0">
                          <a:solidFill>
                            <a:srgbClr val="1F2937"/>
                          </a:solidFill>
                          <a:latin typeface="Arial"/>
                        </a:rPr>
                        <a:t>Zero</a:t>
                      </a:r>
                      <a:endParaRPr sz="800"/>
                    </a:p>
                  </a:txBody>
                  <a:tcPr marL="36576" marR="36576" marT="0" marB="0" anchor="ctr">
                    <a:noFill/>
                  </a:tcPr>
                </a:tc>
                <a:tc>
                  <a:txBody>
                    <a:bodyPr wrap="none"/>
                    <a:lstStyle/>
                    <a:p>
                      <a:pPr algn="r"/>
                      <a:r>
                        <a:rPr sz="800" b="0" i="0">
                          <a:solidFill>
                            <a:srgbClr val="1F2937"/>
                          </a:solidFill>
                          <a:latin typeface="Arial"/>
                        </a:rPr>
                        <a:t>0.0109</a:t>
                      </a:r>
                      <a:endParaRPr sz="800"/>
                    </a:p>
                  </a:txBody>
                  <a:tcPr marL="36576" marR="36576" marT="0" marB="0" anchor="ctr">
                    <a:noFill/>
                  </a:tcPr>
                </a:tc>
                <a:tc>
                  <a:txBody>
                    <a:bodyPr wrap="none"/>
                    <a:lstStyle/>
                    <a:p>
                      <a:pPr algn="r"/>
                      <a:r>
                        <a:rPr sz="800" b="0" i="0">
                          <a:solidFill>
                            <a:srgbClr val="1F2937"/>
                          </a:solidFill>
                          <a:latin typeface="Arial"/>
                        </a:rPr>
                        <a:t>0.0161</a:t>
                      </a:r>
                      <a:endParaRPr sz="800"/>
                    </a:p>
                  </a:txBody>
                  <a:tcPr marL="36576" marR="36576" marT="0" marB="0" anchor="ctr">
                    <a:noFill/>
                  </a:tcPr>
                </a:tc>
                <a:tc>
                  <a:txBody>
                    <a:bodyPr wrap="none"/>
                    <a:lstStyle/>
                    <a:p>
                      <a:pPr algn="r"/>
                      <a:r>
                        <a:rPr sz="800" b="0" i="0">
                          <a:solidFill>
                            <a:srgbClr val="1F2937"/>
                          </a:solidFill>
                          <a:latin typeface="Arial"/>
                        </a:rPr>
                        <a:t>0.4749</a:t>
                      </a:r>
                      <a:endParaRPr sz="800"/>
                    </a:p>
                  </a:txBody>
                  <a:tcPr marL="36576" marR="36576" marT="0" marB="0" anchor="ctr">
                    <a:noFill/>
                  </a:tcPr>
                </a:tc>
                <a:tc>
                  <a:txBody>
                    <a:bodyPr wrap="none"/>
                    <a:lstStyle/>
                    <a:p>
                      <a:pPr algn="r"/>
                      <a:r>
                        <a:rPr sz="800" b="0" i="0">
                          <a:solidFill>
                            <a:srgbClr val="1F2937"/>
                          </a:solidFill>
                          <a:latin typeface="Arial"/>
                        </a:rPr>
                        <a:t>0.0037</a:t>
                      </a:r>
                      <a:endParaRPr sz="800"/>
                    </a:p>
                  </a:txBody>
                  <a:tcPr marL="36576" marR="36576" marT="0" marB="0" anchor="ctr">
                    <a:noFill/>
                  </a:tcPr>
                </a:tc>
                <a:tc>
                  <a:txBody>
                    <a:bodyPr wrap="none"/>
                    <a:lstStyle/>
                    <a:p>
                      <a:pPr algn="r"/>
                      <a:r>
                        <a:rPr sz="800" b="0" i="0">
                          <a:solidFill>
                            <a:srgbClr val="1F2937"/>
                          </a:solidFill>
                          <a:latin typeface="Arial"/>
                        </a:rPr>
                        <a:t>0.0033</a:t>
                      </a:r>
                      <a:endParaRPr sz="800"/>
                    </a:p>
                  </a:txBody>
                  <a:tcPr marL="36576" marR="36576" marT="0" marB="0" anchor="ctr">
                    <a:noFill/>
                  </a:tcPr>
                </a:tc>
                <a:tc>
                  <a:txBody>
                    <a:bodyPr wrap="none"/>
                    <a:lstStyle/>
                    <a:p>
                      <a:pPr algn="r"/>
                      <a:r>
                        <a:rPr sz="800" b="0" i="0">
                          <a:solidFill>
                            <a:srgbClr val="1F2937"/>
                          </a:solidFill>
                          <a:latin typeface="Arial"/>
                        </a:rPr>
                        <a:t>0.0638</a:t>
                      </a:r>
                      <a:endParaRPr sz="800"/>
                    </a:p>
                  </a:txBody>
                  <a:tcPr marL="36576" marR="36576" marT="0" marB="0" anchor="ctr">
                    <a:noFill/>
                  </a:tcPr>
                </a:tc>
                <a:tc>
                  <a:txBody>
                    <a:bodyPr wrap="none"/>
                    <a:lstStyle/>
                    <a:p>
                      <a:pPr algn="r"/>
                      <a:r>
                        <a:rPr sz="800" b="0" i="0">
                          <a:solidFill>
                            <a:srgbClr val="1F2937"/>
                          </a:solidFill>
                          <a:latin typeface="Arial"/>
                        </a:rPr>
                        <a:t>0.0201</a:t>
                      </a:r>
                      <a:endParaRPr sz="800"/>
                    </a:p>
                  </a:txBody>
                  <a:tcPr marL="36576" marR="36576" marT="0" marB="0" anchor="ctr">
                    <a:noFill/>
                  </a:tcPr>
                </a:tc>
              </a:tr>
              <a:tr h="214884">
                <a:tc>
                  <a:txBody>
                    <a:bodyPr wrap="none"/>
                    <a:lstStyle/>
                    <a:p>
                      <a:pPr algn="l"/>
                      <a:r>
                        <a:rPr sz="800" b="0" i="0">
                          <a:solidFill>
                            <a:srgbClr val="1F2937"/>
                          </a:solidFill>
                          <a:latin typeface="Arial"/>
                        </a:rPr>
                        <a:t>KNN</a:t>
                      </a:r>
                      <a:endParaRPr sz="800"/>
                    </a:p>
                  </a:txBody>
                  <a:tcPr marL="36576" marR="36576" marT="0" marB="0" anchor="ctr">
                    <a:noFill/>
                  </a:tcPr>
                </a:tc>
                <a:tc>
                  <a:txBody>
                    <a:bodyPr wrap="none"/>
                    <a:lstStyle/>
                    <a:p>
                      <a:pPr algn="r"/>
                      <a:r>
                        <a:rPr sz="800" b="0" i="0">
                          <a:solidFill>
                            <a:srgbClr val="1F2937"/>
                          </a:solidFill>
                          <a:latin typeface="Arial"/>
                        </a:rPr>
                        <a:t>0.0087</a:t>
                      </a:r>
                      <a:endParaRPr sz="800"/>
                    </a:p>
                  </a:txBody>
                  <a:tcPr marL="36576" marR="36576" marT="0" marB="0" anchor="ctr">
                    <a:noFill/>
                  </a:tcPr>
                </a:tc>
                <a:tc>
                  <a:txBody>
                    <a:bodyPr wrap="none"/>
                    <a:lstStyle/>
                    <a:p>
                      <a:pPr algn="r"/>
                      <a:r>
                        <a:rPr sz="800" b="0" i="0">
                          <a:solidFill>
                            <a:srgbClr val="1F2937"/>
                          </a:solidFill>
                          <a:latin typeface="Arial"/>
                        </a:rPr>
                        <a:t>0.0129</a:t>
                      </a:r>
                      <a:endParaRPr sz="800"/>
                    </a:p>
                  </a:txBody>
                  <a:tcPr marL="36576" marR="36576" marT="0" marB="0" anchor="ctr">
                    <a:noFill/>
                  </a:tcPr>
                </a:tc>
                <a:tc>
                  <a:txBody>
                    <a:bodyPr wrap="none"/>
                    <a:lstStyle/>
                    <a:p>
                      <a:pPr algn="r"/>
                      <a:r>
                        <a:rPr sz="800" b="0" i="0">
                          <a:solidFill>
                            <a:srgbClr val="1F2937"/>
                          </a:solidFill>
                          <a:latin typeface="Arial"/>
                        </a:rPr>
                        <a:t>0.1467</a:t>
                      </a:r>
                      <a:endParaRPr sz="800"/>
                    </a:p>
                  </a:txBody>
                  <a:tcPr marL="36576" marR="36576" marT="0" marB="0" anchor="ctr">
                    <a:noFill/>
                  </a:tcPr>
                </a:tc>
                <a:tc>
                  <a:txBody>
                    <a:bodyPr wrap="none"/>
                    <a:lstStyle/>
                    <a:p>
                      <a:pPr algn="r"/>
                      <a:r>
                        <a:rPr sz="800" b="0" i="0">
                          <a:solidFill>
                            <a:srgbClr val="1F2937"/>
                          </a:solidFill>
                          <a:latin typeface="Arial"/>
                        </a:rPr>
                        <a:t>0.0024</a:t>
                      </a:r>
                      <a:endParaRPr sz="800"/>
                    </a:p>
                  </a:txBody>
                  <a:tcPr marL="36576" marR="36576" marT="0" marB="0" anchor="ctr">
                    <a:noFill/>
                  </a:tcPr>
                </a:tc>
                <a:tc>
                  <a:txBody>
                    <a:bodyPr wrap="none"/>
                    <a:lstStyle/>
                    <a:p>
                      <a:pPr algn="r"/>
                      <a:r>
                        <a:rPr sz="800" b="0" i="0">
                          <a:solidFill>
                            <a:srgbClr val="1F2937"/>
                          </a:solidFill>
                          <a:latin typeface="Arial"/>
                        </a:rPr>
                        <a:t>0.0014</a:t>
                      </a:r>
                      <a:endParaRPr sz="800"/>
                    </a:p>
                  </a:txBody>
                  <a:tcPr marL="36576" marR="36576" marT="0" marB="0" anchor="ctr">
                    <a:noFill/>
                  </a:tcPr>
                </a:tc>
                <a:tc>
                  <a:txBody>
                    <a:bodyPr wrap="none"/>
                    <a:lstStyle/>
                    <a:p>
                      <a:pPr algn="r"/>
                      <a:r>
                        <a:rPr sz="800" b="0" i="0">
                          <a:solidFill>
                            <a:srgbClr val="1F2937"/>
                          </a:solidFill>
                          <a:latin typeface="Arial"/>
                        </a:rPr>
                        <a:t>0.0173</a:t>
                      </a:r>
                      <a:endParaRPr sz="800"/>
                    </a:p>
                  </a:txBody>
                  <a:tcPr marL="36576" marR="36576" marT="0" marB="0" anchor="ctr">
                    <a:noFill/>
                  </a:tcPr>
                </a:tc>
                <a:tc>
                  <a:txBody>
                    <a:bodyPr wrap="none"/>
                    <a:lstStyle/>
                    <a:p>
                      <a:pPr algn="r"/>
                      <a:r>
                        <a:rPr sz="800" b="0" i="0">
                          <a:solidFill>
                            <a:srgbClr val="1F2937"/>
                          </a:solidFill>
                          <a:latin typeface="Arial"/>
                        </a:rPr>
                        <a:t>0.0118</a:t>
                      </a:r>
                      <a:endParaRPr sz="800"/>
                    </a:p>
                  </a:txBody>
                  <a:tcPr marL="36576" marR="36576" marT="0" marB="0" anchor="ctr">
                    <a:noFill/>
                  </a:tcPr>
                </a:tc>
              </a:tr>
              <a:tr h="214884">
                <a:tc>
                  <a:txBody>
                    <a:bodyPr wrap="none"/>
                    <a:lstStyle/>
                    <a:p>
                      <a:pPr algn="l"/>
                      <a:r>
                        <a:rPr sz="800" b="0" i="0">
                          <a:solidFill>
                            <a:srgbClr val="1F2937"/>
                          </a:solidFill>
                          <a:latin typeface="Arial"/>
                        </a:rPr>
                        <a:t>LowRank</a:t>
                      </a:r>
                      <a:endParaRPr sz="800"/>
                    </a:p>
                  </a:txBody>
                  <a:tcPr marL="36576" marR="36576" marT="0" marB="0" anchor="ctr">
                    <a:noFill/>
                  </a:tcPr>
                </a:tc>
                <a:tc>
                  <a:txBody>
                    <a:bodyPr wrap="none"/>
                    <a:lstStyle/>
                    <a:p>
                      <a:pPr algn="r"/>
                      <a:r>
                        <a:rPr sz="800" b="0" i="0">
                          <a:solidFill>
                            <a:srgbClr val="1F2937"/>
                          </a:solidFill>
                          <a:latin typeface="Arial"/>
                        </a:rPr>
                        <a:t>0.0080</a:t>
                      </a:r>
                      <a:endParaRPr sz="800"/>
                    </a:p>
                  </a:txBody>
                  <a:tcPr marL="36576" marR="36576" marT="0" marB="0" anchor="ctr">
                    <a:noFill/>
                  </a:tcPr>
                </a:tc>
                <a:tc>
                  <a:txBody>
                    <a:bodyPr wrap="none"/>
                    <a:lstStyle/>
                    <a:p>
                      <a:pPr algn="r"/>
                      <a:r>
                        <a:rPr sz="800" b="0" i="0">
                          <a:solidFill>
                            <a:srgbClr val="1F2937"/>
                          </a:solidFill>
                          <a:latin typeface="Arial"/>
                        </a:rPr>
                        <a:t>0.0119</a:t>
                      </a:r>
                      <a:endParaRPr sz="800"/>
                    </a:p>
                  </a:txBody>
                  <a:tcPr marL="36576" marR="36576" marT="0" marB="0" anchor="ctr">
                    <a:noFill/>
                  </a:tcPr>
                </a:tc>
                <a:tc>
                  <a:txBody>
                    <a:bodyPr wrap="none"/>
                    <a:lstStyle/>
                    <a:p>
                      <a:pPr algn="r"/>
                      <a:r>
                        <a:rPr sz="800" b="0" i="0">
                          <a:solidFill>
                            <a:srgbClr val="1F2937"/>
                          </a:solidFill>
                          <a:latin typeface="Arial"/>
                        </a:rPr>
                        <a:t>0.0749</a:t>
                      </a:r>
                      <a:endParaRPr sz="800"/>
                    </a:p>
                  </a:txBody>
                  <a:tcPr marL="36576" marR="36576" marT="0" marB="0" anchor="ctr">
                    <a:noFill/>
                  </a:tcPr>
                </a:tc>
                <a:tc>
                  <a:txBody>
                    <a:bodyPr wrap="none"/>
                    <a:lstStyle/>
                    <a:p>
                      <a:pPr algn="r"/>
                      <a:r>
                        <a:rPr sz="800" b="1" i="0">
                          <a:solidFill>
                            <a:srgbClr val="1F2937"/>
                          </a:solidFill>
                          <a:latin typeface="Arial"/>
                        </a:rPr>
                        <a:t>0.0014</a:t>
                      </a:r>
                      <a:endParaRPr sz="800"/>
                    </a:p>
                  </a:txBody>
                  <a:tcPr marL="36576" marR="36576" marT="0" marB="0" anchor="ctr">
                    <a:noFill/>
                  </a:tcPr>
                </a:tc>
                <a:tc>
                  <a:txBody>
                    <a:bodyPr wrap="none"/>
                    <a:lstStyle/>
                    <a:p>
                      <a:pPr algn="r"/>
                      <a:r>
                        <a:rPr sz="800" b="1" i="0">
                          <a:solidFill>
                            <a:srgbClr val="1F2937"/>
                          </a:solidFill>
                          <a:latin typeface="Arial"/>
                        </a:rPr>
                        <a:t>0.0007</a:t>
                      </a:r>
                      <a:endParaRPr sz="800"/>
                    </a:p>
                  </a:txBody>
                  <a:tcPr marL="36576" marR="36576" marT="0" marB="0" anchor="ctr">
                    <a:noFill/>
                  </a:tcPr>
                </a:tc>
                <a:tc>
                  <a:txBody>
                    <a:bodyPr wrap="none"/>
                    <a:lstStyle/>
                    <a:p>
                      <a:pPr algn="r"/>
                      <a:r>
                        <a:rPr sz="800" b="0" i="0">
                          <a:solidFill>
                            <a:srgbClr val="1F2937"/>
                          </a:solidFill>
                          <a:latin typeface="Arial"/>
                        </a:rPr>
                        <a:t>0.0170</a:t>
                      </a:r>
                      <a:endParaRPr sz="800"/>
                    </a:p>
                  </a:txBody>
                  <a:tcPr marL="36576" marR="36576" marT="0" marB="0" anchor="ctr">
                    <a:noFill/>
                  </a:tcPr>
                </a:tc>
                <a:tc>
                  <a:txBody>
                    <a:bodyPr wrap="none"/>
                    <a:lstStyle/>
                    <a:p>
                      <a:pPr algn="r"/>
                      <a:r>
                        <a:rPr sz="800" b="0" i="0">
                          <a:solidFill>
                            <a:srgbClr val="1F2937"/>
                          </a:solidFill>
                          <a:latin typeface="Arial"/>
                        </a:rPr>
                        <a:t>0.0105</a:t>
                      </a:r>
                      <a:endParaRPr sz="800"/>
                    </a:p>
                  </a:txBody>
                  <a:tcPr marL="36576" marR="36576" marT="0" marB="0" anchor="ctr">
                    <a:noFill/>
                  </a:tcPr>
                </a:tc>
              </a:tr>
              <a:tr h="214884">
                <a:tc>
                  <a:txBody>
                    <a:bodyPr wrap="none"/>
                    <a:lstStyle/>
                    <a:p>
                      <a:pPr algn="l"/>
                      <a:r>
                        <a:rPr sz="800" b="0" i="0">
                          <a:solidFill>
                            <a:srgbClr val="1F2937"/>
                          </a:solidFill>
                          <a:latin typeface="Arial"/>
                        </a:rPr>
                        <a:t>EM</a:t>
                      </a:r>
                      <a:endParaRPr sz="800"/>
                    </a:p>
                  </a:txBody>
                  <a:tcPr marL="36576" marR="36576" marT="0" marB="0" anchor="ctr">
                    <a:noFill/>
                  </a:tcPr>
                </a:tc>
                <a:tc>
                  <a:txBody>
                    <a:bodyPr wrap="none"/>
                    <a:lstStyle/>
                    <a:p>
                      <a:pPr algn="r"/>
                      <a:r>
                        <a:rPr sz="800" b="1" i="0">
                          <a:solidFill>
                            <a:srgbClr val="1F2937"/>
                          </a:solidFill>
                          <a:latin typeface="Arial"/>
                        </a:rPr>
                        <a:t>0.0074</a:t>
                      </a:r>
                      <a:endParaRPr sz="800"/>
                    </a:p>
                  </a:txBody>
                  <a:tcPr marL="36576" marR="36576" marT="0" marB="0" anchor="ctr">
                    <a:noFill/>
                  </a:tcPr>
                </a:tc>
                <a:tc>
                  <a:txBody>
                    <a:bodyPr wrap="none"/>
                    <a:lstStyle/>
                    <a:p>
                      <a:pPr algn="r"/>
                      <a:r>
                        <a:rPr sz="800" b="1" i="0">
                          <a:solidFill>
                            <a:srgbClr val="1F2937"/>
                          </a:solidFill>
                          <a:latin typeface="Arial"/>
                        </a:rPr>
                        <a:t>0.0112</a:t>
                      </a:r>
                      <a:endParaRPr sz="800"/>
                    </a:p>
                  </a:txBody>
                  <a:tcPr marL="36576" marR="36576" marT="0" marB="0" anchor="ctr">
                    <a:noFill/>
                  </a:tcPr>
                </a:tc>
                <a:tc>
                  <a:txBody>
                    <a:bodyPr wrap="none"/>
                    <a:lstStyle/>
                    <a:p>
                      <a:pPr algn="r"/>
                      <a:r>
                        <a:rPr sz="800" b="0" i="0">
                          <a:solidFill>
                            <a:srgbClr val="1F2937"/>
                          </a:solidFill>
                          <a:latin typeface="Arial"/>
                        </a:rPr>
                        <a:t>0.0565</a:t>
                      </a:r>
                      <a:endParaRPr sz="800"/>
                    </a:p>
                  </a:txBody>
                  <a:tcPr marL="36576" marR="36576" marT="0" marB="0" anchor="ctr">
                    <a:noFill/>
                  </a:tcPr>
                </a:tc>
                <a:tc>
                  <a:txBody>
                    <a:bodyPr wrap="none"/>
                    <a:lstStyle/>
                    <a:p>
                      <a:pPr algn="r"/>
                      <a:r>
                        <a:rPr sz="800" b="0" i="0">
                          <a:solidFill>
                            <a:srgbClr val="1F2937"/>
                          </a:solidFill>
                          <a:latin typeface="Arial"/>
                        </a:rPr>
                        <a:t>0.0017</a:t>
                      </a:r>
                      <a:endParaRPr sz="800"/>
                    </a:p>
                  </a:txBody>
                  <a:tcPr marL="36576" marR="36576" marT="0" marB="0" anchor="ctr">
                    <a:noFill/>
                  </a:tcPr>
                </a:tc>
                <a:tc>
                  <a:txBody>
                    <a:bodyPr wrap="none"/>
                    <a:lstStyle/>
                    <a:p>
                      <a:pPr algn="r"/>
                      <a:r>
                        <a:rPr sz="800" b="0" i="0">
                          <a:solidFill>
                            <a:srgbClr val="1F2937"/>
                          </a:solidFill>
                          <a:latin typeface="Arial"/>
                        </a:rPr>
                        <a:t>0.0009</a:t>
                      </a:r>
                      <a:endParaRPr sz="800"/>
                    </a:p>
                  </a:txBody>
                  <a:tcPr marL="36576" marR="36576" marT="0" marB="0" anchor="ctr">
                    <a:noFill/>
                  </a:tcPr>
                </a:tc>
                <a:tc>
                  <a:txBody>
                    <a:bodyPr wrap="none"/>
                    <a:lstStyle/>
                    <a:p>
                      <a:pPr algn="r"/>
                      <a:r>
                        <a:rPr sz="800" b="0" i="0">
                          <a:solidFill>
                            <a:srgbClr val="1F2937"/>
                          </a:solidFill>
                          <a:latin typeface="Arial"/>
                        </a:rPr>
                        <a:t>0.0150</a:t>
                      </a:r>
                      <a:endParaRPr sz="800"/>
                    </a:p>
                  </a:txBody>
                  <a:tcPr marL="36576" marR="36576" marT="0" marB="0" anchor="ctr">
                    <a:noFill/>
                  </a:tcPr>
                </a:tc>
                <a:tc>
                  <a:txBody>
                    <a:bodyPr wrap="none"/>
                    <a:lstStyle/>
                    <a:p>
                      <a:pPr algn="r"/>
                      <a:r>
                        <a:rPr sz="800" b="1" i="0">
                          <a:solidFill>
                            <a:srgbClr val="1F2937"/>
                          </a:solidFill>
                          <a:latin typeface="Arial"/>
                        </a:rPr>
                        <a:t>0.0099</a:t>
                      </a:r>
                      <a:endParaRPr sz="800"/>
                    </a:p>
                  </a:txBody>
                  <a:tcPr marL="36576" marR="36576" marT="0" marB="0" anchor="ctr">
                    <a:noFill/>
                  </a:tcPr>
                </a:tc>
              </a:tr>
              <a:tr h="214884">
                <a:tc>
                  <a:txBody>
                    <a:bodyPr wrap="none"/>
                    <a:lstStyle/>
                    <a:p>
                      <a:pPr algn="l"/>
                      <a:r>
                        <a:rPr sz="800" b="0" i="0">
                          <a:solidFill>
                            <a:srgbClr val="1F2937"/>
                          </a:solidFill>
                          <a:latin typeface="Arial"/>
                        </a:rPr>
                        <a:t>BRITS</a:t>
                      </a:r>
                      <a:endParaRPr sz="800"/>
                    </a:p>
                  </a:txBody>
                  <a:tcPr marL="36576" marR="36576" marT="0" marB="0" anchor="ctr">
                    <a:noFill/>
                  </a:tcPr>
                </a:tc>
                <a:tc>
                  <a:txBody>
                    <a:bodyPr wrap="none"/>
                    <a:lstStyle/>
                    <a:p>
                      <a:pPr algn="r"/>
                      <a:r>
                        <a:rPr sz="800" b="0" i="0">
                          <a:solidFill>
                            <a:srgbClr val="1F2937"/>
                          </a:solidFill>
                          <a:latin typeface="Arial"/>
                        </a:rPr>
                        <a:t>0.0076</a:t>
                      </a:r>
                      <a:endParaRPr sz="800"/>
                    </a:p>
                  </a:txBody>
                  <a:tcPr marL="36576" marR="36576" marT="0" marB="0" anchor="ctr">
                    <a:noFill/>
                  </a:tcPr>
                </a:tc>
                <a:tc>
                  <a:txBody>
                    <a:bodyPr wrap="none"/>
                    <a:lstStyle/>
                    <a:p>
                      <a:pPr algn="r"/>
                      <a:r>
                        <a:rPr sz="800" b="0" i="0">
                          <a:solidFill>
                            <a:srgbClr val="1F2937"/>
                          </a:solidFill>
                          <a:latin typeface="Arial"/>
                        </a:rPr>
                        <a:t>0.0114</a:t>
                      </a:r>
                      <a:endParaRPr sz="800"/>
                    </a:p>
                  </a:txBody>
                  <a:tcPr marL="36576" marR="36576" marT="0" marB="0" anchor="ctr">
                    <a:noFill/>
                  </a:tcPr>
                </a:tc>
                <a:tc>
                  <a:txBody>
                    <a:bodyPr wrap="none"/>
                    <a:lstStyle/>
                    <a:p>
                      <a:pPr algn="r"/>
                      <a:r>
                        <a:rPr sz="800" b="1" i="0">
                          <a:solidFill>
                            <a:srgbClr val="1F2937"/>
                          </a:solidFill>
                          <a:latin typeface="Arial"/>
                        </a:rPr>
                        <a:t>0.0536</a:t>
                      </a:r>
                      <a:endParaRPr sz="800"/>
                    </a:p>
                  </a:txBody>
                  <a:tcPr marL="36576" marR="36576" marT="0" marB="0" anchor="ctr">
                    <a:noFill/>
                  </a:tcPr>
                </a:tc>
                <a:tc>
                  <a:txBody>
                    <a:bodyPr wrap="none"/>
                    <a:lstStyle/>
                    <a:p>
                      <a:pPr algn="r"/>
                      <a:r>
                        <a:rPr sz="800" b="0" i="0">
                          <a:solidFill>
                            <a:srgbClr val="1F2937"/>
                          </a:solidFill>
                          <a:latin typeface="Arial"/>
                        </a:rPr>
                        <a:t>0.0015</a:t>
                      </a:r>
                      <a:endParaRPr sz="800"/>
                    </a:p>
                  </a:txBody>
                  <a:tcPr marL="36576" marR="36576" marT="0" marB="0" anchor="ctr">
                    <a:noFill/>
                  </a:tcPr>
                </a:tc>
                <a:tc>
                  <a:txBody>
                    <a:bodyPr wrap="none"/>
                    <a:lstStyle/>
                    <a:p>
                      <a:pPr algn="r"/>
                      <a:r>
                        <a:rPr sz="800" b="0" i="0">
                          <a:solidFill>
                            <a:srgbClr val="1F2937"/>
                          </a:solidFill>
                          <a:latin typeface="Arial"/>
                        </a:rPr>
                        <a:t>0.0008</a:t>
                      </a:r>
                      <a:endParaRPr sz="800"/>
                    </a:p>
                  </a:txBody>
                  <a:tcPr marL="36576" marR="36576" marT="0" marB="0" anchor="ctr">
                    <a:noFill/>
                  </a:tcPr>
                </a:tc>
                <a:tc>
                  <a:txBody>
                    <a:bodyPr wrap="none"/>
                    <a:lstStyle/>
                    <a:p>
                      <a:pPr algn="r"/>
                      <a:r>
                        <a:rPr sz="800" b="1" i="0">
                          <a:solidFill>
                            <a:srgbClr val="1F2937"/>
                          </a:solidFill>
                          <a:latin typeface="Arial"/>
                        </a:rPr>
                        <a:t>0.0149</a:t>
                      </a:r>
                      <a:endParaRPr sz="800"/>
                    </a:p>
                  </a:txBody>
                  <a:tcPr marL="36576" marR="36576" marT="0" marB="0" anchor="ctr">
                    <a:noFill/>
                  </a:tcPr>
                </a:tc>
                <a:tc>
                  <a:txBody>
                    <a:bodyPr wrap="none"/>
                    <a:lstStyle/>
                    <a:p>
                      <a:pPr algn="r"/>
                      <a:r>
                        <a:rPr sz="800" b="0" i="0">
                          <a:solidFill>
                            <a:srgbClr val="1F2937"/>
                          </a:solidFill>
                          <a:latin typeface="Arial"/>
                        </a:rPr>
                        <a:t>0.0101</a:t>
                      </a:r>
                      <a:endParaRPr sz="800"/>
                    </a:p>
                  </a:txBody>
                  <a:tcPr marL="36576" marR="36576" marT="0" marB="0" anchor="ctr">
                    <a:noFill/>
                  </a:tcPr>
                </a:tc>
              </a:tr>
              <a:tr h="214884">
                <a:tc>
                  <a:txBody>
                    <a:bodyPr wrap="none"/>
                    <a:lstStyle/>
                    <a:p>
                      <a:pPr algn="l"/>
                      <a:r>
                        <a:rPr sz="800" b="0" i="0">
                          <a:solidFill>
                            <a:srgbClr val="1F2937"/>
                          </a:solidFill>
                          <a:latin typeface="Arial"/>
                        </a:rPr>
                        <a:t>CSDI</a:t>
                      </a:r>
                      <a:endParaRPr sz="800"/>
                    </a:p>
                  </a:txBody>
                  <a:tcPr marL="36576" marR="36576" marT="0" marB="0" anchor="ctr">
                    <a:lnB w="15875">
                      <a:solidFill>
                        <a:srgbClr val="14213D"/>
                      </a:solidFill>
                    </a:lnB>
                    <a:noFill/>
                  </a:tcPr>
                </a:tc>
                <a:tc>
                  <a:txBody>
                    <a:bodyPr wrap="none"/>
                    <a:lstStyle/>
                    <a:p>
                      <a:pPr algn="r"/>
                      <a:r>
                        <a:rPr sz="800" b="1" i="0">
                          <a:solidFill>
                            <a:srgbClr val="1F2937"/>
                          </a:solidFill>
                          <a:latin typeface="Arial"/>
                        </a:rPr>
                        <a:t>0.0074</a:t>
                      </a:r>
                      <a:endParaRPr sz="800"/>
                    </a:p>
                  </a:txBody>
                  <a:tcPr marL="36576" marR="36576" marT="0" marB="0" anchor="ctr">
                    <a:lnB w="15875">
                      <a:solidFill>
                        <a:srgbClr val="14213D"/>
                      </a:solidFill>
                    </a:lnB>
                    <a:noFill/>
                  </a:tcPr>
                </a:tc>
                <a:tc>
                  <a:txBody>
                    <a:bodyPr wrap="none"/>
                    <a:lstStyle/>
                    <a:p>
                      <a:pPr algn="r"/>
                      <a:r>
                        <a:rPr sz="800" b="0" i="0">
                          <a:solidFill>
                            <a:srgbClr val="1F2937"/>
                          </a:solidFill>
                          <a:latin typeface="Arial"/>
                        </a:rPr>
                        <a:t>0.0113</a:t>
                      </a:r>
                      <a:endParaRPr sz="800"/>
                    </a:p>
                  </a:txBody>
                  <a:tcPr marL="36576" marR="36576" marT="0" marB="0" anchor="ctr">
                    <a:lnB w="15875">
                      <a:solidFill>
                        <a:srgbClr val="14213D"/>
                      </a:solidFill>
                    </a:lnB>
                    <a:noFill/>
                  </a:tcPr>
                </a:tc>
                <a:tc>
                  <a:txBody>
                    <a:bodyPr wrap="none"/>
                    <a:lstStyle/>
                    <a:p>
                      <a:pPr algn="r"/>
                      <a:r>
                        <a:rPr sz="800" b="0" i="0">
                          <a:solidFill>
                            <a:srgbClr val="1F2937"/>
                          </a:solidFill>
                          <a:latin typeface="Arial"/>
                        </a:rPr>
                        <a:t>0.0641</a:t>
                      </a:r>
                      <a:endParaRPr sz="800"/>
                    </a:p>
                  </a:txBody>
                  <a:tcPr marL="36576" marR="36576" marT="0" marB="0" anchor="ctr">
                    <a:lnB w="15875">
                      <a:solidFill>
                        <a:srgbClr val="14213D"/>
                      </a:solidFill>
                    </a:lnB>
                    <a:noFill/>
                  </a:tcPr>
                </a:tc>
                <a:tc>
                  <a:txBody>
                    <a:bodyPr wrap="none"/>
                    <a:lstStyle/>
                    <a:p>
                      <a:pPr algn="r"/>
                      <a:r>
                        <a:rPr sz="800" b="1" i="0">
                          <a:solidFill>
                            <a:srgbClr val="1F2937"/>
                          </a:solidFill>
                          <a:latin typeface="Arial"/>
                        </a:rPr>
                        <a:t>0.0014</a:t>
                      </a:r>
                      <a:endParaRPr sz="800"/>
                    </a:p>
                  </a:txBody>
                  <a:tcPr marL="36576" marR="36576" marT="0" marB="0" anchor="ctr">
                    <a:lnB w="15875">
                      <a:solidFill>
                        <a:srgbClr val="14213D"/>
                      </a:solidFill>
                    </a:lnB>
                    <a:noFill/>
                  </a:tcPr>
                </a:tc>
                <a:tc>
                  <a:txBody>
                    <a:bodyPr wrap="none"/>
                    <a:lstStyle/>
                    <a:p>
                      <a:pPr algn="r"/>
                      <a:r>
                        <a:rPr sz="800" b="0" i="0">
                          <a:solidFill>
                            <a:srgbClr val="1F2937"/>
                          </a:solidFill>
                          <a:latin typeface="Arial"/>
                        </a:rPr>
                        <a:t>0.0008</a:t>
                      </a:r>
                      <a:endParaRPr sz="800"/>
                    </a:p>
                  </a:txBody>
                  <a:tcPr marL="36576" marR="36576" marT="0" marB="0" anchor="ctr">
                    <a:lnB w="15875">
                      <a:solidFill>
                        <a:srgbClr val="14213D"/>
                      </a:solidFill>
                    </a:lnB>
                    <a:noFill/>
                  </a:tcPr>
                </a:tc>
                <a:tc>
                  <a:txBody>
                    <a:bodyPr wrap="none"/>
                    <a:lstStyle/>
                    <a:p>
                      <a:pPr algn="r"/>
                      <a:r>
                        <a:rPr sz="800" b="0" i="0">
                          <a:solidFill>
                            <a:srgbClr val="1F2937"/>
                          </a:solidFill>
                          <a:latin typeface="Arial"/>
                        </a:rPr>
                        <a:t>0.0203</a:t>
                      </a:r>
                      <a:endParaRPr sz="800"/>
                    </a:p>
                  </a:txBody>
                  <a:tcPr marL="36576" marR="36576" marT="0" marB="0" anchor="ctr">
                    <a:lnB w="15875">
                      <a:solidFill>
                        <a:srgbClr val="14213D"/>
                      </a:solidFill>
                    </a:lnB>
                    <a:noFill/>
                  </a:tcPr>
                </a:tc>
                <a:tc>
                  <a:txBody>
                    <a:bodyPr wrap="none"/>
                    <a:lstStyle/>
                    <a:p>
                      <a:pPr algn="r"/>
                      <a:r>
                        <a:rPr sz="800" b="0" i="0">
                          <a:solidFill>
                            <a:srgbClr val="1F2937"/>
                          </a:solidFill>
                          <a:latin typeface="Arial"/>
                        </a:rPr>
                        <a:t>0.0112</a:t>
                      </a:r>
                      <a:endParaRPr sz="800"/>
                    </a:p>
                  </a:txBody>
                  <a:tcPr marL="36576" marR="36576" marT="0" marB="0" anchor="ctr">
                    <a:lnB w="15875">
                      <a:solidFill>
                        <a:srgbClr val="14213D"/>
                      </a:solidFill>
                    </a:lnB>
                    <a:no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548640" y="393192"/>
            <a:ext cx="77724" cy="77724"/>
          </a:xfrm>
          <a:prstGeom prst="rect">
            <a:avLst/>
          </a:prstGeom>
          <a:solidFill>
            <a:srgbClr val="C4C9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62940" y="393192"/>
            <a:ext cx="77724" cy="77724"/>
          </a:xfrm>
          <a:prstGeom prst="rect">
            <a:avLst/>
          </a:prstGeom>
          <a:solidFill>
            <a:srgbClr val="C4C9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393192"/>
            <a:ext cx="77724" cy="77724"/>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329184"/>
            <a:ext cx="8229600" cy="274320"/>
          </a:xfrm>
          <a:prstGeom prst="rect">
            <a:avLst/>
          </a:prstGeom>
          <a:noFill/>
        </p:spPr>
        <p:txBody>
          <a:bodyPr wrap="square" lIns="0" rIns="0" tIns="0" bIns="0" anchor="t">
            <a:noAutofit/>
          </a:bodyPr>
          <a:lstStyle/>
          <a:p>
            <a:pPr algn="l">
              <a:spcAft>
                <a:spcPts val="600"/>
              </a:spcAft>
            </a:pPr>
            <a:r>
              <a:rPr sz="1100" b="1" i="0" spc="150">
                <a:solidFill>
                  <a:srgbClr val="E4572E"/>
                </a:solidFill>
                <a:latin typeface="Arial"/>
              </a:rPr>
              <a:t>BACKUP</a:t>
            </a:r>
            <a:endParaRPr sz="1100"/>
          </a:p>
        </p:txBody>
      </p:sp>
      <p:sp>
        <p:nvSpPr>
          <p:cNvPr id="6" name="TextBox 5"/>
          <p:cNvSpPr txBox="1"/>
          <p:nvPr/>
        </p:nvSpPr>
        <p:spPr>
          <a:xfrm>
            <a:off x="548640" y="585216"/>
            <a:ext cx="11091672" cy="411480"/>
          </a:xfrm>
          <a:prstGeom prst="rect">
            <a:avLst/>
          </a:prstGeom>
          <a:noFill/>
        </p:spPr>
        <p:txBody>
          <a:bodyPr wrap="square" lIns="0" rIns="0" tIns="0" bIns="0" anchor="t">
            <a:noAutofit/>
          </a:bodyPr>
          <a:lstStyle/>
          <a:p>
            <a:pPr algn="l">
              <a:spcAft>
                <a:spcPts val="600"/>
              </a:spcAft>
            </a:pPr>
            <a:r>
              <a:rPr sz="1750" b="1" i="0">
                <a:solidFill>
                  <a:srgbClr val="14213D"/>
                </a:solidFill>
                <a:latin typeface="Georgia"/>
              </a:rPr>
              <a:t>Evaluation scores under contiguous-gap missingness (Table 3.2; best per level in bold)</a:t>
            </a:r>
            <a:endParaRPr sz="1750"/>
          </a:p>
        </p:txBody>
      </p:sp>
      <p:graphicFrame>
        <p:nvGraphicFramePr>
          <p:cNvPr id="7" name="Table 6"/>
          <p:cNvGraphicFramePr>
            <a:graphicFrameLocks noGrp="1"/>
          </p:cNvGraphicFramePr>
          <p:nvPr/>
        </p:nvGraphicFramePr>
        <p:xfrm>
          <a:off x="548640" y="1051560"/>
          <a:ext cx="5440680" cy="5372100"/>
        </p:xfrm>
        <a:graphic>
          <a:graphicData uri="http://schemas.openxmlformats.org/drawingml/2006/table">
            <a:tbl>
              <a:tblPr firstRow="0" bandRow="0">
                <a:tableStyleId>{2D5ABB26-0587-4C30-8999-92F81FD0307C}</a:tableStyleId>
              </a:tblPr>
              <a:tblGrid>
                <a:gridCol w="713232"/>
                <a:gridCol w="658368"/>
                <a:gridCol w="658368"/>
                <a:gridCol w="658368"/>
                <a:gridCol w="658368"/>
                <a:gridCol w="658368"/>
                <a:gridCol w="777240"/>
                <a:gridCol w="658368"/>
              </a:tblGrid>
              <a:tr h="214884">
                <a:tc>
                  <a:txBody>
                    <a:bodyPr wrap="none"/>
                    <a:lstStyle/>
                    <a:p>
                      <a:pPr algn="l"/>
                      <a:r>
                        <a:rPr sz="800" b="1" i="0">
                          <a:solidFill>
                            <a:srgbClr val="1F2937"/>
                          </a:solidFill>
                          <a:latin typeface="Arial"/>
                        </a:rPr>
                        <a:t>Model</a:t>
                      </a:r>
                      <a:endParaRPr sz="800"/>
                    </a:p>
                  </a:txBody>
                  <a:tcPr marL="36576" marR="36576" marT="0" marB="0" anchor="ctr">
                    <a:lnT w="15875">
                      <a:solidFill>
                        <a:srgbClr val="14213D"/>
                      </a:solidFill>
                    </a:lnT>
                    <a:lnB w="9525">
                      <a:solidFill>
                        <a:srgbClr val="14213D"/>
                      </a:solidFill>
                    </a:lnB>
                    <a:noFill/>
                  </a:tcPr>
                </a:tc>
                <a:tc>
                  <a:txBody>
                    <a:bodyPr wrap="none"/>
                    <a:lstStyle/>
                    <a:p>
                      <a:pPr algn="r"/>
                      <a:r>
                        <a:rPr sz="800" b="1" i="0">
                          <a:solidFill>
                            <a:srgbClr val="1F2937"/>
                          </a:solidFill>
                          <a:latin typeface="Arial"/>
                        </a:rPr>
                        <a:t>MAE</a:t>
                      </a:r>
                      <a:endParaRPr sz="800"/>
                    </a:p>
                  </a:txBody>
                  <a:tcPr marL="36576" marR="36576" marT="0" marB="0" anchor="ctr">
                    <a:lnT w="15875">
                      <a:solidFill>
                        <a:srgbClr val="14213D"/>
                      </a:solidFill>
                    </a:lnT>
                    <a:lnB w="9525">
                      <a:solidFill>
                        <a:srgbClr val="14213D"/>
                      </a:solidFill>
                    </a:lnB>
                    <a:noFill/>
                  </a:tcPr>
                </a:tc>
                <a:tc>
                  <a:txBody>
                    <a:bodyPr wrap="none"/>
                    <a:lstStyle/>
                    <a:p>
                      <a:pPr algn="r"/>
                      <a:r>
                        <a:rPr sz="800" b="1" i="0">
                          <a:solidFill>
                            <a:srgbClr val="1F2937"/>
                          </a:solidFill>
                          <a:latin typeface="Arial"/>
                        </a:rPr>
                        <a:t>RMSE</a:t>
                      </a:r>
                      <a:endParaRPr sz="800"/>
                    </a:p>
                  </a:txBody>
                  <a:tcPr marL="36576" marR="36576" marT="0" marB="0" anchor="ctr">
                    <a:lnT w="15875">
                      <a:solidFill>
                        <a:srgbClr val="14213D"/>
                      </a:solidFill>
                    </a:lnT>
                    <a:lnB w="9525">
                      <a:solidFill>
                        <a:srgbClr val="14213D"/>
                      </a:solidFill>
                    </a:lnB>
                    <a:noFill/>
                  </a:tcPr>
                </a:tc>
                <a:tc>
                  <a:txBody>
                    <a:bodyPr wrap="none"/>
                    <a:lstStyle/>
                    <a:p>
                      <a:pPr algn="r"/>
                      <a:r>
                        <a:rPr sz="800" b="1" i="0">
                          <a:solidFill>
                            <a:srgbClr val="1F2937"/>
                          </a:solidFill>
                          <a:latin typeface="Arial"/>
                        </a:rPr>
                        <a:t>CovErr</a:t>
                      </a:r>
                      <a:endParaRPr sz="800"/>
                    </a:p>
                  </a:txBody>
                  <a:tcPr marL="36576" marR="36576" marT="0" marB="0" anchor="ctr">
                    <a:lnT w="15875">
                      <a:solidFill>
                        <a:srgbClr val="14213D"/>
                      </a:solidFill>
                    </a:lnT>
                    <a:lnB w="9525">
                      <a:solidFill>
                        <a:srgbClr val="14213D"/>
                      </a:solidFill>
                    </a:lnB>
                    <a:noFill/>
                  </a:tcPr>
                </a:tc>
                <a:tc>
                  <a:txBody>
                    <a:bodyPr wrap="none"/>
                    <a:lstStyle/>
                    <a:p>
                      <a:pPr algn="r"/>
                      <a:r>
                        <a:rPr sz="800" b="1" i="0">
                          <a:solidFill>
                            <a:srgbClr val="1F2937"/>
                          </a:solidFill>
                          <a:latin typeface="Arial"/>
                        </a:rPr>
                        <a:t>VaRErr</a:t>
                      </a:r>
                      <a:endParaRPr sz="800"/>
                    </a:p>
                  </a:txBody>
                  <a:tcPr marL="36576" marR="36576" marT="0" marB="0" anchor="ctr">
                    <a:lnT w="15875">
                      <a:solidFill>
                        <a:srgbClr val="14213D"/>
                      </a:solidFill>
                    </a:lnT>
                    <a:lnB w="9525">
                      <a:solidFill>
                        <a:srgbClr val="14213D"/>
                      </a:solidFill>
                    </a:lnB>
                    <a:noFill/>
                  </a:tcPr>
                </a:tc>
                <a:tc>
                  <a:txBody>
                    <a:bodyPr wrap="none"/>
                    <a:lstStyle/>
                    <a:p>
                      <a:pPr algn="r"/>
                      <a:r>
                        <a:rPr sz="800" b="1" i="0">
                          <a:solidFill>
                            <a:srgbClr val="1F2937"/>
                          </a:solidFill>
                          <a:latin typeface="Arial"/>
                        </a:rPr>
                        <a:t>WassErr</a:t>
                      </a:r>
                      <a:endParaRPr sz="800"/>
                    </a:p>
                  </a:txBody>
                  <a:tcPr marL="36576" marR="36576" marT="0" marB="0" anchor="ctr">
                    <a:lnT w="15875">
                      <a:solidFill>
                        <a:srgbClr val="14213D"/>
                      </a:solidFill>
                    </a:lnT>
                    <a:lnB w="9525">
                      <a:solidFill>
                        <a:srgbClr val="14213D"/>
                      </a:solidFill>
                    </a:lnB>
                    <a:noFill/>
                  </a:tcPr>
                </a:tc>
                <a:tc>
                  <a:txBody>
                    <a:bodyPr wrap="none"/>
                    <a:lstStyle/>
                    <a:p>
                      <a:pPr algn="r"/>
                      <a:r>
                        <a:rPr sz="800" b="1" i="0">
                          <a:solidFill>
                            <a:srgbClr val="1F2937"/>
                          </a:solidFill>
                          <a:latin typeface="Arial"/>
                        </a:rPr>
                        <a:t>AbsACFErr</a:t>
                      </a:r>
                      <a:endParaRPr sz="800"/>
                    </a:p>
                  </a:txBody>
                  <a:tcPr marL="36576" marR="36576" marT="0" marB="0" anchor="ctr">
                    <a:lnT w="15875">
                      <a:solidFill>
                        <a:srgbClr val="14213D"/>
                      </a:solidFill>
                    </a:lnT>
                    <a:lnB w="9525">
                      <a:solidFill>
                        <a:srgbClr val="14213D"/>
                      </a:solidFill>
                    </a:lnB>
                    <a:noFill/>
                  </a:tcPr>
                </a:tc>
                <a:tc>
                  <a:txBody>
                    <a:bodyPr wrap="none"/>
                    <a:lstStyle/>
                    <a:p>
                      <a:pPr algn="r"/>
                      <a:r>
                        <a:rPr sz="800" b="1" i="0">
                          <a:solidFill>
                            <a:srgbClr val="1F2937"/>
                          </a:solidFill>
                          <a:latin typeface="Arial"/>
                        </a:rPr>
                        <a:t>LevErr</a:t>
                      </a:r>
                      <a:endParaRPr sz="800"/>
                    </a:p>
                  </a:txBody>
                  <a:tcPr marL="36576" marR="36576" marT="0" marB="0" anchor="ctr">
                    <a:lnT w="15875">
                      <a:solidFill>
                        <a:srgbClr val="14213D"/>
                      </a:solidFill>
                    </a:lnT>
                    <a:lnB w="9525">
                      <a:solidFill>
                        <a:srgbClr val="14213D"/>
                      </a:solidFill>
                    </a:lnB>
                    <a:noFill/>
                  </a:tcPr>
                </a:tc>
              </a:tr>
              <a:tr h="214884">
                <a:tc gridSpan="8">
                  <a:txBody>
                    <a:bodyPr wrap="none"/>
                    <a:lstStyle/>
                    <a:p>
                      <a:pPr algn="l"/>
                      <a:r>
                        <a:rPr sz="800" b="1" i="0">
                          <a:solidFill>
                            <a:srgbClr val="E4572E"/>
                          </a:solidFill>
                          <a:latin typeface="Arial"/>
                        </a:rPr>
                        <a:t>Level (20, 10)</a:t>
                      </a: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r>
              <a:tr h="214884">
                <a:tc>
                  <a:txBody>
                    <a:bodyPr wrap="none"/>
                    <a:lstStyle/>
                    <a:p>
                      <a:pPr algn="l"/>
                      <a:r>
                        <a:rPr sz="800" b="0" i="0">
                          <a:solidFill>
                            <a:srgbClr val="1F2937"/>
                          </a:solidFill>
                          <a:latin typeface="Arial"/>
                        </a:rPr>
                        <a:t>Deletion</a:t>
                      </a:r>
                      <a:endParaRPr sz="800"/>
                    </a:p>
                  </a:txBody>
                  <a:tcPr marL="36576" marR="36576" marT="0" marB="0" anchor="ctr">
                    <a:noFill/>
                  </a:tcPr>
                </a:tc>
                <a:tc>
                  <a:txBody>
                    <a:bodyPr wrap="none"/>
                    <a:lstStyle/>
                    <a:p>
                      <a:pPr algn="r"/>
                      <a:r>
                        <a:rPr sz="800" b="0" i="0">
                          <a:solidFill>
                            <a:srgbClr val="1F2937"/>
                          </a:solidFill>
                          <a:latin typeface="Arial"/>
                        </a:rPr>
                        <a:t>--</a:t>
                      </a:r>
                      <a:endParaRPr sz="800"/>
                    </a:p>
                  </a:txBody>
                  <a:tcPr marL="36576" marR="36576" marT="0" marB="0" anchor="ctr">
                    <a:noFill/>
                  </a:tcPr>
                </a:tc>
                <a:tc>
                  <a:txBody>
                    <a:bodyPr wrap="none"/>
                    <a:lstStyle/>
                    <a:p>
                      <a:pPr algn="r"/>
                      <a:r>
                        <a:rPr sz="800" b="0" i="0">
                          <a:solidFill>
                            <a:srgbClr val="1F2937"/>
                          </a:solidFill>
                          <a:latin typeface="Arial"/>
                        </a:rPr>
                        <a:t>--</a:t>
                      </a:r>
                      <a:endParaRPr sz="800"/>
                    </a:p>
                  </a:txBody>
                  <a:tcPr marL="36576" marR="36576" marT="0" marB="0" anchor="ctr">
                    <a:noFill/>
                  </a:tcPr>
                </a:tc>
                <a:tc>
                  <a:txBody>
                    <a:bodyPr wrap="none"/>
                    <a:lstStyle/>
                    <a:p>
                      <a:pPr algn="r"/>
                      <a:r>
                        <a:rPr sz="800" b="0" i="0">
                          <a:solidFill>
                            <a:srgbClr val="1F2937"/>
                          </a:solidFill>
                          <a:latin typeface="Arial"/>
                        </a:rPr>
                        <a:t>0.0103</a:t>
                      </a:r>
                      <a:endParaRPr sz="800"/>
                    </a:p>
                  </a:txBody>
                  <a:tcPr marL="36576" marR="36576" marT="0" marB="0" anchor="ctr">
                    <a:noFill/>
                  </a:tcPr>
                </a:tc>
                <a:tc>
                  <a:txBody>
                    <a:bodyPr wrap="none"/>
                    <a:lstStyle/>
                    <a:p>
                      <a:pPr algn="r"/>
                      <a:r>
                        <a:rPr sz="800" b="0" i="0">
                          <a:solidFill>
                            <a:srgbClr val="1F2937"/>
                          </a:solidFill>
                          <a:latin typeface="Arial"/>
                        </a:rPr>
                        <a:t>0.0001</a:t>
                      </a:r>
                      <a:endParaRPr sz="800"/>
                    </a:p>
                  </a:txBody>
                  <a:tcPr marL="36576" marR="36576" marT="0" marB="0" anchor="ctr">
                    <a:noFill/>
                  </a:tcPr>
                </a:tc>
                <a:tc>
                  <a:txBody>
                    <a:bodyPr wrap="none"/>
                    <a:lstStyle/>
                    <a:p>
                      <a:pPr algn="r"/>
                      <a:r>
                        <a:rPr sz="800" b="0" i="0">
                          <a:solidFill>
                            <a:srgbClr val="1F2937"/>
                          </a:solidFill>
                          <a:latin typeface="Arial"/>
                        </a:rPr>
                        <a:t>0.0001</a:t>
                      </a:r>
                      <a:endParaRPr sz="800"/>
                    </a:p>
                  </a:txBody>
                  <a:tcPr marL="36576" marR="36576" marT="0" marB="0" anchor="ctr">
                    <a:noFill/>
                  </a:tcPr>
                </a:tc>
                <a:tc>
                  <a:txBody>
                    <a:bodyPr wrap="none"/>
                    <a:lstStyle/>
                    <a:p>
                      <a:pPr algn="r"/>
                      <a:r>
                        <a:rPr sz="800" b="0" i="0">
                          <a:solidFill>
                            <a:srgbClr val="1F2937"/>
                          </a:solidFill>
                          <a:latin typeface="Arial"/>
                        </a:rPr>
                        <a:t>0.0033</a:t>
                      </a:r>
                      <a:endParaRPr sz="800"/>
                    </a:p>
                  </a:txBody>
                  <a:tcPr marL="36576" marR="36576" marT="0" marB="0" anchor="ctr">
                    <a:noFill/>
                  </a:tcPr>
                </a:tc>
                <a:tc>
                  <a:txBody>
                    <a:bodyPr wrap="none"/>
                    <a:lstStyle/>
                    <a:p>
                      <a:pPr algn="r"/>
                      <a:r>
                        <a:rPr sz="800" b="0" i="0">
                          <a:solidFill>
                            <a:srgbClr val="1F2937"/>
                          </a:solidFill>
                          <a:latin typeface="Arial"/>
                        </a:rPr>
                        <a:t>0.0033</a:t>
                      </a:r>
                      <a:endParaRPr sz="800"/>
                    </a:p>
                  </a:txBody>
                  <a:tcPr marL="36576" marR="36576" marT="0" marB="0" anchor="ctr">
                    <a:noFill/>
                  </a:tcPr>
                </a:tc>
              </a:tr>
              <a:tr h="214884">
                <a:tc>
                  <a:txBody>
                    <a:bodyPr wrap="none"/>
                    <a:lstStyle/>
                    <a:p>
                      <a:pPr algn="l"/>
                      <a:r>
                        <a:rPr sz="800" b="0" i="0">
                          <a:solidFill>
                            <a:srgbClr val="1F2937"/>
                          </a:solidFill>
                          <a:latin typeface="Arial"/>
                        </a:rPr>
                        <a:t>Zero</a:t>
                      </a:r>
                      <a:endParaRPr sz="800"/>
                    </a:p>
                  </a:txBody>
                  <a:tcPr marL="36576" marR="36576" marT="0" marB="0" anchor="ctr">
                    <a:noFill/>
                  </a:tcPr>
                </a:tc>
                <a:tc>
                  <a:txBody>
                    <a:bodyPr wrap="none"/>
                    <a:lstStyle/>
                    <a:p>
                      <a:pPr algn="r"/>
                      <a:r>
                        <a:rPr sz="800" b="0" i="0">
                          <a:solidFill>
                            <a:srgbClr val="1F2937"/>
                          </a:solidFill>
                          <a:latin typeface="Arial"/>
                        </a:rPr>
                        <a:t>0.0121</a:t>
                      </a:r>
                      <a:endParaRPr sz="800"/>
                    </a:p>
                  </a:txBody>
                  <a:tcPr marL="36576" marR="36576" marT="0" marB="0" anchor="ctr">
                    <a:noFill/>
                  </a:tcPr>
                </a:tc>
                <a:tc>
                  <a:txBody>
                    <a:bodyPr wrap="none"/>
                    <a:lstStyle/>
                    <a:p>
                      <a:pPr algn="r"/>
                      <a:r>
                        <a:rPr sz="800" b="0" i="0">
                          <a:solidFill>
                            <a:srgbClr val="1F2937"/>
                          </a:solidFill>
                          <a:latin typeface="Arial"/>
                        </a:rPr>
                        <a:t>0.0184</a:t>
                      </a:r>
                      <a:endParaRPr sz="800"/>
                    </a:p>
                  </a:txBody>
                  <a:tcPr marL="36576" marR="36576" marT="0" marB="0" anchor="ctr">
                    <a:noFill/>
                  </a:tcPr>
                </a:tc>
                <a:tc>
                  <a:txBody>
                    <a:bodyPr wrap="none"/>
                    <a:lstStyle/>
                    <a:p>
                      <a:pPr algn="r"/>
                      <a:r>
                        <a:rPr sz="800" b="0" i="0">
                          <a:solidFill>
                            <a:srgbClr val="1F2937"/>
                          </a:solidFill>
                          <a:latin typeface="Arial"/>
                        </a:rPr>
                        <a:t>0.0027</a:t>
                      </a:r>
                      <a:endParaRPr sz="800"/>
                    </a:p>
                  </a:txBody>
                  <a:tcPr marL="36576" marR="36576" marT="0" marB="0" anchor="ctr">
                    <a:noFill/>
                  </a:tcPr>
                </a:tc>
                <a:tc>
                  <a:txBody>
                    <a:bodyPr wrap="none"/>
                    <a:lstStyle/>
                    <a:p>
                      <a:pPr algn="r"/>
                      <a:r>
                        <a:rPr sz="800" b="1" i="0">
                          <a:solidFill>
                            <a:srgbClr val="1F2937"/>
                          </a:solidFill>
                          <a:latin typeface="Arial"/>
                        </a:rPr>
                        <a:t>0.0000</a:t>
                      </a:r>
                      <a:endParaRPr sz="800"/>
                    </a:p>
                  </a:txBody>
                  <a:tcPr marL="36576" marR="36576" marT="0" marB="0" anchor="ctr">
                    <a:noFill/>
                  </a:tcPr>
                </a:tc>
                <a:tc>
                  <a:txBody>
                    <a:bodyPr wrap="none"/>
                    <a:lstStyle/>
                    <a:p>
                      <a:pPr algn="r"/>
                      <a:r>
                        <a:rPr sz="800" b="1" i="0">
                          <a:solidFill>
                            <a:srgbClr val="1F2937"/>
                          </a:solidFill>
                          <a:latin typeface="Arial"/>
                        </a:rPr>
                        <a:t>0.0000</a:t>
                      </a:r>
                      <a:endParaRPr sz="800"/>
                    </a:p>
                  </a:txBody>
                  <a:tcPr marL="36576" marR="36576" marT="0" marB="0" anchor="ctr">
                    <a:noFill/>
                  </a:tcPr>
                </a:tc>
                <a:tc>
                  <a:txBody>
                    <a:bodyPr wrap="none"/>
                    <a:lstStyle/>
                    <a:p>
                      <a:pPr algn="r"/>
                      <a:r>
                        <a:rPr sz="800" b="0" i="0">
                          <a:solidFill>
                            <a:srgbClr val="1F2937"/>
                          </a:solidFill>
                          <a:latin typeface="Arial"/>
                        </a:rPr>
                        <a:t>0.0003</a:t>
                      </a:r>
                      <a:endParaRPr sz="800"/>
                    </a:p>
                  </a:txBody>
                  <a:tcPr marL="36576" marR="36576" marT="0" marB="0" anchor="ctr">
                    <a:noFill/>
                  </a:tcPr>
                </a:tc>
                <a:tc>
                  <a:txBody>
                    <a:bodyPr wrap="none"/>
                    <a:lstStyle/>
                    <a:p>
                      <a:pPr algn="r"/>
                      <a:r>
                        <a:rPr sz="800" b="0" i="0">
                          <a:solidFill>
                            <a:srgbClr val="1F2937"/>
                          </a:solidFill>
                          <a:latin typeface="Arial"/>
                        </a:rPr>
                        <a:t>0.0002</a:t>
                      </a:r>
                      <a:endParaRPr sz="800"/>
                    </a:p>
                  </a:txBody>
                  <a:tcPr marL="36576" marR="36576" marT="0" marB="0" anchor="ctr">
                    <a:noFill/>
                  </a:tcPr>
                </a:tc>
              </a:tr>
              <a:tr h="214884">
                <a:tc>
                  <a:txBody>
                    <a:bodyPr wrap="none"/>
                    <a:lstStyle/>
                    <a:p>
                      <a:pPr algn="l"/>
                      <a:r>
                        <a:rPr sz="800" b="0" i="0">
                          <a:solidFill>
                            <a:srgbClr val="1F2937"/>
                          </a:solidFill>
                          <a:latin typeface="Arial"/>
                        </a:rPr>
                        <a:t>KNN</a:t>
                      </a:r>
                      <a:endParaRPr sz="800"/>
                    </a:p>
                  </a:txBody>
                  <a:tcPr marL="36576" marR="36576" marT="0" marB="0" anchor="ctr">
                    <a:noFill/>
                  </a:tcPr>
                </a:tc>
                <a:tc>
                  <a:txBody>
                    <a:bodyPr wrap="none"/>
                    <a:lstStyle/>
                    <a:p>
                      <a:pPr algn="r"/>
                      <a:r>
                        <a:rPr sz="800" b="0" i="0">
                          <a:solidFill>
                            <a:srgbClr val="1F2937"/>
                          </a:solidFill>
                          <a:latin typeface="Arial"/>
                        </a:rPr>
                        <a:t>0.0096</a:t>
                      </a:r>
                      <a:endParaRPr sz="800"/>
                    </a:p>
                  </a:txBody>
                  <a:tcPr marL="36576" marR="36576" marT="0" marB="0" anchor="ctr">
                    <a:noFill/>
                  </a:tcPr>
                </a:tc>
                <a:tc>
                  <a:txBody>
                    <a:bodyPr wrap="none"/>
                    <a:lstStyle/>
                    <a:p>
                      <a:pPr algn="r"/>
                      <a:r>
                        <a:rPr sz="800" b="0" i="0">
                          <a:solidFill>
                            <a:srgbClr val="1F2937"/>
                          </a:solidFill>
                          <a:latin typeface="Arial"/>
                        </a:rPr>
                        <a:t>0.0144</a:t>
                      </a:r>
                      <a:endParaRPr sz="800"/>
                    </a:p>
                  </a:txBody>
                  <a:tcPr marL="36576" marR="36576" marT="0" marB="0" anchor="ctr">
                    <a:noFill/>
                  </a:tcPr>
                </a:tc>
                <a:tc>
                  <a:txBody>
                    <a:bodyPr wrap="none"/>
                    <a:lstStyle/>
                    <a:p>
                      <a:pPr algn="r"/>
                      <a:r>
                        <a:rPr sz="800" b="0" i="0">
                          <a:solidFill>
                            <a:srgbClr val="1F2937"/>
                          </a:solidFill>
                          <a:latin typeface="Arial"/>
                        </a:rPr>
                        <a:t>0.0016</a:t>
                      </a:r>
                      <a:endParaRPr sz="800"/>
                    </a:p>
                  </a:txBody>
                  <a:tcPr marL="36576" marR="36576" marT="0" marB="0" anchor="ctr">
                    <a:noFill/>
                  </a:tcPr>
                </a:tc>
                <a:tc>
                  <a:txBody>
                    <a:bodyPr wrap="none"/>
                    <a:lstStyle/>
                    <a:p>
                      <a:pPr algn="r"/>
                      <a:r>
                        <a:rPr sz="800" b="1" i="0">
                          <a:solidFill>
                            <a:srgbClr val="1F2937"/>
                          </a:solidFill>
                          <a:latin typeface="Arial"/>
                        </a:rPr>
                        <a:t>0.0000</a:t>
                      </a:r>
                      <a:endParaRPr sz="800"/>
                    </a:p>
                  </a:txBody>
                  <a:tcPr marL="36576" marR="36576" marT="0" marB="0" anchor="ctr">
                    <a:noFill/>
                  </a:tcPr>
                </a:tc>
                <a:tc>
                  <a:txBody>
                    <a:bodyPr wrap="none"/>
                    <a:lstStyle/>
                    <a:p>
                      <a:pPr algn="r"/>
                      <a:r>
                        <a:rPr sz="800" b="1" i="0">
                          <a:solidFill>
                            <a:srgbClr val="1F2937"/>
                          </a:solidFill>
                          <a:latin typeface="Arial"/>
                        </a:rPr>
                        <a:t>0.0000</a:t>
                      </a:r>
                      <a:endParaRPr sz="800"/>
                    </a:p>
                  </a:txBody>
                  <a:tcPr marL="36576" marR="36576" marT="0" marB="0" anchor="ctr">
                    <a:noFill/>
                  </a:tcPr>
                </a:tc>
                <a:tc>
                  <a:txBody>
                    <a:bodyPr wrap="none"/>
                    <a:lstStyle/>
                    <a:p>
                      <a:pPr algn="r"/>
                      <a:r>
                        <a:rPr sz="800" b="0" i="0">
                          <a:solidFill>
                            <a:srgbClr val="1F2937"/>
                          </a:solidFill>
                          <a:latin typeface="Arial"/>
                        </a:rPr>
                        <a:t>0.0002</a:t>
                      </a:r>
                      <a:endParaRPr sz="800"/>
                    </a:p>
                  </a:txBody>
                  <a:tcPr marL="36576" marR="36576" marT="0" marB="0" anchor="ctr">
                    <a:noFill/>
                  </a:tcPr>
                </a:tc>
                <a:tc>
                  <a:txBody>
                    <a:bodyPr wrap="none"/>
                    <a:lstStyle/>
                    <a:p>
                      <a:pPr algn="r"/>
                      <a:r>
                        <a:rPr sz="800" b="1" i="0">
                          <a:solidFill>
                            <a:srgbClr val="1F2937"/>
                          </a:solidFill>
                          <a:latin typeface="Arial"/>
                        </a:rPr>
                        <a:t>0.0001</a:t>
                      </a:r>
                      <a:endParaRPr sz="800"/>
                    </a:p>
                  </a:txBody>
                  <a:tcPr marL="36576" marR="36576" marT="0" marB="0" anchor="ctr">
                    <a:noFill/>
                  </a:tcPr>
                </a:tc>
              </a:tr>
              <a:tr h="214884">
                <a:tc>
                  <a:txBody>
                    <a:bodyPr wrap="none"/>
                    <a:lstStyle/>
                    <a:p>
                      <a:pPr algn="l"/>
                      <a:r>
                        <a:rPr sz="800" b="0" i="0">
                          <a:solidFill>
                            <a:srgbClr val="1F2937"/>
                          </a:solidFill>
                          <a:latin typeface="Arial"/>
                        </a:rPr>
                        <a:t>LowRank</a:t>
                      </a:r>
                      <a:endParaRPr sz="800"/>
                    </a:p>
                  </a:txBody>
                  <a:tcPr marL="36576" marR="36576" marT="0" marB="0" anchor="ctr">
                    <a:noFill/>
                  </a:tcPr>
                </a:tc>
                <a:tc>
                  <a:txBody>
                    <a:bodyPr wrap="none"/>
                    <a:lstStyle/>
                    <a:p>
                      <a:pPr algn="r"/>
                      <a:r>
                        <a:rPr sz="800" b="0" i="0">
                          <a:solidFill>
                            <a:srgbClr val="1F2937"/>
                          </a:solidFill>
                          <a:latin typeface="Arial"/>
                        </a:rPr>
                        <a:t>0.0087</a:t>
                      </a:r>
                      <a:endParaRPr sz="800"/>
                    </a:p>
                  </a:txBody>
                  <a:tcPr marL="36576" marR="36576" marT="0" marB="0" anchor="ctr">
                    <a:noFill/>
                  </a:tcPr>
                </a:tc>
                <a:tc>
                  <a:txBody>
                    <a:bodyPr wrap="none"/>
                    <a:lstStyle/>
                    <a:p>
                      <a:pPr algn="r"/>
                      <a:r>
                        <a:rPr sz="800" b="0" i="0">
                          <a:solidFill>
                            <a:srgbClr val="1F2937"/>
                          </a:solidFill>
                          <a:latin typeface="Arial"/>
                        </a:rPr>
                        <a:t>0.0123</a:t>
                      </a:r>
                      <a:endParaRPr sz="800"/>
                    </a:p>
                  </a:txBody>
                  <a:tcPr marL="36576" marR="36576" marT="0" marB="0" anchor="ctr">
                    <a:noFill/>
                  </a:tcPr>
                </a:tc>
                <a:tc>
                  <a:txBody>
                    <a:bodyPr wrap="none"/>
                    <a:lstStyle/>
                    <a:p>
                      <a:pPr algn="r"/>
                      <a:r>
                        <a:rPr sz="800" b="0" i="0">
                          <a:solidFill>
                            <a:srgbClr val="1F2937"/>
                          </a:solidFill>
                          <a:latin typeface="Arial"/>
                        </a:rPr>
                        <a:t>0.0010</a:t>
                      </a:r>
                      <a:endParaRPr sz="800"/>
                    </a:p>
                  </a:txBody>
                  <a:tcPr marL="36576" marR="36576" marT="0" marB="0" anchor="ctr">
                    <a:noFill/>
                  </a:tcPr>
                </a:tc>
                <a:tc>
                  <a:txBody>
                    <a:bodyPr wrap="none"/>
                    <a:lstStyle/>
                    <a:p>
                      <a:pPr algn="r"/>
                      <a:r>
                        <a:rPr sz="800" b="1" i="0">
                          <a:solidFill>
                            <a:srgbClr val="1F2937"/>
                          </a:solidFill>
                          <a:latin typeface="Arial"/>
                        </a:rPr>
                        <a:t>0.0000</a:t>
                      </a:r>
                      <a:endParaRPr sz="800"/>
                    </a:p>
                  </a:txBody>
                  <a:tcPr marL="36576" marR="36576" marT="0" marB="0" anchor="ctr">
                    <a:noFill/>
                  </a:tcPr>
                </a:tc>
                <a:tc>
                  <a:txBody>
                    <a:bodyPr wrap="none"/>
                    <a:lstStyle/>
                    <a:p>
                      <a:pPr algn="r"/>
                      <a:r>
                        <a:rPr sz="800" b="1" i="0">
                          <a:solidFill>
                            <a:srgbClr val="1F2937"/>
                          </a:solidFill>
                          <a:latin typeface="Arial"/>
                        </a:rPr>
                        <a:t>0.0000</a:t>
                      </a:r>
                      <a:endParaRPr sz="800"/>
                    </a:p>
                  </a:txBody>
                  <a:tcPr marL="36576" marR="36576" marT="0" marB="0" anchor="ctr">
                    <a:noFill/>
                  </a:tcPr>
                </a:tc>
                <a:tc>
                  <a:txBody>
                    <a:bodyPr wrap="none"/>
                    <a:lstStyle/>
                    <a:p>
                      <a:pPr algn="r"/>
                      <a:r>
                        <a:rPr sz="800" b="0" i="0">
                          <a:solidFill>
                            <a:srgbClr val="1F2937"/>
                          </a:solidFill>
                          <a:latin typeface="Arial"/>
                        </a:rPr>
                        <a:t>0.0002</a:t>
                      </a:r>
                      <a:endParaRPr sz="800"/>
                    </a:p>
                  </a:txBody>
                  <a:tcPr marL="36576" marR="36576" marT="0" marB="0" anchor="ctr">
                    <a:noFill/>
                  </a:tcPr>
                </a:tc>
                <a:tc>
                  <a:txBody>
                    <a:bodyPr wrap="none"/>
                    <a:lstStyle/>
                    <a:p>
                      <a:pPr algn="r"/>
                      <a:r>
                        <a:rPr sz="800" b="1" i="0">
                          <a:solidFill>
                            <a:srgbClr val="1F2937"/>
                          </a:solidFill>
                          <a:latin typeface="Arial"/>
                        </a:rPr>
                        <a:t>0.0001</a:t>
                      </a:r>
                      <a:endParaRPr sz="800"/>
                    </a:p>
                  </a:txBody>
                  <a:tcPr marL="36576" marR="36576" marT="0" marB="0" anchor="ctr">
                    <a:noFill/>
                  </a:tcPr>
                </a:tc>
              </a:tr>
              <a:tr h="214884">
                <a:tc>
                  <a:txBody>
                    <a:bodyPr wrap="none"/>
                    <a:lstStyle/>
                    <a:p>
                      <a:pPr algn="l"/>
                      <a:r>
                        <a:rPr sz="800" b="0" i="0">
                          <a:solidFill>
                            <a:srgbClr val="1F2937"/>
                          </a:solidFill>
                          <a:latin typeface="Arial"/>
                        </a:rPr>
                        <a:t>EM</a:t>
                      </a:r>
                      <a:endParaRPr sz="800"/>
                    </a:p>
                  </a:txBody>
                  <a:tcPr marL="36576" marR="36576" marT="0" marB="0" anchor="ctr">
                    <a:noFill/>
                  </a:tcPr>
                </a:tc>
                <a:tc>
                  <a:txBody>
                    <a:bodyPr wrap="none"/>
                    <a:lstStyle/>
                    <a:p>
                      <a:pPr algn="r"/>
                      <a:r>
                        <a:rPr sz="800" b="0" i="0">
                          <a:solidFill>
                            <a:srgbClr val="1F2937"/>
                          </a:solidFill>
                          <a:latin typeface="Arial"/>
                        </a:rPr>
                        <a:t>0.0079</a:t>
                      </a:r>
                      <a:endParaRPr sz="800"/>
                    </a:p>
                  </a:txBody>
                  <a:tcPr marL="36576" marR="36576" marT="0" marB="0" anchor="ctr">
                    <a:noFill/>
                  </a:tcPr>
                </a:tc>
                <a:tc>
                  <a:txBody>
                    <a:bodyPr wrap="none"/>
                    <a:lstStyle/>
                    <a:p>
                      <a:pPr algn="r"/>
                      <a:r>
                        <a:rPr sz="800" b="0" i="0">
                          <a:solidFill>
                            <a:srgbClr val="1F2937"/>
                          </a:solidFill>
                          <a:latin typeface="Arial"/>
                        </a:rPr>
                        <a:t>0.0117</a:t>
                      </a:r>
                      <a:endParaRPr sz="800"/>
                    </a:p>
                  </a:txBody>
                  <a:tcPr marL="36576" marR="36576" marT="0" marB="0" anchor="ctr">
                    <a:noFill/>
                  </a:tcPr>
                </a:tc>
                <a:tc>
                  <a:txBody>
                    <a:bodyPr wrap="none"/>
                    <a:lstStyle/>
                    <a:p>
                      <a:pPr algn="r"/>
                      <a:r>
                        <a:rPr sz="800" b="0" i="0">
                          <a:solidFill>
                            <a:srgbClr val="1F2937"/>
                          </a:solidFill>
                          <a:latin typeface="Arial"/>
                        </a:rPr>
                        <a:t>0.0011</a:t>
                      </a:r>
                      <a:endParaRPr sz="800"/>
                    </a:p>
                  </a:txBody>
                  <a:tcPr marL="36576" marR="36576" marT="0" marB="0" anchor="ctr">
                    <a:noFill/>
                  </a:tcPr>
                </a:tc>
                <a:tc>
                  <a:txBody>
                    <a:bodyPr wrap="none"/>
                    <a:lstStyle/>
                    <a:p>
                      <a:pPr algn="r"/>
                      <a:r>
                        <a:rPr sz="800" b="1" i="0">
                          <a:solidFill>
                            <a:srgbClr val="1F2937"/>
                          </a:solidFill>
                          <a:latin typeface="Arial"/>
                        </a:rPr>
                        <a:t>0.0000</a:t>
                      </a:r>
                      <a:endParaRPr sz="800"/>
                    </a:p>
                  </a:txBody>
                  <a:tcPr marL="36576" marR="36576" marT="0" marB="0" anchor="ctr">
                    <a:noFill/>
                  </a:tcPr>
                </a:tc>
                <a:tc>
                  <a:txBody>
                    <a:bodyPr wrap="none"/>
                    <a:lstStyle/>
                    <a:p>
                      <a:pPr algn="r"/>
                      <a:r>
                        <a:rPr sz="800" b="1" i="0">
                          <a:solidFill>
                            <a:srgbClr val="1F2937"/>
                          </a:solidFill>
                          <a:latin typeface="Arial"/>
                        </a:rPr>
                        <a:t>0.0000</a:t>
                      </a:r>
                      <a:endParaRPr sz="800"/>
                    </a:p>
                  </a:txBody>
                  <a:tcPr marL="36576" marR="36576" marT="0" marB="0" anchor="ctr">
                    <a:noFill/>
                  </a:tcPr>
                </a:tc>
                <a:tc>
                  <a:txBody>
                    <a:bodyPr wrap="none"/>
                    <a:lstStyle/>
                    <a:p>
                      <a:pPr algn="r"/>
                      <a:r>
                        <a:rPr sz="800" b="1" i="0">
                          <a:solidFill>
                            <a:srgbClr val="1F2937"/>
                          </a:solidFill>
                          <a:latin typeface="Arial"/>
                        </a:rPr>
                        <a:t>0.0001</a:t>
                      </a:r>
                      <a:endParaRPr sz="800"/>
                    </a:p>
                  </a:txBody>
                  <a:tcPr marL="36576" marR="36576" marT="0" marB="0" anchor="ctr">
                    <a:noFill/>
                  </a:tcPr>
                </a:tc>
                <a:tc>
                  <a:txBody>
                    <a:bodyPr wrap="none"/>
                    <a:lstStyle/>
                    <a:p>
                      <a:pPr algn="r"/>
                      <a:r>
                        <a:rPr sz="800" b="1" i="0">
                          <a:solidFill>
                            <a:srgbClr val="1F2937"/>
                          </a:solidFill>
                          <a:latin typeface="Arial"/>
                        </a:rPr>
                        <a:t>0.0001</a:t>
                      </a:r>
                      <a:endParaRPr sz="800"/>
                    </a:p>
                  </a:txBody>
                  <a:tcPr marL="36576" marR="36576" marT="0" marB="0" anchor="ctr">
                    <a:noFill/>
                  </a:tcPr>
                </a:tc>
              </a:tr>
              <a:tr h="214884">
                <a:tc>
                  <a:txBody>
                    <a:bodyPr wrap="none"/>
                    <a:lstStyle/>
                    <a:p>
                      <a:pPr algn="l"/>
                      <a:r>
                        <a:rPr sz="800" b="0" i="0">
                          <a:solidFill>
                            <a:srgbClr val="1F2937"/>
                          </a:solidFill>
                          <a:latin typeface="Arial"/>
                        </a:rPr>
                        <a:t>BRITS</a:t>
                      </a:r>
                      <a:endParaRPr sz="800"/>
                    </a:p>
                  </a:txBody>
                  <a:tcPr marL="36576" marR="36576" marT="0" marB="0" anchor="ctr">
                    <a:noFill/>
                  </a:tcPr>
                </a:tc>
                <a:tc>
                  <a:txBody>
                    <a:bodyPr wrap="none"/>
                    <a:lstStyle/>
                    <a:p>
                      <a:pPr algn="r"/>
                      <a:r>
                        <a:rPr sz="800" b="1" i="0">
                          <a:solidFill>
                            <a:srgbClr val="1F2937"/>
                          </a:solidFill>
                          <a:latin typeface="Arial"/>
                        </a:rPr>
                        <a:t>0.0078</a:t>
                      </a:r>
                      <a:endParaRPr sz="800"/>
                    </a:p>
                  </a:txBody>
                  <a:tcPr marL="36576" marR="36576" marT="0" marB="0" anchor="ctr">
                    <a:noFill/>
                  </a:tcPr>
                </a:tc>
                <a:tc>
                  <a:txBody>
                    <a:bodyPr wrap="none"/>
                    <a:lstStyle/>
                    <a:p>
                      <a:pPr algn="r"/>
                      <a:r>
                        <a:rPr sz="800" b="1" i="0">
                          <a:solidFill>
                            <a:srgbClr val="1F2937"/>
                          </a:solidFill>
                          <a:latin typeface="Arial"/>
                        </a:rPr>
                        <a:t>0.0112</a:t>
                      </a:r>
                      <a:endParaRPr sz="800"/>
                    </a:p>
                  </a:txBody>
                  <a:tcPr marL="36576" marR="36576" marT="0" marB="0" anchor="ctr">
                    <a:noFill/>
                  </a:tcPr>
                </a:tc>
                <a:tc>
                  <a:txBody>
                    <a:bodyPr wrap="none"/>
                    <a:lstStyle/>
                    <a:p>
                      <a:pPr algn="r"/>
                      <a:r>
                        <a:rPr sz="800" b="0" i="0">
                          <a:solidFill>
                            <a:srgbClr val="1F2937"/>
                          </a:solidFill>
                          <a:latin typeface="Arial"/>
                        </a:rPr>
                        <a:t>0.0010</a:t>
                      </a:r>
                      <a:endParaRPr sz="800"/>
                    </a:p>
                  </a:txBody>
                  <a:tcPr marL="36576" marR="36576" marT="0" marB="0" anchor="ctr">
                    <a:noFill/>
                  </a:tcPr>
                </a:tc>
                <a:tc>
                  <a:txBody>
                    <a:bodyPr wrap="none"/>
                    <a:lstStyle/>
                    <a:p>
                      <a:pPr algn="r"/>
                      <a:r>
                        <a:rPr sz="800" b="1" i="0">
                          <a:solidFill>
                            <a:srgbClr val="1F2937"/>
                          </a:solidFill>
                          <a:latin typeface="Arial"/>
                        </a:rPr>
                        <a:t>0.0000</a:t>
                      </a:r>
                      <a:endParaRPr sz="800"/>
                    </a:p>
                  </a:txBody>
                  <a:tcPr marL="36576" marR="36576" marT="0" marB="0" anchor="ctr">
                    <a:noFill/>
                  </a:tcPr>
                </a:tc>
                <a:tc>
                  <a:txBody>
                    <a:bodyPr wrap="none"/>
                    <a:lstStyle/>
                    <a:p>
                      <a:pPr algn="r"/>
                      <a:r>
                        <a:rPr sz="800" b="1" i="0">
                          <a:solidFill>
                            <a:srgbClr val="1F2937"/>
                          </a:solidFill>
                          <a:latin typeface="Arial"/>
                        </a:rPr>
                        <a:t>0.0000</a:t>
                      </a:r>
                      <a:endParaRPr sz="800"/>
                    </a:p>
                  </a:txBody>
                  <a:tcPr marL="36576" marR="36576" marT="0" marB="0" anchor="ctr">
                    <a:noFill/>
                  </a:tcPr>
                </a:tc>
                <a:tc>
                  <a:txBody>
                    <a:bodyPr wrap="none"/>
                    <a:lstStyle/>
                    <a:p>
                      <a:pPr algn="r"/>
                      <a:r>
                        <a:rPr sz="800" b="1" i="0">
                          <a:solidFill>
                            <a:srgbClr val="1F2937"/>
                          </a:solidFill>
                          <a:latin typeface="Arial"/>
                        </a:rPr>
                        <a:t>0.0001</a:t>
                      </a:r>
                      <a:endParaRPr sz="800"/>
                    </a:p>
                  </a:txBody>
                  <a:tcPr marL="36576" marR="36576" marT="0" marB="0" anchor="ctr">
                    <a:noFill/>
                  </a:tcPr>
                </a:tc>
                <a:tc>
                  <a:txBody>
                    <a:bodyPr wrap="none"/>
                    <a:lstStyle/>
                    <a:p>
                      <a:pPr algn="r"/>
                      <a:r>
                        <a:rPr sz="800" b="1" i="0">
                          <a:solidFill>
                            <a:srgbClr val="1F2937"/>
                          </a:solidFill>
                          <a:latin typeface="Arial"/>
                        </a:rPr>
                        <a:t>0.0001</a:t>
                      </a:r>
                      <a:endParaRPr sz="800"/>
                    </a:p>
                  </a:txBody>
                  <a:tcPr marL="36576" marR="36576" marT="0" marB="0" anchor="ctr">
                    <a:noFill/>
                  </a:tcPr>
                </a:tc>
              </a:tr>
              <a:tr h="214884">
                <a:tc>
                  <a:txBody>
                    <a:bodyPr wrap="none"/>
                    <a:lstStyle/>
                    <a:p>
                      <a:pPr algn="l"/>
                      <a:r>
                        <a:rPr sz="800" b="0" i="0">
                          <a:solidFill>
                            <a:srgbClr val="1F2937"/>
                          </a:solidFill>
                          <a:latin typeface="Arial"/>
                        </a:rPr>
                        <a:t>CSDI</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0.0079</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0.0115</a:t>
                      </a:r>
                      <a:endParaRPr sz="800"/>
                    </a:p>
                  </a:txBody>
                  <a:tcPr marL="36576" marR="36576" marT="0" marB="0" anchor="ctr">
                    <a:lnB w="6350">
                      <a:solidFill>
                        <a:srgbClr val="D0D5DD"/>
                      </a:solidFill>
                    </a:lnB>
                    <a:noFill/>
                  </a:tcPr>
                </a:tc>
                <a:tc>
                  <a:txBody>
                    <a:bodyPr wrap="none"/>
                    <a:lstStyle/>
                    <a:p>
                      <a:pPr algn="r"/>
                      <a:r>
                        <a:rPr sz="800" b="1" i="0">
                          <a:solidFill>
                            <a:srgbClr val="1F2937"/>
                          </a:solidFill>
                          <a:latin typeface="Arial"/>
                        </a:rPr>
                        <a:t>0.0009</a:t>
                      </a:r>
                      <a:endParaRPr sz="800"/>
                    </a:p>
                  </a:txBody>
                  <a:tcPr marL="36576" marR="36576" marT="0" marB="0" anchor="ctr">
                    <a:lnB w="6350">
                      <a:solidFill>
                        <a:srgbClr val="D0D5DD"/>
                      </a:solidFill>
                    </a:lnB>
                    <a:noFill/>
                  </a:tcPr>
                </a:tc>
                <a:tc>
                  <a:txBody>
                    <a:bodyPr wrap="none"/>
                    <a:lstStyle/>
                    <a:p>
                      <a:pPr algn="r"/>
                      <a:r>
                        <a:rPr sz="800" b="1" i="0">
                          <a:solidFill>
                            <a:srgbClr val="1F2937"/>
                          </a:solidFill>
                          <a:latin typeface="Arial"/>
                        </a:rPr>
                        <a:t>0.0000</a:t>
                      </a:r>
                      <a:endParaRPr sz="800"/>
                    </a:p>
                  </a:txBody>
                  <a:tcPr marL="36576" marR="36576" marT="0" marB="0" anchor="ctr">
                    <a:lnB w="6350">
                      <a:solidFill>
                        <a:srgbClr val="D0D5DD"/>
                      </a:solidFill>
                    </a:lnB>
                    <a:noFill/>
                  </a:tcPr>
                </a:tc>
                <a:tc>
                  <a:txBody>
                    <a:bodyPr wrap="none"/>
                    <a:lstStyle/>
                    <a:p>
                      <a:pPr algn="r"/>
                      <a:r>
                        <a:rPr sz="800" b="1" i="0">
                          <a:solidFill>
                            <a:srgbClr val="1F2937"/>
                          </a:solidFill>
                          <a:latin typeface="Arial"/>
                        </a:rPr>
                        <a:t>0.0000</a:t>
                      </a:r>
                      <a:endParaRPr sz="800"/>
                    </a:p>
                  </a:txBody>
                  <a:tcPr marL="36576" marR="36576" marT="0" marB="0" anchor="ctr">
                    <a:lnB w="6350">
                      <a:solidFill>
                        <a:srgbClr val="D0D5DD"/>
                      </a:solidFill>
                    </a:lnB>
                    <a:noFill/>
                  </a:tcPr>
                </a:tc>
                <a:tc>
                  <a:txBody>
                    <a:bodyPr wrap="none"/>
                    <a:lstStyle/>
                    <a:p>
                      <a:pPr algn="r"/>
                      <a:r>
                        <a:rPr sz="800" b="1" i="0">
                          <a:solidFill>
                            <a:srgbClr val="1F2937"/>
                          </a:solidFill>
                          <a:latin typeface="Arial"/>
                        </a:rPr>
                        <a:t>0.0001</a:t>
                      </a:r>
                      <a:endParaRPr sz="800"/>
                    </a:p>
                  </a:txBody>
                  <a:tcPr marL="36576" marR="36576" marT="0" marB="0" anchor="ctr">
                    <a:lnB w="6350">
                      <a:solidFill>
                        <a:srgbClr val="D0D5DD"/>
                      </a:solidFill>
                    </a:lnB>
                    <a:noFill/>
                  </a:tcPr>
                </a:tc>
                <a:tc>
                  <a:txBody>
                    <a:bodyPr wrap="none"/>
                    <a:lstStyle/>
                    <a:p>
                      <a:pPr algn="r"/>
                      <a:r>
                        <a:rPr sz="800" b="1" i="0">
                          <a:solidFill>
                            <a:srgbClr val="1F2937"/>
                          </a:solidFill>
                          <a:latin typeface="Arial"/>
                        </a:rPr>
                        <a:t>0.0001</a:t>
                      </a:r>
                      <a:endParaRPr sz="800"/>
                    </a:p>
                  </a:txBody>
                  <a:tcPr marL="36576" marR="36576" marT="0" marB="0" anchor="ctr">
                    <a:lnB w="6350">
                      <a:solidFill>
                        <a:srgbClr val="D0D5DD"/>
                      </a:solidFill>
                    </a:lnB>
                    <a:noFill/>
                  </a:tcPr>
                </a:tc>
              </a:tr>
              <a:tr h="214884">
                <a:tc gridSpan="8">
                  <a:txBody>
                    <a:bodyPr wrap="none"/>
                    <a:lstStyle/>
                    <a:p>
                      <a:pPr algn="l"/>
                      <a:r>
                        <a:rPr sz="800" b="1" i="0">
                          <a:solidFill>
                            <a:srgbClr val="E4572E"/>
                          </a:solidFill>
                          <a:latin typeface="Arial"/>
                        </a:rPr>
                        <a:t>Level (200, 10)</a:t>
                      </a: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r>
              <a:tr h="214884">
                <a:tc>
                  <a:txBody>
                    <a:bodyPr wrap="none"/>
                    <a:lstStyle/>
                    <a:p>
                      <a:pPr algn="l"/>
                      <a:r>
                        <a:rPr sz="800" b="0" i="0">
                          <a:solidFill>
                            <a:srgbClr val="1F2937"/>
                          </a:solidFill>
                          <a:latin typeface="Arial"/>
                        </a:rPr>
                        <a:t>Deletion</a:t>
                      </a:r>
                      <a:endParaRPr sz="800"/>
                    </a:p>
                  </a:txBody>
                  <a:tcPr marL="36576" marR="36576" marT="0" marB="0" anchor="ctr">
                    <a:noFill/>
                  </a:tcPr>
                </a:tc>
                <a:tc>
                  <a:txBody>
                    <a:bodyPr wrap="none"/>
                    <a:lstStyle/>
                    <a:p>
                      <a:pPr algn="r"/>
                      <a:r>
                        <a:rPr sz="800" b="0" i="0">
                          <a:solidFill>
                            <a:srgbClr val="1F2937"/>
                          </a:solidFill>
                          <a:latin typeface="Arial"/>
                        </a:rPr>
                        <a:t>--</a:t>
                      </a:r>
                      <a:endParaRPr sz="800"/>
                    </a:p>
                  </a:txBody>
                  <a:tcPr marL="36576" marR="36576" marT="0" marB="0" anchor="ctr">
                    <a:noFill/>
                  </a:tcPr>
                </a:tc>
                <a:tc>
                  <a:txBody>
                    <a:bodyPr wrap="none"/>
                    <a:lstStyle/>
                    <a:p>
                      <a:pPr algn="r"/>
                      <a:r>
                        <a:rPr sz="800" b="0" i="0">
                          <a:solidFill>
                            <a:srgbClr val="1F2937"/>
                          </a:solidFill>
                          <a:latin typeface="Arial"/>
                        </a:rPr>
                        <a:t>--</a:t>
                      </a:r>
                      <a:endParaRPr sz="800"/>
                    </a:p>
                  </a:txBody>
                  <a:tcPr marL="36576" marR="36576" marT="0" marB="0" anchor="ctr">
                    <a:noFill/>
                  </a:tcPr>
                </a:tc>
                <a:tc>
                  <a:txBody>
                    <a:bodyPr wrap="none"/>
                    <a:lstStyle/>
                    <a:p>
                      <a:pPr algn="r"/>
                      <a:r>
                        <a:rPr sz="800" b="0" i="0">
                          <a:solidFill>
                            <a:srgbClr val="1F2937"/>
                          </a:solidFill>
                          <a:latin typeface="Arial"/>
                        </a:rPr>
                        <a:t>0.1492</a:t>
                      </a:r>
                      <a:endParaRPr sz="800"/>
                    </a:p>
                  </a:txBody>
                  <a:tcPr marL="36576" marR="36576" marT="0" marB="0" anchor="ctr">
                    <a:noFill/>
                  </a:tcPr>
                </a:tc>
                <a:tc>
                  <a:txBody>
                    <a:bodyPr wrap="none"/>
                    <a:lstStyle/>
                    <a:p>
                      <a:pPr algn="r"/>
                      <a:r>
                        <a:rPr sz="800" b="0" i="0">
                          <a:solidFill>
                            <a:srgbClr val="1F2937"/>
                          </a:solidFill>
                          <a:latin typeface="Arial"/>
                        </a:rPr>
                        <a:t>0.0010</a:t>
                      </a:r>
                      <a:endParaRPr sz="800"/>
                    </a:p>
                  </a:txBody>
                  <a:tcPr marL="36576" marR="36576" marT="0" marB="0" anchor="ctr">
                    <a:noFill/>
                  </a:tcPr>
                </a:tc>
                <a:tc>
                  <a:txBody>
                    <a:bodyPr wrap="none"/>
                    <a:lstStyle/>
                    <a:p>
                      <a:pPr algn="r"/>
                      <a:r>
                        <a:rPr sz="800" b="0" i="0">
                          <a:solidFill>
                            <a:srgbClr val="1F2937"/>
                          </a:solidFill>
                          <a:latin typeface="Arial"/>
                        </a:rPr>
                        <a:t>0.0004</a:t>
                      </a:r>
                      <a:endParaRPr sz="800"/>
                    </a:p>
                  </a:txBody>
                  <a:tcPr marL="36576" marR="36576" marT="0" marB="0" anchor="ctr">
                    <a:noFill/>
                  </a:tcPr>
                </a:tc>
                <a:tc>
                  <a:txBody>
                    <a:bodyPr wrap="none"/>
                    <a:lstStyle/>
                    <a:p>
                      <a:pPr algn="r"/>
                      <a:r>
                        <a:rPr sz="800" b="0" i="0">
                          <a:solidFill>
                            <a:srgbClr val="1F2937"/>
                          </a:solidFill>
                          <a:latin typeface="Arial"/>
                        </a:rPr>
                        <a:t>0.0243</a:t>
                      </a:r>
                      <a:endParaRPr sz="800"/>
                    </a:p>
                  </a:txBody>
                  <a:tcPr marL="36576" marR="36576" marT="0" marB="0" anchor="ctr">
                    <a:noFill/>
                  </a:tcPr>
                </a:tc>
                <a:tc>
                  <a:txBody>
                    <a:bodyPr wrap="none"/>
                    <a:lstStyle/>
                    <a:p>
                      <a:pPr algn="r"/>
                      <a:r>
                        <a:rPr sz="800" b="0" i="0">
                          <a:solidFill>
                            <a:srgbClr val="1F2937"/>
                          </a:solidFill>
                          <a:latin typeface="Arial"/>
                        </a:rPr>
                        <a:t>0.0158</a:t>
                      </a:r>
                      <a:endParaRPr sz="800"/>
                    </a:p>
                  </a:txBody>
                  <a:tcPr marL="36576" marR="36576" marT="0" marB="0" anchor="ctr">
                    <a:noFill/>
                  </a:tcPr>
                </a:tc>
              </a:tr>
              <a:tr h="214884">
                <a:tc>
                  <a:txBody>
                    <a:bodyPr wrap="none"/>
                    <a:lstStyle/>
                    <a:p>
                      <a:pPr algn="l"/>
                      <a:r>
                        <a:rPr sz="800" b="0" i="0">
                          <a:solidFill>
                            <a:srgbClr val="1F2937"/>
                          </a:solidFill>
                          <a:latin typeface="Arial"/>
                        </a:rPr>
                        <a:t>Zero</a:t>
                      </a:r>
                      <a:endParaRPr sz="800"/>
                    </a:p>
                  </a:txBody>
                  <a:tcPr marL="36576" marR="36576" marT="0" marB="0" anchor="ctr">
                    <a:noFill/>
                  </a:tcPr>
                </a:tc>
                <a:tc>
                  <a:txBody>
                    <a:bodyPr wrap="none"/>
                    <a:lstStyle/>
                    <a:p>
                      <a:pPr algn="r"/>
                      <a:r>
                        <a:rPr sz="800" b="0" i="0">
                          <a:solidFill>
                            <a:srgbClr val="1F2937"/>
                          </a:solidFill>
                          <a:latin typeface="Arial"/>
                        </a:rPr>
                        <a:t>0.0107</a:t>
                      </a:r>
                      <a:endParaRPr sz="800"/>
                    </a:p>
                  </a:txBody>
                  <a:tcPr marL="36576" marR="36576" marT="0" marB="0" anchor="ctr">
                    <a:noFill/>
                  </a:tcPr>
                </a:tc>
                <a:tc>
                  <a:txBody>
                    <a:bodyPr wrap="none"/>
                    <a:lstStyle/>
                    <a:p>
                      <a:pPr algn="r"/>
                      <a:r>
                        <a:rPr sz="800" b="0" i="0">
                          <a:solidFill>
                            <a:srgbClr val="1F2937"/>
                          </a:solidFill>
                          <a:latin typeface="Arial"/>
                        </a:rPr>
                        <a:t>0.0156</a:t>
                      </a:r>
                      <a:endParaRPr sz="800"/>
                    </a:p>
                  </a:txBody>
                  <a:tcPr marL="36576" marR="36576" marT="0" marB="0" anchor="ctr">
                    <a:noFill/>
                  </a:tcPr>
                </a:tc>
                <a:tc>
                  <a:txBody>
                    <a:bodyPr wrap="none"/>
                    <a:lstStyle/>
                    <a:p>
                      <a:pPr algn="r"/>
                      <a:r>
                        <a:rPr sz="800" b="0" i="0">
                          <a:solidFill>
                            <a:srgbClr val="1F2937"/>
                          </a:solidFill>
                          <a:latin typeface="Arial"/>
                        </a:rPr>
                        <a:t>0.0222</a:t>
                      </a:r>
                      <a:endParaRPr sz="800"/>
                    </a:p>
                  </a:txBody>
                  <a:tcPr marL="36576" marR="36576" marT="0" marB="0" anchor="ctr">
                    <a:noFill/>
                  </a:tcPr>
                </a:tc>
                <a:tc>
                  <a:txBody>
                    <a:bodyPr wrap="none"/>
                    <a:lstStyle/>
                    <a:p>
                      <a:pPr algn="r"/>
                      <a:r>
                        <a:rPr sz="800" b="1" i="0">
                          <a:solidFill>
                            <a:srgbClr val="1F2937"/>
                          </a:solidFill>
                          <a:latin typeface="Arial"/>
                        </a:rPr>
                        <a:t>0.0001</a:t>
                      </a:r>
                      <a:endParaRPr sz="800"/>
                    </a:p>
                  </a:txBody>
                  <a:tcPr marL="36576" marR="36576" marT="0" marB="0" anchor="ctr">
                    <a:noFill/>
                  </a:tcPr>
                </a:tc>
                <a:tc>
                  <a:txBody>
                    <a:bodyPr wrap="none"/>
                    <a:lstStyle/>
                    <a:p>
                      <a:pPr algn="r"/>
                      <a:r>
                        <a:rPr sz="800" b="0" i="0">
                          <a:solidFill>
                            <a:srgbClr val="1F2937"/>
                          </a:solidFill>
                          <a:latin typeface="Arial"/>
                        </a:rPr>
                        <a:t>0.0001</a:t>
                      </a:r>
                      <a:endParaRPr sz="800"/>
                    </a:p>
                  </a:txBody>
                  <a:tcPr marL="36576" marR="36576" marT="0" marB="0" anchor="ctr">
                    <a:noFill/>
                  </a:tcPr>
                </a:tc>
                <a:tc>
                  <a:txBody>
                    <a:bodyPr wrap="none"/>
                    <a:lstStyle/>
                    <a:p>
                      <a:pPr algn="r"/>
                      <a:r>
                        <a:rPr sz="800" b="0" i="0">
                          <a:solidFill>
                            <a:srgbClr val="1F2937"/>
                          </a:solidFill>
                          <a:latin typeface="Arial"/>
                        </a:rPr>
                        <a:t>0.0037</a:t>
                      </a:r>
                      <a:endParaRPr sz="800"/>
                    </a:p>
                  </a:txBody>
                  <a:tcPr marL="36576" marR="36576" marT="0" marB="0" anchor="ctr">
                    <a:noFill/>
                  </a:tcPr>
                </a:tc>
                <a:tc>
                  <a:txBody>
                    <a:bodyPr wrap="none"/>
                    <a:lstStyle/>
                    <a:p>
                      <a:pPr algn="r"/>
                      <a:r>
                        <a:rPr sz="800" b="0" i="0">
                          <a:solidFill>
                            <a:srgbClr val="1F2937"/>
                          </a:solidFill>
                          <a:latin typeface="Arial"/>
                        </a:rPr>
                        <a:t>0.0015</a:t>
                      </a:r>
                      <a:endParaRPr sz="800"/>
                    </a:p>
                  </a:txBody>
                  <a:tcPr marL="36576" marR="36576" marT="0" marB="0" anchor="ctr">
                    <a:noFill/>
                  </a:tcPr>
                </a:tc>
              </a:tr>
              <a:tr h="214884">
                <a:tc>
                  <a:txBody>
                    <a:bodyPr wrap="none"/>
                    <a:lstStyle/>
                    <a:p>
                      <a:pPr algn="l"/>
                      <a:r>
                        <a:rPr sz="800" b="0" i="0">
                          <a:solidFill>
                            <a:srgbClr val="1F2937"/>
                          </a:solidFill>
                          <a:latin typeface="Arial"/>
                        </a:rPr>
                        <a:t>KNN</a:t>
                      </a:r>
                      <a:endParaRPr sz="800"/>
                    </a:p>
                  </a:txBody>
                  <a:tcPr marL="36576" marR="36576" marT="0" marB="0" anchor="ctr">
                    <a:noFill/>
                  </a:tcPr>
                </a:tc>
                <a:tc>
                  <a:txBody>
                    <a:bodyPr wrap="none"/>
                    <a:lstStyle/>
                    <a:p>
                      <a:pPr algn="r"/>
                      <a:r>
                        <a:rPr sz="800" b="0" i="0">
                          <a:solidFill>
                            <a:srgbClr val="1F2937"/>
                          </a:solidFill>
                          <a:latin typeface="Arial"/>
                        </a:rPr>
                        <a:t>0.0082</a:t>
                      </a:r>
                      <a:endParaRPr sz="800"/>
                    </a:p>
                  </a:txBody>
                  <a:tcPr marL="36576" marR="36576" marT="0" marB="0" anchor="ctr">
                    <a:noFill/>
                  </a:tcPr>
                </a:tc>
                <a:tc>
                  <a:txBody>
                    <a:bodyPr wrap="none"/>
                    <a:lstStyle/>
                    <a:p>
                      <a:pPr algn="r"/>
                      <a:r>
                        <a:rPr sz="800" b="0" i="0">
                          <a:solidFill>
                            <a:srgbClr val="1F2937"/>
                          </a:solidFill>
                          <a:latin typeface="Arial"/>
                        </a:rPr>
                        <a:t>0.0121</a:t>
                      </a:r>
                      <a:endParaRPr sz="800"/>
                    </a:p>
                  </a:txBody>
                  <a:tcPr marL="36576" marR="36576" marT="0" marB="0" anchor="ctr">
                    <a:noFill/>
                  </a:tcPr>
                </a:tc>
                <a:tc>
                  <a:txBody>
                    <a:bodyPr wrap="none"/>
                    <a:lstStyle/>
                    <a:p>
                      <a:pPr algn="r"/>
                      <a:r>
                        <a:rPr sz="800" b="0" i="0">
                          <a:solidFill>
                            <a:srgbClr val="1F2937"/>
                          </a:solidFill>
                          <a:latin typeface="Arial"/>
                        </a:rPr>
                        <a:t>0.0065</a:t>
                      </a:r>
                      <a:endParaRPr sz="800"/>
                    </a:p>
                  </a:txBody>
                  <a:tcPr marL="36576" marR="36576" marT="0" marB="0" anchor="ctr">
                    <a:noFill/>
                  </a:tcPr>
                </a:tc>
                <a:tc>
                  <a:txBody>
                    <a:bodyPr wrap="none"/>
                    <a:lstStyle/>
                    <a:p>
                      <a:pPr algn="r"/>
                      <a:r>
                        <a:rPr sz="800" b="1" i="0">
                          <a:solidFill>
                            <a:srgbClr val="1F2937"/>
                          </a:solidFill>
                          <a:latin typeface="Arial"/>
                        </a:rPr>
                        <a:t>0.0001</a:t>
                      </a:r>
                      <a:endParaRPr sz="800"/>
                    </a:p>
                  </a:txBody>
                  <a:tcPr marL="36576" marR="36576" marT="0" marB="0" anchor="ctr">
                    <a:noFill/>
                  </a:tcPr>
                </a:tc>
                <a:tc>
                  <a:txBody>
                    <a:bodyPr wrap="none"/>
                    <a:lstStyle/>
                    <a:p>
                      <a:pPr algn="r"/>
                      <a:r>
                        <a:rPr sz="800" b="1" i="0">
                          <a:solidFill>
                            <a:srgbClr val="1F2937"/>
                          </a:solidFill>
                          <a:latin typeface="Arial"/>
                        </a:rPr>
                        <a:t>0.0000</a:t>
                      </a:r>
                      <a:endParaRPr sz="800"/>
                    </a:p>
                  </a:txBody>
                  <a:tcPr marL="36576" marR="36576" marT="0" marB="0" anchor="ctr">
                    <a:noFill/>
                  </a:tcPr>
                </a:tc>
                <a:tc>
                  <a:txBody>
                    <a:bodyPr wrap="none"/>
                    <a:lstStyle/>
                    <a:p>
                      <a:pPr algn="r"/>
                      <a:r>
                        <a:rPr sz="800" b="0" i="0">
                          <a:solidFill>
                            <a:srgbClr val="1F2937"/>
                          </a:solidFill>
                          <a:latin typeface="Arial"/>
                        </a:rPr>
                        <a:t>0.0016</a:t>
                      </a:r>
                      <a:endParaRPr sz="800"/>
                    </a:p>
                  </a:txBody>
                  <a:tcPr marL="36576" marR="36576" marT="0" marB="0" anchor="ctr">
                    <a:noFill/>
                  </a:tcPr>
                </a:tc>
                <a:tc>
                  <a:txBody>
                    <a:bodyPr wrap="none"/>
                    <a:lstStyle/>
                    <a:p>
                      <a:pPr algn="r"/>
                      <a:r>
                        <a:rPr sz="800" b="0" i="0">
                          <a:solidFill>
                            <a:srgbClr val="1F2937"/>
                          </a:solidFill>
                          <a:latin typeface="Arial"/>
                        </a:rPr>
                        <a:t>0.0012</a:t>
                      </a:r>
                      <a:endParaRPr sz="800"/>
                    </a:p>
                  </a:txBody>
                  <a:tcPr marL="36576" marR="36576" marT="0" marB="0" anchor="ctr">
                    <a:noFill/>
                  </a:tcPr>
                </a:tc>
              </a:tr>
              <a:tr h="214884">
                <a:tc>
                  <a:txBody>
                    <a:bodyPr wrap="none"/>
                    <a:lstStyle/>
                    <a:p>
                      <a:pPr algn="l"/>
                      <a:r>
                        <a:rPr sz="800" b="0" i="0">
                          <a:solidFill>
                            <a:srgbClr val="1F2937"/>
                          </a:solidFill>
                          <a:latin typeface="Arial"/>
                        </a:rPr>
                        <a:t>LowRank</a:t>
                      </a:r>
                      <a:endParaRPr sz="800"/>
                    </a:p>
                  </a:txBody>
                  <a:tcPr marL="36576" marR="36576" marT="0" marB="0" anchor="ctr">
                    <a:noFill/>
                  </a:tcPr>
                </a:tc>
                <a:tc>
                  <a:txBody>
                    <a:bodyPr wrap="none"/>
                    <a:lstStyle/>
                    <a:p>
                      <a:pPr algn="r"/>
                      <a:r>
                        <a:rPr sz="800" b="0" i="0">
                          <a:solidFill>
                            <a:srgbClr val="1F2937"/>
                          </a:solidFill>
                          <a:latin typeface="Arial"/>
                        </a:rPr>
                        <a:t>0.0078</a:t>
                      </a:r>
                      <a:endParaRPr sz="800"/>
                    </a:p>
                  </a:txBody>
                  <a:tcPr marL="36576" marR="36576" marT="0" marB="0" anchor="ctr">
                    <a:noFill/>
                  </a:tcPr>
                </a:tc>
                <a:tc>
                  <a:txBody>
                    <a:bodyPr wrap="none"/>
                    <a:lstStyle/>
                    <a:p>
                      <a:pPr algn="r"/>
                      <a:r>
                        <a:rPr sz="800" b="0" i="0">
                          <a:solidFill>
                            <a:srgbClr val="1F2937"/>
                          </a:solidFill>
                          <a:latin typeface="Arial"/>
                        </a:rPr>
                        <a:t>0.0118</a:t>
                      </a:r>
                      <a:endParaRPr sz="800"/>
                    </a:p>
                  </a:txBody>
                  <a:tcPr marL="36576" marR="36576" marT="0" marB="0" anchor="ctr">
                    <a:noFill/>
                  </a:tcPr>
                </a:tc>
                <a:tc>
                  <a:txBody>
                    <a:bodyPr wrap="none"/>
                    <a:lstStyle/>
                    <a:p>
                      <a:pPr algn="r"/>
                      <a:r>
                        <a:rPr sz="800" b="0" i="0">
                          <a:solidFill>
                            <a:srgbClr val="1F2937"/>
                          </a:solidFill>
                          <a:latin typeface="Arial"/>
                        </a:rPr>
                        <a:t>0.0061</a:t>
                      </a:r>
                      <a:endParaRPr sz="800"/>
                    </a:p>
                  </a:txBody>
                  <a:tcPr marL="36576" marR="36576" marT="0" marB="0" anchor="ctr">
                    <a:noFill/>
                  </a:tcPr>
                </a:tc>
                <a:tc>
                  <a:txBody>
                    <a:bodyPr wrap="none"/>
                    <a:lstStyle/>
                    <a:p>
                      <a:pPr algn="r"/>
                      <a:r>
                        <a:rPr sz="800" b="1" i="0">
                          <a:solidFill>
                            <a:srgbClr val="1F2937"/>
                          </a:solidFill>
                          <a:latin typeface="Arial"/>
                        </a:rPr>
                        <a:t>0.0001</a:t>
                      </a:r>
                      <a:endParaRPr sz="800"/>
                    </a:p>
                  </a:txBody>
                  <a:tcPr marL="36576" marR="36576" marT="0" marB="0" anchor="ctr">
                    <a:noFill/>
                  </a:tcPr>
                </a:tc>
                <a:tc>
                  <a:txBody>
                    <a:bodyPr wrap="none"/>
                    <a:lstStyle/>
                    <a:p>
                      <a:pPr algn="r"/>
                      <a:r>
                        <a:rPr sz="800" b="1" i="0">
                          <a:solidFill>
                            <a:srgbClr val="1F2937"/>
                          </a:solidFill>
                          <a:latin typeface="Arial"/>
                        </a:rPr>
                        <a:t>0.0000</a:t>
                      </a:r>
                      <a:endParaRPr sz="800"/>
                    </a:p>
                  </a:txBody>
                  <a:tcPr marL="36576" marR="36576" marT="0" marB="0" anchor="ctr">
                    <a:noFill/>
                  </a:tcPr>
                </a:tc>
                <a:tc>
                  <a:txBody>
                    <a:bodyPr wrap="none"/>
                    <a:lstStyle/>
                    <a:p>
                      <a:pPr algn="r"/>
                      <a:r>
                        <a:rPr sz="800" b="0" i="0">
                          <a:solidFill>
                            <a:srgbClr val="1F2937"/>
                          </a:solidFill>
                          <a:latin typeface="Arial"/>
                        </a:rPr>
                        <a:t>0.0015</a:t>
                      </a:r>
                      <a:endParaRPr sz="800"/>
                    </a:p>
                  </a:txBody>
                  <a:tcPr marL="36576" marR="36576" marT="0" marB="0" anchor="ctr">
                    <a:noFill/>
                  </a:tcPr>
                </a:tc>
                <a:tc>
                  <a:txBody>
                    <a:bodyPr wrap="none"/>
                    <a:lstStyle/>
                    <a:p>
                      <a:pPr algn="r"/>
                      <a:r>
                        <a:rPr sz="800" b="0" i="0">
                          <a:solidFill>
                            <a:srgbClr val="1F2937"/>
                          </a:solidFill>
                          <a:latin typeface="Arial"/>
                        </a:rPr>
                        <a:t>0.0012</a:t>
                      </a:r>
                      <a:endParaRPr sz="800"/>
                    </a:p>
                  </a:txBody>
                  <a:tcPr marL="36576" marR="36576" marT="0" marB="0" anchor="ctr">
                    <a:noFill/>
                  </a:tcPr>
                </a:tc>
              </a:tr>
              <a:tr h="214884">
                <a:tc>
                  <a:txBody>
                    <a:bodyPr wrap="none"/>
                    <a:lstStyle/>
                    <a:p>
                      <a:pPr algn="l"/>
                      <a:r>
                        <a:rPr sz="800" b="0" i="0">
                          <a:solidFill>
                            <a:srgbClr val="1F2937"/>
                          </a:solidFill>
                          <a:latin typeface="Arial"/>
                        </a:rPr>
                        <a:t>EM</a:t>
                      </a:r>
                      <a:endParaRPr sz="800"/>
                    </a:p>
                  </a:txBody>
                  <a:tcPr marL="36576" marR="36576" marT="0" marB="0" anchor="ctr">
                    <a:noFill/>
                  </a:tcPr>
                </a:tc>
                <a:tc>
                  <a:txBody>
                    <a:bodyPr wrap="none"/>
                    <a:lstStyle/>
                    <a:p>
                      <a:pPr algn="r"/>
                      <a:r>
                        <a:rPr sz="800" b="1" i="0">
                          <a:solidFill>
                            <a:srgbClr val="1F2937"/>
                          </a:solidFill>
                          <a:latin typeface="Arial"/>
                        </a:rPr>
                        <a:t>0.0072</a:t>
                      </a:r>
                      <a:endParaRPr sz="800"/>
                    </a:p>
                  </a:txBody>
                  <a:tcPr marL="36576" marR="36576" marT="0" marB="0" anchor="ctr">
                    <a:noFill/>
                  </a:tcPr>
                </a:tc>
                <a:tc>
                  <a:txBody>
                    <a:bodyPr wrap="none"/>
                    <a:lstStyle/>
                    <a:p>
                      <a:pPr algn="r"/>
                      <a:r>
                        <a:rPr sz="800" b="1" i="0">
                          <a:solidFill>
                            <a:srgbClr val="1F2937"/>
                          </a:solidFill>
                          <a:latin typeface="Arial"/>
                        </a:rPr>
                        <a:t>0.0109</a:t>
                      </a:r>
                      <a:endParaRPr sz="800"/>
                    </a:p>
                  </a:txBody>
                  <a:tcPr marL="36576" marR="36576" marT="0" marB="0" anchor="ctr">
                    <a:noFill/>
                  </a:tcPr>
                </a:tc>
                <a:tc>
                  <a:txBody>
                    <a:bodyPr wrap="none"/>
                    <a:lstStyle/>
                    <a:p>
                      <a:pPr algn="r"/>
                      <a:r>
                        <a:rPr sz="800" b="1" i="0">
                          <a:solidFill>
                            <a:srgbClr val="1F2937"/>
                          </a:solidFill>
                          <a:latin typeface="Arial"/>
                        </a:rPr>
                        <a:t>0.0046</a:t>
                      </a:r>
                      <a:endParaRPr sz="800"/>
                    </a:p>
                  </a:txBody>
                  <a:tcPr marL="36576" marR="36576" marT="0" marB="0" anchor="ctr">
                    <a:noFill/>
                  </a:tcPr>
                </a:tc>
                <a:tc>
                  <a:txBody>
                    <a:bodyPr wrap="none"/>
                    <a:lstStyle/>
                    <a:p>
                      <a:pPr algn="r"/>
                      <a:r>
                        <a:rPr sz="800" b="1" i="0">
                          <a:solidFill>
                            <a:srgbClr val="1F2937"/>
                          </a:solidFill>
                          <a:latin typeface="Arial"/>
                        </a:rPr>
                        <a:t>0.0001</a:t>
                      </a:r>
                      <a:endParaRPr sz="800"/>
                    </a:p>
                  </a:txBody>
                  <a:tcPr marL="36576" marR="36576" marT="0" marB="0" anchor="ctr">
                    <a:noFill/>
                  </a:tcPr>
                </a:tc>
                <a:tc>
                  <a:txBody>
                    <a:bodyPr wrap="none"/>
                    <a:lstStyle/>
                    <a:p>
                      <a:pPr algn="r"/>
                      <a:r>
                        <a:rPr sz="800" b="1" i="0">
                          <a:solidFill>
                            <a:srgbClr val="1F2937"/>
                          </a:solidFill>
                          <a:latin typeface="Arial"/>
                        </a:rPr>
                        <a:t>0.0000</a:t>
                      </a:r>
                      <a:endParaRPr sz="800"/>
                    </a:p>
                  </a:txBody>
                  <a:tcPr marL="36576" marR="36576" marT="0" marB="0" anchor="ctr">
                    <a:noFill/>
                  </a:tcPr>
                </a:tc>
                <a:tc>
                  <a:txBody>
                    <a:bodyPr wrap="none"/>
                    <a:lstStyle/>
                    <a:p>
                      <a:pPr algn="r"/>
                      <a:r>
                        <a:rPr sz="800" b="1" i="0">
                          <a:solidFill>
                            <a:srgbClr val="1F2937"/>
                          </a:solidFill>
                          <a:latin typeface="Arial"/>
                        </a:rPr>
                        <a:t>0.0014</a:t>
                      </a:r>
                      <a:endParaRPr sz="800"/>
                    </a:p>
                  </a:txBody>
                  <a:tcPr marL="36576" marR="36576" marT="0" marB="0" anchor="ctr">
                    <a:noFill/>
                  </a:tcPr>
                </a:tc>
                <a:tc>
                  <a:txBody>
                    <a:bodyPr wrap="none"/>
                    <a:lstStyle/>
                    <a:p>
                      <a:pPr algn="r"/>
                      <a:r>
                        <a:rPr sz="800" b="1" i="0">
                          <a:solidFill>
                            <a:srgbClr val="1F2937"/>
                          </a:solidFill>
                          <a:latin typeface="Arial"/>
                        </a:rPr>
                        <a:t>0.0011</a:t>
                      </a:r>
                      <a:endParaRPr sz="800"/>
                    </a:p>
                  </a:txBody>
                  <a:tcPr marL="36576" marR="36576" marT="0" marB="0" anchor="ctr">
                    <a:noFill/>
                  </a:tcPr>
                </a:tc>
              </a:tr>
              <a:tr h="214884">
                <a:tc>
                  <a:txBody>
                    <a:bodyPr wrap="none"/>
                    <a:lstStyle/>
                    <a:p>
                      <a:pPr algn="l"/>
                      <a:r>
                        <a:rPr sz="800" b="0" i="0">
                          <a:solidFill>
                            <a:srgbClr val="1F2937"/>
                          </a:solidFill>
                          <a:latin typeface="Arial"/>
                        </a:rPr>
                        <a:t>BRITS</a:t>
                      </a:r>
                      <a:endParaRPr sz="800"/>
                    </a:p>
                  </a:txBody>
                  <a:tcPr marL="36576" marR="36576" marT="0" marB="0" anchor="ctr">
                    <a:noFill/>
                  </a:tcPr>
                </a:tc>
                <a:tc>
                  <a:txBody>
                    <a:bodyPr wrap="none"/>
                    <a:lstStyle/>
                    <a:p>
                      <a:pPr algn="r"/>
                      <a:r>
                        <a:rPr sz="800" b="0" i="0">
                          <a:solidFill>
                            <a:srgbClr val="1F2937"/>
                          </a:solidFill>
                          <a:latin typeface="Arial"/>
                        </a:rPr>
                        <a:t>0.0073</a:t>
                      </a:r>
                      <a:endParaRPr sz="800"/>
                    </a:p>
                  </a:txBody>
                  <a:tcPr marL="36576" marR="36576" marT="0" marB="0" anchor="ctr">
                    <a:noFill/>
                  </a:tcPr>
                </a:tc>
                <a:tc>
                  <a:txBody>
                    <a:bodyPr wrap="none"/>
                    <a:lstStyle/>
                    <a:p>
                      <a:pPr algn="r"/>
                      <a:r>
                        <a:rPr sz="800" b="0" i="0">
                          <a:solidFill>
                            <a:srgbClr val="1F2937"/>
                          </a:solidFill>
                          <a:latin typeface="Arial"/>
                        </a:rPr>
                        <a:t>0.0111</a:t>
                      </a:r>
                      <a:endParaRPr sz="800"/>
                    </a:p>
                  </a:txBody>
                  <a:tcPr marL="36576" marR="36576" marT="0" marB="0" anchor="ctr">
                    <a:noFill/>
                  </a:tcPr>
                </a:tc>
                <a:tc>
                  <a:txBody>
                    <a:bodyPr wrap="none"/>
                    <a:lstStyle/>
                    <a:p>
                      <a:pPr algn="r"/>
                      <a:r>
                        <a:rPr sz="800" b="0" i="0">
                          <a:solidFill>
                            <a:srgbClr val="1F2937"/>
                          </a:solidFill>
                          <a:latin typeface="Arial"/>
                        </a:rPr>
                        <a:t>0.0049</a:t>
                      </a:r>
                      <a:endParaRPr sz="800"/>
                    </a:p>
                  </a:txBody>
                  <a:tcPr marL="36576" marR="36576" marT="0" marB="0" anchor="ctr">
                    <a:noFill/>
                  </a:tcPr>
                </a:tc>
                <a:tc>
                  <a:txBody>
                    <a:bodyPr wrap="none"/>
                    <a:lstStyle/>
                    <a:p>
                      <a:pPr algn="r"/>
                      <a:r>
                        <a:rPr sz="800" b="1" i="0">
                          <a:solidFill>
                            <a:srgbClr val="1F2937"/>
                          </a:solidFill>
                          <a:latin typeface="Arial"/>
                        </a:rPr>
                        <a:t>0.0001</a:t>
                      </a:r>
                      <a:endParaRPr sz="800"/>
                    </a:p>
                  </a:txBody>
                  <a:tcPr marL="36576" marR="36576" marT="0" marB="0" anchor="ctr">
                    <a:noFill/>
                  </a:tcPr>
                </a:tc>
                <a:tc>
                  <a:txBody>
                    <a:bodyPr wrap="none"/>
                    <a:lstStyle/>
                    <a:p>
                      <a:pPr algn="r"/>
                      <a:r>
                        <a:rPr sz="800" b="1" i="0">
                          <a:solidFill>
                            <a:srgbClr val="1F2937"/>
                          </a:solidFill>
                          <a:latin typeface="Arial"/>
                        </a:rPr>
                        <a:t>0.0000</a:t>
                      </a:r>
                      <a:endParaRPr sz="800"/>
                    </a:p>
                  </a:txBody>
                  <a:tcPr marL="36576" marR="36576" marT="0" marB="0" anchor="ctr">
                    <a:noFill/>
                  </a:tcPr>
                </a:tc>
                <a:tc>
                  <a:txBody>
                    <a:bodyPr wrap="none"/>
                    <a:lstStyle/>
                    <a:p>
                      <a:pPr algn="r"/>
                      <a:r>
                        <a:rPr sz="800" b="0" i="0">
                          <a:solidFill>
                            <a:srgbClr val="1F2937"/>
                          </a:solidFill>
                          <a:latin typeface="Arial"/>
                        </a:rPr>
                        <a:t>0.0015</a:t>
                      </a:r>
                      <a:endParaRPr sz="800"/>
                    </a:p>
                  </a:txBody>
                  <a:tcPr marL="36576" marR="36576" marT="0" marB="0" anchor="ctr">
                    <a:noFill/>
                  </a:tcPr>
                </a:tc>
                <a:tc>
                  <a:txBody>
                    <a:bodyPr wrap="none"/>
                    <a:lstStyle/>
                    <a:p>
                      <a:pPr algn="r"/>
                      <a:r>
                        <a:rPr sz="800" b="1" i="0">
                          <a:solidFill>
                            <a:srgbClr val="1F2937"/>
                          </a:solidFill>
                          <a:latin typeface="Arial"/>
                        </a:rPr>
                        <a:t>0.0011</a:t>
                      </a:r>
                      <a:endParaRPr sz="800"/>
                    </a:p>
                  </a:txBody>
                  <a:tcPr marL="36576" marR="36576" marT="0" marB="0" anchor="ctr">
                    <a:noFill/>
                  </a:tcPr>
                </a:tc>
              </a:tr>
              <a:tr h="214884">
                <a:tc>
                  <a:txBody>
                    <a:bodyPr wrap="none"/>
                    <a:lstStyle/>
                    <a:p>
                      <a:pPr algn="l"/>
                      <a:r>
                        <a:rPr sz="800" b="0" i="0">
                          <a:solidFill>
                            <a:srgbClr val="1F2937"/>
                          </a:solidFill>
                          <a:latin typeface="Arial"/>
                        </a:rPr>
                        <a:t>CSDI</a:t>
                      </a:r>
                      <a:endParaRPr sz="800"/>
                    </a:p>
                  </a:txBody>
                  <a:tcPr marL="36576" marR="36576" marT="0" marB="0" anchor="ctr">
                    <a:lnB w="6350">
                      <a:solidFill>
                        <a:srgbClr val="D0D5DD"/>
                      </a:solidFill>
                    </a:lnB>
                    <a:noFill/>
                  </a:tcPr>
                </a:tc>
                <a:tc>
                  <a:txBody>
                    <a:bodyPr wrap="none"/>
                    <a:lstStyle/>
                    <a:p>
                      <a:pPr algn="r"/>
                      <a:r>
                        <a:rPr sz="800" b="1" i="0">
                          <a:solidFill>
                            <a:srgbClr val="1F2937"/>
                          </a:solidFill>
                          <a:latin typeface="Arial"/>
                        </a:rPr>
                        <a:t>0.0072</a:t>
                      </a:r>
                      <a:endParaRPr sz="800"/>
                    </a:p>
                  </a:txBody>
                  <a:tcPr marL="36576" marR="36576" marT="0" marB="0" anchor="ctr">
                    <a:lnB w="6350">
                      <a:solidFill>
                        <a:srgbClr val="D0D5DD"/>
                      </a:solidFill>
                    </a:lnB>
                    <a:noFill/>
                  </a:tcPr>
                </a:tc>
                <a:tc>
                  <a:txBody>
                    <a:bodyPr wrap="none"/>
                    <a:lstStyle/>
                    <a:p>
                      <a:pPr algn="r"/>
                      <a:r>
                        <a:rPr sz="800" b="1" i="0">
                          <a:solidFill>
                            <a:srgbClr val="1F2937"/>
                          </a:solidFill>
                          <a:latin typeface="Arial"/>
                        </a:rPr>
                        <a:t>0.0109</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0.0049</a:t>
                      </a:r>
                      <a:endParaRPr sz="800"/>
                    </a:p>
                  </a:txBody>
                  <a:tcPr marL="36576" marR="36576" marT="0" marB="0" anchor="ctr">
                    <a:lnB w="6350">
                      <a:solidFill>
                        <a:srgbClr val="D0D5DD"/>
                      </a:solidFill>
                    </a:lnB>
                    <a:noFill/>
                  </a:tcPr>
                </a:tc>
                <a:tc>
                  <a:txBody>
                    <a:bodyPr wrap="none"/>
                    <a:lstStyle/>
                    <a:p>
                      <a:pPr algn="r"/>
                      <a:r>
                        <a:rPr sz="800" b="1" i="0">
                          <a:solidFill>
                            <a:srgbClr val="1F2937"/>
                          </a:solidFill>
                          <a:latin typeface="Arial"/>
                        </a:rPr>
                        <a:t>0.0001</a:t>
                      </a:r>
                      <a:endParaRPr sz="800"/>
                    </a:p>
                  </a:txBody>
                  <a:tcPr marL="36576" marR="36576" marT="0" marB="0" anchor="ctr">
                    <a:lnB w="6350">
                      <a:solidFill>
                        <a:srgbClr val="D0D5DD"/>
                      </a:solidFill>
                    </a:lnB>
                    <a:noFill/>
                  </a:tcPr>
                </a:tc>
                <a:tc>
                  <a:txBody>
                    <a:bodyPr wrap="none"/>
                    <a:lstStyle/>
                    <a:p>
                      <a:pPr algn="r"/>
                      <a:r>
                        <a:rPr sz="800" b="1" i="0">
                          <a:solidFill>
                            <a:srgbClr val="1F2937"/>
                          </a:solidFill>
                          <a:latin typeface="Arial"/>
                        </a:rPr>
                        <a:t>0.0000</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0.0015</a:t>
                      </a:r>
                      <a:endParaRPr sz="800"/>
                    </a:p>
                  </a:txBody>
                  <a:tcPr marL="36576" marR="36576" marT="0" marB="0" anchor="ctr">
                    <a:lnB w="6350">
                      <a:solidFill>
                        <a:srgbClr val="D0D5DD"/>
                      </a:solidFill>
                    </a:lnB>
                    <a:noFill/>
                  </a:tcPr>
                </a:tc>
                <a:tc>
                  <a:txBody>
                    <a:bodyPr wrap="none"/>
                    <a:lstStyle/>
                    <a:p>
                      <a:pPr algn="r"/>
                      <a:r>
                        <a:rPr sz="800" b="1" i="0">
                          <a:solidFill>
                            <a:srgbClr val="1F2937"/>
                          </a:solidFill>
                          <a:latin typeface="Arial"/>
                        </a:rPr>
                        <a:t>0.0011</a:t>
                      </a:r>
                      <a:endParaRPr sz="800"/>
                    </a:p>
                  </a:txBody>
                  <a:tcPr marL="36576" marR="36576" marT="0" marB="0" anchor="ctr">
                    <a:lnB w="6350">
                      <a:solidFill>
                        <a:srgbClr val="D0D5DD"/>
                      </a:solidFill>
                    </a:lnB>
                    <a:noFill/>
                  </a:tcPr>
                </a:tc>
              </a:tr>
              <a:tr h="214884">
                <a:tc gridSpan="8">
                  <a:txBody>
                    <a:bodyPr wrap="none"/>
                    <a:lstStyle/>
                    <a:p>
                      <a:pPr algn="l"/>
                      <a:r>
                        <a:rPr sz="800" b="1" i="0">
                          <a:solidFill>
                            <a:srgbClr val="E4572E"/>
                          </a:solidFill>
                          <a:latin typeface="Arial"/>
                        </a:rPr>
                        <a:t>Level (1000, 10)</a:t>
                      </a: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r>
              <a:tr h="214884">
                <a:tc>
                  <a:txBody>
                    <a:bodyPr wrap="none"/>
                    <a:lstStyle/>
                    <a:p>
                      <a:pPr algn="l"/>
                      <a:r>
                        <a:rPr sz="800" b="0" i="0">
                          <a:solidFill>
                            <a:srgbClr val="1F2937"/>
                          </a:solidFill>
                          <a:latin typeface="Arial"/>
                        </a:rPr>
                        <a:t>Deletion</a:t>
                      </a:r>
                      <a:endParaRPr sz="800"/>
                    </a:p>
                  </a:txBody>
                  <a:tcPr marL="36576" marR="36576" marT="0" marB="0" anchor="ctr">
                    <a:noFill/>
                  </a:tcPr>
                </a:tc>
                <a:tc>
                  <a:txBody>
                    <a:bodyPr wrap="none"/>
                    <a:lstStyle/>
                    <a:p>
                      <a:pPr algn="r"/>
                      <a:r>
                        <a:rPr sz="800" b="0" i="0">
                          <a:solidFill>
                            <a:srgbClr val="1F2937"/>
                          </a:solidFill>
                          <a:latin typeface="Arial"/>
                        </a:rPr>
                        <a:t>--</a:t>
                      </a:r>
                      <a:endParaRPr sz="800"/>
                    </a:p>
                  </a:txBody>
                  <a:tcPr marL="36576" marR="36576" marT="0" marB="0" anchor="ctr">
                    <a:noFill/>
                  </a:tcPr>
                </a:tc>
                <a:tc>
                  <a:txBody>
                    <a:bodyPr wrap="none"/>
                    <a:lstStyle/>
                    <a:p>
                      <a:pPr algn="r"/>
                      <a:r>
                        <a:rPr sz="800" b="0" i="0">
                          <a:solidFill>
                            <a:srgbClr val="1F2937"/>
                          </a:solidFill>
                          <a:latin typeface="Arial"/>
                        </a:rPr>
                        <a:t>--</a:t>
                      </a:r>
                      <a:endParaRPr sz="800"/>
                    </a:p>
                  </a:txBody>
                  <a:tcPr marL="36576" marR="36576" marT="0" marB="0" anchor="ctr">
                    <a:noFill/>
                  </a:tcPr>
                </a:tc>
                <a:tc>
                  <a:txBody>
                    <a:bodyPr wrap="none"/>
                    <a:lstStyle/>
                    <a:p>
                      <a:pPr algn="r"/>
                      <a:r>
                        <a:rPr sz="800" b="0" i="0">
                          <a:solidFill>
                            <a:srgbClr val="1F2937"/>
                          </a:solidFill>
                          <a:latin typeface="Arial"/>
                        </a:rPr>
                        <a:t>0.1825</a:t>
                      </a:r>
                      <a:endParaRPr sz="800"/>
                    </a:p>
                  </a:txBody>
                  <a:tcPr marL="36576" marR="36576" marT="0" marB="0" anchor="ctr">
                    <a:noFill/>
                  </a:tcPr>
                </a:tc>
                <a:tc>
                  <a:txBody>
                    <a:bodyPr wrap="none"/>
                    <a:lstStyle/>
                    <a:p>
                      <a:pPr algn="r"/>
                      <a:r>
                        <a:rPr sz="800" b="0" i="0">
                          <a:solidFill>
                            <a:srgbClr val="1F2937"/>
                          </a:solidFill>
                          <a:latin typeface="Arial"/>
                        </a:rPr>
                        <a:t>0.0017</a:t>
                      </a:r>
                      <a:endParaRPr sz="800"/>
                    </a:p>
                  </a:txBody>
                  <a:tcPr marL="36576" marR="36576" marT="0" marB="0" anchor="ctr">
                    <a:noFill/>
                  </a:tcPr>
                </a:tc>
                <a:tc>
                  <a:txBody>
                    <a:bodyPr wrap="none"/>
                    <a:lstStyle/>
                    <a:p>
                      <a:pPr algn="r"/>
                      <a:r>
                        <a:rPr sz="800" b="0" i="0">
                          <a:solidFill>
                            <a:srgbClr val="1F2937"/>
                          </a:solidFill>
                          <a:latin typeface="Arial"/>
                        </a:rPr>
                        <a:t>0.0010</a:t>
                      </a:r>
                      <a:endParaRPr sz="800"/>
                    </a:p>
                  </a:txBody>
                  <a:tcPr marL="36576" marR="36576" marT="0" marB="0" anchor="ctr">
                    <a:noFill/>
                  </a:tcPr>
                </a:tc>
                <a:tc>
                  <a:txBody>
                    <a:bodyPr wrap="none"/>
                    <a:lstStyle/>
                    <a:p>
                      <a:pPr algn="r"/>
                      <a:r>
                        <a:rPr sz="800" b="0" i="0">
                          <a:solidFill>
                            <a:srgbClr val="1F2937"/>
                          </a:solidFill>
                          <a:latin typeface="Arial"/>
                        </a:rPr>
                        <a:t>0.1135</a:t>
                      </a:r>
                      <a:endParaRPr sz="800"/>
                    </a:p>
                  </a:txBody>
                  <a:tcPr marL="36576" marR="36576" marT="0" marB="0" anchor="ctr">
                    <a:noFill/>
                  </a:tcPr>
                </a:tc>
                <a:tc>
                  <a:txBody>
                    <a:bodyPr wrap="none"/>
                    <a:lstStyle/>
                    <a:p>
                      <a:pPr algn="r"/>
                      <a:r>
                        <a:rPr sz="800" b="0" i="0">
                          <a:solidFill>
                            <a:srgbClr val="1F2937"/>
                          </a:solidFill>
                          <a:latin typeface="Arial"/>
                        </a:rPr>
                        <a:t>0.0493</a:t>
                      </a:r>
                      <a:endParaRPr sz="800"/>
                    </a:p>
                  </a:txBody>
                  <a:tcPr marL="36576" marR="36576" marT="0" marB="0" anchor="ctr">
                    <a:noFill/>
                  </a:tcPr>
                </a:tc>
              </a:tr>
              <a:tr h="214884">
                <a:tc>
                  <a:txBody>
                    <a:bodyPr wrap="none"/>
                    <a:lstStyle/>
                    <a:p>
                      <a:pPr algn="l"/>
                      <a:r>
                        <a:rPr sz="800" b="0" i="0">
                          <a:solidFill>
                            <a:srgbClr val="1F2937"/>
                          </a:solidFill>
                          <a:latin typeface="Arial"/>
                        </a:rPr>
                        <a:t>Zero</a:t>
                      </a:r>
                      <a:endParaRPr sz="800"/>
                    </a:p>
                  </a:txBody>
                  <a:tcPr marL="36576" marR="36576" marT="0" marB="0" anchor="ctr">
                    <a:noFill/>
                  </a:tcPr>
                </a:tc>
                <a:tc>
                  <a:txBody>
                    <a:bodyPr wrap="none"/>
                    <a:lstStyle/>
                    <a:p>
                      <a:pPr algn="r"/>
                      <a:r>
                        <a:rPr sz="800" b="0" i="0">
                          <a:solidFill>
                            <a:srgbClr val="1F2937"/>
                          </a:solidFill>
                          <a:latin typeface="Arial"/>
                        </a:rPr>
                        <a:t>0.0104</a:t>
                      </a:r>
                      <a:endParaRPr sz="800"/>
                    </a:p>
                  </a:txBody>
                  <a:tcPr marL="36576" marR="36576" marT="0" marB="0" anchor="ctr">
                    <a:noFill/>
                  </a:tcPr>
                </a:tc>
                <a:tc>
                  <a:txBody>
                    <a:bodyPr wrap="none"/>
                    <a:lstStyle/>
                    <a:p>
                      <a:pPr algn="r"/>
                      <a:r>
                        <a:rPr sz="800" b="0" i="0">
                          <a:solidFill>
                            <a:srgbClr val="1F2937"/>
                          </a:solidFill>
                          <a:latin typeface="Arial"/>
                        </a:rPr>
                        <a:t>0.0152</a:t>
                      </a:r>
                      <a:endParaRPr sz="800"/>
                    </a:p>
                  </a:txBody>
                  <a:tcPr marL="36576" marR="36576" marT="0" marB="0" anchor="ctr">
                    <a:noFill/>
                  </a:tcPr>
                </a:tc>
                <a:tc>
                  <a:txBody>
                    <a:bodyPr wrap="none"/>
                    <a:lstStyle/>
                    <a:p>
                      <a:pPr algn="r"/>
                      <a:r>
                        <a:rPr sz="800" b="0" i="0">
                          <a:solidFill>
                            <a:srgbClr val="1F2937"/>
                          </a:solidFill>
                          <a:latin typeface="Arial"/>
                        </a:rPr>
                        <a:t>0.0785</a:t>
                      </a:r>
                      <a:endParaRPr sz="800"/>
                    </a:p>
                  </a:txBody>
                  <a:tcPr marL="36576" marR="36576" marT="0" marB="0" anchor="ctr">
                    <a:noFill/>
                  </a:tcPr>
                </a:tc>
                <a:tc>
                  <a:txBody>
                    <a:bodyPr wrap="none"/>
                    <a:lstStyle/>
                    <a:p>
                      <a:pPr algn="r"/>
                      <a:r>
                        <a:rPr sz="800" b="0" i="0">
                          <a:solidFill>
                            <a:srgbClr val="1F2937"/>
                          </a:solidFill>
                          <a:latin typeface="Arial"/>
                        </a:rPr>
                        <a:t>0.0004</a:t>
                      </a:r>
                      <a:endParaRPr sz="800"/>
                    </a:p>
                  </a:txBody>
                  <a:tcPr marL="36576" marR="36576" marT="0" marB="0" anchor="ctr">
                    <a:noFill/>
                  </a:tcPr>
                </a:tc>
                <a:tc>
                  <a:txBody>
                    <a:bodyPr wrap="none"/>
                    <a:lstStyle/>
                    <a:p>
                      <a:pPr algn="r"/>
                      <a:r>
                        <a:rPr sz="800" b="0" i="0">
                          <a:solidFill>
                            <a:srgbClr val="1F2937"/>
                          </a:solidFill>
                          <a:latin typeface="Arial"/>
                        </a:rPr>
                        <a:t>0.0005</a:t>
                      </a:r>
                      <a:endParaRPr sz="800"/>
                    </a:p>
                  </a:txBody>
                  <a:tcPr marL="36576" marR="36576" marT="0" marB="0" anchor="ctr">
                    <a:noFill/>
                  </a:tcPr>
                </a:tc>
                <a:tc>
                  <a:txBody>
                    <a:bodyPr wrap="none"/>
                    <a:lstStyle/>
                    <a:p>
                      <a:pPr algn="r"/>
                      <a:r>
                        <a:rPr sz="800" b="0" i="0">
                          <a:solidFill>
                            <a:srgbClr val="1F2937"/>
                          </a:solidFill>
                          <a:latin typeface="Arial"/>
                        </a:rPr>
                        <a:t>0.0155</a:t>
                      </a:r>
                      <a:endParaRPr sz="800"/>
                    </a:p>
                  </a:txBody>
                  <a:tcPr marL="36576" marR="36576" marT="0" marB="0" anchor="ctr">
                    <a:noFill/>
                  </a:tcPr>
                </a:tc>
                <a:tc>
                  <a:txBody>
                    <a:bodyPr wrap="none"/>
                    <a:lstStyle/>
                    <a:p>
                      <a:pPr algn="r"/>
                      <a:r>
                        <a:rPr sz="800" b="0" i="0">
                          <a:solidFill>
                            <a:srgbClr val="1F2937"/>
                          </a:solidFill>
                          <a:latin typeface="Arial"/>
                        </a:rPr>
                        <a:t>0.0048</a:t>
                      </a:r>
                      <a:endParaRPr sz="800"/>
                    </a:p>
                  </a:txBody>
                  <a:tcPr marL="36576" marR="36576" marT="0" marB="0" anchor="ctr">
                    <a:noFill/>
                  </a:tcPr>
                </a:tc>
              </a:tr>
              <a:tr h="214884">
                <a:tc>
                  <a:txBody>
                    <a:bodyPr wrap="none"/>
                    <a:lstStyle/>
                    <a:p>
                      <a:pPr algn="l"/>
                      <a:r>
                        <a:rPr sz="800" b="0" i="0">
                          <a:solidFill>
                            <a:srgbClr val="1F2937"/>
                          </a:solidFill>
                          <a:latin typeface="Arial"/>
                        </a:rPr>
                        <a:t>KNN</a:t>
                      </a:r>
                      <a:endParaRPr sz="800"/>
                    </a:p>
                  </a:txBody>
                  <a:tcPr marL="36576" marR="36576" marT="0" marB="0" anchor="ctr">
                    <a:noFill/>
                  </a:tcPr>
                </a:tc>
                <a:tc>
                  <a:txBody>
                    <a:bodyPr wrap="none"/>
                    <a:lstStyle/>
                    <a:p>
                      <a:pPr algn="r"/>
                      <a:r>
                        <a:rPr sz="800" b="0" i="0">
                          <a:solidFill>
                            <a:srgbClr val="1F2937"/>
                          </a:solidFill>
                          <a:latin typeface="Arial"/>
                        </a:rPr>
                        <a:t>0.0080</a:t>
                      </a:r>
                      <a:endParaRPr sz="800"/>
                    </a:p>
                  </a:txBody>
                  <a:tcPr marL="36576" marR="36576" marT="0" marB="0" anchor="ctr">
                    <a:noFill/>
                  </a:tcPr>
                </a:tc>
                <a:tc>
                  <a:txBody>
                    <a:bodyPr wrap="none"/>
                    <a:lstStyle/>
                    <a:p>
                      <a:pPr algn="r"/>
                      <a:r>
                        <a:rPr sz="800" b="0" i="0">
                          <a:solidFill>
                            <a:srgbClr val="1F2937"/>
                          </a:solidFill>
                          <a:latin typeface="Arial"/>
                        </a:rPr>
                        <a:t>0.0118</a:t>
                      </a:r>
                      <a:endParaRPr sz="800"/>
                    </a:p>
                  </a:txBody>
                  <a:tcPr marL="36576" marR="36576" marT="0" marB="0" anchor="ctr">
                    <a:noFill/>
                  </a:tcPr>
                </a:tc>
                <a:tc>
                  <a:txBody>
                    <a:bodyPr wrap="none"/>
                    <a:lstStyle/>
                    <a:p>
                      <a:pPr algn="r"/>
                      <a:r>
                        <a:rPr sz="800" b="0" i="0">
                          <a:solidFill>
                            <a:srgbClr val="1F2937"/>
                          </a:solidFill>
                          <a:latin typeface="Arial"/>
                        </a:rPr>
                        <a:t>0.0224</a:t>
                      </a:r>
                      <a:endParaRPr sz="800"/>
                    </a:p>
                  </a:txBody>
                  <a:tcPr marL="36576" marR="36576" marT="0" marB="0" anchor="ctr">
                    <a:noFill/>
                  </a:tcPr>
                </a:tc>
                <a:tc>
                  <a:txBody>
                    <a:bodyPr wrap="none"/>
                    <a:lstStyle/>
                    <a:p>
                      <a:pPr algn="r"/>
                      <a:r>
                        <a:rPr sz="800" b="0" i="0">
                          <a:solidFill>
                            <a:srgbClr val="1F2937"/>
                          </a:solidFill>
                          <a:latin typeface="Arial"/>
                        </a:rPr>
                        <a:t>0.0003</a:t>
                      </a:r>
                      <a:endParaRPr sz="800"/>
                    </a:p>
                  </a:txBody>
                  <a:tcPr marL="36576" marR="36576" marT="0" marB="0" anchor="ctr">
                    <a:noFill/>
                  </a:tcPr>
                </a:tc>
                <a:tc>
                  <a:txBody>
                    <a:bodyPr wrap="none"/>
                    <a:lstStyle/>
                    <a:p>
                      <a:pPr algn="r"/>
                      <a:r>
                        <a:rPr sz="800" b="0" i="0">
                          <a:solidFill>
                            <a:srgbClr val="1F2937"/>
                          </a:solidFill>
                          <a:latin typeface="Arial"/>
                        </a:rPr>
                        <a:t>0.0002</a:t>
                      </a:r>
                      <a:endParaRPr sz="800"/>
                    </a:p>
                  </a:txBody>
                  <a:tcPr marL="36576" marR="36576" marT="0" marB="0" anchor="ctr">
                    <a:noFill/>
                  </a:tcPr>
                </a:tc>
                <a:tc>
                  <a:txBody>
                    <a:bodyPr wrap="none"/>
                    <a:lstStyle/>
                    <a:p>
                      <a:pPr algn="r"/>
                      <a:r>
                        <a:rPr sz="800" b="0" i="0">
                          <a:solidFill>
                            <a:srgbClr val="1F2937"/>
                          </a:solidFill>
                          <a:latin typeface="Arial"/>
                        </a:rPr>
                        <a:t>0.0059</a:t>
                      </a:r>
                      <a:endParaRPr sz="800"/>
                    </a:p>
                  </a:txBody>
                  <a:tcPr marL="36576" marR="36576" marT="0" marB="0" anchor="ctr">
                    <a:noFill/>
                  </a:tcPr>
                </a:tc>
                <a:tc>
                  <a:txBody>
                    <a:bodyPr wrap="none"/>
                    <a:lstStyle/>
                    <a:p>
                      <a:pPr algn="r"/>
                      <a:r>
                        <a:rPr sz="800" b="0" i="0">
                          <a:solidFill>
                            <a:srgbClr val="1F2937"/>
                          </a:solidFill>
                          <a:latin typeface="Arial"/>
                        </a:rPr>
                        <a:t>0.0032</a:t>
                      </a:r>
                      <a:endParaRPr sz="800"/>
                    </a:p>
                  </a:txBody>
                  <a:tcPr marL="36576" marR="36576" marT="0" marB="0" anchor="ctr">
                    <a:noFill/>
                  </a:tcPr>
                </a:tc>
              </a:tr>
              <a:tr h="214884">
                <a:tc>
                  <a:txBody>
                    <a:bodyPr wrap="none"/>
                    <a:lstStyle/>
                    <a:p>
                      <a:pPr algn="l"/>
                      <a:r>
                        <a:rPr sz="800" b="0" i="0">
                          <a:solidFill>
                            <a:srgbClr val="1F2937"/>
                          </a:solidFill>
                          <a:latin typeface="Arial"/>
                        </a:rPr>
                        <a:t>LowRank</a:t>
                      </a:r>
                      <a:endParaRPr sz="800"/>
                    </a:p>
                  </a:txBody>
                  <a:tcPr marL="36576" marR="36576" marT="0" marB="0" anchor="ctr">
                    <a:noFill/>
                  </a:tcPr>
                </a:tc>
                <a:tc>
                  <a:txBody>
                    <a:bodyPr wrap="none"/>
                    <a:lstStyle/>
                    <a:p>
                      <a:pPr algn="r"/>
                      <a:r>
                        <a:rPr sz="800" b="0" i="0">
                          <a:solidFill>
                            <a:srgbClr val="1F2937"/>
                          </a:solidFill>
                          <a:latin typeface="Arial"/>
                        </a:rPr>
                        <a:t>0.0074</a:t>
                      </a:r>
                      <a:endParaRPr sz="800"/>
                    </a:p>
                  </a:txBody>
                  <a:tcPr marL="36576" marR="36576" marT="0" marB="0" anchor="ctr">
                    <a:noFill/>
                  </a:tcPr>
                </a:tc>
                <a:tc>
                  <a:txBody>
                    <a:bodyPr wrap="none"/>
                    <a:lstStyle/>
                    <a:p>
                      <a:pPr algn="r"/>
                      <a:r>
                        <a:rPr sz="800" b="0" i="0">
                          <a:solidFill>
                            <a:srgbClr val="1F2937"/>
                          </a:solidFill>
                          <a:latin typeface="Arial"/>
                        </a:rPr>
                        <a:t>0.0108</a:t>
                      </a:r>
                      <a:endParaRPr sz="800"/>
                    </a:p>
                  </a:txBody>
                  <a:tcPr marL="36576" marR="36576" marT="0" marB="0" anchor="ctr">
                    <a:noFill/>
                  </a:tcPr>
                </a:tc>
                <a:tc>
                  <a:txBody>
                    <a:bodyPr wrap="none"/>
                    <a:lstStyle/>
                    <a:p>
                      <a:pPr algn="r"/>
                      <a:r>
                        <a:rPr sz="800" b="0" i="0">
                          <a:solidFill>
                            <a:srgbClr val="1F2937"/>
                          </a:solidFill>
                          <a:latin typeface="Arial"/>
                        </a:rPr>
                        <a:t>0.0137</a:t>
                      </a:r>
                      <a:endParaRPr sz="800"/>
                    </a:p>
                  </a:txBody>
                  <a:tcPr marL="36576" marR="36576" marT="0" marB="0" anchor="ctr">
                    <a:noFill/>
                  </a:tcPr>
                </a:tc>
                <a:tc>
                  <a:txBody>
                    <a:bodyPr wrap="none"/>
                    <a:lstStyle/>
                    <a:p>
                      <a:pPr algn="r"/>
                      <a:r>
                        <a:rPr sz="800" b="1" i="0">
                          <a:solidFill>
                            <a:srgbClr val="1F2937"/>
                          </a:solidFill>
                          <a:latin typeface="Arial"/>
                        </a:rPr>
                        <a:t>0.0002</a:t>
                      </a:r>
                      <a:endParaRPr sz="800"/>
                    </a:p>
                  </a:txBody>
                  <a:tcPr marL="36576" marR="36576" marT="0" marB="0" anchor="ctr">
                    <a:noFill/>
                  </a:tcPr>
                </a:tc>
                <a:tc>
                  <a:txBody>
                    <a:bodyPr wrap="none"/>
                    <a:lstStyle/>
                    <a:p>
                      <a:pPr algn="r"/>
                      <a:r>
                        <a:rPr sz="800" b="1" i="0">
                          <a:solidFill>
                            <a:srgbClr val="1F2937"/>
                          </a:solidFill>
                          <a:latin typeface="Arial"/>
                        </a:rPr>
                        <a:t>0.0001</a:t>
                      </a:r>
                      <a:endParaRPr sz="800"/>
                    </a:p>
                  </a:txBody>
                  <a:tcPr marL="36576" marR="36576" marT="0" marB="0" anchor="ctr">
                    <a:noFill/>
                  </a:tcPr>
                </a:tc>
                <a:tc>
                  <a:txBody>
                    <a:bodyPr wrap="none"/>
                    <a:lstStyle/>
                    <a:p>
                      <a:pPr algn="r"/>
                      <a:r>
                        <a:rPr sz="800" b="1" i="0">
                          <a:solidFill>
                            <a:srgbClr val="1F2937"/>
                          </a:solidFill>
                          <a:latin typeface="Arial"/>
                        </a:rPr>
                        <a:t>0.0048</a:t>
                      </a:r>
                      <a:endParaRPr sz="800"/>
                    </a:p>
                  </a:txBody>
                  <a:tcPr marL="36576" marR="36576" marT="0" marB="0" anchor="ctr">
                    <a:noFill/>
                  </a:tcPr>
                </a:tc>
                <a:tc>
                  <a:txBody>
                    <a:bodyPr wrap="none"/>
                    <a:lstStyle/>
                    <a:p>
                      <a:pPr algn="r"/>
                      <a:r>
                        <a:rPr sz="800" b="0" i="0">
                          <a:solidFill>
                            <a:srgbClr val="1F2937"/>
                          </a:solidFill>
                          <a:latin typeface="Arial"/>
                        </a:rPr>
                        <a:t>0.0029</a:t>
                      </a:r>
                      <a:endParaRPr sz="800"/>
                    </a:p>
                  </a:txBody>
                  <a:tcPr marL="36576" marR="36576" marT="0" marB="0" anchor="ctr">
                    <a:noFill/>
                  </a:tcPr>
                </a:tc>
              </a:tr>
              <a:tr h="214884">
                <a:tc>
                  <a:txBody>
                    <a:bodyPr wrap="none"/>
                    <a:lstStyle/>
                    <a:p>
                      <a:pPr algn="l"/>
                      <a:r>
                        <a:rPr sz="800" b="0" i="0">
                          <a:solidFill>
                            <a:srgbClr val="1F2937"/>
                          </a:solidFill>
                          <a:latin typeface="Arial"/>
                        </a:rPr>
                        <a:t>EM</a:t>
                      </a:r>
                      <a:endParaRPr sz="800"/>
                    </a:p>
                  </a:txBody>
                  <a:tcPr marL="36576" marR="36576" marT="0" marB="0" anchor="ctr">
                    <a:noFill/>
                  </a:tcPr>
                </a:tc>
                <a:tc>
                  <a:txBody>
                    <a:bodyPr wrap="none"/>
                    <a:lstStyle/>
                    <a:p>
                      <a:pPr algn="r"/>
                      <a:r>
                        <a:rPr sz="800" b="1" i="0">
                          <a:solidFill>
                            <a:srgbClr val="1F2937"/>
                          </a:solidFill>
                          <a:latin typeface="Arial"/>
                        </a:rPr>
                        <a:t>0.0069</a:t>
                      </a:r>
                      <a:endParaRPr sz="800"/>
                    </a:p>
                  </a:txBody>
                  <a:tcPr marL="36576" marR="36576" marT="0" marB="0" anchor="ctr">
                    <a:noFill/>
                  </a:tcPr>
                </a:tc>
                <a:tc>
                  <a:txBody>
                    <a:bodyPr wrap="none"/>
                    <a:lstStyle/>
                    <a:p>
                      <a:pPr algn="r"/>
                      <a:r>
                        <a:rPr sz="800" b="1" i="0">
                          <a:solidFill>
                            <a:srgbClr val="1F2937"/>
                          </a:solidFill>
                          <a:latin typeface="Arial"/>
                        </a:rPr>
                        <a:t>0.0103</a:t>
                      </a:r>
                      <a:endParaRPr sz="800"/>
                    </a:p>
                  </a:txBody>
                  <a:tcPr marL="36576" marR="36576" marT="0" marB="0" anchor="ctr">
                    <a:noFill/>
                  </a:tcPr>
                </a:tc>
                <a:tc>
                  <a:txBody>
                    <a:bodyPr wrap="none"/>
                    <a:lstStyle/>
                    <a:p>
                      <a:pPr algn="r"/>
                      <a:r>
                        <a:rPr sz="800" b="0" i="0">
                          <a:solidFill>
                            <a:srgbClr val="1F2937"/>
                          </a:solidFill>
                          <a:latin typeface="Arial"/>
                        </a:rPr>
                        <a:t>0.0116</a:t>
                      </a:r>
                      <a:endParaRPr sz="800"/>
                    </a:p>
                  </a:txBody>
                  <a:tcPr marL="36576" marR="36576" marT="0" marB="0" anchor="ctr">
                    <a:noFill/>
                  </a:tcPr>
                </a:tc>
                <a:tc>
                  <a:txBody>
                    <a:bodyPr wrap="none"/>
                    <a:lstStyle/>
                    <a:p>
                      <a:pPr algn="r"/>
                      <a:r>
                        <a:rPr sz="800" b="1" i="0">
                          <a:solidFill>
                            <a:srgbClr val="1F2937"/>
                          </a:solidFill>
                          <a:latin typeface="Arial"/>
                        </a:rPr>
                        <a:t>0.0002</a:t>
                      </a:r>
                      <a:endParaRPr sz="800"/>
                    </a:p>
                  </a:txBody>
                  <a:tcPr marL="36576" marR="36576" marT="0" marB="0" anchor="ctr">
                    <a:noFill/>
                  </a:tcPr>
                </a:tc>
                <a:tc>
                  <a:txBody>
                    <a:bodyPr wrap="none"/>
                    <a:lstStyle/>
                    <a:p>
                      <a:pPr algn="r"/>
                      <a:r>
                        <a:rPr sz="800" b="1" i="0">
                          <a:solidFill>
                            <a:srgbClr val="1F2937"/>
                          </a:solidFill>
                          <a:latin typeface="Arial"/>
                        </a:rPr>
                        <a:t>0.0001</a:t>
                      </a:r>
                      <a:endParaRPr sz="800"/>
                    </a:p>
                  </a:txBody>
                  <a:tcPr marL="36576" marR="36576" marT="0" marB="0" anchor="ctr">
                    <a:noFill/>
                  </a:tcPr>
                </a:tc>
                <a:tc>
                  <a:txBody>
                    <a:bodyPr wrap="none"/>
                    <a:lstStyle/>
                    <a:p>
                      <a:pPr algn="r"/>
                      <a:r>
                        <a:rPr sz="800" b="0" i="0">
                          <a:solidFill>
                            <a:srgbClr val="1F2937"/>
                          </a:solidFill>
                          <a:latin typeface="Arial"/>
                        </a:rPr>
                        <a:t>0.0049</a:t>
                      </a:r>
                      <a:endParaRPr sz="800"/>
                    </a:p>
                  </a:txBody>
                  <a:tcPr marL="36576" marR="36576" marT="0" marB="0" anchor="ctr">
                    <a:noFill/>
                  </a:tcPr>
                </a:tc>
                <a:tc>
                  <a:txBody>
                    <a:bodyPr wrap="none"/>
                    <a:lstStyle/>
                    <a:p>
                      <a:pPr algn="r"/>
                      <a:r>
                        <a:rPr sz="800" b="0" i="0">
                          <a:solidFill>
                            <a:srgbClr val="1F2937"/>
                          </a:solidFill>
                          <a:latin typeface="Arial"/>
                        </a:rPr>
                        <a:t>0.0028</a:t>
                      </a:r>
                      <a:endParaRPr sz="800"/>
                    </a:p>
                  </a:txBody>
                  <a:tcPr marL="36576" marR="36576" marT="0" marB="0" anchor="ctr">
                    <a:noFill/>
                  </a:tcPr>
                </a:tc>
              </a:tr>
              <a:tr h="214884">
                <a:tc>
                  <a:txBody>
                    <a:bodyPr wrap="none"/>
                    <a:lstStyle/>
                    <a:p>
                      <a:pPr algn="l"/>
                      <a:r>
                        <a:rPr sz="800" b="0" i="0">
                          <a:solidFill>
                            <a:srgbClr val="1F2937"/>
                          </a:solidFill>
                          <a:latin typeface="Arial"/>
                        </a:rPr>
                        <a:t>BRITS</a:t>
                      </a:r>
                      <a:endParaRPr sz="800"/>
                    </a:p>
                  </a:txBody>
                  <a:tcPr marL="36576" marR="36576" marT="0" marB="0" anchor="ctr">
                    <a:noFill/>
                  </a:tcPr>
                </a:tc>
                <a:tc>
                  <a:txBody>
                    <a:bodyPr wrap="none"/>
                    <a:lstStyle/>
                    <a:p>
                      <a:pPr algn="r"/>
                      <a:r>
                        <a:rPr sz="800" b="0" i="0">
                          <a:solidFill>
                            <a:srgbClr val="1F2937"/>
                          </a:solidFill>
                          <a:latin typeface="Arial"/>
                        </a:rPr>
                        <a:t>0.0070</a:t>
                      </a:r>
                      <a:endParaRPr sz="800"/>
                    </a:p>
                  </a:txBody>
                  <a:tcPr marL="36576" marR="36576" marT="0" marB="0" anchor="ctr">
                    <a:noFill/>
                  </a:tcPr>
                </a:tc>
                <a:tc>
                  <a:txBody>
                    <a:bodyPr wrap="none"/>
                    <a:lstStyle/>
                    <a:p>
                      <a:pPr algn="r"/>
                      <a:r>
                        <a:rPr sz="800" b="0" i="0">
                          <a:solidFill>
                            <a:srgbClr val="1F2937"/>
                          </a:solidFill>
                          <a:latin typeface="Arial"/>
                        </a:rPr>
                        <a:t>0.0104</a:t>
                      </a:r>
                      <a:endParaRPr sz="800"/>
                    </a:p>
                  </a:txBody>
                  <a:tcPr marL="36576" marR="36576" marT="0" marB="0" anchor="ctr">
                    <a:noFill/>
                  </a:tcPr>
                </a:tc>
                <a:tc>
                  <a:txBody>
                    <a:bodyPr wrap="none"/>
                    <a:lstStyle/>
                    <a:p>
                      <a:pPr algn="r"/>
                      <a:r>
                        <a:rPr sz="800" b="0" i="0">
                          <a:solidFill>
                            <a:srgbClr val="1F2937"/>
                          </a:solidFill>
                          <a:latin typeface="Arial"/>
                        </a:rPr>
                        <a:t>0.0116</a:t>
                      </a:r>
                      <a:endParaRPr sz="800"/>
                    </a:p>
                  </a:txBody>
                  <a:tcPr marL="36576" marR="36576" marT="0" marB="0" anchor="ctr">
                    <a:noFill/>
                  </a:tcPr>
                </a:tc>
                <a:tc>
                  <a:txBody>
                    <a:bodyPr wrap="none"/>
                    <a:lstStyle/>
                    <a:p>
                      <a:pPr algn="r"/>
                      <a:r>
                        <a:rPr sz="800" b="1" i="0">
                          <a:solidFill>
                            <a:srgbClr val="1F2937"/>
                          </a:solidFill>
                          <a:latin typeface="Arial"/>
                        </a:rPr>
                        <a:t>0.0002</a:t>
                      </a:r>
                      <a:endParaRPr sz="800"/>
                    </a:p>
                  </a:txBody>
                  <a:tcPr marL="36576" marR="36576" marT="0" marB="0" anchor="ctr">
                    <a:noFill/>
                  </a:tcPr>
                </a:tc>
                <a:tc>
                  <a:txBody>
                    <a:bodyPr wrap="none"/>
                    <a:lstStyle/>
                    <a:p>
                      <a:pPr algn="r"/>
                      <a:r>
                        <a:rPr sz="800" b="1" i="0">
                          <a:solidFill>
                            <a:srgbClr val="1F2937"/>
                          </a:solidFill>
                          <a:latin typeface="Arial"/>
                        </a:rPr>
                        <a:t>0.0001</a:t>
                      </a:r>
                      <a:endParaRPr sz="800"/>
                    </a:p>
                  </a:txBody>
                  <a:tcPr marL="36576" marR="36576" marT="0" marB="0" anchor="ctr">
                    <a:noFill/>
                  </a:tcPr>
                </a:tc>
                <a:tc>
                  <a:txBody>
                    <a:bodyPr wrap="none"/>
                    <a:lstStyle/>
                    <a:p>
                      <a:pPr algn="r"/>
                      <a:r>
                        <a:rPr sz="800" b="0" i="0">
                          <a:solidFill>
                            <a:srgbClr val="1F2937"/>
                          </a:solidFill>
                          <a:latin typeface="Arial"/>
                        </a:rPr>
                        <a:t>0.0049</a:t>
                      </a:r>
                      <a:endParaRPr sz="800"/>
                    </a:p>
                  </a:txBody>
                  <a:tcPr marL="36576" marR="36576" marT="0" marB="0" anchor="ctr">
                    <a:noFill/>
                  </a:tcPr>
                </a:tc>
                <a:tc>
                  <a:txBody>
                    <a:bodyPr wrap="none"/>
                    <a:lstStyle/>
                    <a:p>
                      <a:pPr algn="r"/>
                      <a:r>
                        <a:rPr sz="800" b="0" i="0">
                          <a:solidFill>
                            <a:srgbClr val="1F2937"/>
                          </a:solidFill>
                          <a:latin typeface="Arial"/>
                        </a:rPr>
                        <a:t>0.0028</a:t>
                      </a:r>
                      <a:endParaRPr sz="800"/>
                    </a:p>
                  </a:txBody>
                  <a:tcPr marL="36576" marR="36576" marT="0" marB="0" anchor="ctr">
                    <a:noFill/>
                  </a:tcPr>
                </a:tc>
              </a:tr>
              <a:tr h="214884">
                <a:tc>
                  <a:txBody>
                    <a:bodyPr wrap="none"/>
                    <a:lstStyle/>
                    <a:p>
                      <a:pPr algn="l"/>
                      <a:r>
                        <a:rPr sz="800" b="0" i="0">
                          <a:solidFill>
                            <a:srgbClr val="1F2937"/>
                          </a:solidFill>
                          <a:latin typeface="Arial"/>
                        </a:rPr>
                        <a:t>CSDI</a:t>
                      </a:r>
                      <a:endParaRPr sz="800"/>
                    </a:p>
                  </a:txBody>
                  <a:tcPr marL="36576" marR="36576" marT="0" marB="0" anchor="ctr">
                    <a:lnB w="15875">
                      <a:solidFill>
                        <a:srgbClr val="14213D"/>
                      </a:solidFill>
                    </a:lnB>
                    <a:noFill/>
                  </a:tcPr>
                </a:tc>
                <a:tc>
                  <a:txBody>
                    <a:bodyPr wrap="none"/>
                    <a:lstStyle/>
                    <a:p>
                      <a:pPr algn="r"/>
                      <a:r>
                        <a:rPr sz="800" b="1" i="0">
                          <a:solidFill>
                            <a:srgbClr val="1F2937"/>
                          </a:solidFill>
                          <a:latin typeface="Arial"/>
                        </a:rPr>
                        <a:t>0.0069</a:t>
                      </a:r>
                      <a:endParaRPr sz="800"/>
                    </a:p>
                  </a:txBody>
                  <a:tcPr marL="36576" marR="36576" marT="0" marB="0" anchor="ctr">
                    <a:lnB w="15875">
                      <a:solidFill>
                        <a:srgbClr val="14213D"/>
                      </a:solidFill>
                    </a:lnB>
                    <a:noFill/>
                  </a:tcPr>
                </a:tc>
                <a:tc>
                  <a:txBody>
                    <a:bodyPr wrap="none"/>
                    <a:lstStyle/>
                    <a:p>
                      <a:pPr algn="r"/>
                      <a:r>
                        <a:rPr sz="800" b="1" i="0">
                          <a:solidFill>
                            <a:srgbClr val="1F2937"/>
                          </a:solidFill>
                          <a:latin typeface="Arial"/>
                        </a:rPr>
                        <a:t>0.0103</a:t>
                      </a:r>
                      <a:endParaRPr sz="800"/>
                    </a:p>
                  </a:txBody>
                  <a:tcPr marL="36576" marR="36576" marT="0" marB="0" anchor="ctr">
                    <a:lnB w="15875">
                      <a:solidFill>
                        <a:srgbClr val="14213D"/>
                      </a:solidFill>
                    </a:lnB>
                    <a:noFill/>
                  </a:tcPr>
                </a:tc>
                <a:tc>
                  <a:txBody>
                    <a:bodyPr wrap="none"/>
                    <a:lstStyle/>
                    <a:p>
                      <a:pPr algn="r"/>
                      <a:r>
                        <a:rPr sz="800" b="1" i="0">
                          <a:solidFill>
                            <a:srgbClr val="1F2937"/>
                          </a:solidFill>
                          <a:latin typeface="Arial"/>
                        </a:rPr>
                        <a:t>0.0114</a:t>
                      </a:r>
                      <a:endParaRPr sz="800"/>
                    </a:p>
                  </a:txBody>
                  <a:tcPr marL="36576" marR="36576" marT="0" marB="0" anchor="ctr">
                    <a:lnB w="15875">
                      <a:solidFill>
                        <a:srgbClr val="14213D"/>
                      </a:solidFill>
                    </a:lnB>
                    <a:noFill/>
                  </a:tcPr>
                </a:tc>
                <a:tc>
                  <a:txBody>
                    <a:bodyPr wrap="none"/>
                    <a:lstStyle/>
                    <a:p>
                      <a:pPr algn="r"/>
                      <a:r>
                        <a:rPr sz="800" b="1" i="0">
                          <a:solidFill>
                            <a:srgbClr val="1F2937"/>
                          </a:solidFill>
                          <a:latin typeface="Arial"/>
                        </a:rPr>
                        <a:t>0.0002</a:t>
                      </a:r>
                      <a:endParaRPr sz="800"/>
                    </a:p>
                  </a:txBody>
                  <a:tcPr marL="36576" marR="36576" marT="0" marB="0" anchor="ctr">
                    <a:lnB w="15875">
                      <a:solidFill>
                        <a:srgbClr val="14213D"/>
                      </a:solidFill>
                    </a:lnB>
                    <a:noFill/>
                  </a:tcPr>
                </a:tc>
                <a:tc>
                  <a:txBody>
                    <a:bodyPr wrap="none"/>
                    <a:lstStyle/>
                    <a:p>
                      <a:pPr algn="r"/>
                      <a:r>
                        <a:rPr sz="800" b="1" i="0">
                          <a:solidFill>
                            <a:srgbClr val="1F2937"/>
                          </a:solidFill>
                          <a:latin typeface="Arial"/>
                        </a:rPr>
                        <a:t>0.0001</a:t>
                      </a:r>
                      <a:endParaRPr sz="800"/>
                    </a:p>
                  </a:txBody>
                  <a:tcPr marL="36576" marR="36576" marT="0" marB="0" anchor="ctr">
                    <a:lnB w="15875">
                      <a:solidFill>
                        <a:srgbClr val="14213D"/>
                      </a:solidFill>
                    </a:lnB>
                    <a:noFill/>
                  </a:tcPr>
                </a:tc>
                <a:tc>
                  <a:txBody>
                    <a:bodyPr wrap="none"/>
                    <a:lstStyle/>
                    <a:p>
                      <a:pPr algn="r"/>
                      <a:r>
                        <a:rPr sz="800" b="0" i="0">
                          <a:solidFill>
                            <a:srgbClr val="1F2937"/>
                          </a:solidFill>
                          <a:latin typeface="Arial"/>
                        </a:rPr>
                        <a:t>0.0051</a:t>
                      </a:r>
                      <a:endParaRPr sz="800"/>
                    </a:p>
                  </a:txBody>
                  <a:tcPr marL="36576" marR="36576" marT="0" marB="0" anchor="ctr">
                    <a:lnB w="15875">
                      <a:solidFill>
                        <a:srgbClr val="14213D"/>
                      </a:solidFill>
                    </a:lnB>
                    <a:noFill/>
                  </a:tcPr>
                </a:tc>
                <a:tc>
                  <a:txBody>
                    <a:bodyPr wrap="none"/>
                    <a:lstStyle/>
                    <a:p>
                      <a:pPr algn="r"/>
                      <a:r>
                        <a:rPr sz="800" b="1" i="0">
                          <a:solidFill>
                            <a:srgbClr val="1F2937"/>
                          </a:solidFill>
                          <a:latin typeface="Arial"/>
                        </a:rPr>
                        <a:t>0.0027</a:t>
                      </a:r>
                      <a:endParaRPr sz="800"/>
                    </a:p>
                  </a:txBody>
                  <a:tcPr marL="36576" marR="36576" marT="0" marB="0" anchor="ctr">
                    <a:lnB w="15875">
                      <a:solidFill>
                        <a:srgbClr val="14213D"/>
                      </a:solidFill>
                    </a:lnB>
                    <a:noFill/>
                  </a:tcPr>
                </a:tc>
              </a:tr>
            </a:tbl>
          </a:graphicData>
        </a:graphic>
      </p:graphicFrame>
      <p:graphicFrame>
        <p:nvGraphicFramePr>
          <p:cNvPr id="8" name="Table 7"/>
          <p:cNvGraphicFramePr>
            <a:graphicFrameLocks noGrp="1"/>
          </p:cNvGraphicFramePr>
          <p:nvPr/>
        </p:nvGraphicFramePr>
        <p:xfrm>
          <a:off x="6217920" y="1051560"/>
          <a:ext cx="5440680" cy="3653028"/>
        </p:xfrm>
        <a:graphic>
          <a:graphicData uri="http://schemas.openxmlformats.org/drawingml/2006/table">
            <a:tbl>
              <a:tblPr firstRow="0" bandRow="0">
                <a:tableStyleId>{2D5ABB26-0587-4C30-8999-92F81FD0307C}</a:tableStyleId>
              </a:tblPr>
              <a:tblGrid>
                <a:gridCol w="713232"/>
                <a:gridCol w="658368"/>
                <a:gridCol w="658368"/>
                <a:gridCol w="658368"/>
                <a:gridCol w="658368"/>
                <a:gridCol w="658368"/>
                <a:gridCol w="777240"/>
                <a:gridCol w="658368"/>
              </a:tblGrid>
              <a:tr h="214884">
                <a:tc>
                  <a:txBody>
                    <a:bodyPr wrap="none"/>
                    <a:lstStyle/>
                    <a:p>
                      <a:pPr algn="l"/>
                      <a:r>
                        <a:rPr sz="800" b="1" i="0">
                          <a:solidFill>
                            <a:srgbClr val="1F2937"/>
                          </a:solidFill>
                          <a:latin typeface="Arial"/>
                        </a:rPr>
                        <a:t>Model</a:t>
                      </a:r>
                      <a:endParaRPr sz="800"/>
                    </a:p>
                  </a:txBody>
                  <a:tcPr marL="36576" marR="36576" marT="0" marB="0" anchor="ctr">
                    <a:lnT w="15875">
                      <a:solidFill>
                        <a:srgbClr val="14213D"/>
                      </a:solidFill>
                    </a:lnT>
                    <a:lnB w="9525">
                      <a:solidFill>
                        <a:srgbClr val="14213D"/>
                      </a:solidFill>
                    </a:lnB>
                    <a:noFill/>
                  </a:tcPr>
                </a:tc>
                <a:tc>
                  <a:txBody>
                    <a:bodyPr wrap="none"/>
                    <a:lstStyle/>
                    <a:p>
                      <a:pPr algn="r"/>
                      <a:r>
                        <a:rPr sz="800" b="1" i="0">
                          <a:solidFill>
                            <a:srgbClr val="1F2937"/>
                          </a:solidFill>
                          <a:latin typeface="Arial"/>
                        </a:rPr>
                        <a:t>MAE</a:t>
                      </a:r>
                      <a:endParaRPr sz="800"/>
                    </a:p>
                  </a:txBody>
                  <a:tcPr marL="36576" marR="36576" marT="0" marB="0" anchor="ctr">
                    <a:lnT w="15875">
                      <a:solidFill>
                        <a:srgbClr val="14213D"/>
                      </a:solidFill>
                    </a:lnT>
                    <a:lnB w="9525">
                      <a:solidFill>
                        <a:srgbClr val="14213D"/>
                      </a:solidFill>
                    </a:lnB>
                    <a:noFill/>
                  </a:tcPr>
                </a:tc>
                <a:tc>
                  <a:txBody>
                    <a:bodyPr wrap="none"/>
                    <a:lstStyle/>
                    <a:p>
                      <a:pPr algn="r"/>
                      <a:r>
                        <a:rPr sz="800" b="1" i="0">
                          <a:solidFill>
                            <a:srgbClr val="1F2937"/>
                          </a:solidFill>
                          <a:latin typeface="Arial"/>
                        </a:rPr>
                        <a:t>RMSE</a:t>
                      </a:r>
                      <a:endParaRPr sz="800"/>
                    </a:p>
                  </a:txBody>
                  <a:tcPr marL="36576" marR="36576" marT="0" marB="0" anchor="ctr">
                    <a:lnT w="15875">
                      <a:solidFill>
                        <a:srgbClr val="14213D"/>
                      </a:solidFill>
                    </a:lnT>
                    <a:lnB w="9525">
                      <a:solidFill>
                        <a:srgbClr val="14213D"/>
                      </a:solidFill>
                    </a:lnB>
                    <a:noFill/>
                  </a:tcPr>
                </a:tc>
                <a:tc>
                  <a:txBody>
                    <a:bodyPr wrap="none"/>
                    <a:lstStyle/>
                    <a:p>
                      <a:pPr algn="r"/>
                      <a:r>
                        <a:rPr sz="800" b="1" i="0">
                          <a:solidFill>
                            <a:srgbClr val="1F2937"/>
                          </a:solidFill>
                          <a:latin typeface="Arial"/>
                        </a:rPr>
                        <a:t>CovErr</a:t>
                      </a:r>
                      <a:endParaRPr sz="800"/>
                    </a:p>
                  </a:txBody>
                  <a:tcPr marL="36576" marR="36576" marT="0" marB="0" anchor="ctr">
                    <a:lnT w="15875">
                      <a:solidFill>
                        <a:srgbClr val="14213D"/>
                      </a:solidFill>
                    </a:lnT>
                    <a:lnB w="9525">
                      <a:solidFill>
                        <a:srgbClr val="14213D"/>
                      </a:solidFill>
                    </a:lnB>
                    <a:noFill/>
                  </a:tcPr>
                </a:tc>
                <a:tc>
                  <a:txBody>
                    <a:bodyPr wrap="none"/>
                    <a:lstStyle/>
                    <a:p>
                      <a:pPr algn="r"/>
                      <a:r>
                        <a:rPr sz="800" b="1" i="0">
                          <a:solidFill>
                            <a:srgbClr val="1F2937"/>
                          </a:solidFill>
                          <a:latin typeface="Arial"/>
                        </a:rPr>
                        <a:t>VaRErr</a:t>
                      </a:r>
                      <a:endParaRPr sz="800"/>
                    </a:p>
                  </a:txBody>
                  <a:tcPr marL="36576" marR="36576" marT="0" marB="0" anchor="ctr">
                    <a:lnT w="15875">
                      <a:solidFill>
                        <a:srgbClr val="14213D"/>
                      </a:solidFill>
                    </a:lnT>
                    <a:lnB w="9525">
                      <a:solidFill>
                        <a:srgbClr val="14213D"/>
                      </a:solidFill>
                    </a:lnB>
                    <a:noFill/>
                  </a:tcPr>
                </a:tc>
                <a:tc>
                  <a:txBody>
                    <a:bodyPr wrap="none"/>
                    <a:lstStyle/>
                    <a:p>
                      <a:pPr algn="r"/>
                      <a:r>
                        <a:rPr sz="800" b="1" i="0">
                          <a:solidFill>
                            <a:srgbClr val="1F2937"/>
                          </a:solidFill>
                          <a:latin typeface="Arial"/>
                        </a:rPr>
                        <a:t>WassErr</a:t>
                      </a:r>
                      <a:endParaRPr sz="800"/>
                    </a:p>
                  </a:txBody>
                  <a:tcPr marL="36576" marR="36576" marT="0" marB="0" anchor="ctr">
                    <a:lnT w="15875">
                      <a:solidFill>
                        <a:srgbClr val="14213D"/>
                      </a:solidFill>
                    </a:lnT>
                    <a:lnB w="9525">
                      <a:solidFill>
                        <a:srgbClr val="14213D"/>
                      </a:solidFill>
                    </a:lnB>
                    <a:noFill/>
                  </a:tcPr>
                </a:tc>
                <a:tc>
                  <a:txBody>
                    <a:bodyPr wrap="none"/>
                    <a:lstStyle/>
                    <a:p>
                      <a:pPr algn="r"/>
                      <a:r>
                        <a:rPr sz="800" b="1" i="0">
                          <a:solidFill>
                            <a:srgbClr val="1F2937"/>
                          </a:solidFill>
                          <a:latin typeface="Arial"/>
                        </a:rPr>
                        <a:t>AbsACFErr</a:t>
                      </a:r>
                      <a:endParaRPr sz="800"/>
                    </a:p>
                  </a:txBody>
                  <a:tcPr marL="36576" marR="36576" marT="0" marB="0" anchor="ctr">
                    <a:lnT w="15875">
                      <a:solidFill>
                        <a:srgbClr val="14213D"/>
                      </a:solidFill>
                    </a:lnT>
                    <a:lnB w="9525">
                      <a:solidFill>
                        <a:srgbClr val="14213D"/>
                      </a:solidFill>
                    </a:lnB>
                    <a:noFill/>
                  </a:tcPr>
                </a:tc>
                <a:tc>
                  <a:txBody>
                    <a:bodyPr wrap="none"/>
                    <a:lstStyle/>
                    <a:p>
                      <a:pPr algn="r"/>
                      <a:r>
                        <a:rPr sz="800" b="1" i="0">
                          <a:solidFill>
                            <a:srgbClr val="1F2937"/>
                          </a:solidFill>
                          <a:latin typeface="Arial"/>
                        </a:rPr>
                        <a:t>LevErr</a:t>
                      </a:r>
                      <a:endParaRPr sz="800"/>
                    </a:p>
                  </a:txBody>
                  <a:tcPr marL="36576" marR="36576" marT="0" marB="0" anchor="ctr">
                    <a:lnT w="15875">
                      <a:solidFill>
                        <a:srgbClr val="14213D"/>
                      </a:solidFill>
                    </a:lnT>
                    <a:lnB w="9525">
                      <a:solidFill>
                        <a:srgbClr val="14213D"/>
                      </a:solidFill>
                    </a:lnB>
                    <a:noFill/>
                  </a:tcPr>
                </a:tc>
              </a:tr>
              <a:tr h="214884">
                <a:tc gridSpan="8">
                  <a:txBody>
                    <a:bodyPr wrap="none"/>
                    <a:lstStyle/>
                    <a:p>
                      <a:pPr algn="l"/>
                      <a:r>
                        <a:rPr sz="800" b="1" i="0">
                          <a:solidFill>
                            <a:srgbClr val="E4572E"/>
                          </a:solidFill>
                          <a:latin typeface="Arial"/>
                        </a:rPr>
                        <a:t>Level (1000, 20)</a:t>
                      </a: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r>
              <a:tr h="214884">
                <a:tc>
                  <a:txBody>
                    <a:bodyPr wrap="none"/>
                    <a:lstStyle/>
                    <a:p>
                      <a:pPr algn="l"/>
                      <a:r>
                        <a:rPr sz="800" b="0" i="0">
                          <a:solidFill>
                            <a:srgbClr val="1F2937"/>
                          </a:solidFill>
                          <a:latin typeface="Arial"/>
                        </a:rPr>
                        <a:t>Deletion</a:t>
                      </a:r>
                      <a:endParaRPr sz="800"/>
                    </a:p>
                  </a:txBody>
                  <a:tcPr marL="36576" marR="36576" marT="0" marB="0" anchor="ctr">
                    <a:noFill/>
                  </a:tcPr>
                </a:tc>
                <a:tc>
                  <a:txBody>
                    <a:bodyPr wrap="none"/>
                    <a:lstStyle/>
                    <a:p>
                      <a:pPr algn="r"/>
                      <a:r>
                        <a:rPr sz="800" b="0" i="0">
                          <a:solidFill>
                            <a:srgbClr val="1F2937"/>
                          </a:solidFill>
                          <a:latin typeface="Arial"/>
                        </a:rPr>
                        <a:t>--</a:t>
                      </a:r>
                      <a:endParaRPr sz="800"/>
                    </a:p>
                  </a:txBody>
                  <a:tcPr marL="36576" marR="36576" marT="0" marB="0" anchor="ctr">
                    <a:noFill/>
                  </a:tcPr>
                </a:tc>
                <a:tc>
                  <a:txBody>
                    <a:bodyPr wrap="none"/>
                    <a:lstStyle/>
                    <a:p>
                      <a:pPr algn="r"/>
                      <a:r>
                        <a:rPr sz="800" b="0" i="0">
                          <a:solidFill>
                            <a:srgbClr val="1F2937"/>
                          </a:solidFill>
                          <a:latin typeface="Arial"/>
                        </a:rPr>
                        <a:t>--</a:t>
                      </a:r>
                      <a:endParaRPr sz="800"/>
                    </a:p>
                  </a:txBody>
                  <a:tcPr marL="36576" marR="36576" marT="0" marB="0" anchor="ctr">
                    <a:noFill/>
                  </a:tcPr>
                </a:tc>
                <a:tc>
                  <a:txBody>
                    <a:bodyPr wrap="none"/>
                    <a:lstStyle/>
                    <a:p>
                      <a:pPr algn="r"/>
                      <a:r>
                        <a:rPr sz="800" b="0" i="0">
                          <a:solidFill>
                            <a:srgbClr val="1F2937"/>
                          </a:solidFill>
                          <a:latin typeface="Arial"/>
                        </a:rPr>
                        <a:t>0.8524</a:t>
                      </a:r>
                      <a:endParaRPr sz="800"/>
                    </a:p>
                  </a:txBody>
                  <a:tcPr marL="36576" marR="36576" marT="0" marB="0" anchor="ctr">
                    <a:noFill/>
                  </a:tcPr>
                </a:tc>
                <a:tc>
                  <a:txBody>
                    <a:bodyPr wrap="none"/>
                    <a:lstStyle/>
                    <a:p>
                      <a:pPr algn="r"/>
                      <a:r>
                        <a:rPr sz="800" b="0" i="0">
                          <a:solidFill>
                            <a:srgbClr val="1F2937"/>
                          </a:solidFill>
                          <a:latin typeface="Arial"/>
                        </a:rPr>
                        <a:t>0.0087</a:t>
                      </a:r>
                      <a:endParaRPr sz="800"/>
                    </a:p>
                  </a:txBody>
                  <a:tcPr marL="36576" marR="36576" marT="0" marB="0" anchor="ctr">
                    <a:noFill/>
                  </a:tcPr>
                </a:tc>
                <a:tc>
                  <a:txBody>
                    <a:bodyPr wrap="none"/>
                    <a:lstStyle/>
                    <a:p>
                      <a:pPr algn="r"/>
                      <a:r>
                        <a:rPr sz="800" b="0" i="0">
                          <a:solidFill>
                            <a:srgbClr val="1F2937"/>
                          </a:solidFill>
                          <a:latin typeface="Arial"/>
                        </a:rPr>
                        <a:t>0.0042</a:t>
                      </a:r>
                      <a:endParaRPr sz="800"/>
                    </a:p>
                  </a:txBody>
                  <a:tcPr marL="36576" marR="36576" marT="0" marB="0" anchor="ctr">
                    <a:noFill/>
                  </a:tcPr>
                </a:tc>
                <a:tc>
                  <a:txBody>
                    <a:bodyPr wrap="none"/>
                    <a:lstStyle/>
                    <a:p>
                      <a:pPr algn="r"/>
                      <a:r>
                        <a:rPr sz="800" b="0" i="0">
                          <a:solidFill>
                            <a:srgbClr val="1F2937"/>
                          </a:solidFill>
                          <a:latin typeface="Arial"/>
                        </a:rPr>
                        <a:t>0.1872</a:t>
                      </a:r>
                      <a:endParaRPr sz="800"/>
                    </a:p>
                  </a:txBody>
                  <a:tcPr marL="36576" marR="36576" marT="0" marB="0" anchor="ctr">
                    <a:noFill/>
                  </a:tcPr>
                </a:tc>
                <a:tc>
                  <a:txBody>
                    <a:bodyPr wrap="none"/>
                    <a:lstStyle/>
                    <a:p>
                      <a:pPr algn="r"/>
                      <a:r>
                        <a:rPr sz="800" b="0" i="0">
                          <a:solidFill>
                            <a:srgbClr val="1F2937"/>
                          </a:solidFill>
                          <a:latin typeface="Arial"/>
                        </a:rPr>
                        <a:t>0.1681</a:t>
                      </a:r>
                      <a:endParaRPr sz="800"/>
                    </a:p>
                  </a:txBody>
                  <a:tcPr marL="36576" marR="36576" marT="0" marB="0" anchor="ctr">
                    <a:noFill/>
                  </a:tcPr>
                </a:tc>
              </a:tr>
              <a:tr h="214884">
                <a:tc>
                  <a:txBody>
                    <a:bodyPr wrap="none"/>
                    <a:lstStyle/>
                    <a:p>
                      <a:pPr algn="l"/>
                      <a:r>
                        <a:rPr sz="800" b="0" i="0">
                          <a:solidFill>
                            <a:srgbClr val="1F2937"/>
                          </a:solidFill>
                          <a:latin typeface="Arial"/>
                        </a:rPr>
                        <a:t>Zero</a:t>
                      </a:r>
                      <a:endParaRPr sz="800"/>
                    </a:p>
                  </a:txBody>
                  <a:tcPr marL="36576" marR="36576" marT="0" marB="0" anchor="ctr">
                    <a:noFill/>
                  </a:tcPr>
                </a:tc>
                <a:tc>
                  <a:txBody>
                    <a:bodyPr wrap="none"/>
                    <a:lstStyle/>
                    <a:p>
                      <a:pPr algn="r"/>
                      <a:r>
                        <a:rPr sz="800" b="0" i="0">
                          <a:solidFill>
                            <a:srgbClr val="1F2937"/>
                          </a:solidFill>
                          <a:latin typeface="Arial"/>
                        </a:rPr>
                        <a:t>0.0110</a:t>
                      </a:r>
                      <a:endParaRPr sz="800"/>
                    </a:p>
                  </a:txBody>
                  <a:tcPr marL="36576" marR="36576" marT="0" marB="0" anchor="ctr">
                    <a:noFill/>
                  </a:tcPr>
                </a:tc>
                <a:tc>
                  <a:txBody>
                    <a:bodyPr wrap="none"/>
                    <a:lstStyle/>
                    <a:p>
                      <a:pPr algn="r"/>
                      <a:r>
                        <a:rPr sz="800" b="0" i="0">
                          <a:solidFill>
                            <a:srgbClr val="1F2937"/>
                          </a:solidFill>
                          <a:latin typeface="Arial"/>
                        </a:rPr>
                        <a:t>0.0163</a:t>
                      </a:r>
                      <a:endParaRPr sz="800"/>
                    </a:p>
                  </a:txBody>
                  <a:tcPr marL="36576" marR="36576" marT="0" marB="0" anchor="ctr">
                    <a:noFill/>
                  </a:tcPr>
                </a:tc>
                <a:tc>
                  <a:txBody>
                    <a:bodyPr wrap="none"/>
                    <a:lstStyle/>
                    <a:p>
                      <a:pPr algn="r"/>
                      <a:r>
                        <a:rPr sz="800" b="0" i="0">
                          <a:solidFill>
                            <a:srgbClr val="1F2937"/>
                          </a:solidFill>
                          <a:latin typeface="Arial"/>
                        </a:rPr>
                        <a:t>0.1716</a:t>
                      </a:r>
                      <a:endParaRPr sz="800"/>
                    </a:p>
                  </a:txBody>
                  <a:tcPr marL="36576" marR="36576" marT="0" marB="0" anchor="ctr">
                    <a:noFill/>
                  </a:tcPr>
                </a:tc>
                <a:tc>
                  <a:txBody>
                    <a:bodyPr wrap="none"/>
                    <a:lstStyle/>
                    <a:p>
                      <a:pPr algn="r"/>
                      <a:r>
                        <a:rPr sz="800" b="0" i="0">
                          <a:solidFill>
                            <a:srgbClr val="1F2937"/>
                          </a:solidFill>
                          <a:latin typeface="Arial"/>
                        </a:rPr>
                        <a:t>0.0010</a:t>
                      </a:r>
                      <a:endParaRPr sz="800"/>
                    </a:p>
                  </a:txBody>
                  <a:tcPr marL="36576" marR="36576" marT="0" marB="0" anchor="ctr">
                    <a:noFill/>
                  </a:tcPr>
                </a:tc>
                <a:tc>
                  <a:txBody>
                    <a:bodyPr wrap="none"/>
                    <a:lstStyle/>
                    <a:p>
                      <a:pPr algn="r"/>
                      <a:r>
                        <a:rPr sz="800" b="0" i="0">
                          <a:solidFill>
                            <a:srgbClr val="1F2937"/>
                          </a:solidFill>
                          <a:latin typeface="Arial"/>
                        </a:rPr>
                        <a:t>0.0010</a:t>
                      </a:r>
                      <a:endParaRPr sz="800"/>
                    </a:p>
                  </a:txBody>
                  <a:tcPr marL="36576" marR="36576" marT="0" marB="0" anchor="ctr">
                    <a:noFill/>
                  </a:tcPr>
                </a:tc>
                <a:tc>
                  <a:txBody>
                    <a:bodyPr wrap="none"/>
                    <a:lstStyle/>
                    <a:p>
                      <a:pPr algn="r"/>
                      <a:r>
                        <a:rPr sz="800" b="0" i="0">
                          <a:solidFill>
                            <a:srgbClr val="1F2937"/>
                          </a:solidFill>
                          <a:latin typeface="Arial"/>
                        </a:rPr>
                        <a:t>0.0354</a:t>
                      </a:r>
                      <a:endParaRPr sz="800"/>
                    </a:p>
                  </a:txBody>
                  <a:tcPr marL="36576" marR="36576" marT="0" marB="0" anchor="ctr">
                    <a:noFill/>
                  </a:tcPr>
                </a:tc>
                <a:tc>
                  <a:txBody>
                    <a:bodyPr wrap="none"/>
                    <a:lstStyle/>
                    <a:p>
                      <a:pPr algn="r"/>
                      <a:r>
                        <a:rPr sz="800" b="0" i="0">
                          <a:solidFill>
                            <a:srgbClr val="1F2937"/>
                          </a:solidFill>
                          <a:latin typeface="Arial"/>
                        </a:rPr>
                        <a:t>0.0068</a:t>
                      </a:r>
                      <a:endParaRPr sz="800"/>
                    </a:p>
                  </a:txBody>
                  <a:tcPr marL="36576" marR="36576" marT="0" marB="0" anchor="ctr">
                    <a:noFill/>
                  </a:tcPr>
                </a:tc>
              </a:tr>
              <a:tr h="214884">
                <a:tc>
                  <a:txBody>
                    <a:bodyPr wrap="none"/>
                    <a:lstStyle/>
                    <a:p>
                      <a:pPr algn="l"/>
                      <a:r>
                        <a:rPr sz="800" b="0" i="0">
                          <a:solidFill>
                            <a:srgbClr val="1F2937"/>
                          </a:solidFill>
                          <a:latin typeface="Arial"/>
                        </a:rPr>
                        <a:t>KNN</a:t>
                      </a:r>
                      <a:endParaRPr sz="800"/>
                    </a:p>
                  </a:txBody>
                  <a:tcPr marL="36576" marR="36576" marT="0" marB="0" anchor="ctr">
                    <a:noFill/>
                  </a:tcPr>
                </a:tc>
                <a:tc>
                  <a:txBody>
                    <a:bodyPr wrap="none"/>
                    <a:lstStyle/>
                    <a:p>
                      <a:pPr algn="r"/>
                      <a:r>
                        <a:rPr sz="800" b="0" i="0">
                          <a:solidFill>
                            <a:srgbClr val="1F2937"/>
                          </a:solidFill>
                          <a:latin typeface="Arial"/>
                        </a:rPr>
                        <a:t>0.0085</a:t>
                      </a:r>
                      <a:endParaRPr sz="800"/>
                    </a:p>
                  </a:txBody>
                  <a:tcPr marL="36576" marR="36576" marT="0" marB="0" anchor="ctr">
                    <a:noFill/>
                  </a:tcPr>
                </a:tc>
                <a:tc>
                  <a:txBody>
                    <a:bodyPr wrap="none"/>
                    <a:lstStyle/>
                    <a:p>
                      <a:pPr algn="r"/>
                      <a:r>
                        <a:rPr sz="800" b="0" i="0">
                          <a:solidFill>
                            <a:srgbClr val="1F2937"/>
                          </a:solidFill>
                          <a:latin typeface="Arial"/>
                        </a:rPr>
                        <a:t>0.0127</a:t>
                      </a:r>
                      <a:endParaRPr sz="800"/>
                    </a:p>
                  </a:txBody>
                  <a:tcPr marL="36576" marR="36576" marT="0" marB="0" anchor="ctr">
                    <a:noFill/>
                  </a:tcPr>
                </a:tc>
                <a:tc>
                  <a:txBody>
                    <a:bodyPr wrap="none"/>
                    <a:lstStyle/>
                    <a:p>
                      <a:pPr algn="r"/>
                      <a:r>
                        <a:rPr sz="800" b="0" i="0">
                          <a:solidFill>
                            <a:srgbClr val="1F2937"/>
                          </a:solidFill>
                          <a:latin typeface="Arial"/>
                        </a:rPr>
                        <a:t>0.0487</a:t>
                      </a:r>
                      <a:endParaRPr sz="800"/>
                    </a:p>
                  </a:txBody>
                  <a:tcPr marL="36576" marR="36576" marT="0" marB="0" anchor="ctr">
                    <a:noFill/>
                  </a:tcPr>
                </a:tc>
                <a:tc>
                  <a:txBody>
                    <a:bodyPr wrap="none"/>
                    <a:lstStyle/>
                    <a:p>
                      <a:pPr algn="r"/>
                      <a:r>
                        <a:rPr sz="800" b="0" i="0">
                          <a:solidFill>
                            <a:srgbClr val="1F2937"/>
                          </a:solidFill>
                          <a:latin typeface="Arial"/>
                        </a:rPr>
                        <a:t>0.0007</a:t>
                      </a:r>
                      <a:endParaRPr sz="800"/>
                    </a:p>
                  </a:txBody>
                  <a:tcPr marL="36576" marR="36576" marT="0" marB="0" anchor="ctr">
                    <a:noFill/>
                  </a:tcPr>
                </a:tc>
                <a:tc>
                  <a:txBody>
                    <a:bodyPr wrap="none"/>
                    <a:lstStyle/>
                    <a:p>
                      <a:pPr algn="r"/>
                      <a:r>
                        <a:rPr sz="800" b="0" i="0">
                          <a:solidFill>
                            <a:srgbClr val="1F2937"/>
                          </a:solidFill>
                          <a:latin typeface="Arial"/>
                        </a:rPr>
                        <a:t>0.0004</a:t>
                      </a:r>
                      <a:endParaRPr sz="800"/>
                    </a:p>
                  </a:txBody>
                  <a:tcPr marL="36576" marR="36576" marT="0" marB="0" anchor="ctr">
                    <a:noFill/>
                  </a:tcPr>
                </a:tc>
                <a:tc>
                  <a:txBody>
                    <a:bodyPr wrap="none"/>
                    <a:lstStyle/>
                    <a:p>
                      <a:pPr algn="r"/>
                      <a:r>
                        <a:rPr sz="800" b="0" i="0">
                          <a:solidFill>
                            <a:srgbClr val="1F2937"/>
                          </a:solidFill>
                          <a:latin typeface="Arial"/>
                        </a:rPr>
                        <a:t>0.0117</a:t>
                      </a:r>
                      <a:endParaRPr sz="800"/>
                    </a:p>
                  </a:txBody>
                  <a:tcPr marL="36576" marR="36576" marT="0" marB="0" anchor="ctr">
                    <a:noFill/>
                  </a:tcPr>
                </a:tc>
                <a:tc>
                  <a:txBody>
                    <a:bodyPr wrap="none"/>
                    <a:lstStyle/>
                    <a:p>
                      <a:pPr algn="r"/>
                      <a:r>
                        <a:rPr sz="800" b="0" i="0">
                          <a:solidFill>
                            <a:srgbClr val="1F2937"/>
                          </a:solidFill>
                          <a:latin typeface="Arial"/>
                        </a:rPr>
                        <a:t>0.0049</a:t>
                      </a:r>
                      <a:endParaRPr sz="800"/>
                    </a:p>
                  </a:txBody>
                  <a:tcPr marL="36576" marR="36576" marT="0" marB="0" anchor="ctr">
                    <a:noFill/>
                  </a:tcPr>
                </a:tc>
              </a:tr>
              <a:tr h="214884">
                <a:tc>
                  <a:txBody>
                    <a:bodyPr wrap="none"/>
                    <a:lstStyle/>
                    <a:p>
                      <a:pPr algn="l"/>
                      <a:r>
                        <a:rPr sz="800" b="0" i="0">
                          <a:solidFill>
                            <a:srgbClr val="1F2937"/>
                          </a:solidFill>
                          <a:latin typeface="Arial"/>
                        </a:rPr>
                        <a:t>LowRank</a:t>
                      </a:r>
                      <a:endParaRPr sz="800"/>
                    </a:p>
                  </a:txBody>
                  <a:tcPr marL="36576" marR="36576" marT="0" marB="0" anchor="ctr">
                    <a:noFill/>
                  </a:tcPr>
                </a:tc>
                <a:tc>
                  <a:txBody>
                    <a:bodyPr wrap="none"/>
                    <a:lstStyle/>
                    <a:p>
                      <a:pPr algn="r"/>
                      <a:r>
                        <a:rPr sz="800" b="0" i="0">
                          <a:solidFill>
                            <a:srgbClr val="1F2937"/>
                          </a:solidFill>
                          <a:latin typeface="Arial"/>
                        </a:rPr>
                        <a:t>0.0078</a:t>
                      </a:r>
                      <a:endParaRPr sz="800"/>
                    </a:p>
                  </a:txBody>
                  <a:tcPr marL="36576" marR="36576" marT="0" marB="0" anchor="ctr">
                    <a:noFill/>
                  </a:tcPr>
                </a:tc>
                <a:tc>
                  <a:txBody>
                    <a:bodyPr wrap="none"/>
                    <a:lstStyle/>
                    <a:p>
                      <a:pPr algn="r"/>
                      <a:r>
                        <a:rPr sz="800" b="0" i="0">
                          <a:solidFill>
                            <a:srgbClr val="1F2937"/>
                          </a:solidFill>
                          <a:latin typeface="Arial"/>
                        </a:rPr>
                        <a:t>0.0119</a:t>
                      </a:r>
                      <a:endParaRPr sz="800"/>
                    </a:p>
                  </a:txBody>
                  <a:tcPr marL="36576" marR="36576" marT="0" marB="0" anchor="ctr">
                    <a:noFill/>
                  </a:tcPr>
                </a:tc>
                <a:tc>
                  <a:txBody>
                    <a:bodyPr wrap="none"/>
                    <a:lstStyle/>
                    <a:p>
                      <a:pPr algn="r"/>
                      <a:r>
                        <a:rPr sz="800" b="0" i="0">
                          <a:solidFill>
                            <a:srgbClr val="1F2937"/>
                          </a:solidFill>
                          <a:latin typeface="Arial"/>
                        </a:rPr>
                        <a:t>0.0310</a:t>
                      </a:r>
                      <a:endParaRPr sz="800"/>
                    </a:p>
                  </a:txBody>
                  <a:tcPr marL="36576" marR="36576" marT="0" marB="0" anchor="ctr">
                    <a:noFill/>
                  </a:tcPr>
                </a:tc>
                <a:tc>
                  <a:txBody>
                    <a:bodyPr wrap="none"/>
                    <a:lstStyle/>
                    <a:p>
                      <a:pPr algn="r"/>
                      <a:r>
                        <a:rPr sz="800" b="1" i="0">
                          <a:solidFill>
                            <a:srgbClr val="1F2937"/>
                          </a:solidFill>
                          <a:latin typeface="Arial"/>
                        </a:rPr>
                        <a:t>0.0004</a:t>
                      </a:r>
                      <a:endParaRPr sz="800"/>
                    </a:p>
                  </a:txBody>
                  <a:tcPr marL="36576" marR="36576" marT="0" marB="0" anchor="ctr">
                    <a:noFill/>
                  </a:tcPr>
                </a:tc>
                <a:tc>
                  <a:txBody>
                    <a:bodyPr wrap="none"/>
                    <a:lstStyle/>
                    <a:p>
                      <a:pPr algn="r"/>
                      <a:r>
                        <a:rPr sz="800" b="1" i="0">
                          <a:solidFill>
                            <a:srgbClr val="1F2937"/>
                          </a:solidFill>
                          <a:latin typeface="Arial"/>
                        </a:rPr>
                        <a:t>0.0003</a:t>
                      </a:r>
                      <a:endParaRPr sz="800"/>
                    </a:p>
                  </a:txBody>
                  <a:tcPr marL="36576" marR="36576" marT="0" marB="0" anchor="ctr">
                    <a:noFill/>
                  </a:tcPr>
                </a:tc>
                <a:tc>
                  <a:txBody>
                    <a:bodyPr wrap="none"/>
                    <a:lstStyle/>
                    <a:p>
                      <a:pPr algn="r"/>
                      <a:r>
                        <a:rPr sz="800" b="0" i="0">
                          <a:solidFill>
                            <a:srgbClr val="1F2937"/>
                          </a:solidFill>
                          <a:latin typeface="Arial"/>
                        </a:rPr>
                        <a:t>0.0088</a:t>
                      </a:r>
                      <a:endParaRPr sz="800"/>
                    </a:p>
                  </a:txBody>
                  <a:tcPr marL="36576" marR="36576" marT="0" marB="0" anchor="ctr">
                    <a:noFill/>
                  </a:tcPr>
                </a:tc>
                <a:tc>
                  <a:txBody>
                    <a:bodyPr wrap="none"/>
                    <a:lstStyle/>
                    <a:p>
                      <a:pPr algn="r"/>
                      <a:r>
                        <a:rPr sz="800" b="0" i="0">
                          <a:solidFill>
                            <a:srgbClr val="1F2937"/>
                          </a:solidFill>
                          <a:latin typeface="Arial"/>
                        </a:rPr>
                        <a:t>0.0046</a:t>
                      </a:r>
                      <a:endParaRPr sz="800"/>
                    </a:p>
                  </a:txBody>
                  <a:tcPr marL="36576" marR="36576" marT="0" marB="0" anchor="ctr">
                    <a:noFill/>
                  </a:tcPr>
                </a:tc>
              </a:tr>
              <a:tr h="214884">
                <a:tc>
                  <a:txBody>
                    <a:bodyPr wrap="none"/>
                    <a:lstStyle/>
                    <a:p>
                      <a:pPr algn="l"/>
                      <a:r>
                        <a:rPr sz="800" b="0" i="0">
                          <a:solidFill>
                            <a:srgbClr val="1F2937"/>
                          </a:solidFill>
                          <a:latin typeface="Arial"/>
                        </a:rPr>
                        <a:t>EM</a:t>
                      </a:r>
                      <a:endParaRPr sz="800"/>
                    </a:p>
                  </a:txBody>
                  <a:tcPr marL="36576" marR="36576" marT="0" marB="0" anchor="ctr">
                    <a:noFill/>
                  </a:tcPr>
                </a:tc>
                <a:tc>
                  <a:txBody>
                    <a:bodyPr wrap="none"/>
                    <a:lstStyle/>
                    <a:p>
                      <a:pPr algn="r"/>
                      <a:r>
                        <a:rPr sz="800" b="1" i="0">
                          <a:solidFill>
                            <a:srgbClr val="1F2937"/>
                          </a:solidFill>
                          <a:latin typeface="Arial"/>
                        </a:rPr>
                        <a:t>0.0073</a:t>
                      </a:r>
                      <a:endParaRPr sz="800"/>
                    </a:p>
                  </a:txBody>
                  <a:tcPr marL="36576" marR="36576" marT="0" marB="0" anchor="ctr">
                    <a:noFill/>
                  </a:tcPr>
                </a:tc>
                <a:tc>
                  <a:txBody>
                    <a:bodyPr wrap="none"/>
                    <a:lstStyle/>
                    <a:p>
                      <a:pPr algn="r"/>
                      <a:r>
                        <a:rPr sz="800" b="1" i="0">
                          <a:solidFill>
                            <a:srgbClr val="1F2937"/>
                          </a:solidFill>
                          <a:latin typeface="Arial"/>
                        </a:rPr>
                        <a:t>0.0114</a:t>
                      </a:r>
                      <a:endParaRPr sz="800"/>
                    </a:p>
                  </a:txBody>
                  <a:tcPr marL="36576" marR="36576" marT="0" marB="0" anchor="ctr">
                    <a:noFill/>
                  </a:tcPr>
                </a:tc>
                <a:tc>
                  <a:txBody>
                    <a:bodyPr wrap="none"/>
                    <a:lstStyle/>
                    <a:p>
                      <a:pPr algn="r"/>
                      <a:r>
                        <a:rPr sz="800" b="1" i="0">
                          <a:solidFill>
                            <a:srgbClr val="1F2937"/>
                          </a:solidFill>
                          <a:latin typeface="Arial"/>
                        </a:rPr>
                        <a:t>0.0238</a:t>
                      </a:r>
                      <a:endParaRPr sz="800"/>
                    </a:p>
                  </a:txBody>
                  <a:tcPr marL="36576" marR="36576" marT="0" marB="0" anchor="ctr">
                    <a:noFill/>
                  </a:tcPr>
                </a:tc>
                <a:tc>
                  <a:txBody>
                    <a:bodyPr wrap="none"/>
                    <a:lstStyle/>
                    <a:p>
                      <a:pPr algn="r"/>
                      <a:r>
                        <a:rPr sz="800" b="0" i="0">
                          <a:solidFill>
                            <a:srgbClr val="1F2937"/>
                          </a:solidFill>
                          <a:latin typeface="Arial"/>
                        </a:rPr>
                        <a:t>0.0005</a:t>
                      </a:r>
                      <a:endParaRPr sz="800"/>
                    </a:p>
                  </a:txBody>
                  <a:tcPr marL="36576" marR="36576" marT="0" marB="0" anchor="ctr">
                    <a:noFill/>
                  </a:tcPr>
                </a:tc>
                <a:tc>
                  <a:txBody>
                    <a:bodyPr wrap="none"/>
                    <a:lstStyle/>
                    <a:p>
                      <a:pPr algn="r"/>
                      <a:r>
                        <a:rPr sz="800" b="1" i="0">
                          <a:solidFill>
                            <a:srgbClr val="1F2937"/>
                          </a:solidFill>
                          <a:latin typeface="Arial"/>
                        </a:rPr>
                        <a:t>0.0003</a:t>
                      </a:r>
                      <a:endParaRPr sz="800"/>
                    </a:p>
                  </a:txBody>
                  <a:tcPr marL="36576" marR="36576" marT="0" marB="0" anchor="ctr">
                    <a:noFill/>
                  </a:tcPr>
                </a:tc>
                <a:tc>
                  <a:txBody>
                    <a:bodyPr wrap="none"/>
                    <a:lstStyle/>
                    <a:p>
                      <a:pPr algn="r"/>
                      <a:r>
                        <a:rPr sz="800" b="0" i="0">
                          <a:solidFill>
                            <a:srgbClr val="1F2937"/>
                          </a:solidFill>
                          <a:latin typeface="Arial"/>
                        </a:rPr>
                        <a:t>0.0083</a:t>
                      </a:r>
                      <a:endParaRPr sz="800"/>
                    </a:p>
                  </a:txBody>
                  <a:tcPr marL="36576" marR="36576" marT="0" marB="0" anchor="ctr">
                    <a:noFill/>
                  </a:tcPr>
                </a:tc>
                <a:tc>
                  <a:txBody>
                    <a:bodyPr wrap="none"/>
                    <a:lstStyle/>
                    <a:p>
                      <a:pPr algn="r"/>
                      <a:r>
                        <a:rPr sz="800" b="1" i="0">
                          <a:solidFill>
                            <a:srgbClr val="1F2937"/>
                          </a:solidFill>
                          <a:latin typeface="Arial"/>
                        </a:rPr>
                        <a:t>0.0044</a:t>
                      </a:r>
                      <a:endParaRPr sz="800"/>
                    </a:p>
                  </a:txBody>
                  <a:tcPr marL="36576" marR="36576" marT="0" marB="0" anchor="ctr">
                    <a:noFill/>
                  </a:tcPr>
                </a:tc>
              </a:tr>
              <a:tr h="214884">
                <a:tc>
                  <a:txBody>
                    <a:bodyPr wrap="none"/>
                    <a:lstStyle/>
                    <a:p>
                      <a:pPr algn="l"/>
                      <a:r>
                        <a:rPr sz="800" b="0" i="0">
                          <a:solidFill>
                            <a:srgbClr val="1F2937"/>
                          </a:solidFill>
                          <a:latin typeface="Arial"/>
                        </a:rPr>
                        <a:t>BRITS</a:t>
                      </a:r>
                      <a:endParaRPr sz="800"/>
                    </a:p>
                  </a:txBody>
                  <a:tcPr marL="36576" marR="36576" marT="0" marB="0" anchor="ctr">
                    <a:noFill/>
                  </a:tcPr>
                </a:tc>
                <a:tc>
                  <a:txBody>
                    <a:bodyPr wrap="none"/>
                    <a:lstStyle/>
                    <a:p>
                      <a:pPr algn="r"/>
                      <a:r>
                        <a:rPr sz="800" b="0" i="0">
                          <a:solidFill>
                            <a:srgbClr val="1F2937"/>
                          </a:solidFill>
                          <a:latin typeface="Arial"/>
                        </a:rPr>
                        <a:t>0.0074</a:t>
                      </a:r>
                      <a:endParaRPr sz="800"/>
                    </a:p>
                  </a:txBody>
                  <a:tcPr marL="36576" marR="36576" marT="0" marB="0" anchor="ctr">
                    <a:noFill/>
                  </a:tcPr>
                </a:tc>
                <a:tc>
                  <a:txBody>
                    <a:bodyPr wrap="none"/>
                    <a:lstStyle/>
                    <a:p>
                      <a:pPr algn="r"/>
                      <a:r>
                        <a:rPr sz="800" b="1" i="0">
                          <a:solidFill>
                            <a:srgbClr val="1F2937"/>
                          </a:solidFill>
                          <a:latin typeface="Arial"/>
                        </a:rPr>
                        <a:t>0.0114</a:t>
                      </a:r>
                      <a:endParaRPr sz="800"/>
                    </a:p>
                  </a:txBody>
                  <a:tcPr marL="36576" marR="36576" marT="0" marB="0" anchor="ctr">
                    <a:noFill/>
                  </a:tcPr>
                </a:tc>
                <a:tc>
                  <a:txBody>
                    <a:bodyPr wrap="none"/>
                    <a:lstStyle/>
                    <a:p>
                      <a:pPr algn="r"/>
                      <a:r>
                        <a:rPr sz="800" b="0" i="0">
                          <a:solidFill>
                            <a:srgbClr val="1F2937"/>
                          </a:solidFill>
                          <a:latin typeface="Arial"/>
                        </a:rPr>
                        <a:t>0.0241</a:t>
                      </a:r>
                      <a:endParaRPr sz="800"/>
                    </a:p>
                  </a:txBody>
                  <a:tcPr marL="36576" marR="36576" marT="0" marB="0" anchor="ctr">
                    <a:noFill/>
                  </a:tcPr>
                </a:tc>
                <a:tc>
                  <a:txBody>
                    <a:bodyPr wrap="none"/>
                    <a:lstStyle/>
                    <a:p>
                      <a:pPr algn="r"/>
                      <a:r>
                        <a:rPr sz="800" b="0" i="0">
                          <a:solidFill>
                            <a:srgbClr val="1F2937"/>
                          </a:solidFill>
                          <a:latin typeface="Arial"/>
                        </a:rPr>
                        <a:t>0.0005</a:t>
                      </a:r>
                      <a:endParaRPr sz="800"/>
                    </a:p>
                  </a:txBody>
                  <a:tcPr marL="36576" marR="36576" marT="0" marB="0" anchor="ctr">
                    <a:noFill/>
                  </a:tcPr>
                </a:tc>
                <a:tc>
                  <a:txBody>
                    <a:bodyPr wrap="none"/>
                    <a:lstStyle/>
                    <a:p>
                      <a:pPr algn="r"/>
                      <a:r>
                        <a:rPr sz="800" b="1" i="0">
                          <a:solidFill>
                            <a:srgbClr val="1F2937"/>
                          </a:solidFill>
                          <a:latin typeface="Arial"/>
                        </a:rPr>
                        <a:t>0.0003</a:t>
                      </a:r>
                      <a:endParaRPr sz="800"/>
                    </a:p>
                  </a:txBody>
                  <a:tcPr marL="36576" marR="36576" marT="0" marB="0" anchor="ctr">
                    <a:noFill/>
                  </a:tcPr>
                </a:tc>
                <a:tc>
                  <a:txBody>
                    <a:bodyPr wrap="none"/>
                    <a:lstStyle/>
                    <a:p>
                      <a:pPr algn="r"/>
                      <a:r>
                        <a:rPr sz="800" b="1" i="0">
                          <a:solidFill>
                            <a:srgbClr val="1F2937"/>
                          </a:solidFill>
                          <a:latin typeface="Arial"/>
                        </a:rPr>
                        <a:t>0.0082</a:t>
                      </a:r>
                      <a:endParaRPr sz="800"/>
                    </a:p>
                  </a:txBody>
                  <a:tcPr marL="36576" marR="36576" marT="0" marB="0" anchor="ctr">
                    <a:noFill/>
                  </a:tcPr>
                </a:tc>
                <a:tc>
                  <a:txBody>
                    <a:bodyPr wrap="none"/>
                    <a:lstStyle/>
                    <a:p>
                      <a:pPr algn="r"/>
                      <a:r>
                        <a:rPr sz="800" b="0" i="0">
                          <a:solidFill>
                            <a:srgbClr val="1F2937"/>
                          </a:solidFill>
                          <a:latin typeface="Arial"/>
                        </a:rPr>
                        <a:t>0.0045</a:t>
                      </a:r>
                      <a:endParaRPr sz="800"/>
                    </a:p>
                  </a:txBody>
                  <a:tcPr marL="36576" marR="36576" marT="0" marB="0" anchor="ctr">
                    <a:noFill/>
                  </a:tcPr>
                </a:tc>
              </a:tr>
              <a:tr h="214884">
                <a:tc>
                  <a:txBody>
                    <a:bodyPr wrap="none"/>
                    <a:lstStyle/>
                    <a:p>
                      <a:pPr algn="l"/>
                      <a:r>
                        <a:rPr sz="800" b="0" i="0">
                          <a:solidFill>
                            <a:srgbClr val="1F2937"/>
                          </a:solidFill>
                          <a:latin typeface="Arial"/>
                        </a:rPr>
                        <a:t>CSDI</a:t>
                      </a:r>
                      <a:endParaRPr sz="800"/>
                    </a:p>
                  </a:txBody>
                  <a:tcPr marL="36576" marR="36576" marT="0" marB="0" anchor="ctr">
                    <a:lnB w="6350">
                      <a:solidFill>
                        <a:srgbClr val="D0D5DD"/>
                      </a:solidFill>
                    </a:lnB>
                    <a:noFill/>
                  </a:tcPr>
                </a:tc>
                <a:tc>
                  <a:txBody>
                    <a:bodyPr wrap="none"/>
                    <a:lstStyle/>
                    <a:p>
                      <a:pPr algn="r"/>
                      <a:r>
                        <a:rPr sz="800" b="1" i="0">
                          <a:solidFill>
                            <a:srgbClr val="1F2937"/>
                          </a:solidFill>
                          <a:latin typeface="Arial"/>
                        </a:rPr>
                        <a:t>0.0073</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0.0115</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0.0328</a:t>
                      </a:r>
                      <a:endParaRPr sz="800"/>
                    </a:p>
                  </a:txBody>
                  <a:tcPr marL="36576" marR="36576" marT="0" marB="0" anchor="ctr">
                    <a:lnB w="6350">
                      <a:solidFill>
                        <a:srgbClr val="D0D5DD"/>
                      </a:solidFill>
                    </a:lnB>
                    <a:noFill/>
                  </a:tcPr>
                </a:tc>
                <a:tc>
                  <a:txBody>
                    <a:bodyPr wrap="none"/>
                    <a:lstStyle/>
                    <a:p>
                      <a:pPr algn="r"/>
                      <a:r>
                        <a:rPr sz="800" b="1" i="0">
                          <a:solidFill>
                            <a:srgbClr val="1F2937"/>
                          </a:solidFill>
                          <a:latin typeface="Arial"/>
                        </a:rPr>
                        <a:t>0.0004</a:t>
                      </a:r>
                      <a:endParaRPr sz="800"/>
                    </a:p>
                  </a:txBody>
                  <a:tcPr marL="36576" marR="36576" marT="0" marB="0" anchor="ctr">
                    <a:lnB w="6350">
                      <a:solidFill>
                        <a:srgbClr val="D0D5DD"/>
                      </a:solidFill>
                    </a:lnB>
                    <a:noFill/>
                  </a:tcPr>
                </a:tc>
                <a:tc>
                  <a:txBody>
                    <a:bodyPr wrap="none"/>
                    <a:lstStyle/>
                    <a:p>
                      <a:pPr algn="r"/>
                      <a:r>
                        <a:rPr sz="800" b="1" i="0">
                          <a:solidFill>
                            <a:srgbClr val="1F2937"/>
                          </a:solidFill>
                          <a:latin typeface="Arial"/>
                        </a:rPr>
                        <a:t>0.0003</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0.0095</a:t>
                      </a:r>
                      <a:endParaRPr sz="800"/>
                    </a:p>
                  </a:txBody>
                  <a:tcPr marL="36576" marR="36576" marT="0" marB="0" anchor="ctr">
                    <a:lnB w="6350">
                      <a:solidFill>
                        <a:srgbClr val="D0D5DD"/>
                      </a:solidFill>
                    </a:lnB>
                    <a:noFill/>
                  </a:tcPr>
                </a:tc>
                <a:tc>
                  <a:txBody>
                    <a:bodyPr wrap="none"/>
                    <a:lstStyle/>
                    <a:p>
                      <a:pPr algn="r"/>
                      <a:r>
                        <a:rPr sz="800" b="1" i="0">
                          <a:solidFill>
                            <a:srgbClr val="1F2937"/>
                          </a:solidFill>
                          <a:latin typeface="Arial"/>
                        </a:rPr>
                        <a:t>0.0044</a:t>
                      </a:r>
                      <a:endParaRPr sz="800"/>
                    </a:p>
                  </a:txBody>
                  <a:tcPr marL="36576" marR="36576" marT="0" marB="0" anchor="ctr">
                    <a:lnB w="6350">
                      <a:solidFill>
                        <a:srgbClr val="D0D5DD"/>
                      </a:solidFill>
                    </a:lnB>
                    <a:noFill/>
                  </a:tcPr>
                </a:tc>
              </a:tr>
              <a:tr h="214884">
                <a:tc gridSpan="8">
                  <a:txBody>
                    <a:bodyPr wrap="none"/>
                    <a:lstStyle/>
                    <a:p>
                      <a:pPr algn="l"/>
                      <a:r>
                        <a:rPr sz="800" b="1" i="0">
                          <a:solidFill>
                            <a:srgbClr val="E4572E"/>
                          </a:solidFill>
                          <a:latin typeface="Arial"/>
                        </a:rPr>
                        <a:t>Level (2000, 30)</a:t>
                      </a: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r>
              <a:tr h="214884">
                <a:tc>
                  <a:txBody>
                    <a:bodyPr wrap="none"/>
                    <a:lstStyle/>
                    <a:p>
                      <a:pPr algn="l"/>
                      <a:r>
                        <a:rPr sz="800" b="0" i="0">
                          <a:solidFill>
                            <a:srgbClr val="1F2937"/>
                          </a:solidFill>
                          <a:latin typeface="Arial"/>
                        </a:rPr>
                        <a:t>Deletion</a:t>
                      </a:r>
                      <a:endParaRPr sz="800"/>
                    </a:p>
                  </a:txBody>
                  <a:tcPr marL="36576" marR="36576" marT="0" marB="0" anchor="ctr">
                    <a:noFill/>
                  </a:tcPr>
                </a:tc>
                <a:tc>
                  <a:txBody>
                    <a:bodyPr wrap="none"/>
                    <a:lstStyle/>
                    <a:p>
                      <a:pPr algn="r"/>
                      <a:r>
                        <a:rPr sz="800" b="0" i="0">
                          <a:solidFill>
                            <a:srgbClr val="1F2937"/>
                          </a:solidFill>
                          <a:latin typeface="Arial"/>
                        </a:rPr>
                        <a:t>--</a:t>
                      </a:r>
                      <a:endParaRPr sz="800"/>
                    </a:p>
                  </a:txBody>
                  <a:tcPr marL="36576" marR="36576" marT="0" marB="0" anchor="ctr">
                    <a:noFill/>
                  </a:tcPr>
                </a:tc>
                <a:tc>
                  <a:txBody>
                    <a:bodyPr wrap="none"/>
                    <a:lstStyle/>
                    <a:p>
                      <a:pPr algn="r"/>
                      <a:r>
                        <a:rPr sz="800" b="0" i="0">
                          <a:solidFill>
                            <a:srgbClr val="1F2937"/>
                          </a:solidFill>
                          <a:latin typeface="Arial"/>
                        </a:rPr>
                        <a:t>--</a:t>
                      </a:r>
                      <a:endParaRPr sz="800"/>
                    </a:p>
                  </a:txBody>
                  <a:tcPr marL="36576" marR="36576" marT="0" marB="0" anchor="ctr">
                    <a:noFill/>
                  </a:tcPr>
                </a:tc>
                <a:tc>
                  <a:txBody>
                    <a:bodyPr wrap="none"/>
                    <a:lstStyle/>
                    <a:p>
                      <a:pPr algn="r"/>
                      <a:r>
                        <a:rPr sz="800" b="0" i="0">
                          <a:solidFill>
                            <a:srgbClr val="1F2937"/>
                          </a:solidFill>
                          <a:latin typeface="Arial"/>
                        </a:rPr>
                        <a:t>1.4799</a:t>
                      </a:r>
                      <a:endParaRPr sz="800"/>
                    </a:p>
                  </a:txBody>
                  <a:tcPr marL="36576" marR="36576" marT="0" marB="0" anchor="ctr">
                    <a:noFill/>
                  </a:tcPr>
                </a:tc>
                <a:tc>
                  <a:txBody>
                    <a:bodyPr wrap="none"/>
                    <a:lstStyle/>
                    <a:p>
                      <a:pPr algn="r"/>
                      <a:r>
                        <a:rPr sz="800" b="0" i="0">
                          <a:solidFill>
                            <a:srgbClr val="1F2937"/>
                          </a:solidFill>
                          <a:latin typeface="Arial"/>
                        </a:rPr>
                        <a:t>0.0104</a:t>
                      </a:r>
                      <a:endParaRPr sz="800"/>
                    </a:p>
                  </a:txBody>
                  <a:tcPr marL="36576" marR="36576" marT="0" marB="0" anchor="ctr">
                    <a:noFill/>
                  </a:tcPr>
                </a:tc>
                <a:tc>
                  <a:txBody>
                    <a:bodyPr wrap="none"/>
                    <a:lstStyle/>
                    <a:p>
                      <a:pPr algn="r"/>
                      <a:r>
                        <a:rPr sz="800" b="0" i="0">
                          <a:solidFill>
                            <a:srgbClr val="1F2937"/>
                          </a:solidFill>
                          <a:latin typeface="Arial"/>
                        </a:rPr>
                        <a:t>0.0100</a:t>
                      </a:r>
                      <a:endParaRPr sz="800"/>
                    </a:p>
                  </a:txBody>
                  <a:tcPr marL="36576" marR="36576" marT="0" marB="0" anchor="ctr">
                    <a:noFill/>
                  </a:tcPr>
                </a:tc>
                <a:tc>
                  <a:txBody>
                    <a:bodyPr wrap="none"/>
                    <a:lstStyle/>
                    <a:p>
                      <a:pPr algn="r"/>
                      <a:r>
                        <a:rPr sz="800" b="0" i="0">
                          <a:solidFill>
                            <a:srgbClr val="1F2937"/>
                          </a:solidFill>
                          <a:latin typeface="Arial"/>
                        </a:rPr>
                        <a:t>--</a:t>
                      </a:r>
                      <a:endParaRPr sz="800"/>
                    </a:p>
                  </a:txBody>
                  <a:tcPr marL="36576" marR="36576" marT="0" marB="0" anchor="ctr">
                    <a:noFill/>
                  </a:tcPr>
                </a:tc>
                <a:tc>
                  <a:txBody>
                    <a:bodyPr wrap="none"/>
                    <a:lstStyle/>
                    <a:p>
                      <a:pPr algn="r"/>
                      <a:r>
                        <a:rPr sz="800" b="0" i="0">
                          <a:solidFill>
                            <a:srgbClr val="1F2937"/>
                          </a:solidFill>
                          <a:latin typeface="Arial"/>
                        </a:rPr>
                        <a:t>--</a:t>
                      </a:r>
                      <a:endParaRPr sz="800"/>
                    </a:p>
                  </a:txBody>
                  <a:tcPr marL="36576" marR="36576" marT="0" marB="0" anchor="ctr">
                    <a:noFill/>
                  </a:tcPr>
                </a:tc>
              </a:tr>
              <a:tr h="214884">
                <a:tc>
                  <a:txBody>
                    <a:bodyPr wrap="none"/>
                    <a:lstStyle/>
                    <a:p>
                      <a:pPr algn="l"/>
                      <a:r>
                        <a:rPr sz="800" b="0" i="0">
                          <a:solidFill>
                            <a:srgbClr val="1F2937"/>
                          </a:solidFill>
                          <a:latin typeface="Arial"/>
                        </a:rPr>
                        <a:t>Zero</a:t>
                      </a:r>
                      <a:endParaRPr sz="800"/>
                    </a:p>
                  </a:txBody>
                  <a:tcPr marL="36576" marR="36576" marT="0" marB="0" anchor="ctr">
                    <a:noFill/>
                  </a:tcPr>
                </a:tc>
                <a:tc>
                  <a:txBody>
                    <a:bodyPr wrap="none"/>
                    <a:lstStyle/>
                    <a:p>
                      <a:pPr algn="r"/>
                      <a:r>
                        <a:rPr sz="800" b="0" i="0">
                          <a:solidFill>
                            <a:srgbClr val="1F2937"/>
                          </a:solidFill>
                          <a:latin typeface="Arial"/>
                        </a:rPr>
                        <a:t>0.0108</a:t>
                      </a:r>
                      <a:endParaRPr sz="800"/>
                    </a:p>
                  </a:txBody>
                  <a:tcPr marL="36576" marR="36576" marT="0" marB="0" anchor="ctr">
                    <a:noFill/>
                  </a:tcPr>
                </a:tc>
                <a:tc>
                  <a:txBody>
                    <a:bodyPr wrap="none"/>
                    <a:lstStyle/>
                    <a:p>
                      <a:pPr algn="r"/>
                      <a:r>
                        <a:rPr sz="800" b="0" i="0">
                          <a:solidFill>
                            <a:srgbClr val="1F2937"/>
                          </a:solidFill>
                          <a:latin typeface="Arial"/>
                        </a:rPr>
                        <a:t>0.0161</a:t>
                      </a:r>
                      <a:endParaRPr sz="800"/>
                    </a:p>
                  </a:txBody>
                  <a:tcPr marL="36576" marR="36576" marT="0" marB="0" anchor="ctr">
                    <a:noFill/>
                  </a:tcPr>
                </a:tc>
                <a:tc>
                  <a:txBody>
                    <a:bodyPr wrap="none"/>
                    <a:lstStyle/>
                    <a:p>
                      <a:pPr algn="r"/>
                      <a:r>
                        <a:rPr sz="800" b="0" i="0">
                          <a:solidFill>
                            <a:srgbClr val="1F2937"/>
                          </a:solidFill>
                          <a:latin typeface="Arial"/>
                        </a:rPr>
                        <a:t>0.4324</a:t>
                      </a:r>
                      <a:endParaRPr sz="800"/>
                    </a:p>
                  </a:txBody>
                  <a:tcPr marL="36576" marR="36576" marT="0" marB="0" anchor="ctr">
                    <a:noFill/>
                  </a:tcPr>
                </a:tc>
                <a:tc>
                  <a:txBody>
                    <a:bodyPr wrap="none"/>
                    <a:lstStyle/>
                    <a:p>
                      <a:pPr algn="r"/>
                      <a:r>
                        <a:rPr sz="800" b="0" i="0">
                          <a:solidFill>
                            <a:srgbClr val="1F2937"/>
                          </a:solidFill>
                          <a:latin typeface="Arial"/>
                        </a:rPr>
                        <a:t>0.0028</a:t>
                      </a:r>
                      <a:endParaRPr sz="800"/>
                    </a:p>
                  </a:txBody>
                  <a:tcPr marL="36576" marR="36576" marT="0" marB="0" anchor="ctr">
                    <a:noFill/>
                  </a:tcPr>
                </a:tc>
                <a:tc>
                  <a:txBody>
                    <a:bodyPr wrap="none"/>
                    <a:lstStyle/>
                    <a:p>
                      <a:pPr algn="r"/>
                      <a:r>
                        <a:rPr sz="800" b="0" i="0">
                          <a:solidFill>
                            <a:srgbClr val="1F2937"/>
                          </a:solidFill>
                          <a:latin typeface="Arial"/>
                        </a:rPr>
                        <a:t>0.0027</a:t>
                      </a:r>
                      <a:endParaRPr sz="800"/>
                    </a:p>
                  </a:txBody>
                  <a:tcPr marL="36576" marR="36576" marT="0" marB="0" anchor="ctr">
                    <a:noFill/>
                  </a:tcPr>
                </a:tc>
                <a:tc>
                  <a:txBody>
                    <a:bodyPr wrap="none"/>
                    <a:lstStyle/>
                    <a:p>
                      <a:pPr algn="r"/>
                      <a:r>
                        <a:rPr sz="800" b="0" i="0">
                          <a:solidFill>
                            <a:srgbClr val="1F2937"/>
                          </a:solidFill>
                          <a:latin typeface="Arial"/>
                        </a:rPr>
                        <a:t>0.0908</a:t>
                      </a:r>
                      <a:endParaRPr sz="800"/>
                    </a:p>
                  </a:txBody>
                  <a:tcPr marL="36576" marR="36576" marT="0" marB="0" anchor="ctr">
                    <a:noFill/>
                  </a:tcPr>
                </a:tc>
                <a:tc>
                  <a:txBody>
                    <a:bodyPr wrap="none"/>
                    <a:lstStyle/>
                    <a:p>
                      <a:pPr algn="r"/>
                      <a:r>
                        <a:rPr sz="800" b="0" i="0">
                          <a:solidFill>
                            <a:srgbClr val="1F2937"/>
                          </a:solidFill>
                          <a:latin typeface="Arial"/>
                        </a:rPr>
                        <a:t>0.0143</a:t>
                      </a:r>
                      <a:endParaRPr sz="800"/>
                    </a:p>
                  </a:txBody>
                  <a:tcPr marL="36576" marR="36576" marT="0" marB="0" anchor="ctr">
                    <a:noFill/>
                  </a:tcPr>
                </a:tc>
              </a:tr>
              <a:tr h="214884">
                <a:tc>
                  <a:txBody>
                    <a:bodyPr wrap="none"/>
                    <a:lstStyle/>
                    <a:p>
                      <a:pPr algn="l"/>
                      <a:r>
                        <a:rPr sz="800" b="0" i="0">
                          <a:solidFill>
                            <a:srgbClr val="1F2937"/>
                          </a:solidFill>
                          <a:latin typeface="Arial"/>
                        </a:rPr>
                        <a:t>KNN</a:t>
                      </a:r>
                      <a:endParaRPr sz="800"/>
                    </a:p>
                  </a:txBody>
                  <a:tcPr marL="36576" marR="36576" marT="0" marB="0" anchor="ctr">
                    <a:noFill/>
                  </a:tcPr>
                </a:tc>
                <a:tc>
                  <a:txBody>
                    <a:bodyPr wrap="none"/>
                    <a:lstStyle/>
                    <a:p>
                      <a:pPr algn="r"/>
                      <a:r>
                        <a:rPr sz="800" b="0" i="0">
                          <a:solidFill>
                            <a:srgbClr val="1F2937"/>
                          </a:solidFill>
                          <a:latin typeface="Arial"/>
                        </a:rPr>
                        <a:t>0.0085</a:t>
                      </a:r>
                      <a:endParaRPr sz="800"/>
                    </a:p>
                  </a:txBody>
                  <a:tcPr marL="36576" marR="36576" marT="0" marB="0" anchor="ctr">
                    <a:noFill/>
                  </a:tcPr>
                </a:tc>
                <a:tc>
                  <a:txBody>
                    <a:bodyPr wrap="none"/>
                    <a:lstStyle/>
                    <a:p>
                      <a:pPr algn="r"/>
                      <a:r>
                        <a:rPr sz="800" b="0" i="0">
                          <a:solidFill>
                            <a:srgbClr val="1F2937"/>
                          </a:solidFill>
                          <a:latin typeface="Arial"/>
                        </a:rPr>
                        <a:t>0.0128</a:t>
                      </a:r>
                      <a:endParaRPr sz="800"/>
                    </a:p>
                  </a:txBody>
                  <a:tcPr marL="36576" marR="36576" marT="0" marB="0" anchor="ctr">
                    <a:noFill/>
                  </a:tcPr>
                </a:tc>
                <a:tc>
                  <a:txBody>
                    <a:bodyPr wrap="none"/>
                    <a:lstStyle/>
                    <a:p>
                      <a:pPr algn="r"/>
                      <a:r>
                        <a:rPr sz="800" b="0" i="0">
                          <a:solidFill>
                            <a:srgbClr val="1F2937"/>
                          </a:solidFill>
                          <a:latin typeface="Arial"/>
                        </a:rPr>
                        <a:t>0.1378</a:t>
                      </a:r>
                      <a:endParaRPr sz="800"/>
                    </a:p>
                  </a:txBody>
                  <a:tcPr marL="36576" marR="36576" marT="0" marB="0" anchor="ctr">
                    <a:noFill/>
                  </a:tcPr>
                </a:tc>
                <a:tc>
                  <a:txBody>
                    <a:bodyPr wrap="none"/>
                    <a:lstStyle/>
                    <a:p>
                      <a:pPr algn="r"/>
                      <a:r>
                        <a:rPr sz="800" b="0" i="0">
                          <a:solidFill>
                            <a:srgbClr val="1F2937"/>
                          </a:solidFill>
                          <a:latin typeface="Arial"/>
                        </a:rPr>
                        <a:t>0.0018</a:t>
                      </a:r>
                      <a:endParaRPr sz="800"/>
                    </a:p>
                  </a:txBody>
                  <a:tcPr marL="36576" marR="36576" marT="0" marB="0" anchor="ctr">
                    <a:noFill/>
                  </a:tcPr>
                </a:tc>
                <a:tc>
                  <a:txBody>
                    <a:bodyPr wrap="none"/>
                    <a:lstStyle/>
                    <a:p>
                      <a:pPr algn="r"/>
                      <a:r>
                        <a:rPr sz="800" b="0" i="0">
                          <a:solidFill>
                            <a:srgbClr val="1F2937"/>
                          </a:solidFill>
                          <a:latin typeface="Arial"/>
                        </a:rPr>
                        <a:t>0.0011</a:t>
                      </a:r>
                      <a:endParaRPr sz="800"/>
                    </a:p>
                  </a:txBody>
                  <a:tcPr marL="36576" marR="36576" marT="0" marB="0" anchor="ctr">
                    <a:noFill/>
                  </a:tcPr>
                </a:tc>
                <a:tc>
                  <a:txBody>
                    <a:bodyPr wrap="none"/>
                    <a:lstStyle/>
                    <a:p>
                      <a:pPr algn="r"/>
                      <a:r>
                        <a:rPr sz="800" b="0" i="0">
                          <a:solidFill>
                            <a:srgbClr val="1F2937"/>
                          </a:solidFill>
                          <a:latin typeface="Arial"/>
                        </a:rPr>
                        <a:t>0.0277</a:t>
                      </a:r>
                      <a:endParaRPr sz="800"/>
                    </a:p>
                  </a:txBody>
                  <a:tcPr marL="36576" marR="36576" marT="0" marB="0" anchor="ctr">
                    <a:noFill/>
                  </a:tcPr>
                </a:tc>
                <a:tc>
                  <a:txBody>
                    <a:bodyPr wrap="none"/>
                    <a:lstStyle/>
                    <a:p>
                      <a:pPr algn="r"/>
                      <a:r>
                        <a:rPr sz="800" b="0" i="0">
                          <a:solidFill>
                            <a:srgbClr val="1F2937"/>
                          </a:solidFill>
                          <a:latin typeface="Arial"/>
                        </a:rPr>
                        <a:t>0.0090</a:t>
                      </a:r>
                      <a:endParaRPr sz="800"/>
                    </a:p>
                  </a:txBody>
                  <a:tcPr marL="36576" marR="36576" marT="0" marB="0" anchor="ctr">
                    <a:noFill/>
                  </a:tcPr>
                </a:tc>
              </a:tr>
              <a:tr h="214884">
                <a:tc>
                  <a:txBody>
                    <a:bodyPr wrap="none"/>
                    <a:lstStyle/>
                    <a:p>
                      <a:pPr algn="l"/>
                      <a:r>
                        <a:rPr sz="800" b="0" i="0">
                          <a:solidFill>
                            <a:srgbClr val="1F2937"/>
                          </a:solidFill>
                          <a:latin typeface="Arial"/>
                        </a:rPr>
                        <a:t>LowRank</a:t>
                      </a:r>
                      <a:endParaRPr sz="800"/>
                    </a:p>
                  </a:txBody>
                  <a:tcPr marL="36576" marR="36576" marT="0" marB="0" anchor="ctr">
                    <a:noFill/>
                  </a:tcPr>
                </a:tc>
                <a:tc>
                  <a:txBody>
                    <a:bodyPr wrap="none"/>
                    <a:lstStyle/>
                    <a:p>
                      <a:pPr algn="r"/>
                      <a:r>
                        <a:rPr sz="800" b="0" i="0">
                          <a:solidFill>
                            <a:srgbClr val="1F2937"/>
                          </a:solidFill>
                          <a:latin typeface="Arial"/>
                        </a:rPr>
                        <a:t>0.0080</a:t>
                      </a:r>
                      <a:endParaRPr sz="800"/>
                    </a:p>
                  </a:txBody>
                  <a:tcPr marL="36576" marR="36576" marT="0" marB="0" anchor="ctr">
                    <a:noFill/>
                  </a:tcPr>
                </a:tc>
                <a:tc>
                  <a:txBody>
                    <a:bodyPr wrap="none"/>
                    <a:lstStyle/>
                    <a:p>
                      <a:pPr algn="r"/>
                      <a:r>
                        <a:rPr sz="800" b="0" i="0">
                          <a:solidFill>
                            <a:srgbClr val="1F2937"/>
                          </a:solidFill>
                          <a:latin typeface="Arial"/>
                        </a:rPr>
                        <a:t>0.0120</a:t>
                      </a:r>
                      <a:endParaRPr sz="800"/>
                    </a:p>
                  </a:txBody>
                  <a:tcPr marL="36576" marR="36576" marT="0" marB="0" anchor="ctr">
                    <a:noFill/>
                  </a:tcPr>
                </a:tc>
                <a:tc>
                  <a:txBody>
                    <a:bodyPr wrap="none"/>
                    <a:lstStyle/>
                    <a:p>
                      <a:pPr algn="r"/>
                      <a:r>
                        <a:rPr sz="800" b="0" i="0">
                          <a:solidFill>
                            <a:srgbClr val="1F2937"/>
                          </a:solidFill>
                          <a:latin typeface="Arial"/>
                        </a:rPr>
                        <a:t>0.0820</a:t>
                      </a:r>
                      <a:endParaRPr sz="800"/>
                    </a:p>
                  </a:txBody>
                  <a:tcPr marL="36576" marR="36576" marT="0" marB="0" anchor="ctr">
                    <a:noFill/>
                  </a:tcPr>
                </a:tc>
                <a:tc>
                  <a:txBody>
                    <a:bodyPr wrap="none"/>
                    <a:lstStyle/>
                    <a:p>
                      <a:pPr algn="r"/>
                      <a:r>
                        <a:rPr sz="800" b="1" i="0">
                          <a:solidFill>
                            <a:srgbClr val="1F2937"/>
                          </a:solidFill>
                          <a:latin typeface="Arial"/>
                        </a:rPr>
                        <a:t>0.0010</a:t>
                      </a:r>
                      <a:endParaRPr sz="800"/>
                    </a:p>
                  </a:txBody>
                  <a:tcPr marL="36576" marR="36576" marT="0" marB="0" anchor="ctr">
                    <a:noFill/>
                  </a:tcPr>
                </a:tc>
                <a:tc>
                  <a:txBody>
                    <a:bodyPr wrap="none"/>
                    <a:lstStyle/>
                    <a:p>
                      <a:pPr algn="r"/>
                      <a:r>
                        <a:rPr sz="800" b="1" i="0">
                          <a:solidFill>
                            <a:srgbClr val="1F2937"/>
                          </a:solidFill>
                          <a:latin typeface="Arial"/>
                        </a:rPr>
                        <a:t>0.0006</a:t>
                      </a:r>
                      <a:endParaRPr sz="800"/>
                    </a:p>
                  </a:txBody>
                  <a:tcPr marL="36576" marR="36576" marT="0" marB="0" anchor="ctr">
                    <a:noFill/>
                  </a:tcPr>
                </a:tc>
                <a:tc>
                  <a:txBody>
                    <a:bodyPr wrap="none"/>
                    <a:lstStyle/>
                    <a:p>
                      <a:pPr algn="r"/>
                      <a:r>
                        <a:rPr sz="800" b="0" i="0">
                          <a:solidFill>
                            <a:srgbClr val="1F2937"/>
                          </a:solidFill>
                          <a:latin typeface="Arial"/>
                        </a:rPr>
                        <a:t>0.0218</a:t>
                      </a:r>
                      <a:endParaRPr sz="800"/>
                    </a:p>
                  </a:txBody>
                  <a:tcPr marL="36576" marR="36576" marT="0" marB="0" anchor="ctr">
                    <a:noFill/>
                  </a:tcPr>
                </a:tc>
                <a:tc>
                  <a:txBody>
                    <a:bodyPr wrap="none"/>
                    <a:lstStyle/>
                    <a:p>
                      <a:pPr algn="r"/>
                      <a:r>
                        <a:rPr sz="800" b="0" i="0">
                          <a:solidFill>
                            <a:srgbClr val="1F2937"/>
                          </a:solidFill>
                          <a:latin typeface="Arial"/>
                        </a:rPr>
                        <a:t>0.0083</a:t>
                      </a:r>
                      <a:endParaRPr sz="800"/>
                    </a:p>
                  </a:txBody>
                  <a:tcPr marL="36576" marR="36576" marT="0" marB="0" anchor="ctr">
                    <a:noFill/>
                  </a:tcPr>
                </a:tc>
              </a:tr>
              <a:tr h="214884">
                <a:tc>
                  <a:txBody>
                    <a:bodyPr wrap="none"/>
                    <a:lstStyle/>
                    <a:p>
                      <a:pPr algn="l"/>
                      <a:r>
                        <a:rPr sz="800" b="0" i="0">
                          <a:solidFill>
                            <a:srgbClr val="1F2937"/>
                          </a:solidFill>
                          <a:latin typeface="Arial"/>
                        </a:rPr>
                        <a:t>EM</a:t>
                      </a:r>
                      <a:endParaRPr sz="800"/>
                    </a:p>
                  </a:txBody>
                  <a:tcPr marL="36576" marR="36576" marT="0" marB="0" anchor="ctr">
                    <a:noFill/>
                  </a:tcPr>
                </a:tc>
                <a:tc>
                  <a:txBody>
                    <a:bodyPr wrap="none"/>
                    <a:lstStyle/>
                    <a:p>
                      <a:pPr algn="r"/>
                      <a:r>
                        <a:rPr sz="800" b="1" i="0">
                          <a:solidFill>
                            <a:srgbClr val="1F2937"/>
                          </a:solidFill>
                          <a:latin typeface="Arial"/>
                        </a:rPr>
                        <a:t>0.0073</a:t>
                      </a:r>
                      <a:endParaRPr sz="800"/>
                    </a:p>
                  </a:txBody>
                  <a:tcPr marL="36576" marR="36576" marT="0" marB="0" anchor="ctr">
                    <a:noFill/>
                  </a:tcPr>
                </a:tc>
                <a:tc>
                  <a:txBody>
                    <a:bodyPr wrap="none"/>
                    <a:lstStyle/>
                    <a:p>
                      <a:pPr algn="r"/>
                      <a:r>
                        <a:rPr sz="800" b="1" i="0">
                          <a:solidFill>
                            <a:srgbClr val="1F2937"/>
                          </a:solidFill>
                          <a:latin typeface="Arial"/>
                        </a:rPr>
                        <a:t>0.0113</a:t>
                      </a:r>
                      <a:endParaRPr sz="800"/>
                    </a:p>
                  </a:txBody>
                  <a:tcPr marL="36576" marR="36576" marT="0" marB="0" anchor="ctr">
                    <a:noFill/>
                  </a:tcPr>
                </a:tc>
                <a:tc>
                  <a:txBody>
                    <a:bodyPr wrap="none"/>
                    <a:lstStyle/>
                    <a:p>
                      <a:pPr algn="r"/>
                      <a:r>
                        <a:rPr sz="800" b="0" i="0">
                          <a:solidFill>
                            <a:srgbClr val="1F2937"/>
                          </a:solidFill>
                          <a:latin typeface="Arial"/>
                        </a:rPr>
                        <a:t>0.0589</a:t>
                      </a:r>
                      <a:endParaRPr sz="800"/>
                    </a:p>
                  </a:txBody>
                  <a:tcPr marL="36576" marR="36576" marT="0" marB="0" anchor="ctr">
                    <a:noFill/>
                  </a:tcPr>
                </a:tc>
                <a:tc>
                  <a:txBody>
                    <a:bodyPr wrap="none"/>
                    <a:lstStyle/>
                    <a:p>
                      <a:pPr algn="r"/>
                      <a:r>
                        <a:rPr sz="800" b="0" i="0">
                          <a:solidFill>
                            <a:srgbClr val="1F2937"/>
                          </a:solidFill>
                          <a:latin typeface="Arial"/>
                        </a:rPr>
                        <a:t>0.0012</a:t>
                      </a:r>
                      <a:endParaRPr sz="800"/>
                    </a:p>
                  </a:txBody>
                  <a:tcPr marL="36576" marR="36576" marT="0" marB="0" anchor="ctr">
                    <a:noFill/>
                  </a:tcPr>
                </a:tc>
                <a:tc>
                  <a:txBody>
                    <a:bodyPr wrap="none"/>
                    <a:lstStyle/>
                    <a:p>
                      <a:pPr algn="r"/>
                      <a:r>
                        <a:rPr sz="800" b="0" i="0">
                          <a:solidFill>
                            <a:srgbClr val="1F2937"/>
                          </a:solidFill>
                          <a:latin typeface="Arial"/>
                        </a:rPr>
                        <a:t>0.0007</a:t>
                      </a:r>
                      <a:endParaRPr sz="800"/>
                    </a:p>
                  </a:txBody>
                  <a:tcPr marL="36576" marR="36576" marT="0" marB="0" anchor="ctr">
                    <a:noFill/>
                  </a:tcPr>
                </a:tc>
                <a:tc>
                  <a:txBody>
                    <a:bodyPr wrap="none"/>
                    <a:lstStyle/>
                    <a:p>
                      <a:pPr algn="r"/>
                      <a:r>
                        <a:rPr sz="800" b="0" i="0">
                          <a:solidFill>
                            <a:srgbClr val="1F2937"/>
                          </a:solidFill>
                          <a:latin typeface="Arial"/>
                        </a:rPr>
                        <a:t>0.0212</a:t>
                      </a:r>
                      <a:endParaRPr sz="800"/>
                    </a:p>
                  </a:txBody>
                  <a:tcPr marL="36576" marR="36576" marT="0" marB="0" anchor="ctr">
                    <a:noFill/>
                  </a:tcPr>
                </a:tc>
                <a:tc>
                  <a:txBody>
                    <a:bodyPr wrap="none"/>
                    <a:lstStyle/>
                    <a:p>
                      <a:pPr algn="r"/>
                      <a:r>
                        <a:rPr sz="800" b="1" i="0">
                          <a:solidFill>
                            <a:srgbClr val="1F2937"/>
                          </a:solidFill>
                          <a:latin typeface="Arial"/>
                        </a:rPr>
                        <a:t>0.0079</a:t>
                      </a:r>
                      <a:endParaRPr sz="800"/>
                    </a:p>
                  </a:txBody>
                  <a:tcPr marL="36576" marR="36576" marT="0" marB="0" anchor="ctr">
                    <a:noFill/>
                  </a:tcPr>
                </a:tc>
              </a:tr>
              <a:tr h="214884">
                <a:tc>
                  <a:txBody>
                    <a:bodyPr wrap="none"/>
                    <a:lstStyle/>
                    <a:p>
                      <a:pPr algn="l"/>
                      <a:r>
                        <a:rPr sz="800" b="0" i="0">
                          <a:solidFill>
                            <a:srgbClr val="1F2937"/>
                          </a:solidFill>
                          <a:latin typeface="Arial"/>
                        </a:rPr>
                        <a:t>BRITS</a:t>
                      </a:r>
                      <a:endParaRPr sz="800"/>
                    </a:p>
                  </a:txBody>
                  <a:tcPr marL="36576" marR="36576" marT="0" marB="0" anchor="ctr">
                    <a:noFill/>
                  </a:tcPr>
                </a:tc>
                <a:tc>
                  <a:txBody>
                    <a:bodyPr wrap="none"/>
                    <a:lstStyle/>
                    <a:p>
                      <a:pPr algn="r"/>
                      <a:r>
                        <a:rPr sz="800" b="0" i="0">
                          <a:solidFill>
                            <a:srgbClr val="1F2937"/>
                          </a:solidFill>
                          <a:latin typeface="Arial"/>
                        </a:rPr>
                        <a:t>0.0074</a:t>
                      </a:r>
                      <a:endParaRPr sz="800"/>
                    </a:p>
                  </a:txBody>
                  <a:tcPr marL="36576" marR="36576" marT="0" marB="0" anchor="ctr">
                    <a:noFill/>
                  </a:tcPr>
                </a:tc>
                <a:tc>
                  <a:txBody>
                    <a:bodyPr wrap="none"/>
                    <a:lstStyle/>
                    <a:p>
                      <a:pPr algn="r"/>
                      <a:r>
                        <a:rPr sz="800" b="0" i="0">
                          <a:solidFill>
                            <a:srgbClr val="1F2937"/>
                          </a:solidFill>
                          <a:latin typeface="Arial"/>
                        </a:rPr>
                        <a:t>0.0114</a:t>
                      </a:r>
                      <a:endParaRPr sz="800"/>
                    </a:p>
                  </a:txBody>
                  <a:tcPr marL="36576" marR="36576" marT="0" marB="0" anchor="ctr">
                    <a:noFill/>
                  </a:tcPr>
                </a:tc>
                <a:tc>
                  <a:txBody>
                    <a:bodyPr wrap="none"/>
                    <a:lstStyle/>
                    <a:p>
                      <a:pPr algn="r"/>
                      <a:r>
                        <a:rPr sz="800" b="1" i="0">
                          <a:solidFill>
                            <a:srgbClr val="1F2937"/>
                          </a:solidFill>
                          <a:latin typeface="Arial"/>
                        </a:rPr>
                        <a:t>0.0555</a:t>
                      </a:r>
                      <a:endParaRPr sz="800"/>
                    </a:p>
                  </a:txBody>
                  <a:tcPr marL="36576" marR="36576" marT="0" marB="0" anchor="ctr">
                    <a:noFill/>
                  </a:tcPr>
                </a:tc>
                <a:tc>
                  <a:txBody>
                    <a:bodyPr wrap="none"/>
                    <a:lstStyle/>
                    <a:p>
                      <a:pPr algn="r"/>
                      <a:r>
                        <a:rPr sz="800" b="0" i="0">
                          <a:solidFill>
                            <a:srgbClr val="1F2937"/>
                          </a:solidFill>
                          <a:latin typeface="Arial"/>
                        </a:rPr>
                        <a:t>0.0011</a:t>
                      </a:r>
                      <a:endParaRPr sz="800"/>
                    </a:p>
                  </a:txBody>
                  <a:tcPr marL="36576" marR="36576" marT="0" marB="0" anchor="ctr">
                    <a:noFill/>
                  </a:tcPr>
                </a:tc>
                <a:tc>
                  <a:txBody>
                    <a:bodyPr wrap="none"/>
                    <a:lstStyle/>
                    <a:p>
                      <a:pPr algn="r"/>
                      <a:r>
                        <a:rPr sz="800" b="1" i="0">
                          <a:solidFill>
                            <a:srgbClr val="1F2937"/>
                          </a:solidFill>
                          <a:latin typeface="Arial"/>
                        </a:rPr>
                        <a:t>0.0006</a:t>
                      </a:r>
                      <a:endParaRPr sz="800"/>
                    </a:p>
                  </a:txBody>
                  <a:tcPr marL="36576" marR="36576" marT="0" marB="0" anchor="ctr">
                    <a:noFill/>
                  </a:tcPr>
                </a:tc>
                <a:tc>
                  <a:txBody>
                    <a:bodyPr wrap="none"/>
                    <a:lstStyle/>
                    <a:p>
                      <a:pPr algn="r"/>
                      <a:r>
                        <a:rPr sz="800" b="1" i="0">
                          <a:solidFill>
                            <a:srgbClr val="1F2937"/>
                          </a:solidFill>
                          <a:latin typeface="Arial"/>
                        </a:rPr>
                        <a:t>0.0187</a:t>
                      </a:r>
                      <a:endParaRPr sz="800"/>
                    </a:p>
                  </a:txBody>
                  <a:tcPr marL="36576" marR="36576" marT="0" marB="0" anchor="ctr">
                    <a:noFill/>
                  </a:tcPr>
                </a:tc>
                <a:tc>
                  <a:txBody>
                    <a:bodyPr wrap="none"/>
                    <a:lstStyle/>
                    <a:p>
                      <a:pPr algn="r"/>
                      <a:r>
                        <a:rPr sz="800" b="0" i="0">
                          <a:solidFill>
                            <a:srgbClr val="1F2937"/>
                          </a:solidFill>
                          <a:latin typeface="Arial"/>
                        </a:rPr>
                        <a:t>0.0082</a:t>
                      </a:r>
                      <a:endParaRPr sz="800"/>
                    </a:p>
                  </a:txBody>
                  <a:tcPr marL="36576" marR="36576" marT="0" marB="0" anchor="ctr">
                    <a:noFill/>
                  </a:tcPr>
                </a:tc>
              </a:tr>
              <a:tr h="214884">
                <a:tc>
                  <a:txBody>
                    <a:bodyPr wrap="none"/>
                    <a:lstStyle/>
                    <a:p>
                      <a:pPr algn="l"/>
                      <a:r>
                        <a:rPr sz="800" b="0" i="0">
                          <a:solidFill>
                            <a:srgbClr val="1F2937"/>
                          </a:solidFill>
                          <a:latin typeface="Arial"/>
                        </a:rPr>
                        <a:t>CSDI</a:t>
                      </a:r>
                      <a:endParaRPr sz="800"/>
                    </a:p>
                  </a:txBody>
                  <a:tcPr marL="36576" marR="36576" marT="0" marB="0" anchor="ctr">
                    <a:lnB w="15875">
                      <a:solidFill>
                        <a:srgbClr val="14213D"/>
                      </a:solidFill>
                    </a:lnB>
                    <a:noFill/>
                  </a:tcPr>
                </a:tc>
                <a:tc>
                  <a:txBody>
                    <a:bodyPr wrap="none"/>
                    <a:lstStyle/>
                    <a:p>
                      <a:pPr algn="r"/>
                      <a:r>
                        <a:rPr sz="800" b="0" i="0">
                          <a:solidFill>
                            <a:srgbClr val="1F2937"/>
                          </a:solidFill>
                          <a:latin typeface="Arial"/>
                        </a:rPr>
                        <a:t>0.0074</a:t>
                      </a:r>
                      <a:endParaRPr sz="800"/>
                    </a:p>
                  </a:txBody>
                  <a:tcPr marL="36576" marR="36576" marT="0" marB="0" anchor="ctr">
                    <a:lnB w="15875">
                      <a:solidFill>
                        <a:srgbClr val="14213D"/>
                      </a:solidFill>
                    </a:lnB>
                    <a:noFill/>
                  </a:tcPr>
                </a:tc>
                <a:tc>
                  <a:txBody>
                    <a:bodyPr wrap="none"/>
                    <a:lstStyle/>
                    <a:p>
                      <a:pPr algn="r"/>
                      <a:r>
                        <a:rPr sz="800" b="0" i="0">
                          <a:solidFill>
                            <a:srgbClr val="1F2937"/>
                          </a:solidFill>
                          <a:latin typeface="Arial"/>
                        </a:rPr>
                        <a:t>0.0115</a:t>
                      </a:r>
                      <a:endParaRPr sz="800"/>
                    </a:p>
                  </a:txBody>
                  <a:tcPr marL="36576" marR="36576" marT="0" marB="0" anchor="ctr">
                    <a:lnB w="15875">
                      <a:solidFill>
                        <a:srgbClr val="14213D"/>
                      </a:solidFill>
                    </a:lnB>
                    <a:noFill/>
                  </a:tcPr>
                </a:tc>
                <a:tc>
                  <a:txBody>
                    <a:bodyPr wrap="none"/>
                    <a:lstStyle/>
                    <a:p>
                      <a:pPr algn="r"/>
                      <a:r>
                        <a:rPr sz="800" b="0" i="0">
                          <a:solidFill>
                            <a:srgbClr val="1F2937"/>
                          </a:solidFill>
                          <a:latin typeface="Arial"/>
                        </a:rPr>
                        <a:t>0.0896</a:t>
                      </a:r>
                      <a:endParaRPr sz="800"/>
                    </a:p>
                  </a:txBody>
                  <a:tcPr marL="36576" marR="36576" marT="0" marB="0" anchor="ctr">
                    <a:lnB w="15875">
                      <a:solidFill>
                        <a:srgbClr val="14213D"/>
                      </a:solidFill>
                    </a:lnB>
                    <a:noFill/>
                  </a:tcPr>
                </a:tc>
                <a:tc>
                  <a:txBody>
                    <a:bodyPr wrap="none"/>
                    <a:lstStyle/>
                    <a:p>
                      <a:pPr algn="r"/>
                      <a:r>
                        <a:rPr sz="800" b="1" i="0">
                          <a:solidFill>
                            <a:srgbClr val="1F2937"/>
                          </a:solidFill>
                          <a:latin typeface="Arial"/>
                        </a:rPr>
                        <a:t>0.0010</a:t>
                      </a:r>
                      <a:endParaRPr sz="800"/>
                    </a:p>
                  </a:txBody>
                  <a:tcPr marL="36576" marR="36576" marT="0" marB="0" anchor="ctr">
                    <a:lnB w="15875">
                      <a:solidFill>
                        <a:srgbClr val="14213D"/>
                      </a:solidFill>
                    </a:lnB>
                    <a:noFill/>
                  </a:tcPr>
                </a:tc>
                <a:tc>
                  <a:txBody>
                    <a:bodyPr wrap="none"/>
                    <a:lstStyle/>
                    <a:p>
                      <a:pPr algn="r"/>
                      <a:r>
                        <a:rPr sz="800" b="0" i="0">
                          <a:solidFill>
                            <a:srgbClr val="1F2937"/>
                          </a:solidFill>
                          <a:latin typeface="Arial"/>
                        </a:rPr>
                        <a:t>0.0007</a:t>
                      </a:r>
                      <a:endParaRPr sz="800"/>
                    </a:p>
                  </a:txBody>
                  <a:tcPr marL="36576" marR="36576" marT="0" marB="0" anchor="ctr">
                    <a:lnB w="15875">
                      <a:solidFill>
                        <a:srgbClr val="14213D"/>
                      </a:solidFill>
                    </a:lnB>
                    <a:noFill/>
                  </a:tcPr>
                </a:tc>
                <a:tc>
                  <a:txBody>
                    <a:bodyPr wrap="none"/>
                    <a:lstStyle/>
                    <a:p>
                      <a:pPr algn="r"/>
                      <a:r>
                        <a:rPr sz="800" b="0" i="0">
                          <a:solidFill>
                            <a:srgbClr val="1F2937"/>
                          </a:solidFill>
                          <a:latin typeface="Arial"/>
                        </a:rPr>
                        <a:t>0.0265</a:t>
                      </a:r>
                      <a:endParaRPr sz="800"/>
                    </a:p>
                  </a:txBody>
                  <a:tcPr marL="36576" marR="36576" marT="0" marB="0" anchor="ctr">
                    <a:lnB w="15875">
                      <a:solidFill>
                        <a:srgbClr val="14213D"/>
                      </a:solidFill>
                    </a:lnB>
                    <a:noFill/>
                  </a:tcPr>
                </a:tc>
                <a:tc>
                  <a:txBody>
                    <a:bodyPr wrap="none"/>
                    <a:lstStyle/>
                    <a:p>
                      <a:pPr algn="r"/>
                      <a:r>
                        <a:rPr sz="800" b="0" i="0">
                          <a:solidFill>
                            <a:srgbClr val="1F2937"/>
                          </a:solidFill>
                          <a:latin typeface="Arial"/>
                        </a:rPr>
                        <a:t>0.0091</a:t>
                      </a:r>
                      <a:endParaRPr sz="800"/>
                    </a:p>
                  </a:txBody>
                  <a:tcPr marL="36576" marR="36576" marT="0" marB="0" anchor="ctr">
                    <a:lnB w="15875">
                      <a:solidFill>
                        <a:srgbClr val="14213D"/>
                      </a:solidFill>
                    </a:lnB>
                    <a:no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548640" y="393192"/>
            <a:ext cx="77724" cy="77724"/>
          </a:xfrm>
          <a:prstGeom prst="rect">
            <a:avLst/>
          </a:prstGeom>
          <a:solidFill>
            <a:srgbClr val="C4C9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62940" y="393192"/>
            <a:ext cx="77724" cy="77724"/>
          </a:xfrm>
          <a:prstGeom prst="rect">
            <a:avLst/>
          </a:prstGeom>
          <a:solidFill>
            <a:srgbClr val="C4C9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393192"/>
            <a:ext cx="77724" cy="77724"/>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329184"/>
            <a:ext cx="8229600" cy="274320"/>
          </a:xfrm>
          <a:prstGeom prst="rect">
            <a:avLst/>
          </a:prstGeom>
          <a:noFill/>
        </p:spPr>
        <p:txBody>
          <a:bodyPr wrap="square" lIns="0" rIns="0" tIns="0" bIns="0" anchor="t">
            <a:noAutofit/>
          </a:bodyPr>
          <a:lstStyle/>
          <a:p>
            <a:pPr algn="l">
              <a:spcAft>
                <a:spcPts val="600"/>
              </a:spcAft>
            </a:pPr>
            <a:r>
              <a:rPr sz="1100" b="1" i="0" spc="150">
                <a:solidFill>
                  <a:srgbClr val="E4572E"/>
                </a:solidFill>
                <a:latin typeface="Arial"/>
              </a:rPr>
              <a:t>BACKUP</a:t>
            </a:r>
            <a:endParaRPr sz="1100"/>
          </a:p>
        </p:txBody>
      </p:sp>
      <p:sp>
        <p:nvSpPr>
          <p:cNvPr id="6" name="TextBox 5"/>
          <p:cNvSpPr txBox="1"/>
          <p:nvPr/>
        </p:nvSpPr>
        <p:spPr>
          <a:xfrm>
            <a:off x="548640" y="585216"/>
            <a:ext cx="11091672" cy="411480"/>
          </a:xfrm>
          <a:prstGeom prst="rect">
            <a:avLst/>
          </a:prstGeom>
          <a:noFill/>
        </p:spPr>
        <p:txBody>
          <a:bodyPr wrap="square" lIns="0" rIns="0" tIns="0" bIns="0" anchor="t">
            <a:noAutofit/>
          </a:bodyPr>
          <a:lstStyle/>
          <a:p>
            <a:pPr algn="l">
              <a:spcAft>
                <a:spcPts val="600"/>
              </a:spcAft>
            </a:pPr>
            <a:r>
              <a:rPr sz="1750" b="1" i="0">
                <a:solidFill>
                  <a:srgbClr val="14213D"/>
                </a:solidFill>
                <a:latin typeface="Georgia"/>
              </a:rPr>
              <a:t>Evaluation scores under stressed missingness (Table 3.3; best per level in bold)</a:t>
            </a:r>
            <a:endParaRPr sz="1750"/>
          </a:p>
        </p:txBody>
      </p:sp>
      <p:graphicFrame>
        <p:nvGraphicFramePr>
          <p:cNvPr id="7" name="Table 6"/>
          <p:cNvGraphicFramePr>
            <a:graphicFrameLocks noGrp="1"/>
          </p:cNvGraphicFramePr>
          <p:nvPr/>
        </p:nvGraphicFramePr>
        <p:xfrm>
          <a:off x="548640" y="1051560"/>
          <a:ext cx="5440680" cy="5372100"/>
        </p:xfrm>
        <a:graphic>
          <a:graphicData uri="http://schemas.openxmlformats.org/drawingml/2006/table">
            <a:tbl>
              <a:tblPr firstRow="0" bandRow="0">
                <a:tableStyleId>{2D5ABB26-0587-4C30-8999-92F81FD0307C}</a:tableStyleId>
              </a:tblPr>
              <a:tblGrid>
                <a:gridCol w="713232"/>
                <a:gridCol w="658368"/>
                <a:gridCol w="658368"/>
                <a:gridCol w="658368"/>
                <a:gridCol w="658368"/>
                <a:gridCol w="658368"/>
                <a:gridCol w="777240"/>
                <a:gridCol w="658368"/>
              </a:tblGrid>
              <a:tr h="214884">
                <a:tc>
                  <a:txBody>
                    <a:bodyPr wrap="none"/>
                    <a:lstStyle/>
                    <a:p>
                      <a:pPr algn="l"/>
                      <a:r>
                        <a:rPr sz="800" b="1" i="0">
                          <a:solidFill>
                            <a:srgbClr val="1F2937"/>
                          </a:solidFill>
                          <a:latin typeface="Arial"/>
                        </a:rPr>
                        <a:t>Model</a:t>
                      </a:r>
                      <a:endParaRPr sz="800"/>
                    </a:p>
                  </a:txBody>
                  <a:tcPr marL="36576" marR="36576" marT="0" marB="0" anchor="ctr">
                    <a:lnT w="15875">
                      <a:solidFill>
                        <a:srgbClr val="14213D"/>
                      </a:solidFill>
                    </a:lnT>
                    <a:lnB w="9525">
                      <a:solidFill>
                        <a:srgbClr val="14213D"/>
                      </a:solidFill>
                    </a:lnB>
                    <a:noFill/>
                  </a:tcPr>
                </a:tc>
                <a:tc>
                  <a:txBody>
                    <a:bodyPr wrap="none"/>
                    <a:lstStyle/>
                    <a:p>
                      <a:pPr algn="r"/>
                      <a:r>
                        <a:rPr sz="800" b="1" i="0">
                          <a:solidFill>
                            <a:srgbClr val="1F2937"/>
                          </a:solidFill>
                          <a:latin typeface="Arial"/>
                        </a:rPr>
                        <a:t>MAE</a:t>
                      </a:r>
                      <a:endParaRPr sz="800"/>
                    </a:p>
                  </a:txBody>
                  <a:tcPr marL="36576" marR="36576" marT="0" marB="0" anchor="ctr">
                    <a:lnT w="15875">
                      <a:solidFill>
                        <a:srgbClr val="14213D"/>
                      </a:solidFill>
                    </a:lnT>
                    <a:lnB w="9525">
                      <a:solidFill>
                        <a:srgbClr val="14213D"/>
                      </a:solidFill>
                    </a:lnB>
                    <a:noFill/>
                  </a:tcPr>
                </a:tc>
                <a:tc>
                  <a:txBody>
                    <a:bodyPr wrap="none"/>
                    <a:lstStyle/>
                    <a:p>
                      <a:pPr algn="r"/>
                      <a:r>
                        <a:rPr sz="800" b="1" i="0">
                          <a:solidFill>
                            <a:srgbClr val="1F2937"/>
                          </a:solidFill>
                          <a:latin typeface="Arial"/>
                        </a:rPr>
                        <a:t>RMSE</a:t>
                      </a:r>
                      <a:endParaRPr sz="800"/>
                    </a:p>
                  </a:txBody>
                  <a:tcPr marL="36576" marR="36576" marT="0" marB="0" anchor="ctr">
                    <a:lnT w="15875">
                      <a:solidFill>
                        <a:srgbClr val="14213D"/>
                      </a:solidFill>
                    </a:lnT>
                    <a:lnB w="9525">
                      <a:solidFill>
                        <a:srgbClr val="14213D"/>
                      </a:solidFill>
                    </a:lnB>
                    <a:noFill/>
                  </a:tcPr>
                </a:tc>
                <a:tc>
                  <a:txBody>
                    <a:bodyPr wrap="none"/>
                    <a:lstStyle/>
                    <a:p>
                      <a:pPr algn="r"/>
                      <a:r>
                        <a:rPr sz="800" b="1" i="0">
                          <a:solidFill>
                            <a:srgbClr val="1F2937"/>
                          </a:solidFill>
                          <a:latin typeface="Arial"/>
                        </a:rPr>
                        <a:t>CovErr</a:t>
                      </a:r>
                      <a:endParaRPr sz="800"/>
                    </a:p>
                  </a:txBody>
                  <a:tcPr marL="36576" marR="36576" marT="0" marB="0" anchor="ctr">
                    <a:lnT w="15875">
                      <a:solidFill>
                        <a:srgbClr val="14213D"/>
                      </a:solidFill>
                    </a:lnT>
                    <a:lnB w="9525">
                      <a:solidFill>
                        <a:srgbClr val="14213D"/>
                      </a:solidFill>
                    </a:lnB>
                    <a:noFill/>
                  </a:tcPr>
                </a:tc>
                <a:tc>
                  <a:txBody>
                    <a:bodyPr wrap="none"/>
                    <a:lstStyle/>
                    <a:p>
                      <a:pPr algn="r"/>
                      <a:r>
                        <a:rPr sz="800" b="1" i="0">
                          <a:solidFill>
                            <a:srgbClr val="1F2937"/>
                          </a:solidFill>
                          <a:latin typeface="Arial"/>
                        </a:rPr>
                        <a:t>VaRErr</a:t>
                      </a:r>
                      <a:endParaRPr sz="800"/>
                    </a:p>
                  </a:txBody>
                  <a:tcPr marL="36576" marR="36576" marT="0" marB="0" anchor="ctr">
                    <a:lnT w="15875">
                      <a:solidFill>
                        <a:srgbClr val="14213D"/>
                      </a:solidFill>
                    </a:lnT>
                    <a:lnB w="9525">
                      <a:solidFill>
                        <a:srgbClr val="14213D"/>
                      </a:solidFill>
                    </a:lnB>
                    <a:noFill/>
                  </a:tcPr>
                </a:tc>
                <a:tc>
                  <a:txBody>
                    <a:bodyPr wrap="none"/>
                    <a:lstStyle/>
                    <a:p>
                      <a:pPr algn="r"/>
                      <a:r>
                        <a:rPr sz="800" b="1" i="0">
                          <a:solidFill>
                            <a:srgbClr val="1F2937"/>
                          </a:solidFill>
                          <a:latin typeface="Arial"/>
                        </a:rPr>
                        <a:t>WassErr</a:t>
                      </a:r>
                      <a:endParaRPr sz="800"/>
                    </a:p>
                  </a:txBody>
                  <a:tcPr marL="36576" marR="36576" marT="0" marB="0" anchor="ctr">
                    <a:lnT w="15875">
                      <a:solidFill>
                        <a:srgbClr val="14213D"/>
                      </a:solidFill>
                    </a:lnT>
                    <a:lnB w="9525">
                      <a:solidFill>
                        <a:srgbClr val="14213D"/>
                      </a:solidFill>
                    </a:lnB>
                    <a:noFill/>
                  </a:tcPr>
                </a:tc>
                <a:tc>
                  <a:txBody>
                    <a:bodyPr wrap="none"/>
                    <a:lstStyle/>
                    <a:p>
                      <a:pPr algn="r"/>
                      <a:r>
                        <a:rPr sz="800" b="1" i="0">
                          <a:solidFill>
                            <a:srgbClr val="1F2937"/>
                          </a:solidFill>
                          <a:latin typeface="Arial"/>
                        </a:rPr>
                        <a:t>AbsACFErr</a:t>
                      </a:r>
                      <a:endParaRPr sz="800"/>
                    </a:p>
                  </a:txBody>
                  <a:tcPr marL="36576" marR="36576" marT="0" marB="0" anchor="ctr">
                    <a:lnT w="15875">
                      <a:solidFill>
                        <a:srgbClr val="14213D"/>
                      </a:solidFill>
                    </a:lnT>
                    <a:lnB w="9525">
                      <a:solidFill>
                        <a:srgbClr val="14213D"/>
                      </a:solidFill>
                    </a:lnB>
                    <a:noFill/>
                  </a:tcPr>
                </a:tc>
                <a:tc>
                  <a:txBody>
                    <a:bodyPr wrap="none"/>
                    <a:lstStyle/>
                    <a:p>
                      <a:pPr algn="r"/>
                      <a:r>
                        <a:rPr sz="800" b="1" i="0">
                          <a:solidFill>
                            <a:srgbClr val="1F2937"/>
                          </a:solidFill>
                          <a:latin typeface="Arial"/>
                        </a:rPr>
                        <a:t>LevErr</a:t>
                      </a:r>
                      <a:endParaRPr sz="800"/>
                    </a:p>
                  </a:txBody>
                  <a:tcPr marL="36576" marR="36576" marT="0" marB="0" anchor="ctr">
                    <a:lnT w="15875">
                      <a:solidFill>
                        <a:srgbClr val="14213D"/>
                      </a:solidFill>
                    </a:lnT>
                    <a:lnB w="9525">
                      <a:solidFill>
                        <a:srgbClr val="14213D"/>
                      </a:solidFill>
                    </a:lnB>
                    <a:noFill/>
                  </a:tcPr>
                </a:tc>
              </a:tr>
              <a:tr h="214884">
                <a:tc gridSpan="8">
                  <a:txBody>
                    <a:bodyPr wrap="none"/>
                    <a:lstStyle/>
                    <a:p>
                      <a:pPr algn="l"/>
                      <a:r>
                        <a:rPr sz="800" b="1" i="0">
                          <a:solidFill>
                            <a:srgbClr val="E4572E"/>
                          </a:solidFill>
                          <a:latin typeface="Arial"/>
                        </a:rPr>
                        <a:t>Level (0, 0.1, 0.99)</a:t>
                      </a: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r>
              <a:tr h="214884">
                <a:tc>
                  <a:txBody>
                    <a:bodyPr wrap="none"/>
                    <a:lstStyle/>
                    <a:p>
                      <a:pPr algn="l"/>
                      <a:r>
                        <a:rPr sz="800" b="0" i="0">
                          <a:solidFill>
                            <a:srgbClr val="1F2937"/>
                          </a:solidFill>
                          <a:latin typeface="Arial"/>
                        </a:rPr>
                        <a:t>Deletion</a:t>
                      </a:r>
                      <a:endParaRPr sz="800"/>
                    </a:p>
                  </a:txBody>
                  <a:tcPr marL="36576" marR="36576" marT="0" marB="0" anchor="ctr">
                    <a:noFill/>
                  </a:tcPr>
                </a:tc>
                <a:tc>
                  <a:txBody>
                    <a:bodyPr wrap="none"/>
                    <a:lstStyle/>
                    <a:p>
                      <a:pPr algn="r"/>
                      <a:r>
                        <a:rPr sz="800" b="0" i="0">
                          <a:solidFill>
                            <a:srgbClr val="1F2937"/>
                          </a:solidFill>
                          <a:latin typeface="Arial"/>
                        </a:rPr>
                        <a:t>--</a:t>
                      </a:r>
                      <a:endParaRPr sz="800"/>
                    </a:p>
                  </a:txBody>
                  <a:tcPr marL="36576" marR="36576" marT="0" marB="0" anchor="ctr">
                    <a:noFill/>
                  </a:tcPr>
                </a:tc>
                <a:tc>
                  <a:txBody>
                    <a:bodyPr wrap="none"/>
                    <a:lstStyle/>
                    <a:p>
                      <a:pPr algn="r"/>
                      <a:r>
                        <a:rPr sz="800" b="0" i="0">
                          <a:solidFill>
                            <a:srgbClr val="1F2937"/>
                          </a:solidFill>
                          <a:latin typeface="Arial"/>
                        </a:rPr>
                        <a:t>--</a:t>
                      </a:r>
                      <a:endParaRPr sz="800"/>
                    </a:p>
                  </a:txBody>
                  <a:tcPr marL="36576" marR="36576" marT="0" marB="0" anchor="ctr">
                    <a:noFill/>
                  </a:tcPr>
                </a:tc>
                <a:tc>
                  <a:txBody>
                    <a:bodyPr wrap="none"/>
                    <a:lstStyle/>
                    <a:p>
                      <a:pPr algn="r"/>
                      <a:r>
                        <a:rPr sz="800" b="0" i="0">
                          <a:solidFill>
                            <a:srgbClr val="1F2937"/>
                          </a:solidFill>
                          <a:latin typeface="Arial"/>
                        </a:rPr>
                        <a:t>0.2813</a:t>
                      </a:r>
                      <a:endParaRPr sz="800"/>
                    </a:p>
                  </a:txBody>
                  <a:tcPr marL="36576" marR="36576" marT="0" marB="0" anchor="ctr">
                    <a:noFill/>
                  </a:tcPr>
                </a:tc>
                <a:tc>
                  <a:txBody>
                    <a:bodyPr wrap="none"/>
                    <a:lstStyle/>
                    <a:p>
                      <a:pPr algn="r"/>
                      <a:r>
                        <a:rPr sz="800" b="0" i="0">
                          <a:solidFill>
                            <a:srgbClr val="1F2937"/>
                          </a:solidFill>
                          <a:latin typeface="Arial"/>
                        </a:rPr>
                        <a:t>0.0009</a:t>
                      </a:r>
                      <a:endParaRPr sz="800"/>
                    </a:p>
                  </a:txBody>
                  <a:tcPr marL="36576" marR="36576" marT="0" marB="0" anchor="ctr">
                    <a:noFill/>
                  </a:tcPr>
                </a:tc>
                <a:tc>
                  <a:txBody>
                    <a:bodyPr wrap="none"/>
                    <a:lstStyle/>
                    <a:p>
                      <a:pPr algn="r"/>
                      <a:r>
                        <a:rPr sz="800" b="0" i="0">
                          <a:solidFill>
                            <a:srgbClr val="1F2937"/>
                          </a:solidFill>
                          <a:latin typeface="Arial"/>
                        </a:rPr>
                        <a:t>0.0004</a:t>
                      </a:r>
                      <a:endParaRPr sz="800"/>
                    </a:p>
                  </a:txBody>
                  <a:tcPr marL="36576" marR="36576" marT="0" marB="0" anchor="ctr">
                    <a:noFill/>
                  </a:tcPr>
                </a:tc>
                <a:tc>
                  <a:txBody>
                    <a:bodyPr wrap="none"/>
                    <a:lstStyle/>
                    <a:p>
                      <a:pPr algn="r"/>
                      <a:r>
                        <a:rPr sz="800" b="0" i="0">
                          <a:solidFill>
                            <a:srgbClr val="1F2937"/>
                          </a:solidFill>
                          <a:latin typeface="Arial"/>
                        </a:rPr>
                        <a:t>0.0582</a:t>
                      </a:r>
                      <a:endParaRPr sz="800"/>
                    </a:p>
                  </a:txBody>
                  <a:tcPr marL="36576" marR="36576" marT="0" marB="0" anchor="ctr">
                    <a:noFill/>
                  </a:tcPr>
                </a:tc>
                <a:tc>
                  <a:txBody>
                    <a:bodyPr wrap="none"/>
                    <a:lstStyle/>
                    <a:p>
                      <a:pPr algn="r"/>
                      <a:r>
                        <a:rPr sz="800" b="0" i="0">
                          <a:solidFill>
                            <a:srgbClr val="1F2937"/>
                          </a:solidFill>
                          <a:latin typeface="Arial"/>
                        </a:rPr>
                        <a:t>0.0200</a:t>
                      </a:r>
                      <a:endParaRPr sz="800"/>
                    </a:p>
                  </a:txBody>
                  <a:tcPr marL="36576" marR="36576" marT="0" marB="0" anchor="ctr">
                    <a:noFill/>
                  </a:tcPr>
                </a:tc>
              </a:tr>
              <a:tr h="214884">
                <a:tc>
                  <a:txBody>
                    <a:bodyPr wrap="none"/>
                    <a:lstStyle/>
                    <a:p>
                      <a:pPr algn="l"/>
                      <a:r>
                        <a:rPr sz="800" b="0" i="0">
                          <a:solidFill>
                            <a:srgbClr val="1F2937"/>
                          </a:solidFill>
                          <a:latin typeface="Arial"/>
                        </a:rPr>
                        <a:t>Zero</a:t>
                      </a:r>
                      <a:endParaRPr sz="800"/>
                    </a:p>
                  </a:txBody>
                  <a:tcPr marL="36576" marR="36576" marT="0" marB="0" anchor="ctr">
                    <a:noFill/>
                  </a:tcPr>
                </a:tc>
                <a:tc>
                  <a:txBody>
                    <a:bodyPr wrap="none"/>
                    <a:lstStyle/>
                    <a:p>
                      <a:pPr algn="r"/>
                      <a:r>
                        <a:rPr sz="800" b="0" i="0">
                          <a:solidFill>
                            <a:srgbClr val="1F2937"/>
                          </a:solidFill>
                          <a:latin typeface="Arial"/>
                        </a:rPr>
                        <a:t>0.0552</a:t>
                      </a:r>
                      <a:endParaRPr sz="800"/>
                    </a:p>
                  </a:txBody>
                  <a:tcPr marL="36576" marR="36576" marT="0" marB="0" anchor="ctr">
                    <a:noFill/>
                  </a:tcPr>
                </a:tc>
                <a:tc>
                  <a:txBody>
                    <a:bodyPr wrap="none"/>
                    <a:lstStyle/>
                    <a:p>
                      <a:pPr algn="r"/>
                      <a:r>
                        <a:rPr sz="800" b="0" i="0">
                          <a:solidFill>
                            <a:srgbClr val="1F2937"/>
                          </a:solidFill>
                          <a:latin typeface="Arial"/>
                        </a:rPr>
                        <a:t>0.0640</a:t>
                      </a:r>
                      <a:endParaRPr sz="800"/>
                    </a:p>
                  </a:txBody>
                  <a:tcPr marL="36576" marR="36576" marT="0" marB="0" anchor="ctr">
                    <a:noFill/>
                  </a:tcPr>
                </a:tc>
                <a:tc>
                  <a:txBody>
                    <a:bodyPr wrap="none"/>
                    <a:lstStyle/>
                    <a:p>
                      <a:pPr algn="r"/>
                      <a:r>
                        <a:rPr sz="800" b="0" i="0">
                          <a:solidFill>
                            <a:srgbClr val="1F2937"/>
                          </a:solidFill>
                          <a:latin typeface="Arial"/>
                        </a:rPr>
                        <a:t>0.0676</a:t>
                      </a:r>
                      <a:endParaRPr sz="800"/>
                    </a:p>
                  </a:txBody>
                  <a:tcPr marL="36576" marR="36576" marT="0" marB="0" anchor="ctr">
                    <a:noFill/>
                  </a:tcPr>
                </a:tc>
                <a:tc>
                  <a:txBody>
                    <a:bodyPr wrap="none"/>
                    <a:lstStyle/>
                    <a:p>
                      <a:pPr algn="r"/>
                      <a:r>
                        <a:rPr sz="800" b="0" i="0">
                          <a:solidFill>
                            <a:srgbClr val="1F2937"/>
                          </a:solidFill>
                          <a:latin typeface="Arial"/>
                        </a:rPr>
                        <a:t>0.0001</a:t>
                      </a:r>
                      <a:endParaRPr sz="800"/>
                    </a:p>
                  </a:txBody>
                  <a:tcPr marL="36576" marR="36576" marT="0" marB="0" anchor="ctr">
                    <a:noFill/>
                  </a:tcPr>
                </a:tc>
                <a:tc>
                  <a:txBody>
                    <a:bodyPr wrap="none"/>
                    <a:lstStyle/>
                    <a:p>
                      <a:pPr algn="r"/>
                      <a:r>
                        <a:rPr sz="800" b="0" i="0">
                          <a:solidFill>
                            <a:srgbClr val="1F2937"/>
                          </a:solidFill>
                          <a:latin typeface="Arial"/>
                        </a:rPr>
                        <a:t>0.0001</a:t>
                      </a:r>
                      <a:endParaRPr sz="800"/>
                    </a:p>
                  </a:txBody>
                  <a:tcPr marL="36576" marR="36576" marT="0" marB="0" anchor="ctr">
                    <a:noFill/>
                  </a:tcPr>
                </a:tc>
                <a:tc>
                  <a:txBody>
                    <a:bodyPr wrap="none"/>
                    <a:lstStyle/>
                    <a:p>
                      <a:pPr algn="r"/>
                      <a:r>
                        <a:rPr sz="800" b="0" i="0">
                          <a:solidFill>
                            <a:srgbClr val="1F2937"/>
                          </a:solidFill>
                          <a:latin typeface="Arial"/>
                        </a:rPr>
                        <a:t>0.0115</a:t>
                      </a:r>
                      <a:endParaRPr sz="800"/>
                    </a:p>
                  </a:txBody>
                  <a:tcPr marL="36576" marR="36576" marT="0" marB="0" anchor="ctr">
                    <a:noFill/>
                  </a:tcPr>
                </a:tc>
                <a:tc>
                  <a:txBody>
                    <a:bodyPr wrap="none"/>
                    <a:lstStyle/>
                    <a:p>
                      <a:pPr algn="r"/>
                      <a:r>
                        <a:rPr sz="800" b="0" i="0">
                          <a:solidFill>
                            <a:srgbClr val="1F2937"/>
                          </a:solidFill>
                          <a:latin typeface="Arial"/>
                        </a:rPr>
                        <a:t>0.0070</a:t>
                      </a:r>
                      <a:endParaRPr sz="800"/>
                    </a:p>
                  </a:txBody>
                  <a:tcPr marL="36576" marR="36576" marT="0" marB="0" anchor="ctr">
                    <a:noFill/>
                  </a:tcPr>
                </a:tc>
              </a:tr>
              <a:tr h="214884">
                <a:tc>
                  <a:txBody>
                    <a:bodyPr wrap="none"/>
                    <a:lstStyle/>
                    <a:p>
                      <a:pPr algn="l"/>
                      <a:r>
                        <a:rPr sz="800" b="0" i="0">
                          <a:solidFill>
                            <a:srgbClr val="1F2937"/>
                          </a:solidFill>
                          <a:latin typeface="Arial"/>
                        </a:rPr>
                        <a:t>KNN</a:t>
                      </a:r>
                      <a:endParaRPr sz="800"/>
                    </a:p>
                  </a:txBody>
                  <a:tcPr marL="36576" marR="36576" marT="0" marB="0" anchor="ctr">
                    <a:noFill/>
                  </a:tcPr>
                </a:tc>
                <a:tc>
                  <a:txBody>
                    <a:bodyPr wrap="none"/>
                    <a:lstStyle/>
                    <a:p>
                      <a:pPr algn="r"/>
                      <a:r>
                        <a:rPr sz="800" b="0" i="0">
                          <a:solidFill>
                            <a:srgbClr val="1F2937"/>
                          </a:solidFill>
                          <a:latin typeface="Arial"/>
                        </a:rPr>
                        <a:t>0.0202</a:t>
                      </a:r>
                      <a:endParaRPr sz="800"/>
                    </a:p>
                  </a:txBody>
                  <a:tcPr marL="36576" marR="36576" marT="0" marB="0" anchor="ctr">
                    <a:noFill/>
                  </a:tcPr>
                </a:tc>
                <a:tc>
                  <a:txBody>
                    <a:bodyPr wrap="none"/>
                    <a:lstStyle/>
                    <a:p>
                      <a:pPr algn="r"/>
                      <a:r>
                        <a:rPr sz="800" b="0" i="0">
                          <a:solidFill>
                            <a:srgbClr val="1F2937"/>
                          </a:solidFill>
                          <a:latin typeface="Arial"/>
                        </a:rPr>
                        <a:t>0.0285</a:t>
                      </a:r>
                      <a:endParaRPr sz="800"/>
                    </a:p>
                  </a:txBody>
                  <a:tcPr marL="36576" marR="36576" marT="0" marB="0" anchor="ctr">
                    <a:noFill/>
                  </a:tcPr>
                </a:tc>
                <a:tc>
                  <a:txBody>
                    <a:bodyPr wrap="none"/>
                    <a:lstStyle/>
                    <a:p>
                      <a:pPr algn="r"/>
                      <a:r>
                        <a:rPr sz="800" b="0" i="0">
                          <a:solidFill>
                            <a:srgbClr val="1F2937"/>
                          </a:solidFill>
                          <a:latin typeface="Arial"/>
                        </a:rPr>
                        <a:t>0.0229</a:t>
                      </a:r>
                      <a:endParaRPr sz="800"/>
                    </a:p>
                  </a:txBody>
                  <a:tcPr marL="36576" marR="36576" marT="0" marB="0" anchor="ctr">
                    <a:noFill/>
                  </a:tcPr>
                </a:tc>
                <a:tc>
                  <a:txBody>
                    <a:bodyPr wrap="none"/>
                    <a:lstStyle/>
                    <a:p>
                      <a:pPr algn="r"/>
                      <a:r>
                        <a:rPr sz="800" b="1" i="0">
                          <a:solidFill>
                            <a:srgbClr val="1F2937"/>
                          </a:solidFill>
                          <a:latin typeface="Arial"/>
                        </a:rPr>
                        <a:t>0.0000</a:t>
                      </a:r>
                      <a:endParaRPr sz="800"/>
                    </a:p>
                  </a:txBody>
                  <a:tcPr marL="36576" marR="36576" marT="0" marB="0" anchor="ctr">
                    <a:noFill/>
                  </a:tcPr>
                </a:tc>
                <a:tc>
                  <a:txBody>
                    <a:bodyPr wrap="none"/>
                    <a:lstStyle/>
                    <a:p>
                      <a:pPr algn="r"/>
                      <a:r>
                        <a:rPr sz="800" b="1" i="0">
                          <a:solidFill>
                            <a:srgbClr val="1F2937"/>
                          </a:solidFill>
                          <a:latin typeface="Arial"/>
                        </a:rPr>
                        <a:t>0.0000</a:t>
                      </a:r>
                      <a:endParaRPr sz="800"/>
                    </a:p>
                  </a:txBody>
                  <a:tcPr marL="36576" marR="36576" marT="0" marB="0" anchor="ctr">
                    <a:noFill/>
                  </a:tcPr>
                </a:tc>
                <a:tc>
                  <a:txBody>
                    <a:bodyPr wrap="none"/>
                    <a:lstStyle/>
                    <a:p>
                      <a:pPr algn="r"/>
                      <a:r>
                        <a:rPr sz="800" b="0" i="0">
                          <a:solidFill>
                            <a:srgbClr val="1F2937"/>
                          </a:solidFill>
                          <a:latin typeface="Arial"/>
                        </a:rPr>
                        <a:t>0.0034</a:t>
                      </a:r>
                      <a:endParaRPr sz="800"/>
                    </a:p>
                  </a:txBody>
                  <a:tcPr marL="36576" marR="36576" marT="0" marB="0" anchor="ctr">
                    <a:noFill/>
                  </a:tcPr>
                </a:tc>
                <a:tc>
                  <a:txBody>
                    <a:bodyPr wrap="none"/>
                    <a:lstStyle/>
                    <a:p>
                      <a:pPr algn="r"/>
                      <a:r>
                        <a:rPr sz="800" b="0" i="0">
                          <a:solidFill>
                            <a:srgbClr val="1F2937"/>
                          </a:solidFill>
                          <a:latin typeface="Arial"/>
                        </a:rPr>
                        <a:t>0.0029</a:t>
                      </a:r>
                      <a:endParaRPr sz="800"/>
                    </a:p>
                  </a:txBody>
                  <a:tcPr marL="36576" marR="36576" marT="0" marB="0" anchor="ctr">
                    <a:noFill/>
                  </a:tcPr>
                </a:tc>
              </a:tr>
              <a:tr h="214884">
                <a:tc>
                  <a:txBody>
                    <a:bodyPr wrap="none"/>
                    <a:lstStyle/>
                    <a:p>
                      <a:pPr algn="l"/>
                      <a:r>
                        <a:rPr sz="800" b="0" i="0">
                          <a:solidFill>
                            <a:srgbClr val="1F2937"/>
                          </a:solidFill>
                          <a:latin typeface="Arial"/>
                        </a:rPr>
                        <a:t>LowRank</a:t>
                      </a:r>
                      <a:endParaRPr sz="800"/>
                    </a:p>
                  </a:txBody>
                  <a:tcPr marL="36576" marR="36576" marT="0" marB="0" anchor="ctr">
                    <a:noFill/>
                  </a:tcPr>
                </a:tc>
                <a:tc>
                  <a:txBody>
                    <a:bodyPr wrap="none"/>
                    <a:lstStyle/>
                    <a:p>
                      <a:pPr algn="r"/>
                      <a:r>
                        <a:rPr sz="800" b="0" i="0">
                          <a:solidFill>
                            <a:srgbClr val="1F2937"/>
                          </a:solidFill>
                          <a:latin typeface="Arial"/>
                        </a:rPr>
                        <a:t>0.0158</a:t>
                      </a:r>
                      <a:endParaRPr sz="800"/>
                    </a:p>
                  </a:txBody>
                  <a:tcPr marL="36576" marR="36576" marT="0" marB="0" anchor="ctr">
                    <a:noFill/>
                  </a:tcPr>
                </a:tc>
                <a:tc>
                  <a:txBody>
                    <a:bodyPr wrap="none"/>
                    <a:lstStyle/>
                    <a:p>
                      <a:pPr algn="r"/>
                      <a:r>
                        <a:rPr sz="800" b="0" i="0">
                          <a:solidFill>
                            <a:srgbClr val="1F2937"/>
                          </a:solidFill>
                          <a:latin typeface="Arial"/>
                        </a:rPr>
                        <a:t>0.0220</a:t>
                      </a:r>
                      <a:endParaRPr sz="800"/>
                    </a:p>
                  </a:txBody>
                  <a:tcPr marL="36576" marR="36576" marT="0" marB="0" anchor="ctr">
                    <a:noFill/>
                  </a:tcPr>
                </a:tc>
                <a:tc>
                  <a:txBody>
                    <a:bodyPr wrap="none"/>
                    <a:lstStyle/>
                    <a:p>
                      <a:pPr algn="r"/>
                      <a:r>
                        <a:rPr sz="800" b="0" i="0">
                          <a:solidFill>
                            <a:srgbClr val="1F2937"/>
                          </a:solidFill>
                          <a:latin typeface="Arial"/>
                        </a:rPr>
                        <a:t>0.0116</a:t>
                      </a:r>
                      <a:endParaRPr sz="800"/>
                    </a:p>
                  </a:txBody>
                  <a:tcPr marL="36576" marR="36576" marT="0" marB="0" anchor="ctr">
                    <a:noFill/>
                  </a:tcPr>
                </a:tc>
                <a:tc>
                  <a:txBody>
                    <a:bodyPr wrap="none"/>
                    <a:lstStyle/>
                    <a:p>
                      <a:pPr algn="r"/>
                      <a:r>
                        <a:rPr sz="800" b="1" i="0">
                          <a:solidFill>
                            <a:srgbClr val="1F2937"/>
                          </a:solidFill>
                          <a:latin typeface="Arial"/>
                        </a:rPr>
                        <a:t>0.0000</a:t>
                      </a:r>
                      <a:endParaRPr sz="800"/>
                    </a:p>
                  </a:txBody>
                  <a:tcPr marL="36576" marR="36576" marT="0" marB="0" anchor="ctr">
                    <a:noFill/>
                  </a:tcPr>
                </a:tc>
                <a:tc>
                  <a:txBody>
                    <a:bodyPr wrap="none"/>
                    <a:lstStyle/>
                    <a:p>
                      <a:pPr algn="r"/>
                      <a:r>
                        <a:rPr sz="800" b="1" i="0">
                          <a:solidFill>
                            <a:srgbClr val="1F2937"/>
                          </a:solidFill>
                          <a:latin typeface="Arial"/>
                        </a:rPr>
                        <a:t>0.0000</a:t>
                      </a:r>
                      <a:endParaRPr sz="800"/>
                    </a:p>
                  </a:txBody>
                  <a:tcPr marL="36576" marR="36576" marT="0" marB="0" anchor="ctr">
                    <a:noFill/>
                  </a:tcPr>
                </a:tc>
                <a:tc>
                  <a:txBody>
                    <a:bodyPr wrap="none"/>
                    <a:lstStyle/>
                    <a:p>
                      <a:pPr algn="r"/>
                      <a:r>
                        <a:rPr sz="800" b="0" i="0">
                          <a:solidFill>
                            <a:srgbClr val="1F2937"/>
                          </a:solidFill>
                          <a:latin typeface="Arial"/>
                        </a:rPr>
                        <a:t>0.0025</a:t>
                      </a:r>
                      <a:endParaRPr sz="800"/>
                    </a:p>
                  </a:txBody>
                  <a:tcPr marL="36576" marR="36576" marT="0" marB="0" anchor="ctr">
                    <a:noFill/>
                  </a:tcPr>
                </a:tc>
                <a:tc>
                  <a:txBody>
                    <a:bodyPr wrap="none"/>
                    <a:lstStyle/>
                    <a:p>
                      <a:pPr algn="r"/>
                      <a:r>
                        <a:rPr sz="800" b="0" i="0">
                          <a:solidFill>
                            <a:srgbClr val="1F2937"/>
                          </a:solidFill>
                          <a:latin typeface="Arial"/>
                        </a:rPr>
                        <a:t>0.0020</a:t>
                      </a:r>
                      <a:endParaRPr sz="800"/>
                    </a:p>
                  </a:txBody>
                  <a:tcPr marL="36576" marR="36576" marT="0" marB="0" anchor="ctr">
                    <a:noFill/>
                  </a:tcPr>
                </a:tc>
              </a:tr>
              <a:tr h="214884">
                <a:tc>
                  <a:txBody>
                    <a:bodyPr wrap="none"/>
                    <a:lstStyle/>
                    <a:p>
                      <a:pPr algn="l"/>
                      <a:r>
                        <a:rPr sz="800" b="0" i="0">
                          <a:solidFill>
                            <a:srgbClr val="1F2937"/>
                          </a:solidFill>
                          <a:latin typeface="Arial"/>
                        </a:rPr>
                        <a:t>EM</a:t>
                      </a:r>
                      <a:endParaRPr sz="800"/>
                    </a:p>
                  </a:txBody>
                  <a:tcPr marL="36576" marR="36576" marT="0" marB="0" anchor="ctr">
                    <a:noFill/>
                  </a:tcPr>
                </a:tc>
                <a:tc>
                  <a:txBody>
                    <a:bodyPr wrap="none"/>
                    <a:lstStyle/>
                    <a:p>
                      <a:pPr algn="r"/>
                      <a:r>
                        <a:rPr sz="800" b="1" i="0">
                          <a:solidFill>
                            <a:srgbClr val="1F2937"/>
                          </a:solidFill>
                          <a:latin typeface="Arial"/>
                        </a:rPr>
                        <a:t>0.0133</a:t>
                      </a:r>
                      <a:endParaRPr sz="800"/>
                    </a:p>
                  </a:txBody>
                  <a:tcPr marL="36576" marR="36576" marT="0" marB="0" anchor="ctr">
                    <a:noFill/>
                  </a:tcPr>
                </a:tc>
                <a:tc>
                  <a:txBody>
                    <a:bodyPr wrap="none"/>
                    <a:lstStyle/>
                    <a:p>
                      <a:pPr algn="r"/>
                      <a:r>
                        <a:rPr sz="800" b="1" i="0">
                          <a:solidFill>
                            <a:srgbClr val="1F2937"/>
                          </a:solidFill>
                          <a:latin typeface="Arial"/>
                        </a:rPr>
                        <a:t>0.0187</a:t>
                      </a:r>
                      <a:endParaRPr sz="800"/>
                    </a:p>
                  </a:txBody>
                  <a:tcPr marL="36576" marR="36576" marT="0" marB="0" anchor="ctr">
                    <a:noFill/>
                  </a:tcPr>
                </a:tc>
                <a:tc>
                  <a:txBody>
                    <a:bodyPr wrap="none"/>
                    <a:lstStyle/>
                    <a:p>
                      <a:pPr algn="r"/>
                      <a:r>
                        <a:rPr sz="800" b="1" i="0">
                          <a:solidFill>
                            <a:srgbClr val="1F2937"/>
                          </a:solidFill>
                          <a:latin typeface="Arial"/>
                        </a:rPr>
                        <a:t>0.0094</a:t>
                      </a:r>
                      <a:endParaRPr sz="800"/>
                    </a:p>
                  </a:txBody>
                  <a:tcPr marL="36576" marR="36576" marT="0" marB="0" anchor="ctr">
                    <a:noFill/>
                  </a:tcPr>
                </a:tc>
                <a:tc>
                  <a:txBody>
                    <a:bodyPr wrap="none"/>
                    <a:lstStyle/>
                    <a:p>
                      <a:pPr algn="r"/>
                      <a:r>
                        <a:rPr sz="800" b="1" i="0">
                          <a:solidFill>
                            <a:srgbClr val="1F2937"/>
                          </a:solidFill>
                          <a:latin typeface="Arial"/>
                        </a:rPr>
                        <a:t>0.0000</a:t>
                      </a:r>
                      <a:endParaRPr sz="800"/>
                    </a:p>
                  </a:txBody>
                  <a:tcPr marL="36576" marR="36576" marT="0" marB="0" anchor="ctr">
                    <a:noFill/>
                  </a:tcPr>
                </a:tc>
                <a:tc>
                  <a:txBody>
                    <a:bodyPr wrap="none"/>
                    <a:lstStyle/>
                    <a:p>
                      <a:pPr algn="r"/>
                      <a:r>
                        <a:rPr sz="800" b="1" i="0">
                          <a:solidFill>
                            <a:srgbClr val="1F2937"/>
                          </a:solidFill>
                          <a:latin typeface="Arial"/>
                        </a:rPr>
                        <a:t>0.0000</a:t>
                      </a:r>
                      <a:endParaRPr sz="800"/>
                    </a:p>
                  </a:txBody>
                  <a:tcPr marL="36576" marR="36576" marT="0" marB="0" anchor="ctr">
                    <a:noFill/>
                  </a:tcPr>
                </a:tc>
                <a:tc>
                  <a:txBody>
                    <a:bodyPr wrap="none"/>
                    <a:lstStyle/>
                    <a:p>
                      <a:pPr algn="r"/>
                      <a:r>
                        <a:rPr sz="800" b="1" i="0">
                          <a:solidFill>
                            <a:srgbClr val="1F2937"/>
                          </a:solidFill>
                          <a:latin typeface="Arial"/>
                        </a:rPr>
                        <a:t>0.0021</a:t>
                      </a:r>
                      <a:endParaRPr sz="800"/>
                    </a:p>
                  </a:txBody>
                  <a:tcPr marL="36576" marR="36576" marT="0" marB="0" anchor="ctr">
                    <a:noFill/>
                  </a:tcPr>
                </a:tc>
                <a:tc>
                  <a:txBody>
                    <a:bodyPr wrap="none"/>
                    <a:lstStyle/>
                    <a:p>
                      <a:pPr algn="r"/>
                      <a:r>
                        <a:rPr sz="800" b="1" i="0">
                          <a:solidFill>
                            <a:srgbClr val="1F2937"/>
                          </a:solidFill>
                          <a:latin typeface="Arial"/>
                        </a:rPr>
                        <a:t>0.0017</a:t>
                      </a:r>
                      <a:endParaRPr sz="800"/>
                    </a:p>
                  </a:txBody>
                  <a:tcPr marL="36576" marR="36576" marT="0" marB="0" anchor="ctr">
                    <a:noFill/>
                  </a:tcPr>
                </a:tc>
              </a:tr>
              <a:tr h="214884">
                <a:tc>
                  <a:txBody>
                    <a:bodyPr wrap="none"/>
                    <a:lstStyle/>
                    <a:p>
                      <a:pPr algn="l"/>
                      <a:r>
                        <a:rPr sz="800" b="0" i="0">
                          <a:solidFill>
                            <a:srgbClr val="1F2937"/>
                          </a:solidFill>
                          <a:latin typeface="Arial"/>
                        </a:rPr>
                        <a:t>BRITS</a:t>
                      </a:r>
                      <a:endParaRPr sz="800"/>
                    </a:p>
                  </a:txBody>
                  <a:tcPr marL="36576" marR="36576" marT="0" marB="0" anchor="ctr">
                    <a:noFill/>
                  </a:tcPr>
                </a:tc>
                <a:tc>
                  <a:txBody>
                    <a:bodyPr wrap="none"/>
                    <a:lstStyle/>
                    <a:p>
                      <a:pPr algn="r"/>
                      <a:r>
                        <a:rPr sz="800" b="0" i="0">
                          <a:solidFill>
                            <a:srgbClr val="1F2937"/>
                          </a:solidFill>
                          <a:latin typeface="Arial"/>
                        </a:rPr>
                        <a:t>0.0301</a:t>
                      </a:r>
                      <a:endParaRPr sz="800"/>
                    </a:p>
                  </a:txBody>
                  <a:tcPr marL="36576" marR="36576" marT="0" marB="0" anchor="ctr">
                    <a:noFill/>
                  </a:tcPr>
                </a:tc>
                <a:tc>
                  <a:txBody>
                    <a:bodyPr wrap="none"/>
                    <a:lstStyle/>
                    <a:p>
                      <a:pPr algn="r"/>
                      <a:r>
                        <a:rPr sz="800" b="0" i="0">
                          <a:solidFill>
                            <a:srgbClr val="1F2937"/>
                          </a:solidFill>
                          <a:latin typeface="Arial"/>
                        </a:rPr>
                        <a:t>0.0385</a:t>
                      </a:r>
                      <a:endParaRPr sz="800"/>
                    </a:p>
                  </a:txBody>
                  <a:tcPr marL="36576" marR="36576" marT="0" marB="0" anchor="ctr">
                    <a:noFill/>
                  </a:tcPr>
                </a:tc>
                <a:tc>
                  <a:txBody>
                    <a:bodyPr wrap="none"/>
                    <a:lstStyle/>
                    <a:p>
                      <a:pPr algn="r"/>
                      <a:r>
                        <a:rPr sz="800" b="0" i="0">
                          <a:solidFill>
                            <a:srgbClr val="1F2937"/>
                          </a:solidFill>
                          <a:latin typeface="Arial"/>
                        </a:rPr>
                        <a:t>0.0253</a:t>
                      </a:r>
                      <a:endParaRPr sz="800"/>
                    </a:p>
                  </a:txBody>
                  <a:tcPr marL="36576" marR="36576" marT="0" marB="0" anchor="ctr">
                    <a:noFill/>
                  </a:tcPr>
                </a:tc>
                <a:tc>
                  <a:txBody>
                    <a:bodyPr wrap="none"/>
                    <a:lstStyle/>
                    <a:p>
                      <a:pPr algn="r"/>
                      <a:r>
                        <a:rPr sz="800" b="1" i="0">
                          <a:solidFill>
                            <a:srgbClr val="1F2937"/>
                          </a:solidFill>
                          <a:latin typeface="Arial"/>
                        </a:rPr>
                        <a:t>0.0000</a:t>
                      </a:r>
                      <a:endParaRPr sz="800"/>
                    </a:p>
                  </a:txBody>
                  <a:tcPr marL="36576" marR="36576" marT="0" marB="0" anchor="ctr">
                    <a:noFill/>
                  </a:tcPr>
                </a:tc>
                <a:tc>
                  <a:txBody>
                    <a:bodyPr wrap="none"/>
                    <a:lstStyle/>
                    <a:p>
                      <a:pPr algn="r"/>
                      <a:r>
                        <a:rPr sz="800" b="1" i="0">
                          <a:solidFill>
                            <a:srgbClr val="1F2937"/>
                          </a:solidFill>
                          <a:latin typeface="Arial"/>
                        </a:rPr>
                        <a:t>0.0000</a:t>
                      </a:r>
                      <a:endParaRPr sz="800"/>
                    </a:p>
                  </a:txBody>
                  <a:tcPr marL="36576" marR="36576" marT="0" marB="0" anchor="ctr">
                    <a:noFill/>
                  </a:tcPr>
                </a:tc>
                <a:tc>
                  <a:txBody>
                    <a:bodyPr wrap="none"/>
                    <a:lstStyle/>
                    <a:p>
                      <a:pPr algn="r"/>
                      <a:r>
                        <a:rPr sz="800" b="0" i="0">
                          <a:solidFill>
                            <a:srgbClr val="1F2937"/>
                          </a:solidFill>
                          <a:latin typeface="Arial"/>
                        </a:rPr>
                        <a:t>0.0046</a:t>
                      </a:r>
                      <a:endParaRPr sz="800"/>
                    </a:p>
                  </a:txBody>
                  <a:tcPr marL="36576" marR="36576" marT="0" marB="0" anchor="ctr">
                    <a:noFill/>
                  </a:tcPr>
                </a:tc>
                <a:tc>
                  <a:txBody>
                    <a:bodyPr wrap="none"/>
                    <a:lstStyle/>
                    <a:p>
                      <a:pPr algn="r"/>
                      <a:r>
                        <a:rPr sz="800" b="0" i="0">
                          <a:solidFill>
                            <a:srgbClr val="1F2937"/>
                          </a:solidFill>
                          <a:latin typeface="Arial"/>
                        </a:rPr>
                        <a:t>0.0036</a:t>
                      </a:r>
                      <a:endParaRPr sz="800"/>
                    </a:p>
                  </a:txBody>
                  <a:tcPr marL="36576" marR="36576" marT="0" marB="0" anchor="ctr">
                    <a:noFill/>
                  </a:tcPr>
                </a:tc>
              </a:tr>
              <a:tr h="214884">
                <a:tc>
                  <a:txBody>
                    <a:bodyPr wrap="none"/>
                    <a:lstStyle/>
                    <a:p>
                      <a:pPr algn="l"/>
                      <a:r>
                        <a:rPr sz="800" b="0" i="0">
                          <a:solidFill>
                            <a:srgbClr val="1F2937"/>
                          </a:solidFill>
                          <a:latin typeface="Arial"/>
                        </a:rPr>
                        <a:t>CSDI</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0.0163</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0.0226</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0.0175</a:t>
                      </a:r>
                      <a:endParaRPr sz="800"/>
                    </a:p>
                  </a:txBody>
                  <a:tcPr marL="36576" marR="36576" marT="0" marB="0" anchor="ctr">
                    <a:lnB w="6350">
                      <a:solidFill>
                        <a:srgbClr val="D0D5DD"/>
                      </a:solidFill>
                    </a:lnB>
                    <a:noFill/>
                  </a:tcPr>
                </a:tc>
                <a:tc>
                  <a:txBody>
                    <a:bodyPr wrap="none"/>
                    <a:lstStyle/>
                    <a:p>
                      <a:pPr algn="r"/>
                      <a:r>
                        <a:rPr sz="800" b="1" i="0">
                          <a:solidFill>
                            <a:srgbClr val="1F2937"/>
                          </a:solidFill>
                          <a:latin typeface="Arial"/>
                        </a:rPr>
                        <a:t>0.0000</a:t>
                      </a:r>
                      <a:endParaRPr sz="800"/>
                    </a:p>
                  </a:txBody>
                  <a:tcPr marL="36576" marR="36576" marT="0" marB="0" anchor="ctr">
                    <a:lnB w="6350">
                      <a:solidFill>
                        <a:srgbClr val="D0D5DD"/>
                      </a:solidFill>
                    </a:lnB>
                    <a:noFill/>
                  </a:tcPr>
                </a:tc>
                <a:tc>
                  <a:txBody>
                    <a:bodyPr wrap="none"/>
                    <a:lstStyle/>
                    <a:p>
                      <a:pPr algn="r"/>
                      <a:r>
                        <a:rPr sz="800" b="1" i="0">
                          <a:solidFill>
                            <a:srgbClr val="1F2937"/>
                          </a:solidFill>
                          <a:latin typeface="Arial"/>
                        </a:rPr>
                        <a:t>0.0000</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0.0027</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0.0022</a:t>
                      </a:r>
                      <a:endParaRPr sz="800"/>
                    </a:p>
                  </a:txBody>
                  <a:tcPr marL="36576" marR="36576" marT="0" marB="0" anchor="ctr">
                    <a:lnB w="6350">
                      <a:solidFill>
                        <a:srgbClr val="D0D5DD"/>
                      </a:solidFill>
                    </a:lnB>
                    <a:noFill/>
                  </a:tcPr>
                </a:tc>
              </a:tr>
              <a:tr h="214884">
                <a:tc gridSpan="8">
                  <a:txBody>
                    <a:bodyPr wrap="none"/>
                    <a:lstStyle/>
                    <a:p>
                      <a:pPr algn="l"/>
                      <a:r>
                        <a:rPr sz="800" b="1" i="0">
                          <a:solidFill>
                            <a:srgbClr val="E4572E"/>
                          </a:solidFill>
                          <a:latin typeface="Arial"/>
                        </a:rPr>
                        <a:t>Level (0.005, 0.5, 0.99)</a:t>
                      </a: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r>
              <a:tr h="214884">
                <a:tc>
                  <a:txBody>
                    <a:bodyPr wrap="none"/>
                    <a:lstStyle/>
                    <a:p>
                      <a:pPr algn="l"/>
                      <a:r>
                        <a:rPr sz="800" b="0" i="0">
                          <a:solidFill>
                            <a:srgbClr val="1F2937"/>
                          </a:solidFill>
                          <a:latin typeface="Arial"/>
                        </a:rPr>
                        <a:t>Deletion</a:t>
                      </a:r>
                      <a:endParaRPr sz="800"/>
                    </a:p>
                  </a:txBody>
                  <a:tcPr marL="36576" marR="36576" marT="0" marB="0" anchor="ctr">
                    <a:noFill/>
                  </a:tcPr>
                </a:tc>
                <a:tc>
                  <a:txBody>
                    <a:bodyPr wrap="none"/>
                    <a:lstStyle/>
                    <a:p>
                      <a:pPr algn="r"/>
                      <a:r>
                        <a:rPr sz="800" b="0" i="0">
                          <a:solidFill>
                            <a:srgbClr val="1F2937"/>
                          </a:solidFill>
                          <a:latin typeface="Arial"/>
                        </a:rPr>
                        <a:t>--</a:t>
                      </a:r>
                      <a:endParaRPr sz="800"/>
                    </a:p>
                  </a:txBody>
                  <a:tcPr marL="36576" marR="36576" marT="0" marB="0" anchor="ctr">
                    <a:noFill/>
                  </a:tcPr>
                </a:tc>
                <a:tc>
                  <a:txBody>
                    <a:bodyPr wrap="none"/>
                    <a:lstStyle/>
                    <a:p>
                      <a:pPr algn="r"/>
                      <a:r>
                        <a:rPr sz="800" b="0" i="0">
                          <a:solidFill>
                            <a:srgbClr val="1F2937"/>
                          </a:solidFill>
                          <a:latin typeface="Arial"/>
                        </a:rPr>
                        <a:t>--</a:t>
                      </a:r>
                      <a:endParaRPr sz="800"/>
                    </a:p>
                  </a:txBody>
                  <a:tcPr marL="36576" marR="36576" marT="0" marB="0" anchor="ctr">
                    <a:noFill/>
                  </a:tcPr>
                </a:tc>
                <a:tc>
                  <a:txBody>
                    <a:bodyPr wrap="none"/>
                    <a:lstStyle/>
                    <a:p>
                      <a:pPr algn="r"/>
                      <a:r>
                        <a:rPr sz="800" b="0" i="0">
                          <a:solidFill>
                            <a:srgbClr val="1F2937"/>
                          </a:solidFill>
                          <a:latin typeface="Arial"/>
                        </a:rPr>
                        <a:t>0.2960</a:t>
                      </a:r>
                      <a:endParaRPr sz="800"/>
                    </a:p>
                  </a:txBody>
                  <a:tcPr marL="36576" marR="36576" marT="0" marB="0" anchor="ctr">
                    <a:noFill/>
                  </a:tcPr>
                </a:tc>
                <a:tc>
                  <a:txBody>
                    <a:bodyPr wrap="none"/>
                    <a:lstStyle/>
                    <a:p>
                      <a:pPr algn="r"/>
                      <a:r>
                        <a:rPr sz="800" b="0" i="0">
                          <a:solidFill>
                            <a:srgbClr val="1F2937"/>
                          </a:solidFill>
                          <a:latin typeface="Arial"/>
                        </a:rPr>
                        <a:t>0.0010</a:t>
                      </a:r>
                      <a:endParaRPr sz="800"/>
                    </a:p>
                  </a:txBody>
                  <a:tcPr marL="36576" marR="36576" marT="0" marB="0" anchor="ctr">
                    <a:noFill/>
                  </a:tcPr>
                </a:tc>
                <a:tc>
                  <a:txBody>
                    <a:bodyPr wrap="none"/>
                    <a:lstStyle/>
                    <a:p>
                      <a:pPr algn="r"/>
                      <a:r>
                        <a:rPr sz="800" b="0" i="0">
                          <a:solidFill>
                            <a:srgbClr val="1F2937"/>
                          </a:solidFill>
                          <a:latin typeface="Arial"/>
                        </a:rPr>
                        <a:t>0.0005</a:t>
                      </a:r>
                      <a:endParaRPr sz="800"/>
                    </a:p>
                  </a:txBody>
                  <a:tcPr marL="36576" marR="36576" marT="0" marB="0" anchor="ctr">
                    <a:noFill/>
                  </a:tcPr>
                </a:tc>
                <a:tc>
                  <a:txBody>
                    <a:bodyPr wrap="none"/>
                    <a:lstStyle/>
                    <a:p>
                      <a:pPr algn="r"/>
                      <a:r>
                        <a:rPr sz="800" b="0" i="0">
                          <a:solidFill>
                            <a:srgbClr val="1F2937"/>
                          </a:solidFill>
                          <a:latin typeface="Arial"/>
                        </a:rPr>
                        <a:t>0.0687</a:t>
                      </a:r>
                      <a:endParaRPr sz="800"/>
                    </a:p>
                  </a:txBody>
                  <a:tcPr marL="36576" marR="36576" marT="0" marB="0" anchor="ctr">
                    <a:noFill/>
                  </a:tcPr>
                </a:tc>
                <a:tc>
                  <a:txBody>
                    <a:bodyPr wrap="none"/>
                    <a:lstStyle/>
                    <a:p>
                      <a:pPr algn="r"/>
                      <a:r>
                        <a:rPr sz="800" b="0" i="0">
                          <a:solidFill>
                            <a:srgbClr val="1F2937"/>
                          </a:solidFill>
                          <a:latin typeface="Arial"/>
                        </a:rPr>
                        <a:t>0.0268</a:t>
                      </a:r>
                      <a:endParaRPr sz="800"/>
                    </a:p>
                  </a:txBody>
                  <a:tcPr marL="36576" marR="36576" marT="0" marB="0" anchor="ctr">
                    <a:noFill/>
                  </a:tcPr>
                </a:tc>
              </a:tr>
              <a:tr h="214884">
                <a:tc>
                  <a:txBody>
                    <a:bodyPr wrap="none"/>
                    <a:lstStyle/>
                    <a:p>
                      <a:pPr algn="l"/>
                      <a:r>
                        <a:rPr sz="800" b="0" i="0">
                          <a:solidFill>
                            <a:srgbClr val="1F2937"/>
                          </a:solidFill>
                          <a:latin typeface="Arial"/>
                        </a:rPr>
                        <a:t>Zero</a:t>
                      </a:r>
                      <a:endParaRPr sz="800"/>
                    </a:p>
                  </a:txBody>
                  <a:tcPr marL="36576" marR="36576" marT="0" marB="0" anchor="ctr">
                    <a:noFill/>
                  </a:tcPr>
                </a:tc>
                <a:tc>
                  <a:txBody>
                    <a:bodyPr wrap="none"/>
                    <a:lstStyle/>
                    <a:p>
                      <a:pPr algn="r"/>
                      <a:r>
                        <a:rPr sz="800" b="0" i="0">
                          <a:solidFill>
                            <a:srgbClr val="1F2937"/>
                          </a:solidFill>
                          <a:latin typeface="Arial"/>
                        </a:rPr>
                        <a:t>0.0321</a:t>
                      </a:r>
                      <a:endParaRPr sz="800"/>
                    </a:p>
                  </a:txBody>
                  <a:tcPr marL="36576" marR="36576" marT="0" marB="0" anchor="ctr">
                    <a:noFill/>
                  </a:tcPr>
                </a:tc>
                <a:tc>
                  <a:txBody>
                    <a:bodyPr wrap="none"/>
                    <a:lstStyle/>
                    <a:p>
                      <a:pPr algn="r"/>
                      <a:r>
                        <a:rPr sz="800" b="0" i="0">
                          <a:solidFill>
                            <a:srgbClr val="1F2937"/>
                          </a:solidFill>
                          <a:latin typeface="Arial"/>
                        </a:rPr>
                        <a:t>0.0463</a:t>
                      </a:r>
                      <a:endParaRPr sz="800"/>
                    </a:p>
                  </a:txBody>
                  <a:tcPr marL="36576" marR="36576" marT="0" marB="0" anchor="ctr">
                    <a:noFill/>
                  </a:tcPr>
                </a:tc>
                <a:tc>
                  <a:txBody>
                    <a:bodyPr wrap="none"/>
                    <a:lstStyle/>
                    <a:p>
                      <a:pPr algn="r"/>
                      <a:r>
                        <a:rPr sz="800" b="0" i="0">
                          <a:solidFill>
                            <a:srgbClr val="1F2937"/>
                          </a:solidFill>
                          <a:latin typeface="Arial"/>
                        </a:rPr>
                        <a:t>0.2238</a:t>
                      </a:r>
                      <a:endParaRPr sz="800"/>
                    </a:p>
                  </a:txBody>
                  <a:tcPr marL="36576" marR="36576" marT="0" marB="0" anchor="ctr">
                    <a:noFill/>
                  </a:tcPr>
                </a:tc>
                <a:tc>
                  <a:txBody>
                    <a:bodyPr wrap="none"/>
                    <a:lstStyle/>
                    <a:p>
                      <a:pPr algn="r"/>
                      <a:r>
                        <a:rPr sz="800" b="0" i="0">
                          <a:solidFill>
                            <a:srgbClr val="1F2937"/>
                          </a:solidFill>
                          <a:latin typeface="Arial"/>
                        </a:rPr>
                        <a:t>0.0005</a:t>
                      </a:r>
                      <a:endParaRPr sz="800"/>
                    </a:p>
                  </a:txBody>
                  <a:tcPr marL="36576" marR="36576" marT="0" marB="0" anchor="ctr">
                    <a:noFill/>
                  </a:tcPr>
                </a:tc>
                <a:tc>
                  <a:txBody>
                    <a:bodyPr wrap="none"/>
                    <a:lstStyle/>
                    <a:p>
                      <a:pPr algn="r"/>
                      <a:r>
                        <a:rPr sz="800" b="0" i="0">
                          <a:solidFill>
                            <a:srgbClr val="1F2937"/>
                          </a:solidFill>
                          <a:latin typeface="Arial"/>
                        </a:rPr>
                        <a:t>0.0003</a:t>
                      </a:r>
                      <a:endParaRPr sz="800"/>
                    </a:p>
                  </a:txBody>
                  <a:tcPr marL="36576" marR="36576" marT="0" marB="0" anchor="ctr">
                    <a:noFill/>
                  </a:tcPr>
                </a:tc>
                <a:tc>
                  <a:txBody>
                    <a:bodyPr wrap="none"/>
                    <a:lstStyle/>
                    <a:p>
                      <a:pPr algn="r"/>
                      <a:r>
                        <a:rPr sz="800" b="0" i="0">
                          <a:solidFill>
                            <a:srgbClr val="1F2937"/>
                          </a:solidFill>
                          <a:latin typeface="Arial"/>
                        </a:rPr>
                        <a:t>0.0483</a:t>
                      </a:r>
                      <a:endParaRPr sz="800"/>
                    </a:p>
                  </a:txBody>
                  <a:tcPr marL="36576" marR="36576" marT="0" marB="0" anchor="ctr">
                    <a:noFill/>
                  </a:tcPr>
                </a:tc>
                <a:tc>
                  <a:txBody>
                    <a:bodyPr wrap="none"/>
                    <a:lstStyle/>
                    <a:p>
                      <a:pPr algn="r"/>
                      <a:r>
                        <a:rPr sz="800" b="0" i="0">
                          <a:solidFill>
                            <a:srgbClr val="1F2937"/>
                          </a:solidFill>
                          <a:latin typeface="Arial"/>
                        </a:rPr>
                        <a:t>0.0172</a:t>
                      </a:r>
                      <a:endParaRPr sz="800"/>
                    </a:p>
                  </a:txBody>
                  <a:tcPr marL="36576" marR="36576" marT="0" marB="0" anchor="ctr">
                    <a:noFill/>
                  </a:tcPr>
                </a:tc>
              </a:tr>
              <a:tr h="214884">
                <a:tc>
                  <a:txBody>
                    <a:bodyPr wrap="none"/>
                    <a:lstStyle/>
                    <a:p>
                      <a:pPr algn="l"/>
                      <a:r>
                        <a:rPr sz="800" b="0" i="0">
                          <a:solidFill>
                            <a:srgbClr val="1F2937"/>
                          </a:solidFill>
                          <a:latin typeface="Arial"/>
                        </a:rPr>
                        <a:t>KNN</a:t>
                      </a:r>
                      <a:endParaRPr sz="800"/>
                    </a:p>
                  </a:txBody>
                  <a:tcPr marL="36576" marR="36576" marT="0" marB="0" anchor="ctr">
                    <a:noFill/>
                  </a:tcPr>
                </a:tc>
                <a:tc>
                  <a:txBody>
                    <a:bodyPr wrap="none"/>
                    <a:lstStyle/>
                    <a:p>
                      <a:pPr algn="r"/>
                      <a:r>
                        <a:rPr sz="800" b="0" i="0">
                          <a:solidFill>
                            <a:srgbClr val="1F2937"/>
                          </a:solidFill>
                          <a:latin typeface="Arial"/>
                        </a:rPr>
                        <a:t>0.0161</a:t>
                      </a:r>
                      <a:endParaRPr sz="800"/>
                    </a:p>
                  </a:txBody>
                  <a:tcPr marL="36576" marR="36576" marT="0" marB="0" anchor="ctr">
                    <a:noFill/>
                  </a:tcPr>
                </a:tc>
                <a:tc>
                  <a:txBody>
                    <a:bodyPr wrap="none"/>
                    <a:lstStyle/>
                    <a:p>
                      <a:pPr algn="r"/>
                      <a:r>
                        <a:rPr sz="800" b="0" i="0">
                          <a:solidFill>
                            <a:srgbClr val="1F2937"/>
                          </a:solidFill>
                          <a:latin typeface="Arial"/>
                        </a:rPr>
                        <a:t>0.0261</a:t>
                      </a:r>
                      <a:endParaRPr sz="800"/>
                    </a:p>
                  </a:txBody>
                  <a:tcPr marL="36576" marR="36576" marT="0" marB="0" anchor="ctr">
                    <a:noFill/>
                  </a:tcPr>
                </a:tc>
                <a:tc>
                  <a:txBody>
                    <a:bodyPr wrap="none"/>
                    <a:lstStyle/>
                    <a:p>
                      <a:pPr algn="r"/>
                      <a:r>
                        <a:rPr sz="800" b="0" i="0">
                          <a:solidFill>
                            <a:srgbClr val="1F2937"/>
                          </a:solidFill>
                          <a:latin typeface="Arial"/>
                        </a:rPr>
                        <a:t>0.0991</a:t>
                      </a:r>
                      <a:endParaRPr sz="800"/>
                    </a:p>
                  </a:txBody>
                  <a:tcPr marL="36576" marR="36576" marT="0" marB="0" anchor="ctr">
                    <a:noFill/>
                  </a:tcPr>
                </a:tc>
                <a:tc>
                  <a:txBody>
                    <a:bodyPr wrap="none"/>
                    <a:lstStyle/>
                    <a:p>
                      <a:pPr algn="r"/>
                      <a:r>
                        <a:rPr sz="800" b="0" i="0">
                          <a:solidFill>
                            <a:srgbClr val="1F2937"/>
                          </a:solidFill>
                          <a:latin typeface="Arial"/>
                        </a:rPr>
                        <a:t>0.0001</a:t>
                      </a:r>
                      <a:endParaRPr sz="800"/>
                    </a:p>
                  </a:txBody>
                  <a:tcPr marL="36576" marR="36576" marT="0" marB="0" anchor="ctr">
                    <a:noFill/>
                  </a:tcPr>
                </a:tc>
                <a:tc>
                  <a:txBody>
                    <a:bodyPr wrap="none"/>
                    <a:lstStyle/>
                    <a:p>
                      <a:pPr algn="r"/>
                      <a:r>
                        <a:rPr sz="800" b="1" i="0">
                          <a:solidFill>
                            <a:srgbClr val="1F2937"/>
                          </a:solidFill>
                          <a:latin typeface="Arial"/>
                        </a:rPr>
                        <a:t>0.0001</a:t>
                      </a:r>
                      <a:endParaRPr sz="800"/>
                    </a:p>
                  </a:txBody>
                  <a:tcPr marL="36576" marR="36576" marT="0" marB="0" anchor="ctr">
                    <a:noFill/>
                  </a:tcPr>
                </a:tc>
                <a:tc>
                  <a:txBody>
                    <a:bodyPr wrap="none"/>
                    <a:lstStyle/>
                    <a:p>
                      <a:pPr algn="r"/>
                      <a:r>
                        <a:rPr sz="800" b="0" i="0">
                          <a:solidFill>
                            <a:srgbClr val="1F2937"/>
                          </a:solidFill>
                          <a:latin typeface="Arial"/>
                        </a:rPr>
                        <a:t>0.0168</a:t>
                      </a:r>
                      <a:endParaRPr sz="800"/>
                    </a:p>
                  </a:txBody>
                  <a:tcPr marL="36576" marR="36576" marT="0" marB="0" anchor="ctr">
                    <a:noFill/>
                  </a:tcPr>
                </a:tc>
                <a:tc>
                  <a:txBody>
                    <a:bodyPr wrap="none"/>
                    <a:lstStyle/>
                    <a:p>
                      <a:pPr algn="r"/>
                      <a:r>
                        <a:rPr sz="800" b="0" i="0">
                          <a:solidFill>
                            <a:srgbClr val="1F2937"/>
                          </a:solidFill>
                          <a:latin typeface="Arial"/>
                        </a:rPr>
                        <a:t>0.0095</a:t>
                      </a:r>
                      <a:endParaRPr sz="800"/>
                    </a:p>
                  </a:txBody>
                  <a:tcPr marL="36576" marR="36576" marT="0" marB="0" anchor="ctr">
                    <a:noFill/>
                  </a:tcPr>
                </a:tc>
              </a:tr>
              <a:tr h="214884">
                <a:tc>
                  <a:txBody>
                    <a:bodyPr wrap="none"/>
                    <a:lstStyle/>
                    <a:p>
                      <a:pPr algn="l"/>
                      <a:r>
                        <a:rPr sz="800" b="0" i="0">
                          <a:solidFill>
                            <a:srgbClr val="1F2937"/>
                          </a:solidFill>
                          <a:latin typeface="Arial"/>
                        </a:rPr>
                        <a:t>LowRank</a:t>
                      </a:r>
                      <a:endParaRPr sz="800"/>
                    </a:p>
                  </a:txBody>
                  <a:tcPr marL="36576" marR="36576" marT="0" marB="0" anchor="ctr">
                    <a:noFill/>
                  </a:tcPr>
                </a:tc>
                <a:tc>
                  <a:txBody>
                    <a:bodyPr wrap="none"/>
                    <a:lstStyle/>
                    <a:p>
                      <a:pPr algn="r"/>
                      <a:r>
                        <a:rPr sz="800" b="0" i="0">
                          <a:solidFill>
                            <a:srgbClr val="1F2937"/>
                          </a:solidFill>
                          <a:latin typeface="Arial"/>
                        </a:rPr>
                        <a:t>0.0129</a:t>
                      </a:r>
                      <a:endParaRPr sz="800"/>
                    </a:p>
                  </a:txBody>
                  <a:tcPr marL="36576" marR="36576" marT="0" marB="0" anchor="ctr">
                    <a:noFill/>
                  </a:tcPr>
                </a:tc>
                <a:tc>
                  <a:txBody>
                    <a:bodyPr wrap="none"/>
                    <a:lstStyle/>
                    <a:p>
                      <a:pPr algn="r"/>
                      <a:r>
                        <a:rPr sz="800" b="0" i="0">
                          <a:solidFill>
                            <a:srgbClr val="1F2937"/>
                          </a:solidFill>
                          <a:latin typeface="Arial"/>
                        </a:rPr>
                        <a:t>0.0200</a:t>
                      </a:r>
                      <a:endParaRPr sz="800"/>
                    </a:p>
                  </a:txBody>
                  <a:tcPr marL="36576" marR="36576" marT="0" marB="0" anchor="ctr">
                    <a:noFill/>
                  </a:tcPr>
                </a:tc>
                <a:tc>
                  <a:txBody>
                    <a:bodyPr wrap="none"/>
                    <a:lstStyle/>
                    <a:p>
                      <a:pPr algn="r"/>
                      <a:r>
                        <a:rPr sz="800" b="1" i="0">
                          <a:solidFill>
                            <a:srgbClr val="1F2937"/>
                          </a:solidFill>
                          <a:latin typeface="Arial"/>
                        </a:rPr>
                        <a:t>0.0279</a:t>
                      </a:r>
                      <a:endParaRPr sz="800"/>
                    </a:p>
                  </a:txBody>
                  <a:tcPr marL="36576" marR="36576" marT="0" marB="0" anchor="ctr">
                    <a:noFill/>
                  </a:tcPr>
                </a:tc>
                <a:tc>
                  <a:txBody>
                    <a:bodyPr wrap="none"/>
                    <a:lstStyle/>
                    <a:p>
                      <a:pPr algn="r"/>
                      <a:r>
                        <a:rPr sz="800" b="1" i="0">
                          <a:solidFill>
                            <a:srgbClr val="1F2937"/>
                          </a:solidFill>
                          <a:latin typeface="Arial"/>
                        </a:rPr>
                        <a:t>0.0000</a:t>
                      </a:r>
                      <a:endParaRPr sz="800"/>
                    </a:p>
                  </a:txBody>
                  <a:tcPr marL="36576" marR="36576" marT="0" marB="0" anchor="ctr">
                    <a:noFill/>
                  </a:tcPr>
                </a:tc>
                <a:tc>
                  <a:txBody>
                    <a:bodyPr wrap="none"/>
                    <a:lstStyle/>
                    <a:p>
                      <a:pPr algn="r"/>
                      <a:r>
                        <a:rPr sz="800" b="1" i="0">
                          <a:solidFill>
                            <a:srgbClr val="1F2937"/>
                          </a:solidFill>
                          <a:latin typeface="Arial"/>
                        </a:rPr>
                        <a:t>0.0001</a:t>
                      </a:r>
                      <a:endParaRPr sz="800"/>
                    </a:p>
                  </a:txBody>
                  <a:tcPr marL="36576" marR="36576" marT="0" marB="0" anchor="ctr">
                    <a:noFill/>
                  </a:tcPr>
                </a:tc>
                <a:tc>
                  <a:txBody>
                    <a:bodyPr wrap="none"/>
                    <a:lstStyle/>
                    <a:p>
                      <a:pPr algn="r"/>
                      <a:r>
                        <a:rPr sz="800" b="0" i="0">
                          <a:solidFill>
                            <a:srgbClr val="1F2937"/>
                          </a:solidFill>
                          <a:latin typeface="Arial"/>
                        </a:rPr>
                        <a:t>0.0078</a:t>
                      </a:r>
                      <a:endParaRPr sz="800"/>
                    </a:p>
                  </a:txBody>
                  <a:tcPr marL="36576" marR="36576" marT="0" marB="0" anchor="ctr">
                    <a:noFill/>
                  </a:tcPr>
                </a:tc>
                <a:tc>
                  <a:txBody>
                    <a:bodyPr wrap="none"/>
                    <a:lstStyle/>
                    <a:p>
                      <a:pPr algn="r"/>
                      <a:r>
                        <a:rPr sz="800" b="0" i="0">
                          <a:solidFill>
                            <a:srgbClr val="1F2937"/>
                          </a:solidFill>
                          <a:latin typeface="Arial"/>
                        </a:rPr>
                        <a:t>0.0067</a:t>
                      </a:r>
                      <a:endParaRPr sz="800"/>
                    </a:p>
                  </a:txBody>
                  <a:tcPr marL="36576" marR="36576" marT="0" marB="0" anchor="ctr">
                    <a:noFill/>
                  </a:tcPr>
                </a:tc>
              </a:tr>
              <a:tr h="214884">
                <a:tc>
                  <a:txBody>
                    <a:bodyPr wrap="none"/>
                    <a:lstStyle/>
                    <a:p>
                      <a:pPr algn="l"/>
                      <a:r>
                        <a:rPr sz="800" b="0" i="0">
                          <a:solidFill>
                            <a:srgbClr val="1F2937"/>
                          </a:solidFill>
                          <a:latin typeface="Arial"/>
                        </a:rPr>
                        <a:t>EM</a:t>
                      </a:r>
                      <a:endParaRPr sz="800"/>
                    </a:p>
                  </a:txBody>
                  <a:tcPr marL="36576" marR="36576" marT="0" marB="0" anchor="ctr">
                    <a:noFill/>
                  </a:tcPr>
                </a:tc>
                <a:tc>
                  <a:txBody>
                    <a:bodyPr wrap="none"/>
                    <a:lstStyle/>
                    <a:p>
                      <a:pPr algn="r"/>
                      <a:r>
                        <a:rPr sz="800" b="1" i="0">
                          <a:solidFill>
                            <a:srgbClr val="1F2937"/>
                          </a:solidFill>
                          <a:latin typeface="Arial"/>
                        </a:rPr>
                        <a:t>0.0118</a:t>
                      </a:r>
                      <a:endParaRPr sz="800"/>
                    </a:p>
                  </a:txBody>
                  <a:tcPr marL="36576" marR="36576" marT="0" marB="0" anchor="ctr">
                    <a:noFill/>
                  </a:tcPr>
                </a:tc>
                <a:tc>
                  <a:txBody>
                    <a:bodyPr wrap="none"/>
                    <a:lstStyle/>
                    <a:p>
                      <a:pPr algn="r"/>
                      <a:r>
                        <a:rPr sz="800" b="1" i="0">
                          <a:solidFill>
                            <a:srgbClr val="1F2937"/>
                          </a:solidFill>
                          <a:latin typeface="Arial"/>
                        </a:rPr>
                        <a:t>0.0189</a:t>
                      </a:r>
                      <a:endParaRPr sz="800"/>
                    </a:p>
                  </a:txBody>
                  <a:tcPr marL="36576" marR="36576" marT="0" marB="0" anchor="ctr">
                    <a:noFill/>
                  </a:tcPr>
                </a:tc>
                <a:tc>
                  <a:txBody>
                    <a:bodyPr wrap="none"/>
                    <a:lstStyle/>
                    <a:p>
                      <a:pPr algn="r"/>
                      <a:r>
                        <a:rPr sz="800" b="0" i="0">
                          <a:solidFill>
                            <a:srgbClr val="1F2937"/>
                          </a:solidFill>
                          <a:latin typeface="Arial"/>
                        </a:rPr>
                        <a:t>0.0319</a:t>
                      </a:r>
                      <a:endParaRPr sz="800"/>
                    </a:p>
                  </a:txBody>
                  <a:tcPr marL="36576" marR="36576" marT="0" marB="0" anchor="ctr">
                    <a:noFill/>
                  </a:tcPr>
                </a:tc>
                <a:tc>
                  <a:txBody>
                    <a:bodyPr wrap="none"/>
                    <a:lstStyle/>
                    <a:p>
                      <a:pPr algn="r"/>
                      <a:r>
                        <a:rPr sz="800" b="1" i="0">
                          <a:solidFill>
                            <a:srgbClr val="1F2937"/>
                          </a:solidFill>
                          <a:latin typeface="Arial"/>
                        </a:rPr>
                        <a:t>0.0000</a:t>
                      </a:r>
                      <a:endParaRPr sz="800"/>
                    </a:p>
                  </a:txBody>
                  <a:tcPr marL="36576" marR="36576" marT="0" marB="0" anchor="ctr">
                    <a:noFill/>
                  </a:tcPr>
                </a:tc>
                <a:tc>
                  <a:txBody>
                    <a:bodyPr wrap="none"/>
                    <a:lstStyle/>
                    <a:p>
                      <a:pPr algn="r"/>
                      <a:r>
                        <a:rPr sz="800" b="1" i="0">
                          <a:solidFill>
                            <a:srgbClr val="1F2937"/>
                          </a:solidFill>
                          <a:latin typeface="Arial"/>
                        </a:rPr>
                        <a:t>0.0001</a:t>
                      </a:r>
                      <a:endParaRPr sz="800"/>
                    </a:p>
                  </a:txBody>
                  <a:tcPr marL="36576" marR="36576" marT="0" marB="0" anchor="ctr">
                    <a:noFill/>
                  </a:tcPr>
                </a:tc>
                <a:tc>
                  <a:txBody>
                    <a:bodyPr wrap="none"/>
                    <a:lstStyle/>
                    <a:p>
                      <a:pPr algn="r"/>
                      <a:r>
                        <a:rPr sz="800" b="1" i="0">
                          <a:solidFill>
                            <a:srgbClr val="1F2937"/>
                          </a:solidFill>
                          <a:latin typeface="Arial"/>
                        </a:rPr>
                        <a:t>0.0077</a:t>
                      </a:r>
                      <a:endParaRPr sz="800"/>
                    </a:p>
                  </a:txBody>
                  <a:tcPr marL="36576" marR="36576" marT="0" marB="0" anchor="ctr">
                    <a:noFill/>
                  </a:tcPr>
                </a:tc>
                <a:tc>
                  <a:txBody>
                    <a:bodyPr wrap="none"/>
                    <a:lstStyle/>
                    <a:p>
                      <a:pPr algn="r"/>
                      <a:r>
                        <a:rPr sz="800" b="1" i="0">
                          <a:solidFill>
                            <a:srgbClr val="1F2937"/>
                          </a:solidFill>
                          <a:latin typeface="Arial"/>
                        </a:rPr>
                        <a:t>0.0065</a:t>
                      </a:r>
                      <a:endParaRPr sz="800"/>
                    </a:p>
                  </a:txBody>
                  <a:tcPr marL="36576" marR="36576" marT="0" marB="0" anchor="ctr">
                    <a:noFill/>
                  </a:tcPr>
                </a:tc>
              </a:tr>
              <a:tr h="214884">
                <a:tc>
                  <a:txBody>
                    <a:bodyPr wrap="none"/>
                    <a:lstStyle/>
                    <a:p>
                      <a:pPr algn="l"/>
                      <a:r>
                        <a:rPr sz="800" b="0" i="0">
                          <a:solidFill>
                            <a:srgbClr val="1F2937"/>
                          </a:solidFill>
                          <a:latin typeface="Arial"/>
                        </a:rPr>
                        <a:t>BRITS</a:t>
                      </a:r>
                      <a:endParaRPr sz="800"/>
                    </a:p>
                  </a:txBody>
                  <a:tcPr marL="36576" marR="36576" marT="0" marB="0" anchor="ctr">
                    <a:noFill/>
                  </a:tcPr>
                </a:tc>
                <a:tc>
                  <a:txBody>
                    <a:bodyPr wrap="none"/>
                    <a:lstStyle/>
                    <a:p>
                      <a:pPr algn="r"/>
                      <a:r>
                        <a:rPr sz="800" b="0" i="0">
                          <a:solidFill>
                            <a:srgbClr val="1F2937"/>
                          </a:solidFill>
                          <a:latin typeface="Arial"/>
                        </a:rPr>
                        <a:t>0.0122</a:t>
                      </a:r>
                      <a:endParaRPr sz="800"/>
                    </a:p>
                  </a:txBody>
                  <a:tcPr marL="36576" marR="36576" marT="0" marB="0" anchor="ctr">
                    <a:noFill/>
                  </a:tcPr>
                </a:tc>
                <a:tc>
                  <a:txBody>
                    <a:bodyPr wrap="none"/>
                    <a:lstStyle/>
                    <a:p>
                      <a:pPr algn="r"/>
                      <a:r>
                        <a:rPr sz="800" b="0" i="0">
                          <a:solidFill>
                            <a:srgbClr val="1F2937"/>
                          </a:solidFill>
                          <a:latin typeface="Arial"/>
                        </a:rPr>
                        <a:t>0.0197</a:t>
                      </a:r>
                      <a:endParaRPr sz="800"/>
                    </a:p>
                  </a:txBody>
                  <a:tcPr marL="36576" marR="36576" marT="0" marB="0" anchor="ctr">
                    <a:noFill/>
                  </a:tcPr>
                </a:tc>
                <a:tc>
                  <a:txBody>
                    <a:bodyPr wrap="none"/>
                    <a:lstStyle/>
                    <a:p>
                      <a:pPr algn="r"/>
                      <a:r>
                        <a:rPr sz="800" b="0" i="0">
                          <a:solidFill>
                            <a:srgbClr val="1F2937"/>
                          </a:solidFill>
                          <a:latin typeface="Arial"/>
                        </a:rPr>
                        <a:t>0.0401</a:t>
                      </a:r>
                      <a:endParaRPr sz="800"/>
                    </a:p>
                  </a:txBody>
                  <a:tcPr marL="36576" marR="36576" marT="0" marB="0" anchor="ctr">
                    <a:noFill/>
                  </a:tcPr>
                </a:tc>
                <a:tc>
                  <a:txBody>
                    <a:bodyPr wrap="none"/>
                    <a:lstStyle/>
                    <a:p>
                      <a:pPr algn="r"/>
                      <a:r>
                        <a:rPr sz="800" b="1" i="0">
                          <a:solidFill>
                            <a:srgbClr val="1F2937"/>
                          </a:solidFill>
                          <a:latin typeface="Arial"/>
                        </a:rPr>
                        <a:t>0.0000</a:t>
                      </a:r>
                      <a:endParaRPr sz="800"/>
                    </a:p>
                  </a:txBody>
                  <a:tcPr marL="36576" marR="36576" marT="0" marB="0" anchor="ctr">
                    <a:noFill/>
                  </a:tcPr>
                </a:tc>
                <a:tc>
                  <a:txBody>
                    <a:bodyPr wrap="none"/>
                    <a:lstStyle/>
                    <a:p>
                      <a:pPr algn="r"/>
                      <a:r>
                        <a:rPr sz="800" b="1" i="0">
                          <a:solidFill>
                            <a:srgbClr val="1F2937"/>
                          </a:solidFill>
                          <a:latin typeface="Arial"/>
                        </a:rPr>
                        <a:t>0.0001</a:t>
                      </a:r>
                      <a:endParaRPr sz="800"/>
                    </a:p>
                  </a:txBody>
                  <a:tcPr marL="36576" marR="36576" marT="0" marB="0" anchor="ctr">
                    <a:noFill/>
                  </a:tcPr>
                </a:tc>
                <a:tc>
                  <a:txBody>
                    <a:bodyPr wrap="none"/>
                    <a:lstStyle/>
                    <a:p>
                      <a:pPr algn="r"/>
                      <a:r>
                        <a:rPr sz="800" b="0" i="0">
                          <a:solidFill>
                            <a:srgbClr val="1F2937"/>
                          </a:solidFill>
                          <a:latin typeface="Arial"/>
                        </a:rPr>
                        <a:t>0.0082</a:t>
                      </a:r>
                      <a:endParaRPr sz="800"/>
                    </a:p>
                  </a:txBody>
                  <a:tcPr marL="36576" marR="36576" marT="0" marB="0" anchor="ctr">
                    <a:noFill/>
                  </a:tcPr>
                </a:tc>
                <a:tc>
                  <a:txBody>
                    <a:bodyPr wrap="none"/>
                    <a:lstStyle/>
                    <a:p>
                      <a:pPr algn="r"/>
                      <a:r>
                        <a:rPr sz="800" b="0" i="0">
                          <a:solidFill>
                            <a:srgbClr val="1F2937"/>
                          </a:solidFill>
                          <a:latin typeface="Arial"/>
                        </a:rPr>
                        <a:t>0.0069</a:t>
                      </a:r>
                      <a:endParaRPr sz="800"/>
                    </a:p>
                  </a:txBody>
                  <a:tcPr marL="36576" marR="36576" marT="0" marB="0" anchor="ctr">
                    <a:noFill/>
                  </a:tcPr>
                </a:tc>
              </a:tr>
              <a:tr h="214884">
                <a:tc>
                  <a:txBody>
                    <a:bodyPr wrap="none"/>
                    <a:lstStyle/>
                    <a:p>
                      <a:pPr algn="l"/>
                      <a:r>
                        <a:rPr sz="800" b="0" i="0">
                          <a:solidFill>
                            <a:srgbClr val="1F2937"/>
                          </a:solidFill>
                          <a:latin typeface="Arial"/>
                        </a:rPr>
                        <a:t>CSDI</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0.0136</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0.0233</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0.0751</a:t>
                      </a:r>
                      <a:endParaRPr sz="800"/>
                    </a:p>
                  </a:txBody>
                  <a:tcPr marL="36576" marR="36576" marT="0" marB="0" anchor="ctr">
                    <a:lnB w="6350">
                      <a:solidFill>
                        <a:srgbClr val="D0D5DD"/>
                      </a:solidFill>
                    </a:lnB>
                    <a:noFill/>
                  </a:tcPr>
                </a:tc>
                <a:tc>
                  <a:txBody>
                    <a:bodyPr wrap="none"/>
                    <a:lstStyle/>
                    <a:p>
                      <a:pPr algn="r"/>
                      <a:r>
                        <a:rPr sz="800" b="1" i="0">
                          <a:solidFill>
                            <a:srgbClr val="1F2937"/>
                          </a:solidFill>
                          <a:latin typeface="Arial"/>
                        </a:rPr>
                        <a:t>0.0000</a:t>
                      </a:r>
                      <a:endParaRPr sz="800"/>
                    </a:p>
                  </a:txBody>
                  <a:tcPr marL="36576" marR="36576" marT="0" marB="0" anchor="ctr">
                    <a:lnB w="6350">
                      <a:solidFill>
                        <a:srgbClr val="D0D5DD"/>
                      </a:solidFill>
                    </a:lnB>
                    <a:noFill/>
                  </a:tcPr>
                </a:tc>
                <a:tc>
                  <a:txBody>
                    <a:bodyPr wrap="none"/>
                    <a:lstStyle/>
                    <a:p>
                      <a:pPr algn="r"/>
                      <a:r>
                        <a:rPr sz="800" b="1" i="0">
                          <a:solidFill>
                            <a:srgbClr val="1F2937"/>
                          </a:solidFill>
                          <a:latin typeface="Arial"/>
                        </a:rPr>
                        <a:t>0.0001</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0.0132</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0.0087</a:t>
                      </a:r>
                      <a:endParaRPr sz="800"/>
                    </a:p>
                  </a:txBody>
                  <a:tcPr marL="36576" marR="36576" marT="0" marB="0" anchor="ctr">
                    <a:lnB w="6350">
                      <a:solidFill>
                        <a:srgbClr val="D0D5DD"/>
                      </a:solidFill>
                    </a:lnB>
                    <a:noFill/>
                  </a:tcPr>
                </a:tc>
              </a:tr>
              <a:tr h="214884">
                <a:tc gridSpan="8">
                  <a:txBody>
                    <a:bodyPr wrap="none"/>
                    <a:lstStyle/>
                    <a:p>
                      <a:pPr algn="l"/>
                      <a:r>
                        <a:rPr sz="800" b="1" i="0">
                          <a:solidFill>
                            <a:srgbClr val="E4572E"/>
                          </a:solidFill>
                          <a:latin typeface="Arial"/>
                        </a:rPr>
                        <a:t>Level (0.04, 0.2, 0.95)</a:t>
                      </a: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r>
              <a:tr h="214884">
                <a:tc>
                  <a:txBody>
                    <a:bodyPr wrap="none"/>
                    <a:lstStyle/>
                    <a:p>
                      <a:pPr algn="l"/>
                      <a:r>
                        <a:rPr sz="800" b="0" i="0">
                          <a:solidFill>
                            <a:srgbClr val="1F2937"/>
                          </a:solidFill>
                          <a:latin typeface="Arial"/>
                        </a:rPr>
                        <a:t>Deletion</a:t>
                      </a:r>
                      <a:endParaRPr sz="800"/>
                    </a:p>
                  </a:txBody>
                  <a:tcPr marL="36576" marR="36576" marT="0" marB="0" anchor="ctr">
                    <a:noFill/>
                  </a:tcPr>
                </a:tc>
                <a:tc>
                  <a:txBody>
                    <a:bodyPr wrap="none"/>
                    <a:lstStyle/>
                    <a:p>
                      <a:pPr algn="r"/>
                      <a:r>
                        <a:rPr sz="800" b="0" i="0">
                          <a:solidFill>
                            <a:srgbClr val="1F2937"/>
                          </a:solidFill>
                          <a:latin typeface="Arial"/>
                        </a:rPr>
                        <a:t>--</a:t>
                      </a:r>
                      <a:endParaRPr sz="800"/>
                    </a:p>
                  </a:txBody>
                  <a:tcPr marL="36576" marR="36576" marT="0" marB="0" anchor="ctr">
                    <a:noFill/>
                  </a:tcPr>
                </a:tc>
                <a:tc>
                  <a:txBody>
                    <a:bodyPr wrap="none"/>
                    <a:lstStyle/>
                    <a:p>
                      <a:pPr algn="r"/>
                      <a:r>
                        <a:rPr sz="800" b="0" i="0">
                          <a:solidFill>
                            <a:srgbClr val="1F2937"/>
                          </a:solidFill>
                          <a:latin typeface="Arial"/>
                        </a:rPr>
                        <a:t>--</a:t>
                      </a:r>
                      <a:endParaRPr sz="800"/>
                    </a:p>
                  </a:txBody>
                  <a:tcPr marL="36576" marR="36576" marT="0" marB="0" anchor="ctr">
                    <a:noFill/>
                  </a:tcPr>
                </a:tc>
                <a:tc>
                  <a:txBody>
                    <a:bodyPr wrap="none"/>
                    <a:lstStyle/>
                    <a:p>
                      <a:pPr algn="r"/>
                      <a:r>
                        <a:rPr sz="800" b="0" i="0">
                          <a:solidFill>
                            <a:srgbClr val="1F2937"/>
                          </a:solidFill>
                          <a:latin typeface="Arial"/>
                        </a:rPr>
                        <a:t>0.5325</a:t>
                      </a:r>
                      <a:endParaRPr sz="800"/>
                    </a:p>
                  </a:txBody>
                  <a:tcPr marL="36576" marR="36576" marT="0" marB="0" anchor="ctr">
                    <a:noFill/>
                  </a:tcPr>
                </a:tc>
                <a:tc>
                  <a:txBody>
                    <a:bodyPr wrap="none"/>
                    <a:lstStyle/>
                    <a:p>
                      <a:pPr algn="r"/>
                      <a:r>
                        <a:rPr sz="800" b="0" i="0">
                          <a:solidFill>
                            <a:srgbClr val="1F2937"/>
                          </a:solidFill>
                          <a:latin typeface="Arial"/>
                        </a:rPr>
                        <a:t>0.0043</a:t>
                      </a:r>
                      <a:endParaRPr sz="800"/>
                    </a:p>
                  </a:txBody>
                  <a:tcPr marL="36576" marR="36576" marT="0" marB="0" anchor="ctr">
                    <a:noFill/>
                  </a:tcPr>
                </a:tc>
                <a:tc>
                  <a:txBody>
                    <a:bodyPr wrap="none"/>
                    <a:lstStyle/>
                    <a:p>
                      <a:pPr algn="r"/>
                      <a:r>
                        <a:rPr sz="800" b="0" i="0">
                          <a:solidFill>
                            <a:srgbClr val="1F2937"/>
                          </a:solidFill>
                          <a:latin typeface="Arial"/>
                        </a:rPr>
                        <a:t>0.0018</a:t>
                      </a:r>
                      <a:endParaRPr sz="800"/>
                    </a:p>
                  </a:txBody>
                  <a:tcPr marL="36576" marR="36576" marT="0" marB="0" anchor="ctr">
                    <a:noFill/>
                  </a:tcPr>
                </a:tc>
                <a:tc>
                  <a:txBody>
                    <a:bodyPr wrap="none"/>
                    <a:lstStyle/>
                    <a:p>
                      <a:pPr algn="r"/>
                      <a:r>
                        <a:rPr sz="800" b="0" i="0">
                          <a:solidFill>
                            <a:srgbClr val="1F2937"/>
                          </a:solidFill>
                          <a:latin typeface="Arial"/>
                        </a:rPr>
                        <a:t>0.1079</a:t>
                      </a:r>
                      <a:endParaRPr sz="800"/>
                    </a:p>
                  </a:txBody>
                  <a:tcPr marL="36576" marR="36576" marT="0" marB="0" anchor="ctr">
                    <a:noFill/>
                  </a:tcPr>
                </a:tc>
                <a:tc>
                  <a:txBody>
                    <a:bodyPr wrap="none"/>
                    <a:lstStyle/>
                    <a:p>
                      <a:pPr algn="r"/>
                      <a:r>
                        <a:rPr sz="800" b="0" i="0">
                          <a:solidFill>
                            <a:srgbClr val="1F2937"/>
                          </a:solidFill>
                          <a:latin typeface="Arial"/>
                        </a:rPr>
                        <a:t>0.0491</a:t>
                      </a:r>
                      <a:endParaRPr sz="800"/>
                    </a:p>
                  </a:txBody>
                  <a:tcPr marL="36576" marR="36576" marT="0" marB="0" anchor="ctr">
                    <a:noFill/>
                  </a:tcPr>
                </a:tc>
              </a:tr>
              <a:tr h="214884">
                <a:tc>
                  <a:txBody>
                    <a:bodyPr wrap="none"/>
                    <a:lstStyle/>
                    <a:p>
                      <a:pPr algn="l"/>
                      <a:r>
                        <a:rPr sz="800" b="0" i="0">
                          <a:solidFill>
                            <a:srgbClr val="1F2937"/>
                          </a:solidFill>
                          <a:latin typeface="Arial"/>
                        </a:rPr>
                        <a:t>Zero</a:t>
                      </a:r>
                      <a:endParaRPr sz="800"/>
                    </a:p>
                  </a:txBody>
                  <a:tcPr marL="36576" marR="36576" marT="0" marB="0" anchor="ctr">
                    <a:noFill/>
                  </a:tcPr>
                </a:tc>
                <a:tc>
                  <a:txBody>
                    <a:bodyPr wrap="none"/>
                    <a:lstStyle/>
                    <a:p>
                      <a:pPr algn="r"/>
                      <a:r>
                        <a:rPr sz="800" b="0" i="0">
                          <a:solidFill>
                            <a:srgbClr val="1F2937"/>
                          </a:solidFill>
                          <a:latin typeface="Arial"/>
                        </a:rPr>
                        <a:t>0.0143</a:t>
                      </a:r>
                      <a:endParaRPr sz="800"/>
                    </a:p>
                  </a:txBody>
                  <a:tcPr marL="36576" marR="36576" marT="0" marB="0" anchor="ctr">
                    <a:noFill/>
                  </a:tcPr>
                </a:tc>
                <a:tc>
                  <a:txBody>
                    <a:bodyPr wrap="none"/>
                    <a:lstStyle/>
                    <a:p>
                      <a:pPr algn="r"/>
                      <a:r>
                        <a:rPr sz="800" b="0" i="0">
                          <a:solidFill>
                            <a:srgbClr val="1F2937"/>
                          </a:solidFill>
                          <a:latin typeface="Arial"/>
                        </a:rPr>
                        <a:t>0.0219</a:t>
                      </a:r>
                      <a:endParaRPr sz="800"/>
                    </a:p>
                  </a:txBody>
                  <a:tcPr marL="36576" marR="36576" marT="0" marB="0" anchor="ctr">
                    <a:noFill/>
                  </a:tcPr>
                </a:tc>
                <a:tc>
                  <a:txBody>
                    <a:bodyPr wrap="none"/>
                    <a:lstStyle/>
                    <a:p>
                      <a:pPr algn="r"/>
                      <a:r>
                        <a:rPr sz="800" b="0" i="0">
                          <a:solidFill>
                            <a:srgbClr val="1F2937"/>
                          </a:solidFill>
                          <a:latin typeface="Arial"/>
                        </a:rPr>
                        <a:t>0.2254</a:t>
                      </a:r>
                      <a:endParaRPr sz="800"/>
                    </a:p>
                  </a:txBody>
                  <a:tcPr marL="36576" marR="36576" marT="0" marB="0" anchor="ctr">
                    <a:noFill/>
                  </a:tcPr>
                </a:tc>
                <a:tc>
                  <a:txBody>
                    <a:bodyPr wrap="none"/>
                    <a:lstStyle/>
                    <a:p>
                      <a:pPr algn="r"/>
                      <a:r>
                        <a:rPr sz="800" b="0" i="0">
                          <a:solidFill>
                            <a:srgbClr val="1F2937"/>
                          </a:solidFill>
                          <a:latin typeface="Arial"/>
                        </a:rPr>
                        <a:t>0.0010</a:t>
                      </a:r>
                      <a:endParaRPr sz="800"/>
                    </a:p>
                  </a:txBody>
                  <a:tcPr marL="36576" marR="36576" marT="0" marB="0" anchor="ctr">
                    <a:noFill/>
                  </a:tcPr>
                </a:tc>
                <a:tc>
                  <a:txBody>
                    <a:bodyPr wrap="none"/>
                    <a:lstStyle/>
                    <a:p>
                      <a:pPr algn="r"/>
                      <a:r>
                        <a:rPr sz="800" b="0" i="0">
                          <a:solidFill>
                            <a:srgbClr val="1F2937"/>
                          </a:solidFill>
                          <a:latin typeface="Arial"/>
                        </a:rPr>
                        <a:t>0.0007</a:t>
                      </a:r>
                      <a:endParaRPr sz="800"/>
                    </a:p>
                  </a:txBody>
                  <a:tcPr marL="36576" marR="36576" marT="0" marB="0" anchor="ctr">
                    <a:noFill/>
                  </a:tcPr>
                </a:tc>
                <a:tc>
                  <a:txBody>
                    <a:bodyPr wrap="none"/>
                    <a:lstStyle/>
                    <a:p>
                      <a:pPr algn="r"/>
                      <a:r>
                        <a:rPr sz="800" b="0" i="0">
                          <a:solidFill>
                            <a:srgbClr val="1F2937"/>
                          </a:solidFill>
                          <a:latin typeface="Arial"/>
                        </a:rPr>
                        <a:t>0.0375</a:t>
                      </a:r>
                      <a:endParaRPr sz="800"/>
                    </a:p>
                  </a:txBody>
                  <a:tcPr marL="36576" marR="36576" marT="0" marB="0" anchor="ctr">
                    <a:noFill/>
                  </a:tcPr>
                </a:tc>
                <a:tc>
                  <a:txBody>
                    <a:bodyPr wrap="none"/>
                    <a:lstStyle/>
                    <a:p>
                      <a:pPr algn="r"/>
                      <a:r>
                        <a:rPr sz="800" b="0" i="0">
                          <a:solidFill>
                            <a:srgbClr val="1F2937"/>
                          </a:solidFill>
                          <a:latin typeface="Arial"/>
                        </a:rPr>
                        <a:t>0.0143</a:t>
                      </a:r>
                      <a:endParaRPr sz="800"/>
                    </a:p>
                  </a:txBody>
                  <a:tcPr marL="36576" marR="36576" marT="0" marB="0" anchor="ctr">
                    <a:noFill/>
                  </a:tcPr>
                </a:tc>
              </a:tr>
              <a:tr h="214884">
                <a:tc>
                  <a:txBody>
                    <a:bodyPr wrap="none"/>
                    <a:lstStyle/>
                    <a:p>
                      <a:pPr algn="l"/>
                      <a:r>
                        <a:rPr sz="800" b="0" i="0">
                          <a:solidFill>
                            <a:srgbClr val="1F2937"/>
                          </a:solidFill>
                          <a:latin typeface="Arial"/>
                        </a:rPr>
                        <a:t>KNN</a:t>
                      </a:r>
                      <a:endParaRPr sz="800"/>
                    </a:p>
                  </a:txBody>
                  <a:tcPr marL="36576" marR="36576" marT="0" marB="0" anchor="ctr">
                    <a:noFill/>
                  </a:tcPr>
                </a:tc>
                <a:tc>
                  <a:txBody>
                    <a:bodyPr wrap="none"/>
                    <a:lstStyle/>
                    <a:p>
                      <a:pPr algn="r"/>
                      <a:r>
                        <a:rPr sz="800" b="0" i="0">
                          <a:solidFill>
                            <a:srgbClr val="1F2937"/>
                          </a:solidFill>
                          <a:latin typeface="Arial"/>
                        </a:rPr>
                        <a:t>0.0092</a:t>
                      </a:r>
                      <a:endParaRPr sz="800"/>
                    </a:p>
                  </a:txBody>
                  <a:tcPr marL="36576" marR="36576" marT="0" marB="0" anchor="ctr">
                    <a:noFill/>
                  </a:tcPr>
                </a:tc>
                <a:tc>
                  <a:txBody>
                    <a:bodyPr wrap="none"/>
                    <a:lstStyle/>
                    <a:p>
                      <a:pPr algn="r"/>
                      <a:r>
                        <a:rPr sz="800" b="0" i="0">
                          <a:solidFill>
                            <a:srgbClr val="1F2937"/>
                          </a:solidFill>
                          <a:latin typeface="Arial"/>
                        </a:rPr>
                        <a:t>0.0141</a:t>
                      </a:r>
                      <a:endParaRPr sz="800"/>
                    </a:p>
                  </a:txBody>
                  <a:tcPr marL="36576" marR="36576" marT="0" marB="0" anchor="ctr">
                    <a:noFill/>
                  </a:tcPr>
                </a:tc>
                <a:tc>
                  <a:txBody>
                    <a:bodyPr wrap="none"/>
                    <a:lstStyle/>
                    <a:p>
                      <a:pPr algn="r"/>
                      <a:r>
                        <a:rPr sz="800" b="0" i="0">
                          <a:solidFill>
                            <a:srgbClr val="1F2937"/>
                          </a:solidFill>
                          <a:latin typeface="Arial"/>
                        </a:rPr>
                        <a:t>0.0562</a:t>
                      </a:r>
                      <a:endParaRPr sz="800"/>
                    </a:p>
                  </a:txBody>
                  <a:tcPr marL="36576" marR="36576" marT="0" marB="0" anchor="ctr">
                    <a:noFill/>
                  </a:tcPr>
                </a:tc>
                <a:tc>
                  <a:txBody>
                    <a:bodyPr wrap="none"/>
                    <a:lstStyle/>
                    <a:p>
                      <a:pPr algn="r"/>
                      <a:r>
                        <a:rPr sz="800" b="0" i="0">
                          <a:solidFill>
                            <a:srgbClr val="1F2937"/>
                          </a:solidFill>
                          <a:latin typeface="Arial"/>
                        </a:rPr>
                        <a:t>0.0003</a:t>
                      </a:r>
                      <a:endParaRPr sz="800"/>
                    </a:p>
                  </a:txBody>
                  <a:tcPr marL="36576" marR="36576" marT="0" marB="0" anchor="ctr">
                    <a:noFill/>
                  </a:tcPr>
                </a:tc>
                <a:tc>
                  <a:txBody>
                    <a:bodyPr wrap="none"/>
                    <a:lstStyle/>
                    <a:p>
                      <a:pPr algn="r"/>
                      <a:r>
                        <a:rPr sz="800" b="0" i="0">
                          <a:solidFill>
                            <a:srgbClr val="1F2937"/>
                          </a:solidFill>
                          <a:latin typeface="Arial"/>
                        </a:rPr>
                        <a:t>0.0002</a:t>
                      </a:r>
                      <a:endParaRPr sz="800"/>
                    </a:p>
                  </a:txBody>
                  <a:tcPr marL="36576" marR="36576" marT="0" marB="0" anchor="ctr">
                    <a:noFill/>
                  </a:tcPr>
                </a:tc>
                <a:tc>
                  <a:txBody>
                    <a:bodyPr wrap="none"/>
                    <a:lstStyle/>
                    <a:p>
                      <a:pPr algn="r"/>
                      <a:r>
                        <a:rPr sz="800" b="0" i="0">
                          <a:solidFill>
                            <a:srgbClr val="1F2937"/>
                          </a:solidFill>
                          <a:latin typeface="Arial"/>
                        </a:rPr>
                        <a:t>0.0092</a:t>
                      </a:r>
                      <a:endParaRPr sz="800"/>
                    </a:p>
                  </a:txBody>
                  <a:tcPr marL="36576" marR="36576" marT="0" marB="0" anchor="ctr">
                    <a:noFill/>
                  </a:tcPr>
                </a:tc>
                <a:tc>
                  <a:txBody>
                    <a:bodyPr wrap="none"/>
                    <a:lstStyle/>
                    <a:p>
                      <a:pPr algn="r"/>
                      <a:r>
                        <a:rPr sz="800" b="0" i="0">
                          <a:solidFill>
                            <a:srgbClr val="1F2937"/>
                          </a:solidFill>
                          <a:latin typeface="Arial"/>
                        </a:rPr>
                        <a:t>0.0067</a:t>
                      </a:r>
                      <a:endParaRPr sz="800"/>
                    </a:p>
                  </a:txBody>
                  <a:tcPr marL="36576" marR="36576" marT="0" marB="0" anchor="ctr">
                    <a:noFill/>
                  </a:tcPr>
                </a:tc>
              </a:tr>
              <a:tr h="214884">
                <a:tc>
                  <a:txBody>
                    <a:bodyPr wrap="none"/>
                    <a:lstStyle/>
                    <a:p>
                      <a:pPr algn="l"/>
                      <a:r>
                        <a:rPr sz="800" b="0" i="0">
                          <a:solidFill>
                            <a:srgbClr val="1F2937"/>
                          </a:solidFill>
                          <a:latin typeface="Arial"/>
                        </a:rPr>
                        <a:t>LowRank</a:t>
                      </a:r>
                      <a:endParaRPr sz="800"/>
                    </a:p>
                  </a:txBody>
                  <a:tcPr marL="36576" marR="36576" marT="0" marB="0" anchor="ctr">
                    <a:noFill/>
                  </a:tcPr>
                </a:tc>
                <a:tc>
                  <a:txBody>
                    <a:bodyPr wrap="none"/>
                    <a:lstStyle/>
                    <a:p>
                      <a:pPr algn="r"/>
                      <a:r>
                        <a:rPr sz="800" b="0" i="0">
                          <a:solidFill>
                            <a:srgbClr val="1F2937"/>
                          </a:solidFill>
                          <a:latin typeface="Arial"/>
                        </a:rPr>
                        <a:t>0.0083</a:t>
                      </a:r>
                      <a:endParaRPr sz="800"/>
                    </a:p>
                  </a:txBody>
                  <a:tcPr marL="36576" marR="36576" marT="0" marB="0" anchor="ctr">
                    <a:noFill/>
                  </a:tcPr>
                </a:tc>
                <a:tc>
                  <a:txBody>
                    <a:bodyPr wrap="none"/>
                    <a:lstStyle/>
                    <a:p>
                      <a:pPr algn="r"/>
                      <a:r>
                        <a:rPr sz="800" b="0" i="0">
                          <a:solidFill>
                            <a:srgbClr val="1F2937"/>
                          </a:solidFill>
                          <a:latin typeface="Arial"/>
                        </a:rPr>
                        <a:t>0.0125</a:t>
                      </a:r>
                      <a:endParaRPr sz="800"/>
                    </a:p>
                  </a:txBody>
                  <a:tcPr marL="36576" marR="36576" marT="0" marB="0" anchor="ctr">
                    <a:noFill/>
                  </a:tcPr>
                </a:tc>
                <a:tc>
                  <a:txBody>
                    <a:bodyPr wrap="none"/>
                    <a:lstStyle/>
                    <a:p>
                      <a:pPr algn="r"/>
                      <a:r>
                        <a:rPr sz="800" b="0" i="0">
                          <a:solidFill>
                            <a:srgbClr val="1F2937"/>
                          </a:solidFill>
                          <a:latin typeface="Arial"/>
                        </a:rPr>
                        <a:t>0.0253</a:t>
                      </a:r>
                      <a:endParaRPr sz="800"/>
                    </a:p>
                  </a:txBody>
                  <a:tcPr marL="36576" marR="36576" marT="0" marB="0" anchor="ctr">
                    <a:noFill/>
                  </a:tcPr>
                </a:tc>
                <a:tc>
                  <a:txBody>
                    <a:bodyPr wrap="none"/>
                    <a:lstStyle/>
                    <a:p>
                      <a:pPr algn="r"/>
                      <a:r>
                        <a:rPr sz="800" b="1" i="0">
                          <a:solidFill>
                            <a:srgbClr val="1F2937"/>
                          </a:solidFill>
                          <a:latin typeface="Arial"/>
                        </a:rPr>
                        <a:t>0.0002</a:t>
                      </a:r>
                      <a:endParaRPr sz="800"/>
                    </a:p>
                  </a:txBody>
                  <a:tcPr marL="36576" marR="36576" marT="0" marB="0" anchor="ctr">
                    <a:noFill/>
                  </a:tcPr>
                </a:tc>
                <a:tc>
                  <a:txBody>
                    <a:bodyPr wrap="none"/>
                    <a:lstStyle/>
                    <a:p>
                      <a:pPr algn="r"/>
                      <a:r>
                        <a:rPr sz="800" b="1" i="0">
                          <a:solidFill>
                            <a:srgbClr val="1F2937"/>
                          </a:solidFill>
                          <a:latin typeface="Arial"/>
                        </a:rPr>
                        <a:t>0.0001</a:t>
                      </a:r>
                      <a:endParaRPr sz="800"/>
                    </a:p>
                  </a:txBody>
                  <a:tcPr marL="36576" marR="36576" marT="0" marB="0" anchor="ctr">
                    <a:noFill/>
                  </a:tcPr>
                </a:tc>
                <a:tc>
                  <a:txBody>
                    <a:bodyPr wrap="none"/>
                    <a:lstStyle/>
                    <a:p>
                      <a:pPr algn="r"/>
                      <a:r>
                        <a:rPr sz="800" b="0" i="0">
                          <a:solidFill>
                            <a:srgbClr val="1F2937"/>
                          </a:solidFill>
                          <a:latin typeface="Arial"/>
                        </a:rPr>
                        <a:t>0.0068</a:t>
                      </a:r>
                      <a:endParaRPr sz="800"/>
                    </a:p>
                  </a:txBody>
                  <a:tcPr marL="36576" marR="36576" marT="0" marB="0" anchor="ctr">
                    <a:noFill/>
                  </a:tcPr>
                </a:tc>
                <a:tc>
                  <a:txBody>
                    <a:bodyPr wrap="none"/>
                    <a:lstStyle/>
                    <a:p>
                      <a:pPr algn="r"/>
                      <a:r>
                        <a:rPr sz="800" b="0" i="0">
                          <a:solidFill>
                            <a:srgbClr val="1F2937"/>
                          </a:solidFill>
                          <a:latin typeface="Arial"/>
                        </a:rPr>
                        <a:t>0.0052</a:t>
                      </a:r>
                      <a:endParaRPr sz="800"/>
                    </a:p>
                  </a:txBody>
                  <a:tcPr marL="36576" marR="36576" marT="0" marB="0" anchor="ctr">
                    <a:noFill/>
                  </a:tcPr>
                </a:tc>
              </a:tr>
              <a:tr h="214884">
                <a:tc>
                  <a:txBody>
                    <a:bodyPr wrap="none"/>
                    <a:lstStyle/>
                    <a:p>
                      <a:pPr algn="l"/>
                      <a:r>
                        <a:rPr sz="800" b="0" i="0">
                          <a:solidFill>
                            <a:srgbClr val="1F2937"/>
                          </a:solidFill>
                          <a:latin typeface="Arial"/>
                        </a:rPr>
                        <a:t>EM</a:t>
                      </a:r>
                      <a:endParaRPr sz="800"/>
                    </a:p>
                  </a:txBody>
                  <a:tcPr marL="36576" marR="36576" marT="0" marB="0" anchor="ctr">
                    <a:noFill/>
                  </a:tcPr>
                </a:tc>
                <a:tc>
                  <a:txBody>
                    <a:bodyPr wrap="none"/>
                    <a:lstStyle/>
                    <a:p>
                      <a:pPr algn="r"/>
                      <a:r>
                        <a:rPr sz="800" b="1" i="0">
                          <a:solidFill>
                            <a:srgbClr val="1F2937"/>
                          </a:solidFill>
                          <a:latin typeface="Arial"/>
                        </a:rPr>
                        <a:t>0.0077</a:t>
                      </a:r>
                      <a:endParaRPr sz="800"/>
                    </a:p>
                  </a:txBody>
                  <a:tcPr marL="36576" marR="36576" marT="0" marB="0" anchor="ctr">
                    <a:noFill/>
                  </a:tcPr>
                </a:tc>
                <a:tc>
                  <a:txBody>
                    <a:bodyPr wrap="none"/>
                    <a:lstStyle/>
                    <a:p>
                      <a:pPr algn="r"/>
                      <a:r>
                        <a:rPr sz="800" b="1" i="0">
                          <a:solidFill>
                            <a:srgbClr val="1F2937"/>
                          </a:solidFill>
                          <a:latin typeface="Arial"/>
                        </a:rPr>
                        <a:t>0.0117</a:t>
                      </a:r>
                      <a:endParaRPr sz="800"/>
                    </a:p>
                  </a:txBody>
                  <a:tcPr marL="36576" marR="36576" marT="0" marB="0" anchor="ctr">
                    <a:noFill/>
                  </a:tcPr>
                </a:tc>
                <a:tc>
                  <a:txBody>
                    <a:bodyPr wrap="none"/>
                    <a:lstStyle/>
                    <a:p>
                      <a:pPr algn="r"/>
                      <a:r>
                        <a:rPr sz="800" b="1" i="0">
                          <a:solidFill>
                            <a:srgbClr val="1F2937"/>
                          </a:solidFill>
                          <a:latin typeface="Arial"/>
                        </a:rPr>
                        <a:t>0.0217</a:t>
                      </a:r>
                      <a:endParaRPr sz="800"/>
                    </a:p>
                  </a:txBody>
                  <a:tcPr marL="36576" marR="36576" marT="0" marB="0" anchor="ctr">
                    <a:noFill/>
                  </a:tcPr>
                </a:tc>
                <a:tc>
                  <a:txBody>
                    <a:bodyPr wrap="none"/>
                    <a:lstStyle/>
                    <a:p>
                      <a:pPr algn="r"/>
                      <a:r>
                        <a:rPr sz="800" b="1" i="0">
                          <a:solidFill>
                            <a:srgbClr val="1F2937"/>
                          </a:solidFill>
                          <a:latin typeface="Arial"/>
                        </a:rPr>
                        <a:t>0.0002</a:t>
                      </a:r>
                      <a:endParaRPr sz="800"/>
                    </a:p>
                  </a:txBody>
                  <a:tcPr marL="36576" marR="36576" marT="0" marB="0" anchor="ctr">
                    <a:noFill/>
                  </a:tcPr>
                </a:tc>
                <a:tc>
                  <a:txBody>
                    <a:bodyPr wrap="none"/>
                    <a:lstStyle/>
                    <a:p>
                      <a:pPr algn="r"/>
                      <a:r>
                        <a:rPr sz="800" b="1" i="0">
                          <a:solidFill>
                            <a:srgbClr val="1F2937"/>
                          </a:solidFill>
                          <a:latin typeface="Arial"/>
                        </a:rPr>
                        <a:t>0.0001</a:t>
                      </a:r>
                      <a:endParaRPr sz="800"/>
                    </a:p>
                  </a:txBody>
                  <a:tcPr marL="36576" marR="36576" marT="0" marB="0" anchor="ctr">
                    <a:noFill/>
                  </a:tcPr>
                </a:tc>
                <a:tc>
                  <a:txBody>
                    <a:bodyPr wrap="none"/>
                    <a:lstStyle/>
                    <a:p>
                      <a:pPr algn="r"/>
                      <a:r>
                        <a:rPr sz="800" b="1" i="0">
                          <a:solidFill>
                            <a:srgbClr val="1F2937"/>
                          </a:solidFill>
                          <a:latin typeface="Arial"/>
                        </a:rPr>
                        <a:t>0.0062</a:t>
                      </a:r>
                      <a:endParaRPr sz="800"/>
                    </a:p>
                  </a:txBody>
                  <a:tcPr marL="36576" marR="36576" marT="0" marB="0" anchor="ctr">
                    <a:noFill/>
                  </a:tcPr>
                </a:tc>
                <a:tc>
                  <a:txBody>
                    <a:bodyPr wrap="none"/>
                    <a:lstStyle/>
                    <a:p>
                      <a:pPr algn="r"/>
                      <a:r>
                        <a:rPr sz="800" b="1" i="0">
                          <a:solidFill>
                            <a:srgbClr val="1F2937"/>
                          </a:solidFill>
                          <a:latin typeface="Arial"/>
                        </a:rPr>
                        <a:t>0.0048</a:t>
                      </a:r>
                      <a:endParaRPr sz="800"/>
                    </a:p>
                  </a:txBody>
                  <a:tcPr marL="36576" marR="36576" marT="0" marB="0" anchor="ctr">
                    <a:noFill/>
                  </a:tcPr>
                </a:tc>
              </a:tr>
              <a:tr h="214884">
                <a:tc>
                  <a:txBody>
                    <a:bodyPr wrap="none"/>
                    <a:lstStyle/>
                    <a:p>
                      <a:pPr algn="l"/>
                      <a:r>
                        <a:rPr sz="800" b="0" i="0">
                          <a:solidFill>
                            <a:srgbClr val="1F2937"/>
                          </a:solidFill>
                          <a:latin typeface="Arial"/>
                        </a:rPr>
                        <a:t>BRITS</a:t>
                      </a:r>
                      <a:endParaRPr sz="800"/>
                    </a:p>
                  </a:txBody>
                  <a:tcPr marL="36576" marR="36576" marT="0" marB="0" anchor="ctr">
                    <a:noFill/>
                  </a:tcPr>
                </a:tc>
                <a:tc>
                  <a:txBody>
                    <a:bodyPr wrap="none"/>
                    <a:lstStyle/>
                    <a:p>
                      <a:pPr algn="r"/>
                      <a:r>
                        <a:rPr sz="800" b="0" i="0">
                          <a:solidFill>
                            <a:srgbClr val="1F2937"/>
                          </a:solidFill>
                          <a:latin typeface="Arial"/>
                        </a:rPr>
                        <a:t>0.0078</a:t>
                      </a:r>
                      <a:endParaRPr sz="800"/>
                    </a:p>
                  </a:txBody>
                  <a:tcPr marL="36576" marR="36576" marT="0" marB="0" anchor="ctr">
                    <a:noFill/>
                  </a:tcPr>
                </a:tc>
                <a:tc>
                  <a:txBody>
                    <a:bodyPr wrap="none"/>
                    <a:lstStyle/>
                    <a:p>
                      <a:pPr algn="r"/>
                      <a:r>
                        <a:rPr sz="800" b="0" i="0">
                          <a:solidFill>
                            <a:srgbClr val="1F2937"/>
                          </a:solidFill>
                          <a:latin typeface="Arial"/>
                        </a:rPr>
                        <a:t>0.0118</a:t>
                      </a:r>
                      <a:endParaRPr sz="800"/>
                    </a:p>
                  </a:txBody>
                  <a:tcPr marL="36576" marR="36576" marT="0" marB="0" anchor="ctr">
                    <a:noFill/>
                  </a:tcPr>
                </a:tc>
                <a:tc>
                  <a:txBody>
                    <a:bodyPr wrap="none"/>
                    <a:lstStyle/>
                    <a:p>
                      <a:pPr algn="r"/>
                      <a:r>
                        <a:rPr sz="800" b="0" i="0">
                          <a:solidFill>
                            <a:srgbClr val="1F2937"/>
                          </a:solidFill>
                          <a:latin typeface="Arial"/>
                        </a:rPr>
                        <a:t>0.0231</a:t>
                      </a:r>
                      <a:endParaRPr sz="800"/>
                    </a:p>
                  </a:txBody>
                  <a:tcPr marL="36576" marR="36576" marT="0" marB="0" anchor="ctr">
                    <a:noFill/>
                  </a:tcPr>
                </a:tc>
                <a:tc>
                  <a:txBody>
                    <a:bodyPr wrap="none"/>
                    <a:lstStyle/>
                    <a:p>
                      <a:pPr algn="r"/>
                      <a:r>
                        <a:rPr sz="800" b="1" i="0">
                          <a:solidFill>
                            <a:srgbClr val="1F2937"/>
                          </a:solidFill>
                          <a:latin typeface="Arial"/>
                        </a:rPr>
                        <a:t>0.0002</a:t>
                      </a:r>
                      <a:endParaRPr sz="800"/>
                    </a:p>
                  </a:txBody>
                  <a:tcPr marL="36576" marR="36576" marT="0" marB="0" anchor="ctr">
                    <a:noFill/>
                  </a:tcPr>
                </a:tc>
                <a:tc>
                  <a:txBody>
                    <a:bodyPr wrap="none"/>
                    <a:lstStyle/>
                    <a:p>
                      <a:pPr algn="r"/>
                      <a:r>
                        <a:rPr sz="800" b="1" i="0">
                          <a:solidFill>
                            <a:srgbClr val="1F2937"/>
                          </a:solidFill>
                          <a:latin typeface="Arial"/>
                        </a:rPr>
                        <a:t>0.0001</a:t>
                      </a:r>
                      <a:endParaRPr sz="800"/>
                    </a:p>
                  </a:txBody>
                  <a:tcPr marL="36576" marR="36576" marT="0" marB="0" anchor="ctr">
                    <a:noFill/>
                  </a:tcPr>
                </a:tc>
                <a:tc>
                  <a:txBody>
                    <a:bodyPr wrap="none"/>
                    <a:lstStyle/>
                    <a:p>
                      <a:pPr algn="r"/>
                      <a:r>
                        <a:rPr sz="800" b="0" i="0">
                          <a:solidFill>
                            <a:srgbClr val="1F2937"/>
                          </a:solidFill>
                          <a:latin typeface="Arial"/>
                        </a:rPr>
                        <a:t>0.0064</a:t>
                      </a:r>
                      <a:endParaRPr sz="800"/>
                    </a:p>
                  </a:txBody>
                  <a:tcPr marL="36576" marR="36576" marT="0" marB="0" anchor="ctr">
                    <a:noFill/>
                  </a:tcPr>
                </a:tc>
                <a:tc>
                  <a:txBody>
                    <a:bodyPr wrap="none"/>
                    <a:lstStyle/>
                    <a:p>
                      <a:pPr algn="r"/>
                      <a:r>
                        <a:rPr sz="800" b="0" i="0">
                          <a:solidFill>
                            <a:srgbClr val="1F2937"/>
                          </a:solidFill>
                          <a:latin typeface="Arial"/>
                        </a:rPr>
                        <a:t>0.0049</a:t>
                      </a:r>
                      <a:endParaRPr sz="800"/>
                    </a:p>
                  </a:txBody>
                  <a:tcPr marL="36576" marR="36576" marT="0" marB="0" anchor="ctr">
                    <a:noFill/>
                  </a:tcPr>
                </a:tc>
              </a:tr>
              <a:tr h="214884">
                <a:tc>
                  <a:txBody>
                    <a:bodyPr wrap="none"/>
                    <a:lstStyle/>
                    <a:p>
                      <a:pPr algn="l"/>
                      <a:r>
                        <a:rPr sz="800" b="0" i="0">
                          <a:solidFill>
                            <a:srgbClr val="1F2937"/>
                          </a:solidFill>
                          <a:latin typeface="Arial"/>
                        </a:rPr>
                        <a:t>CSDI</a:t>
                      </a:r>
                      <a:endParaRPr sz="800"/>
                    </a:p>
                  </a:txBody>
                  <a:tcPr marL="36576" marR="36576" marT="0" marB="0" anchor="ctr">
                    <a:lnB w="15875">
                      <a:solidFill>
                        <a:srgbClr val="14213D"/>
                      </a:solidFill>
                    </a:lnB>
                    <a:noFill/>
                  </a:tcPr>
                </a:tc>
                <a:tc>
                  <a:txBody>
                    <a:bodyPr wrap="none"/>
                    <a:lstStyle/>
                    <a:p>
                      <a:pPr algn="r"/>
                      <a:r>
                        <a:rPr sz="800" b="0" i="0">
                          <a:solidFill>
                            <a:srgbClr val="1F2937"/>
                          </a:solidFill>
                          <a:latin typeface="Arial"/>
                        </a:rPr>
                        <a:t>0.0078</a:t>
                      </a:r>
                      <a:endParaRPr sz="800"/>
                    </a:p>
                  </a:txBody>
                  <a:tcPr marL="36576" marR="36576" marT="0" marB="0" anchor="ctr">
                    <a:lnB w="15875">
                      <a:solidFill>
                        <a:srgbClr val="14213D"/>
                      </a:solidFill>
                    </a:lnB>
                    <a:noFill/>
                  </a:tcPr>
                </a:tc>
                <a:tc>
                  <a:txBody>
                    <a:bodyPr wrap="none"/>
                    <a:lstStyle/>
                    <a:p>
                      <a:pPr algn="r"/>
                      <a:r>
                        <a:rPr sz="800" b="0" i="0">
                          <a:solidFill>
                            <a:srgbClr val="1F2937"/>
                          </a:solidFill>
                          <a:latin typeface="Arial"/>
                        </a:rPr>
                        <a:t>0.0122</a:t>
                      </a:r>
                      <a:endParaRPr sz="800"/>
                    </a:p>
                  </a:txBody>
                  <a:tcPr marL="36576" marR="36576" marT="0" marB="0" anchor="ctr">
                    <a:lnB w="15875">
                      <a:solidFill>
                        <a:srgbClr val="14213D"/>
                      </a:solidFill>
                    </a:lnB>
                    <a:noFill/>
                  </a:tcPr>
                </a:tc>
                <a:tc>
                  <a:txBody>
                    <a:bodyPr wrap="none"/>
                    <a:lstStyle/>
                    <a:p>
                      <a:pPr algn="r"/>
                      <a:r>
                        <a:rPr sz="800" b="0" i="0">
                          <a:solidFill>
                            <a:srgbClr val="1F2937"/>
                          </a:solidFill>
                          <a:latin typeface="Arial"/>
                        </a:rPr>
                        <a:t>0.0374</a:t>
                      </a:r>
                      <a:endParaRPr sz="800"/>
                    </a:p>
                  </a:txBody>
                  <a:tcPr marL="36576" marR="36576" marT="0" marB="0" anchor="ctr">
                    <a:lnB w="15875">
                      <a:solidFill>
                        <a:srgbClr val="14213D"/>
                      </a:solidFill>
                    </a:lnB>
                    <a:noFill/>
                  </a:tcPr>
                </a:tc>
                <a:tc>
                  <a:txBody>
                    <a:bodyPr wrap="none"/>
                    <a:lstStyle/>
                    <a:p>
                      <a:pPr algn="r"/>
                      <a:r>
                        <a:rPr sz="800" b="1" i="0">
                          <a:solidFill>
                            <a:srgbClr val="1F2937"/>
                          </a:solidFill>
                          <a:latin typeface="Arial"/>
                        </a:rPr>
                        <a:t>0.0002</a:t>
                      </a:r>
                      <a:endParaRPr sz="800"/>
                    </a:p>
                  </a:txBody>
                  <a:tcPr marL="36576" marR="36576" marT="0" marB="0" anchor="ctr">
                    <a:lnB w="15875">
                      <a:solidFill>
                        <a:srgbClr val="14213D"/>
                      </a:solidFill>
                    </a:lnB>
                    <a:noFill/>
                  </a:tcPr>
                </a:tc>
                <a:tc>
                  <a:txBody>
                    <a:bodyPr wrap="none"/>
                    <a:lstStyle/>
                    <a:p>
                      <a:pPr algn="r"/>
                      <a:r>
                        <a:rPr sz="800" b="1" i="0">
                          <a:solidFill>
                            <a:srgbClr val="1F2937"/>
                          </a:solidFill>
                          <a:latin typeface="Arial"/>
                        </a:rPr>
                        <a:t>0.0001</a:t>
                      </a:r>
                      <a:endParaRPr sz="800"/>
                    </a:p>
                  </a:txBody>
                  <a:tcPr marL="36576" marR="36576" marT="0" marB="0" anchor="ctr">
                    <a:lnB w="15875">
                      <a:solidFill>
                        <a:srgbClr val="14213D"/>
                      </a:solidFill>
                    </a:lnB>
                    <a:noFill/>
                  </a:tcPr>
                </a:tc>
                <a:tc>
                  <a:txBody>
                    <a:bodyPr wrap="none"/>
                    <a:lstStyle/>
                    <a:p>
                      <a:pPr algn="r"/>
                      <a:r>
                        <a:rPr sz="800" b="0" i="0">
                          <a:solidFill>
                            <a:srgbClr val="1F2937"/>
                          </a:solidFill>
                          <a:latin typeface="Arial"/>
                        </a:rPr>
                        <a:t>0.0078</a:t>
                      </a:r>
                      <a:endParaRPr sz="800"/>
                    </a:p>
                  </a:txBody>
                  <a:tcPr marL="36576" marR="36576" marT="0" marB="0" anchor="ctr">
                    <a:lnB w="15875">
                      <a:solidFill>
                        <a:srgbClr val="14213D"/>
                      </a:solidFill>
                    </a:lnB>
                    <a:noFill/>
                  </a:tcPr>
                </a:tc>
                <a:tc>
                  <a:txBody>
                    <a:bodyPr wrap="none"/>
                    <a:lstStyle/>
                    <a:p>
                      <a:pPr algn="r"/>
                      <a:r>
                        <a:rPr sz="800" b="0" i="0">
                          <a:solidFill>
                            <a:srgbClr val="1F2937"/>
                          </a:solidFill>
                          <a:latin typeface="Arial"/>
                        </a:rPr>
                        <a:t>0.0061</a:t>
                      </a:r>
                      <a:endParaRPr sz="800"/>
                    </a:p>
                  </a:txBody>
                  <a:tcPr marL="36576" marR="36576" marT="0" marB="0" anchor="ctr">
                    <a:lnB w="15875">
                      <a:solidFill>
                        <a:srgbClr val="14213D"/>
                      </a:solidFill>
                    </a:lnB>
                    <a:noFill/>
                  </a:tcPr>
                </a:tc>
              </a:tr>
            </a:tbl>
          </a:graphicData>
        </a:graphic>
      </p:graphicFrame>
      <p:graphicFrame>
        <p:nvGraphicFramePr>
          <p:cNvPr id="8" name="Table 7"/>
          <p:cNvGraphicFramePr>
            <a:graphicFrameLocks noGrp="1"/>
          </p:cNvGraphicFramePr>
          <p:nvPr/>
        </p:nvGraphicFramePr>
        <p:xfrm>
          <a:off x="6217920" y="1051560"/>
          <a:ext cx="5440680" cy="3653028"/>
        </p:xfrm>
        <a:graphic>
          <a:graphicData uri="http://schemas.openxmlformats.org/drawingml/2006/table">
            <a:tbl>
              <a:tblPr firstRow="0" bandRow="0">
                <a:tableStyleId>{2D5ABB26-0587-4C30-8999-92F81FD0307C}</a:tableStyleId>
              </a:tblPr>
              <a:tblGrid>
                <a:gridCol w="713232"/>
                <a:gridCol w="658368"/>
                <a:gridCol w="658368"/>
                <a:gridCol w="658368"/>
                <a:gridCol w="658368"/>
                <a:gridCol w="658368"/>
                <a:gridCol w="777240"/>
                <a:gridCol w="658368"/>
              </a:tblGrid>
              <a:tr h="214884">
                <a:tc>
                  <a:txBody>
                    <a:bodyPr wrap="none"/>
                    <a:lstStyle/>
                    <a:p>
                      <a:pPr algn="l"/>
                      <a:r>
                        <a:rPr sz="800" b="1" i="0">
                          <a:solidFill>
                            <a:srgbClr val="1F2937"/>
                          </a:solidFill>
                          <a:latin typeface="Arial"/>
                        </a:rPr>
                        <a:t>Model</a:t>
                      </a:r>
                      <a:endParaRPr sz="800"/>
                    </a:p>
                  </a:txBody>
                  <a:tcPr marL="36576" marR="36576" marT="0" marB="0" anchor="ctr">
                    <a:lnT w="15875">
                      <a:solidFill>
                        <a:srgbClr val="14213D"/>
                      </a:solidFill>
                    </a:lnT>
                    <a:lnB w="9525">
                      <a:solidFill>
                        <a:srgbClr val="14213D"/>
                      </a:solidFill>
                    </a:lnB>
                    <a:noFill/>
                  </a:tcPr>
                </a:tc>
                <a:tc>
                  <a:txBody>
                    <a:bodyPr wrap="none"/>
                    <a:lstStyle/>
                    <a:p>
                      <a:pPr algn="r"/>
                      <a:r>
                        <a:rPr sz="800" b="1" i="0">
                          <a:solidFill>
                            <a:srgbClr val="1F2937"/>
                          </a:solidFill>
                          <a:latin typeface="Arial"/>
                        </a:rPr>
                        <a:t>MAE</a:t>
                      </a:r>
                      <a:endParaRPr sz="800"/>
                    </a:p>
                  </a:txBody>
                  <a:tcPr marL="36576" marR="36576" marT="0" marB="0" anchor="ctr">
                    <a:lnT w="15875">
                      <a:solidFill>
                        <a:srgbClr val="14213D"/>
                      </a:solidFill>
                    </a:lnT>
                    <a:lnB w="9525">
                      <a:solidFill>
                        <a:srgbClr val="14213D"/>
                      </a:solidFill>
                    </a:lnB>
                    <a:noFill/>
                  </a:tcPr>
                </a:tc>
                <a:tc>
                  <a:txBody>
                    <a:bodyPr wrap="none"/>
                    <a:lstStyle/>
                    <a:p>
                      <a:pPr algn="r"/>
                      <a:r>
                        <a:rPr sz="800" b="1" i="0">
                          <a:solidFill>
                            <a:srgbClr val="1F2937"/>
                          </a:solidFill>
                          <a:latin typeface="Arial"/>
                        </a:rPr>
                        <a:t>RMSE</a:t>
                      </a:r>
                      <a:endParaRPr sz="800"/>
                    </a:p>
                  </a:txBody>
                  <a:tcPr marL="36576" marR="36576" marT="0" marB="0" anchor="ctr">
                    <a:lnT w="15875">
                      <a:solidFill>
                        <a:srgbClr val="14213D"/>
                      </a:solidFill>
                    </a:lnT>
                    <a:lnB w="9525">
                      <a:solidFill>
                        <a:srgbClr val="14213D"/>
                      </a:solidFill>
                    </a:lnB>
                    <a:noFill/>
                  </a:tcPr>
                </a:tc>
                <a:tc>
                  <a:txBody>
                    <a:bodyPr wrap="none"/>
                    <a:lstStyle/>
                    <a:p>
                      <a:pPr algn="r"/>
                      <a:r>
                        <a:rPr sz="800" b="1" i="0">
                          <a:solidFill>
                            <a:srgbClr val="1F2937"/>
                          </a:solidFill>
                          <a:latin typeface="Arial"/>
                        </a:rPr>
                        <a:t>CovErr</a:t>
                      </a:r>
                      <a:endParaRPr sz="800"/>
                    </a:p>
                  </a:txBody>
                  <a:tcPr marL="36576" marR="36576" marT="0" marB="0" anchor="ctr">
                    <a:lnT w="15875">
                      <a:solidFill>
                        <a:srgbClr val="14213D"/>
                      </a:solidFill>
                    </a:lnT>
                    <a:lnB w="9525">
                      <a:solidFill>
                        <a:srgbClr val="14213D"/>
                      </a:solidFill>
                    </a:lnB>
                    <a:noFill/>
                  </a:tcPr>
                </a:tc>
                <a:tc>
                  <a:txBody>
                    <a:bodyPr wrap="none"/>
                    <a:lstStyle/>
                    <a:p>
                      <a:pPr algn="r"/>
                      <a:r>
                        <a:rPr sz="800" b="1" i="0">
                          <a:solidFill>
                            <a:srgbClr val="1F2937"/>
                          </a:solidFill>
                          <a:latin typeface="Arial"/>
                        </a:rPr>
                        <a:t>VaRErr</a:t>
                      </a:r>
                      <a:endParaRPr sz="800"/>
                    </a:p>
                  </a:txBody>
                  <a:tcPr marL="36576" marR="36576" marT="0" marB="0" anchor="ctr">
                    <a:lnT w="15875">
                      <a:solidFill>
                        <a:srgbClr val="14213D"/>
                      </a:solidFill>
                    </a:lnT>
                    <a:lnB w="9525">
                      <a:solidFill>
                        <a:srgbClr val="14213D"/>
                      </a:solidFill>
                    </a:lnB>
                    <a:noFill/>
                  </a:tcPr>
                </a:tc>
                <a:tc>
                  <a:txBody>
                    <a:bodyPr wrap="none"/>
                    <a:lstStyle/>
                    <a:p>
                      <a:pPr algn="r"/>
                      <a:r>
                        <a:rPr sz="800" b="1" i="0">
                          <a:solidFill>
                            <a:srgbClr val="1F2937"/>
                          </a:solidFill>
                          <a:latin typeface="Arial"/>
                        </a:rPr>
                        <a:t>WassErr</a:t>
                      </a:r>
                      <a:endParaRPr sz="800"/>
                    </a:p>
                  </a:txBody>
                  <a:tcPr marL="36576" marR="36576" marT="0" marB="0" anchor="ctr">
                    <a:lnT w="15875">
                      <a:solidFill>
                        <a:srgbClr val="14213D"/>
                      </a:solidFill>
                    </a:lnT>
                    <a:lnB w="9525">
                      <a:solidFill>
                        <a:srgbClr val="14213D"/>
                      </a:solidFill>
                    </a:lnB>
                    <a:noFill/>
                  </a:tcPr>
                </a:tc>
                <a:tc>
                  <a:txBody>
                    <a:bodyPr wrap="none"/>
                    <a:lstStyle/>
                    <a:p>
                      <a:pPr algn="r"/>
                      <a:r>
                        <a:rPr sz="800" b="1" i="0">
                          <a:solidFill>
                            <a:srgbClr val="1F2937"/>
                          </a:solidFill>
                          <a:latin typeface="Arial"/>
                        </a:rPr>
                        <a:t>AbsACFErr</a:t>
                      </a:r>
                      <a:endParaRPr sz="800"/>
                    </a:p>
                  </a:txBody>
                  <a:tcPr marL="36576" marR="36576" marT="0" marB="0" anchor="ctr">
                    <a:lnT w="15875">
                      <a:solidFill>
                        <a:srgbClr val="14213D"/>
                      </a:solidFill>
                    </a:lnT>
                    <a:lnB w="9525">
                      <a:solidFill>
                        <a:srgbClr val="14213D"/>
                      </a:solidFill>
                    </a:lnB>
                    <a:noFill/>
                  </a:tcPr>
                </a:tc>
                <a:tc>
                  <a:txBody>
                    <a:bodyPr wrap="none"/>
                    <a:lstStyle/>
                    <a:p>
                      <a:pPr algn="r"/>
                      <a:r>
                        <a:rPr sz="800" b="1" i="0">
                          <a:solidFill>
                            <a:srgbClr val="1F2937"/>
                          </a:solidFill>
                          <a:latin typeface="Arial"/>
                        </a:rPr>
                        <a:t>LevErr</a:t>
                      </a:r>
                      <a:endParaRPr sz="800"/>
                    </a:p>
                  </a:txBody>
                  <a:tcPr marL="36576" marR="36576" marT="0" marB="0" anchor="ctr">
                    <a:lnT w="15875">
                      <a:solidFill>
                        <a:srgbClr val="14213D"/>
                      </a:solidFill>
                    </a:lnT>
                    <a:lnB w="9525">
                      <a:solidFill>
                        <a:srgbClr val="14213D"/>
                      </a:solidFill>
                    </a:lnB>
                    <a:noFill/>
                  </a:tcPr>
                </a:tc>
              </a:tr>
              <a:tr h="214884">
                <a:tc gridSpan="8">
                  <a:txBody>
                    <a:bodyPr wrap="none"/>
                    <a:lstStyle/>
                    <a:p>
                      <a:pPr algn="l"/>
                      <a:r>
                        <a:rPr sz="800" b="1" i="0">
                          <a:solidFill>
                            <a:srgbClr val="E4572E"/>
                          </a:solidFill>
                          <a:latin typeface="Arial"/>
                        </a:rPr>
                        <a:t>Level (0.05, 0.5, 0.9)</a:t>
                      </a: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r>
              <a:tr h="214884">
                <a:tc>
                  <a:txBody>
                    <a:bodyPr wrap="none"/>
                    <a:lstStyle/>
                    <a:p>
                      <a:pPr algn="l"/>
                      <a:r>
                        <a:rPr sz="800" b="0" i="0">
                          <a:solidFill>
                            <a:srgbClr val="1F2937"/>
                          </a:solidFill>
                          <a:latin typeface="Arial"/>
                        </a:rPr>
                        <a:t>Deletion</a:t>
                      </a:r>
                      <a:endParaRPr sz="800"/>
                    </a:p>
                  </a:txBody>
                  <a:tcPr marL="36576" marR="36576" marT="0" marB="0" anchor="ctr">
                    <a:noFill/>
                  </a:tcPr>
                </a:tc>
                <a:tc>
                  <a:txBody>
                    <a:bodyPr wrap="none"/>
                    <a:lstStyle/>
                    <a:p>
                      <a:pPr algn="r"/>
                      <a:r>
                        <a:rPr sz="800" b="0" i="0">
                          <a:solidFill>
                            <a:srgbClr val="1F2937"/>
                          </a:solidFill>
                          <a:latin typeface="Arial"/>
                        </a:rPr>
                        <a:t>--</a:t>
                      </a:r>
                      <a:endParaRPr sz="800"/>
                    </a:p>
                  </a:txBody>
                  <a:tcPr marL="36576" marR="36576" marT="0" marB="0" anchor="ctr">
                    <a:noFill/>
                  </a:tcPr>
                </a:tc>
                <a:tc>
                  <a:txBody>
                    <a:bodyPr wrap="none"/>
                    <a:lstStyle/>
                    <a:p>
                      <a:pPr algn="r"/>
                      <a:r>
                        <a:rPr sz="800" b="0" i="0">
                          <a:solidFill>
                            <a:srgbClr val="1F2937"/>
                          </a:solidFill>
                          <a:latin typeface="Arial"/>
                        </a:rPr>
                        <a:t>--</a:t>
                      </a:r>
                      <a:endParaRPr sz="800"/>
                    </a:p>
                  </a:txBody>
                  <a:tcPr marL="36576" marR="36576" marT="0" marB="0" anchor="ctr">
                    <a:noFill/>
                  </a:tcPr>
                </a:tc>
                <a:tc>
                  <a:txBody>
                    <a:bodyPr wrap="none"/>
                    <a:lstStyle/>
                    <a:p>
                      <a:pPr algn="r"/>
                      <a:r>
                        <a:rPr sz="800" b="0" i="0">
                          <a:solidFill>
                            <a:srgbClr val="1F2937"/>
                          </a:solidFill>
                          <a:latin typeface="Arial"/>
                        </a:rPr>
                        <a:t>0.6318</a:t>
                      </a:r>
                      <a:endParaRPr sz="800"/>
                    </a:p>
                  </a:txBody>
                  <a:tcPr marL="36576" marR="36576" marT="0" marB="0" anchor="ctr">
                    <a:noFill/>
                  </a:tcPr>
                </a:tc>
                <a:tc>
                  <a:txBody>
                    <a:bodyPr wrap="none"/>
                    <a:lstStyle/>
                    <a:p>
                      <a:pPr algn="r"/>
                      <a:r>
                        <a:rPr sz="800" b="0" i="0">
                          <a:solidFill>
                            <a:srgbClr val="1F2937"/>
                          </a:solidFill>
                          <a:latin typeface="Arial"/>
                        </a:rPr>
                        <a:t>0.0056</a:t>
                      </a:r>
                      <a:endParaRPr sz="800"/>
                    </a:p>
                  </a:txBody>
                  <a:tcPr marL="36576" marR="36576" marT="0" marB="0" anchor="ctr">
                    <a:noFill/>
                  </a:tcPr>
                </a:tc>
                <a:tc>
                  <a:txBody>
                    <a:bodyPr wrap="none"/>
                    <a:lstStyle/>
                    <a:p>
                      <a:pPr algn="r"/>
                      <a:r>
                        <a:rPr sz="800" b="0" i="0">
                          <a:solidFill>
                            <a:srgbClr val="1F2937"/>
                          </a:solidFill>
                          <a:latin typeface="Arial"/>
                        </a:rPr>
                        <a:t>0.0023</a:t>
                      </a:r>
                      <a:endParaRPr sz="800"/>
                    </a:p>
                  </a:txBody>
                  <a:tcPr marL="36576" marR="36576" marT="0" marB="0" anchor="ctr">
                    <a:noFill/>
                  </a:tcPr>
                </a:tc>
                <a:tc>
                  <a:txBody>
                    <a:bodyPr wrap="none"/>
                    <a:lstStyle/>
                    <a:p>
                      <a:pPr algn="r"/>
                      <a:r>
                        <a:rPr sz="800" b="0" i="0">
                          <a:solidFill>
                            <a:srgbClr val="1F2937"/>
                          </a:solidFill>
                          <a:latin typeface="Arial"/>
                        </a:rPr>
                        <a:t>0.1230</a:t>
                      </a:r>
                      <a:endParaRPr sz="800"/>
                    </a:p>
                  </a:txBody>
                  <a:tcPr marL="36576" marR="36576" marT="0" marB="0" anchor="ctr">
                    <a:noFill/>
                  </a:tcPr>
                </a:tc>
                <a:tc>
                  <a:txBody>
                    <a:bodyPr wrap="none"/>
                    <a:lstStyle/>
                    <a:p>
                      <a:pPr algn="r"/>
                      <a:r>
                        <a:rPr sz="800" b="0" i="0">
                          <a:solidFill>
                            <a:srgbClr val="1F2937"/>
                          </a:solidFill>
                          <a:latin typeface="Arial"/>
                        </a:rPr>
                        <a:t>0.0630</a:t>
                      </a:r>
                      <a:endParaRPr sz="800"/>
                    </a:p>
                  </a:txBody>
                  <a:tcPr marL="36576" marR="36576" marT="0" marB="0" anchor="ctr">
                    <a:noFill/>
                  </a:tcPr>
                </a:tc>
              </a:tr>
              <a:tr h="214884">
                <a:tc>
                  <a:txBody>
                    <a:bodyPr wrap="none"/>
                    <a:lstStyle/>
                    <a:p>
                      <a:pPr algn="l"/>
                      <a:r>
                        <a:rPr sz="800" b="0" i="0">
                          <a:solidFill>
                            <a:srgbClr val="1F2937"/>
                          </a:solidFill>
                          <a:latin typeface="Arial"/>
                        </a:rPr>
                        <a:t>Zero</a:t>
                      </a:r>
                      <a:endParaRPr sz="800"/>
                    </a:p>
                  </a:txBody>
                  <a:tcPr marL="36576" marR="36576" marT="0" marB="0" anchor="ctr">
                    <a:noFill/>
                  </a:tcPr>
                </a:tc>
                <a:tc>
                  <a:txBody>
                    <a:bodyPr wrap="none"/>
                    <a:lstStyle/>
                    <a:p>
                      <a:pPr algn="r"/>
                      <a:r>
                        <a:rPr sz="800" b="0" i="0">
                          <a:solidFill>
                            <a:srgbClr val="1F2937"/>
                          </a:solidFill>
                          <a:latin typeface="Arial"/>
                        </a:rPr>
                        <a:t>0.0174</a:t>
                      </a:r>
                      <a:endParaRPr sz="800"/>
                    </a:p>
                  </a:txBody>
                  <a:tcPr marL="36576" marR="36576" marT="0" marB="0" anchor="ctr">
                    <a:noFill/>
                  </a:tcPr>
                </a:tc>
                <a:tc>
                  <a:txBody>
                    <a:bodyPr wrap="none"/>
                    <a:lstStyle/>
                    <a:p>
                      <a:pPr algn="r"/>
                      <a:r>
                        <a:rPr sz="800" b="0" i="0">
                          <a:solidFill>
                            <a:srgbClr val="1F2937"/>
                          </a:solidFill>
                          <a:latin typeface="Arial"/>
                        </a:rPr>
                        <a:t>0.0249</a:t>
                      </a:r>
                      <a:endParaRPr sz="800"/>
                    </a:p>
                  </a:txBody>
                  <a:tcPr marL="36576" marR="36576" marT="0" marB="0" anchor="ctr">
                    <a:noFill/>
                  </a:tcPr>
                </a:tc>
                <a:tc>
                  <a:txBody>
                    <a:bodyPr wrap="none"/>
                    <a:lstStyle/>
                    <a:p>
                      <a:pPr algn="r"/>
                      <a:r>
                        <a:rPr sz="800" b="0" i="0">
                          <a:solidFill>
                            <a:srgbClr val="1F2937"/>
                          </a:solidFill>
                          <a:latin typeface="Arial"/>
                        </a:rPr>
                        <a:t>0.5125</a:t>
                      </a:r>
                      <a:endParaRPr sz="800"/>
                    </a:p>
                  </a:txBody>
                  <a:tcPr marL="36576" marR="36576" marT="0" marB="0" anchor="ctr">
                    <a:noFill/>
                  </a:tcPr>
                </a:tc>
                <a:tc>
                  <a:txBody>
                    <a:bodyPr wrap="none"/>
                    <a:lstStyle/>
                    <a:p>
                      <a:pPr algn="r"/>
                      <a:r>
                        <a:rPr sz="800" b="0" i="0">
                          <a:solidFill>
                            <a:srgbClr val="1F2937"/>
                          </a:solidFill>
                          <a:latin typeface="Arial"/>
                        </a:rPr>
                        <a:t>0.0030</a:t>
                      </a:r>
                      <a:endParaRPr sz="800"/>
                    </a:p>
                  </a:txBody>
                  <a:tcPr marL="36576" marR="36576" marT="0" marB="0" anchor="ctr">
                    <a:noFill/>
                  </a:tcPr>
                </a:tc>
                <a:tc>
                  <a:txBody>
                    <a:bodyPr wrap="none"/>
                    <a:lstStyle/>
                    <a:p>
                      <a:pPr algn="r"/>
                      <a:r>
                        <a:rPr sz="800" b="0" i="0">
                          <a:solidFill>
                            <a:srgbClr val="1F2937"/>
                          </a:solidFill>
                          <a:latin typeface="Arial"/>
                        </a:rPr>
                        <a:t>0.0017</a:t>
                      </a:r>
                      <a:endParaRPr sz="800"/>
                    </a:p>
                  </a:txBody>
                  <a:tcPr marL="36576" marR="36576" marT="0" marB="0" anchor="ctr">
                    <a:noFill/>
                  </a:tcPr>
                </a:tc>
                <a:tc>
                  <a:txBody>
                    <a:bodyPr wrap="none"/>
                    <a:lstStyle/>
                    <a:p>
                      <a:pPr algn="r"/>
                      <a:r>
                        <a:rPr sz="800" b="0" i="0">
                          <a:solidFill>
                            <a:srgbClr val="1F2937"/>
                          </a:solidFill>
                          <a:latin typeface="Arial"/>
                        </a:rPr>
                        <a:t>0.0843</a:t>
                      </a:r>
                      <a:endParaRPr sz="800"/>
                    </a:p>
                  </a:txBody>
                  <a:tcPr marL="36576" marR="36576" marT="0" marB="0" anchor="ctr">
                    <a:noFill/>
                  </a:tcPr>
                </a:tc>
                <a:tc>
                  <a:txBody>
                    <a:bodyPr wrap="none"/>
                    <a:lstStyle/>
                    <a:p>
                      <a:pPr algn="r"/>
                      <a:r>
                        <a:rPr sz="800" b="0" i="0">
                          <a:solidFill>
                            <a:srgbClr val="1F2937"/>
                          </a:solidFill>
                          <a:latin typeface="Arial"/>
                        </a:rPr>
                        <a:t>0.0244</a:t>
                      </a:r>
                      <a:endParaRPr sz="800"/>
                    </a:p>
                  </a:txBody>
                  <a:tcPr marL="36576" marR="36576" marT="0" marB="0" anchor="ctr">
                    <a:noFill/>
                  </a:tcPr>
                </a:tc>
              </a:tr>
              <a:tr h="214884">
                <a:tc>
                  <a:txBody>
                    <a:bodyPr wrap="none"/>
                    <a:lstStyle/>
                    <a:p>
                      <a:pPr algn="l"/>
                      <a:r>
                        <a:rPr sz="800" b="0" i="0">
                          <a:solidFill>
                            <a:srgbClr val="1F2937"/>
                          </a:solidFill>
                          <a:latin typeface="Arial"/>
                        </a:rPr>
                        <a:t>KNN</a:t>
                      </a:r>
                      <a:endParaRPr sz="800"/>
                    </a:p>
                  </a:txBody>
                  <a:tcPr marL="36576" marR="36576" marT="0" marB="0" anchor="ctr">
                    <a:noFill/>
                  </a:tcPr>
                </a:tc>
                <a:tc>
                  <a:txBody>
                    <a:bodyPr wrap="none"/>
                    <a:lstStyle/>
                    <a:p>
                      <a:pPr algn="r"/>
                      <a:r>
                        <a:rPr sz="800" b="0" i="0">
                          <a:solidFill>
                            <a:srgbClr val="1F2937"/>
                          </a:solidFill>
                          <a:latin typeface="Arial"/>
                        </a:rPr>
                        <a:t>0.0103</a:t>
                      </a:r>
                      <a:endParaRPr sz="800"/>
                    </a:p>
                  </a:txBody>
                  <a:tcPr marL="36576" marR="36576" marT="0" marB="0" anchor="ctr">
                    <a:noFill/>
                  </a:tcPr>
                </a:tc>
                <a:tc>
                  <a:txBody>
                    <a:bodyPr wrap="none"/>
                    <a:lstStyle/>
                    <a:p>
                      <a:pPr algn="r"/>
                      <a:r>
                        <a:rPr sz="800" b="0" i="0">
                          <a:solidFill>
                            <a:srgbClr val="1F2937"/>
                          </a:solidFill>
                          <a:latin typeface="Arial"/>
                        </a:rPr>
                        <a:t>0.0161</a:t>
                      </a:r>
                      <a:endParaRPr sz="800"/>
                    </a:p>
                  </a:txBody>
                  <a:tcPr marL="36576" marR="36576" marT="0" marB="0" anchor="ctr">
                    <a:noFill/>
                  </a:tcPr>
                </a:tc>
                <a:tc>
                  <a:txBody>
                    <a:bodyPr wrap="none"/>
                    <a:lstStyle/>
                    <a:p>
                      <a:pPr algn="r"/>
                      <a:r>
                        <a:rPr sz="800" b="0" i="0">
                          <a:solidFill>
                            <a:srgbClr val="1F2937"/>
                          </a:solidFill>
                          <a:latin typeface="Arial"/>
                        </a:rPr>
                        <a:t>0.1602</a:t>
                      </a:r>
                      <a:endParaRPr sz="800"/>
                    </a:p>
                  </a:txBody>
                  <a:tcPr marL="36576" marR="36576" marT="0" marB="0" anchor="ctr">
                    <a:noFill/>
                  </a:tcPr>
                </a:tc>
                <a:tc>
                  <a:txBody>
                    <a:bodyPr wrap="none"/>
                    <a:lstStyle/>
                    <a:p>
                      <a:pPr algn="r"/>
                      <a:r>
                        <a:rPr sz="800" b="0" i="0">
                          <a:solidFill>
                            <a:srgbClr val="1F2937"/>
                          </a:solidFill>
                          <a:latin typeface="Arial"/>
                        </a:rPr>
                        <a:t>0.0010</a:t>
                      </a:r>
                      <a:endParaRPr sz="800"/>
                    </a:p>
                  </a:txBody>
                  <a:tcPr marL="36576" marR="36576" marT="0" marB="0" anchor="ctr">
                    <a:noFill/>
                  </a:tcPr>
                </a:tc>
                <a:tc>
                  <a:txBody>
                    <a:bodyPr wrap="none"/>
                    <a:lstStyle/>
                    <a:p>
                      <a:pPr algn="r"/>
                      <a:r>
                        <a:rPr sz="800" b="0" i="0">
                          <a:solidFill>
                            <a:srgbClr val="1F2937"/>
                          </a:solidFill>
                          <a:latin typeface="Arial"/>
                        </a:rPr>
                        <a:t>0.0004</a:t>
                      </a:r>
                      <a:endParaRPr sz="800"/>
                    </a:p>
                  </a:txBody>
                  <a:tcPr marL="36576" marR="36576" marT="0" marB="0" anchor="ctr">
                    <a:noFill/>
                  </a:tcPr>
                </a:tc>
                <a:tc>
                  <a:txBody>
                    <a:bodyPr wrap="none"/>
                    <a:lstStyle/>
                    <a:p>
                      <a:pPr algn="r"/>
                      <a:r>
                        <a:rPr sz="800" b="0" i="0">
                          <a:solidFill>
                            <a:srgbClr val="1F2937"/>
                          </a:solidFill>
                          <a:latin typeface="Arial"/>
                        </a:rPr>
                        <a:t>0.0258</a:t>
                      </a:r>
                      <a:endParaRPr sz="800"/>
                    </a:p>
                  </a:txBody>
                  <a:tcPr marL="36576" marR="36576" marT="0" marB="0" anchor="ctr">
                    <a:noFill/>
                  </a:tcPr>
                </a:tc>
                <a:tc>
                  <a:txBody>
                    <a:bodyPr wrap="none"/>
                    <a:lstStyle/>
                    <a:p>
                      <a:pPr algn="r"/>
                      <a:r>
                        <a:rPr sz="800" b="0" i="0">
                          <a:solidFill>
                            <a:srgbClr val="1F2937"/>
                          </a:solidFill>
                          <a:latin typeface="Arial"/>
                        </a:rPr>
                        <a:t>0.0124</a:t>
                      </a:r>
                      <a:endParaRPr sz="800"/>
                    </a:p>
                  </a:txBody>
                  <a:tcPr marL="36576" marR="36576" marT="0" marB="0" anchor="ctr">
                    <a:noFill/>
                  </a:tcPr>
                </a:tc>
              </a:tr>
              <a:tr h="214884">
                <a:tc>
                  <a:txBody>
                    <a:bodyPr wrap="none"/>
                    <a:lstStyle/>
                    <a:p>
                      <a:pPr algn="l"/>
                      <a:r>
                        <a:rPr sz="800" b="0" i="0">
                          <a:solidFill>
                            <a:srgbClr val="1F2937"/>
                          </a:solidFill>
                          <a:latin typeface="Arial"/>
                        </a:rPr>
                        <a:t>LowRank</a:t>
                      </a:r>
                      <a:endParaRPr sz="800"/>
                    </a:p>
                  </a:txBody>
                  <a:tcPr marL="36576" marR="36576" marT="0" marB="0" anchor="ctr">
                    <a:noFill/>
                  </a:tcPr>
                </a:tc>
                <a:tc>
                  <a:txBody>
                    <a:bodyPr wrap="none"/>
                    <a:lstStyle/>
                    <a:p>
                      <a:pPr algn="r"/>
                      <a:r>
                        <a:rPr sz="800" b="0" i="0">
                          <a:solidFill>
                            <a:srgbClr val="1F2937"/>
                          </a:solidFill>
                          <a:latin typeface="Arial"/>
                        </a:rPr>
                        <a:t>0.0091</a:t>
                      </a:r>
                      <a:endParaRPr sz="800"/>
                    </a:p>
                  </a:txBody>
                  <a:tcPr marL="36576" marR="36576" marT="0" marB="0" anchor="ctr">
                    <a:noFill/>
                  </a:tcPr>
                </a:tc>
                <a:tc>
                  <a:txBody>
                    <a:bodyPr wrap="none"/>
                    <a:lstStyle/>
                    <a:p>
                      <a:pPr algn="r"/>
                      <a:r>
                        <a:rPr sz="800" b="0" i="0">
                          <a:solidFill>
                            <a:srgbClr val="1F2937"/>
                          </a:solidFill>
                          <a:latin typeface="Arial"/>
                        </a:rPr>
                        <a:t>0.0139</a:t>
                      </a:r>
                      <a:endParaRPr sz="800"/>
                    </a:p>
                  </a:txBody>
                  <a:tcPr marL="36576" marR="36576" marT="0" marB="0" anchor="ctr">
                    <a:noFill/>
                  </a:tcPr>
                </a:tc>
                <a:tc>
                  <a:txBody>
                    <a:bodyPr wrap="none"/>
                    <a:lstStyle/>
                    <a:p>
                      <a:pPr algn="r"/>
                      <a:r>
                        <a:rPr sz="800" b="1" i="0">
                          <a:solidFill>
                            <a:srgbClr val="1F2937"/>
                          </a:solidFill>
                          <a:latin typeface="Arial"/>
                        </a:rPr>
                        <a:t>0.0483</a:t>
                      </a:r>
                      <a:endParaRPr sz="800"/>
                    </a:p>
                  </a:txBody>
                  <a:tcPr marL="36576" marR="36576" marT="0" marB="0" anchor="ctr">
                    <a:noFill/>
                  </a:tcPr>
                </a:tc>
                <a:tc>
                  <a:txBody>
                    <a:bodyPr wrap="none"/>
                    <a:lstStyle/>
                    <a:p>
                      <a:pPr algn="r"/>
                      <a:r>
                        <a:rPr sz="800" b="1" i="0">
                          <a:solidFill>
                            <a:srgbClr val="1F2937"/>
                          </a:solidFill>
                          <a:latin typeface="Arial"/>
                        </a:rPr>
                        <a:t>0.0004</a:t>
                      </a:r>
                      <a:endParaRPr sz="800"/>
                    </a:p>
                  </a:txBody>
                  <a:tcPr marL="36576" marR="36576" marT="0" marB="0" anchor="ctr">
                    <a:noFill/>
                  </a:tcPr>
                </a:tc>
                <a:tc>
                  <a:txBody>
                    <a:bodyPr wrap="none"/>
                    <a:lstStyle/>
                    <a:p>
                      <a:pPr algn="r"/>
                      <a:r>
                        <a:rPr sz="800" b="1" i="0">
                          <a:solidFill>
                            <a:srgbClr val="1F2937"/>
                          </a:solidFill>
                          <a:latin typeface="Arial"/>
                        </a:rPr>
                        <a:t>0.0002</a:t>
                      </a:r>
                      <a:endParaRPr sz="800"/>
                    </a:p>
                  </a:txBody>
                  <a:tcPr marL="36576" marR="36576" marT="0" marB="0" anchor="ctr">
                    <a:noFill/>
                  </a:tcPr>
                </a:tc>
                <a:tc>
                  <a:txBody>
                    <a:bodyPr wrap="none"/>
                    <a:lstStyle/>
                    <a:p>
                      <a:pPr algn="r"/>
                      <a:r>
                        <a:rPr sz="800" b="0" i="0">
                          <a:solidFill>
                            <a:srgbClr val="1F2937"/>
                          </a:solidFill>
                          <a:latin typeface="Arial"/>
                        </a:rPr>
                        <a:t>0.0110</a:t>
                      </a:r>
                      <a:endParaRPr sz="800"/>
                    </a:p>
                  </a:txBody>
                  <a:tcPr marL="36576" marR="36576" marT="0" marB="0" anchor="ctr">
                    <a:noFill/>
                  </a:tcPr>
                </a:tc>
                <a:tc>
                  <a:txBody>
                    <a:bodyPr wrap="none"/>
                    <a:lstStyle/>
                    <a:p>
                      <a:pPr algn="r"/>
                      <a:r>
                        <a:rPr sz="800" b="0" i="0">
                          <a:solidFill>
                            <a:srgbClr val="1F2937"/>
                          </a:solidFill>
                          <a:latin typeface="Arial"/>
                        </a:rPr>
                        <a:t>0.0091</a:t>
                      </a:r>
                      <a:endParaRPr sz="800"/>
                    </a:p>
                  </a:txBody>
                  <a:tcPr marL="36576" marR="36576" marT="0" marB="0" anchor="ctr">
                    <a:noFill/>
                  </a:tcPr>
                </a:tc>
              </a:tr>
              <a:tr h="214884">
                <a:tc>
                  <a:txBody>
                    <a:bodyPr wrap="none"/>
                    <a:lstStyle/>
                    <a:p>
                      <a:pPr algn="l"/>
                      <a:r>
                        <a:rPr sz="800" b="0" i="0">
                          <a:solidFill>
                            <a:srgbClr val="1F2937"/>
                          </a:solidFill>
                          <a:latin typeface="Arial"/>
                        </a:rPr>
                        <a:t>EM</a:t>
                      </a:r>
                      <a:endParaRPr sz="800"/>
                    </a:p>
                  </a:txBody>
                  <a:tcPr marL="36576" marR="36576" marT="0" marB="0" anchor="ctr">
                    <a:noFill/>
                  </a:tcPr>
                </a:tc>
                <a:tc>
                  <a:txBody>
                    <a:bodyPr wrap="none"/>
                    <a:lstStyle/>
                    <a:p>
                      <a:pPr algn="r"/>
                      <a:r>
                        <a:rPr sz="800" b="1" i="0">
                          <a:solidFill>
                            <a:srgbClr val="1F2937"/>
                          </a:solidFill>
                          <a:latin typeface="Arial"/>
                        </a:rPr>
                        <a:t>0.0084</a:t>
                      </a:r>
                      <a:endParaRPr sz="800"/>
                    </a:p>
                  </a:txBody>
                  <a:tcPr marL="36576" marR="36576" marT="0" marB="0" anchor="ctr">
                    <a:noFill/>
                  </a:tcPr>
                </a:tc>
                <a:tc>
                  <a:txBody>
                    <a:bodyPr wrap="none"/>
                    <a:lstStyle/>
                    <a:p>
                      <a:pPr algn="r"/>
                      <a:r>
                        <a:rPr sz="800" b="1" i="0">
                          <a:solidFill>
                            <a:srgbClr val="1F2937"/>
                          </a:solidFill>
                          <a:latin typeface="Arial"/>
                        </a:rPr>
                        <a:t>0.0130</a:t>
                      </a:r>
                      <a:endParaRPr sz="800"/>
                    </a:p>
                  </a:txBody>
                  <a:tcPr marL="36576" marR="36576" marT="0" marB="0" anchor="ctr">
                    <a:noFill/>
                  </a:tcPr>
                </a:tc>
                <a:tc>
                  <a:txBody>
                    <a:bodyPr wrap="none"/>
                    <a:lstStyle/>
                    <a:p>
                      <a:pPr algn="r"/>
                      <a:r>
                        <a:rPr sz="800" b="0" i="0">
                          <a:solidFill>
                            <a:srgbClr val="1F2937"/>
                          </a:solidFill>
                          <a:latin typeface="Arial"/>
                        </a:rPr>
                        <a:t>0.0554</a:t>
                      </a:r>
                      <a:endParaRPr sz="800"/>
                    </a:p>
                  </a:txBody>
                  <a:tcPr marL="36576" marR="36576" marT="0" marB="0" anchor="ctr">
                    <a:noFill/>
                  </a:tcPr>
                </a:tc>
                <a:tc>
                  <a:txBody>
                    <a:bodyPr wrap="none"/>
                    <a:lstStyle/>
                    <a:p>
                      <a:pPr algn="r"/>
                      <a:r>
                        <a:rPr sz="800" b="0" i="0">
                          <a:solidFill>
                            <a:srgbClr val="1F2937"/>
                          </a:solidFill>
                          <a:latin typeface="Arial"/>
                        </a:rPr>
                        <a:t>0.0008</a:t>
                      </a:r>
                      <a:endParaRPr sz="800"/>
                    </a:p>
                  </a:txBody>
                  <a:tcPr marL="36576" marR="36576" marT="0" marB="0" anchor="ctr">
                    <a:noFill/>
                  </a:tcPr>
                </a:tc>
                <a:tc>
                  <a:txBody>
                    <a:bodyPr wrap="none"/>
                    <a:lstStyle/>
                    <a:p>
                      <a:pPr algn="r"/>
                      <a:r>
                        <a:rPr sz="800" b="0" i="0">
                          <a:solidFill>
                            <a:srgbClr val="1F2937"/>
                          </a:solidFill>
                          <a:latin typeface="Arial"/>
                        </a:rPr>
                        <a:t>0.0003</a:t>
                      </a:r>
                      <a:endParaRPr sz="800"/>
                    </a:p>
                  </a:txBody>
                  <a:tcPr marL="36576" marR="36576" marT="0" marB="0" anchor="ctr">
                    <a:noFill/>
                  </a:tcPr>
                </a:tc>
                <a:tc>
                  <a:txBody>
                    <a:bodyPr wrap="none"/>
                    <a:lstStyle/>
                    <a:p>
                      <a:pPr algn="r"/>
                      <a:r>
                        <a:rPr sz="800" b="1" i="0">
                          <a:solidFill>
                            <a:srgbClr val="1F2937"/>
                          </a:solidFill>
                          <a:latin typeface="Arial"/>
                        </a:rPr>
                        <a:t>0.0107</a:t>
                      </a:r>
                      <a:endParaRPr sz="800"/>
                    </a:p>
                  </a:txBody>
                  <a:tcPr marL="36576" marR="36576" marT="0" marB="0" anchor="ctr">
                    <a:noFill/>
                  </a:tcPr>
                </a:tc>
                <a:tc>
                  <a:txBody>
                    <a:bodyPr wrap="none"/>
                    <a:lstStyle/>
                    <a:p>
                      <a:pPr algn="r"/>
                      <a:r>
                        <a:rPr sz="800" b="1" i="0">
                          <a:solidFill>
                            <a:srgbClr val="1F2937"/>
                          </a:solidFill>
                          <a:latin typeface="Arial"/>
                        </a:rPr>
                        <a:t>0.0087</a:t>
                      </a:r>
                      <a:endParaRPr sz="800"/>
                    </a:p>
                  </a:txBody>
                  <a:tcPr marL="36576" marR="36576" marT="0" marB="0" anchor="ctr">
                    <a:noFill/>
                  </a:tcPr>
                </a:tc>
              </a:tr>
              <a:tr h="214884">
                <a:tc>
                  <a:txBody>
                    <a:bodyPr wrap="none"/>
                    <a:lstStyle/>
                    <a:p>
                      <a:pPr algn="l"/>
                      <a:r>
                        <a:rPr sz="800" b="0" i="0">
                          <a:solidFill>
                            <a:srgbClr val="1F2937"/>
                          </a:solidFill>
                          <a:latin typeface="Arial"/>
                        </a:rPr>
                        <a:t>BRITS</a:t>
                      </a:r>
                      <a:endParaRPr sz="800"/>
                    </a:p>
                  </a:txBody>
                  <a:tcPr marL="36576" marR="36576" marT="0" marB="0" anchor="ctr">
                    <a:noFill/>
                  </a:tcPr>
                </a:tc>
                <a:tc>
                  <a:txBody>
                    <a:bodyPr wrap="none"/>
                    <a:lstStyle/>
                    <a:p>
                      <a:pPr algn="r"/>
                      <a:r>
                        <a:rPr sz="800" b="0" i="0">
                          <a:solidFill>
                            <a:srgbClr val="1F2937"/>
                          </a:solidFill>
                          <a:latin typeface="Arial"/>
                        </a:rPr>
                        <a:t>0.0106</a:t>
                      </a:r>
                      <a:endParaRPr sz="800"/>
                    </a:p>
                  </a:txBody>
                  <a:tcPr marL="36576" marR="36576" marT="0" marB="0" anchor="ctr">
                    <a:noFill/>
                  </a:tcPr>
                </a:tc>
                <a:tc>
                  <a:txBody>
                    <a:bodyPr wrap="none"/>
                    <a:lstStyle/>
                    <a:p>
                      <a:pPr algn="r"/>
                      <a:r>
                        <a:rPr sz="800" b="0" i="0">
                          <a:solidFill>
                            <a:srgbClr val="1F2937"/>
                          </a:solidFill>
                          <a:latin typeface="Arial"/>
                        </a:rPr>
                        <a:t>0.0162</a:t>
                      </a:r>
                      <a:endParaRPr sz="800"/>
                    </a:p>
                  </a:txBody>
                  <a:tcPr marL="36576" marR="36576" marT="0" marB="0" anchor="ctr">
                    <a:noFill/>
                  </a:tcPr>
                </a:tc>
                <a:tc>
                  <a:txBody>
                    <a:bodyPr wrap="none"/>
                    <a:lstStyle/>
                    <a:p>
                      <a:pPr algn="r"/>
                      <a:r>
                        <a:rPr sz="800" b="0" i="0">
                          <a:solidFill>
                            <a:srgbClr val="1F2937"/>
                          </a:solidFill>
                          <a:latin typeface="Arial"/>
                        </a:rPr>
                        <a:t>0.2083</a:t>
                      </a:r>
                      <a:endParaRPr sz="800"/>
                    </a:p>
                  </a:txBody>
                  <a:tcPr marL="36576" marR="36576" marT="0" marB="0" anchor="ctr">
                    <a:noFill/>
                  </a:tcPr>
                </a:tc>
                <a:tc>
                  <a:txBody>
                    <a:bodyPr wrap="none"/>
                    <a:lstStyle/>
                    <a:p>
                      <a:pPr algn="r"/>
                      <a:r>
                        <a:rPr sz="800" b="0" i="0">
                          <a:solidFill>
                            <a:srgbClr val="1F2937"/>
                          </a:solidFill>
                          <a:latin typeface="Arial"/>
                        </a:rPr>
                        <a:t>0.0015</a:t>
                      </a:r>
                      <a:endParaRPr sz="800"/>
                    </a:p>
                  </a:txBody>
                  <a:tcPr marL="36576" marR="36576" marT="0" marB="0" anchor="ctr">
                    <a:noFill/>
                  </a:tcPr>
                </a:tc>
                <a:tc>
                  <a:txBody>
                    <a:bodyPr wrap="none"/>
                    <a:lstStyle/>
                    <a:p>
                      <a:pPr algn="r"/>
                      <a:r>
                        <a:rPr sz="800" b="0" i="0">
                          <a:solidFill>
                            <a:srgbClr val="1F2937"/>
                          </a:solidFill>
                          <a:latin typeface="Arial"/>
                        </a:rPr>
                        <a:t>0.0006</a:t>
                      </a:r>
                      <a:endParaRPr sz="800"/>
                    </a:p>
                  </a:txBody>
                  <a:tcPr marL="36576" marR="36576" marT="0" marB="0" anchor="ctr">
                    <a:noFill/>
                  </a:tcPr>
                </a:tc>
                <a:tc>
                  <a:txBody>
                    <a:bodyPr wrap="none"/>
                    <a:lstStyle/>
                    <a:p>
                      <a:pPr algn="r"/>
                      <a:r>
                        <a:rPr sz="800" b="0" i="0">
                          <a:solidFill>
                            <a:srgbClr val="1F2937"/>
                          </a:solidFill>
                          <a:latin typeface="Arial"/>
                        </a:rPr>
                        <a:t>0.0256</a:t>
                      </a:r>
                      <a:endParaRPr sz="800"/>
                    </a:p>
                  </a:txBody>
                  <a:tcPr marL="36576" marR="36576" marT="0" marB="0" anchor="ctr">
                    <a:noFill/>
                  </a:tcPr>
                </a:tc>
                <a:tc>
                  <a:txBody>
                    <a:bodyPr wrap="none"/>
                    <a:lstStyle/>
                    <a:p>
                      <a:pPr algn="r"/>
                      <a:r>
                        <a:rPr sz="800" b="0" i="0">
                          <a:solidFill>
                            <a:srgbClr val="1F2937"/>
                          </a:solidFill>
                          <a:latin typeface="Arial"/>
                        </a:rPr>
                        <a:t>0.0126</a:t>
                      </a:r>
                      <a:endParaRPr sz="800"/>
                    </a:p>
                  </a:txBody>
                  <a:tcPr marL="36576" marR="36576" marT="0" marB="0" anchor="ctr">
                    <a:noFill/>
                  </a:tcPr>
                </a:tc>
              </a:tr>
              <a:tr h="214884">
                <a:tc>
                  <a:txBody>
                    <a:bodyPr wrap="none"/>
                    <a:lstStyle/>
                    <a:p>
                      <a:pPr algn="l"/>
                      <a:r>
                        <a:rPr sz="800" b="0" i="0">
                          <a:solidFill>
                            <a:srgbClr val="1F2937"/>
                          </a:solidFill>
                          <a:latin typeface="Arial"/>
                        </a:rPr>
                        <a:t>CSDI</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0.0086</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0.0137</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0.0542</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0.0008</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0.0003</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0.0165</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0.0109</a:t>
                      </a:r>
                      <a:endParaRPr sz="800"/>
                    </a:p>
                  </a:txBody>
                  <a:tcPr marL="36576" marR="36576" marT="0" marB="0" anchor="ctr">
                    <a:lnB w="6350">
                      <a:solidFill>
                        <a:srgbClr val="D0D5DD"/>
                      </a:solidFill>
                    </a:lnB>
                    <a:noFill/>
                  </a:tcPr>
                </a:tc>
              </a:tr>
              <a:tr h="214884">
                <a:tc gridSpan="8">
                  <a:txBody>
                    <a:bodyPr wrap="none"/>
                    <a:lstStyle/>
                    <a:p>
                      <a:pPr algn="l"/>
                      <a:r>
                        <a:rPr sz="800" b="1" i="0">
                          <a:solidFill>
                            <a:srgbClr val="E4572E"/>
                          </a:solidFill>
                          <a:latin typeface="Arial"/>
                        </a:rPr>
                        <a:t>Level (0.2, 1, 0.9)</a:t>
                      </a: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r>
              <a:tr h="214884">
                <a:tc>
                  <a:txBody>
                    <a:bodyPr wrap="none"/>
                    <a:lstStyle/>
                    <a:p>
                      <a:pPr algn="l"/>
                      <a:r>
                        <a:rPr sz="800" b="0" i="0">
                          <a:solidFill>
                            <a:srgbClr val="1F2937"/>
                          </a:solidFill>
                          <a:latin typeface="Arial"/>
                        </a:rPr>
                        <a:t>Deletion</a:t>
                      </a:r>
                      <a:endParaRPr sz="800"/>
                    </a:p>
                  </a:txBody>
                  <a:tcPr marL="36576" marR="36576" marT="0" marB="0" anchor="ctr">
                    <a:noFill/>
                  </a:tcPr>
                </a:tc>
                <a:tc>
                  <a:txBody>
                    <a:bodyPr wrap="none"/>
                    <a:lstStyle/>
                    <a:p>
                      <a:pPr algn="r"/>
                      <a:r>
                        <a:rPr sz="800" b="0" i="0">
                          <a:solidFill>
                            <a:srgbClr val="1F2937"/>
                          </a:solidFill>
                          <a:latin typeface="Arial"/>
                        </a:rPr>
                        <a:t>--</a:t>
                      </a:r>
                      <a:endParaRPr sz="800"/>
                    </a:p>
                  </a:txBody>
                  <a:tcPr marL="36576" marR="36576" marT="0" marB="0" anchor="ctr">
                    <a:noFill/>
                  </a:tcPr>
                </a:tc>
                <a:tc>
                  <a:txBody>
                    <a:bodyPr wrap="none"/>
                    <a:lstStyle/>
                    <a:p>
                      <a:pPr algn="r"/>
                      <a:r>
                        <a:rPr sz="800" b="0" i="0">
                          <a:solidFill>
                            <a:srgbClr val="1F2937"/>
                          </a:solidFill>
                          <a:latin typeface="Arial"/>
                        </a:rPr>
                        <a:t>--</a:t>
                      </a:r>
                      <a:endParaRPr sz="800"/>
                    </a:p>
                  </a:txBody>
                  <a:tcPr marL="36576" marR="36576" marT="0" marB="0" anchor="ctr">
                    <a:noFill/>
                  </a:tcPr>
                </a:tc>
                <a:tc>
                  <a:txBody>
                    <a:bodyPr wrap="none"/>
                    <a:lstStyle/>
                    <a:p>
                      <a:pPr algn="r"/>
                      <a:r>
                        <a:rPr sz="800" b="0" i="0">
                          <a:solidFill>
                            <a:srgbClr val="1F2937"/>
                          </a:solidFill>
                          <a:latin typeface="Arial"/>
                        </a:rPr>
                        <a:t>--</a:t>
                      </a:r>
                      <a:endParaRPr sz="800"/>
                    </a:p>
                  </a:txBody>
                  <a:tcPr marL="36576" marR="36576" marT="0" marB="0" anchor="ctr">
                    <a:noFill/>
                  </a:tcPr>
                </a:tc>
                <a:tc>
                  <a:txBody>
                    <a:bodyPr wrap="none"/>
                    <a:lstStyle/>
                    <a:p>
                      <a:pPr algn="r"/>
                      <a:r>
                        <a:rPr sz="800" b="0" i="0">
                          <a:solidFill>
                            <a:srgbClr val="1F2937"/>
                          </a:solidFill>
                          <a:latin typeface="Arial"/>
                        </a:rPr>
                        <a:t>--</a:t>
                      </a:r>
                      <a:endParaRPr sz="800"/>
                    </a:p>
                  </a:txBody>
                  <a:tcPr marL="36576" marR="36576" marT="0" marB="0" anchor="ctr">
                    <a:noFill/>
                  </a:tcPr>
                </a:tc>
                <a:tc>
                  <a:txBody>
                    <a:bodyPr wrap="none"/>
                    <a:lstStyle/>
                    <a:p>
                      <a:pPr algn="r"/>
                      <a:r>
                        <a:rPr sz="800" b="0" i="0">
                          <a:solidFill>
                            <a:srgbClr val="1F2937"/>
                          </a:solidFill>
                          <a:latin typeface="Arial"/>
                        </a:rPr>
                        <a:t>--</a:t>
                      </a:r>
                      <a:endParaRPr sz="800"/>
                    </a:p>
                  </a:txBody>
                  <a:tcPr marL="36576" marR="36576" marT="0" marB="0" anchor="ctr">
                    <a:noFill/>
                  </a:tcPr>
                </a:tc>
                <a:tc>
                  <a:txBody>
                    <a:bodyPr wrap="none"/>
                    <a:lstStyle/>
                    <a:p>
                      <a:pPr algn="r"/>
                      <a:r>
                        <a:rPr sz="800" b="0" i="0">
                          <a:solidFill>
                            <a:srgbClr val="1F2937"/>
                          </a:solidFill>
                          <a:latin typeface="Arial"/>
                        </a:rPr>
                        <a:t>--</a:t>
                      </a:r>
                      <a:endParaRPr sz="800"/>
                    </a:p>
                  </a:txBody>
                  <a:tcPr marL="36576" marR="36576" marT="0" marB="0" anchor="ctr">
                    <a:noFill/>
                  </a:tcPr>
                </a:tc>
                <a:tc>
                  <a:txBody>
                    <a:bodyPr wrap="none"/>
                    <a:lstStyle/>
                    <a:p>
                      <a:pPr algn="r"/>
                      <a:r>
                        <a:rPr sz="800" b="0" i="0">
                          <a:solidFill>
                            <a:srgbClr val="1F2937"/>
                          </a:solidFill>
                          <a:latin typeface="Arial"/>
                        </a:rPr>
                        <a:t>--</a:t>
                      </a:r>
                      <a:endParaRPr sz="800"/>
                    </a:p>
                  </a:txBody>
                  <a:tcPr marL="36576" marR="36576" marT="0" marB="0" anchor="ctr">
                    <a:noFill/>
                  </a:tcPr>
                </a:tc>
              </a:tr>
              <a:tr h="214884">
                <a:tc>
                  <a:txBody>
                    <a:bodyPr wrap="none"/>
                    <a:lstStyle/>
                    <a:p>
                      <a:pPr algn="l"/>
                      <a:r>
                        <a:rPr sz="800" b="0" i="0">
                          <a:solidFill>
                            <a:srgbClr val="1F2937"/>
                          </a:solidFill>
                          <a:latin typeface="Arial"/>
                        </a:rPr>
                        <a:t>Zero</a:t>
                      </a:r>
                      <a:endParaRPr sz="800"/>
                    </a:p>
                  </a:txBody>
                  <a:tcPr marL="36576" marR="36576" marT="0" marB="0" anchor="ctr">
                    <a:noFill/>
                  </a:tcPr>
                </a:tc>
                <a:tc>
                  <a:txBody>
                    <a:bodyPr wrap="none"/>
                    <a:lstStyle/>
                    <a:p>
                      <a:pPr algn="r"/>
                      <a:r>
                        <a:rPr sz="800" b="0" i="0">
                          <a:solidFill>
                            <a:srgbClr val="1F2937"/>
                          </a:solidFill>
                          <a:latin typeface="Arial"/>
                        </a:rPr>
                        <a:t>0.0149</a:t>
                      </a:r>
                      <a:endParaRPr sz="800"/>
                    </a:p>
                  </a:txBody>
                  <a:tcPr marL="36576" marR="36576" marT="0" marB="0" anchor="ctr">
                    <a:noFill/>
                  </a:tcPr>
                </a:tc>
                <a:tc>
                  <a:txBody>
                    <a:bodyPr wrap="none"/>
                    <a:lstStyle/>
                    <a:p>
                      <a:pPr algn="r"/>
                      <a:r>
                        <a:rPr sz="800" b="0" i="0">
                          <a:solidFill>
                            <a:srgbClr val="1F2937"/>
                          </a:solidFill>
                          <a:latin typeface="Arial"/>
                        </a:rPr>
                        <a:t>0.0219</a:t>
                      </a:r>
                      <a:endParaRPr sz="800"/>
                    </a:p>
                  </a:txBody>
                  <a:tcPr marL="36576" marR="36576" marT="0" marB="0" anchor="ctr">
                    <a:noFill/>
                  </a:tcPr>
                </a:tc>
                <a:tc>
                  <a:txBody>
                    <a:bodyPr wrap="none"/>
                    <a:lstStyle/>
                    <a:p>
                      <a:pPr algn="r"/>
                      <a:r>
                        <a:rPr sz="800" b="0" i="0">
                          <a:solidFill>
                            <a:srgbClr val="1F2937"/>
                          </a:solidFill>
                          <a:latin typeface="Arial"/>
                        </a:rPr>
                        <a:t>0.7677</a:t>
                      </a:r>
                      <a:endParaRPr sz="800"/>
                    </a:p>
                  </a:txBody>
                  <a:tcPr marL="36576" marR="36576" marT="0" marB="0" anchor="ctr">
                    <a:noFill/>
                  </a:tcPr>
                </a:tc>
                <a:tc>
                  <a:txBody>
                    <a:bodyPr wrap="none"/>
                    <a:lstStyle/>
                    <a:p>
                      <a:pPr algn="r"/>
                      <a:r>
                        <a:rPr sz="800" b="0" i="0">
                          <a:solidFill>
                            <a:srgbClr val="1F2937"/>
                          </a:solidFill>
                          <a:latin typeface="Arial"/>
                        </a:rPr>
                        <a:t>0.0070</a:t>
                      </a:r>
                      <a:endParaRPr sz="800"/>
                    </a:p>
                  </a:txBody>
                  <a:tcPr marL="36576" marR="36576" marT="0" marB="0" anchor="ctr">
                    <a:noFill/>
                  </a:tcPr>
                </a:tc>
                <a:tc>
                  <a:txBody>
                    <a:bodyPr wrap="none"/>
                    <a:lstStyle/>
                    <a:p>
                      <a:pPr algn="r"/>
                      <a:r>
                        <a:rPr sz="800" b="0" i="0">
                          <a:solidFill>
                            <a:srgbClr val="1F2937"/>
                          </a:solidFill>
                          <a:latin typeface="Arial"/>
                        </a:rPr>
                        <a:t>0.0042</a:t>
                      </a:r>
                      <a:endParaRPr sz="800"/>
                    </a:p>
                  </a:txBody>
                  <a:tcPr marL="36576" marR="36576" marT="0" marB="0" anchor="ctr">
                    <a:noFill/>
                  </a:tcPr>
                </a:tc>
                <a:tc>
                  <a:txBody>
                    <a:bodyPr wrap="none"/>
                    <a:lstStyle/>
                    <a:p>
                      <a:pPr algn="r"/>
                      <a:r>
                        <a:rPr sz="800" b="0" i="0">
                          <a:solidFill>
                            <a:srgbClr val="1F2937"/>
                          </a:solidFill>
                          <a:latin typeface="Arial"/>
                        </a:rPr>
                        <a:t>0.1201</a:t>
                      </a:r>
                      <a:endParaRPr sz="800"/>
                    </a:p>
                  </a:txBody>
                  <a:tcPr marL="36576" marR="36576" marT="0" marB="0" anchor="ctr">
                    <a:noFill/>
                  </a:tcPr>
                </a:tc>
                <a:tc>
                  <a:txBody>
                    <a:bodyPr wrap="none"/>
                    <a:lstStyle/>
                    <a:p>
                      <a:pPr algn="r"/>
                      <a:r>
                        <a:rPr sz="800" b="0" i="0">
                          <a:solidFill>
                            <a:srgbClr val="1F2937"/>
                          </a:solidFill>
                          <a:latin typeface="Arial"/>
                        </a:rPr>
                        <a:t>0.0333</a:t>
                      </a:r>
                      <a:endParaRPr sz="800"/>
                    </a:p>
                  </a:txBody>
                  <a:tcPr marL="36576" marR="36576" marT="0" marB="0" anchor="ctr">
                    <a:noFill/>
                  </a:tcPr>
                </a:tc>
              </a:tr>
              <a:tr h="214884">
                <a:tc>
                  <a:txBody>
                    <a:bodyPr wrap="none"/>
                    <a:lstStyle/>
                    <a:p>
                      <a:pPr algn="l"/>
                      <a:r>
                        <a:rPr sz="800" b="0" i="0">
                          <a:solidFill>
                            <a:srgbClr val="1F2937"/>
                          </a:solidFill>
                          <a:latin typeface="Arial"/>
                        </a:rPr>
                        <a:t>KNN</a:t>
                      </a:r>
                      <a:endParaRPr sz="800"/>
                    </a:p>
                  </a:txBody>
                  <a:tcPr marL="36576" marR="36576" marT="0" marB="0" anchor="ctr">
                    <a:noFill/>
                  </a:tcPr>
                </a:tc>
                <a:tc>
                  <a:txBody>
                    <a:bodyPr wrap="none"/>
                    <a:lstStyle/>
                    <a:p>
                      <a:pPr algn="r"/>
                      <a:r>
                        <a:rPr sz="800" b="0" i="0">
                          <a:solidFill>
                            <a:srgbClr val="1F2937"/>
                          </a:solidFill>
                          <a:latin typeface="Arial"/>
                        </a:rPr>
                        <a:t>--</a:t>
                      </a:r>
                      <a:endParaRPr sz="800"/>
                    </a:p>
                  </a:txBody>
                  <a:tcPr marL="36576" marR="36576" marT="0" marB="0" anchor="ctr">
                    <a:noFill/>
                  </a:tcPr>
                </a:tc>
                <a:tc>
                  <a:txBody>
                    <a:bodyPr wrap="none"/>
                    <a:lstStyle/>
                    <a:p>
                      <a:pPr algn="r"/>
                      <a:r>
                        <a:rPr sz="800" b="0" i="0">
                          <a:solidFill>
                            <a:srgbClr val="1F2937"/>
                          </a:solidFill>
                          <a:latin typeface="Arial"/>
                        </a:rPr>
                        <a:t>--</a:t>
                      </a:r>
                      <a:endParaRPr sz="800"/>
                    </a:p>
                  </a:txBody>
                  <a:tcPr marL="36576" marR="36576" marT="0" marB="0" anchor="ctr">
                    <a:noFill/>
                  </a:tcPr>
                </a:tc>
                <a:tc>
                  <a:txBody>
                    <a:bodyPr wrap="none"/>
                    <a:lstStyle/>
                    <a:p>
                      <a:pPr algn="r"/>
                      <a:r>
                        <a:rPr sz="800" b="0" i="0">
                          <a:solidFill>
                            <a:srgbClr val="1F2937"/>
                          </a:solidFill>
                          <a:latin typeface="Arial"/>
                        </a:rPr>
                        <a:t>--</a:t>
                      </a:r>
                      <a:endParaRPr sz="800"/>
                    </a:p>
                  </a:txBody>
                  <a:tcPr marL="36576" marR="36576" marT="0" marB="0" anchor="ctr">
                    <a:noFill/>
                  </a:tcPr>
                </a:tc>
                <a:tc>
                  <a:txBody>
                    <a:bodyPr wrap="none"/>
                    <a:lstStyle/>
                    <a:p>
                      <a:pPr algn="r"/>
                      <a:r>
                        <a:rPr sz="800" b="0" i="0">
                          <a:solidFill>
                            <a:srgbClr val="1F2937"/>
                          </a:solidFill>
                          <a:latin typeface="Arial"/>
                        </a:rPr>
                        <a:t>--</a:t>
                      </a:r>
                      <a:endParaRPr sz="800"/>
                    </a:p>
                  </a:txBody>
                  <a:tcPr marL="36576" marR="36576" marT="0" marB="0" anchor="ctr">
                    <a:noFill/>
                  </a:tcPr>
                </a:tc>
                <a:tc>
                  <a:txBody>
                    <a:bodyPr wrap="none"/>
                    <a:lstStyle/>
                    <a:p>
                      <a:pPr algn="r"/>
                      <a:r>
                        <a:rPr sz="800" b="0" i="0">
                          <a:solidFill>
                            <a:srgbClr val="1F2937"/>
                          </a:solidFill>
                          <a:latin typeface="Arial"/>
                        </a:rPr>
                        <a:t>--</a:t>
                      </a:r>
                      <a:endParaRPr sz="800"/>
                    </a:p>
                  </a:txBody>
                  <a:tcPr marL="36576" marR="36576" marT="0" marB="0" anchor="ctr">
                    <a:noFill/>
                  </a:tcPr>
                </a:tc>
                <a:tc>
                  <a:txBody>
                    <a:bodyPr wrap="none"/>
                    <a:lstStyle/>
                    <a:p>
                      <a:pPr algn="r"/>
                      <a:r>
                        <a:rPr sz="800" b="0" i="0">
                          <a:solidFill>
                            <a:srgbClr val="1F2937"/>
                          </a:solidFill>
                          <a:latin typeface="Arial"/>
                        </a:rPr>
                        <a:t>--</a:t>
                      </a:r>
                      <a:endParaRPr sz="800"/>
                    </a:p>
                  </a:txBody>
                  <a:tcPr marL="36576" marR="36576" marT="0" marB="0" anchor="ctr">
                    <a:noFill/>
                  </a:tcPr>
                </a:tc>
                <a:tc>
                  <a:txBody>
                    <a:bodyPr wrap="none"/>
                    <a:lstStyle/>
                    <a:p>
                      <a:pPr algn="r"/>
                      <a:r>
                        <a:rPr sz="800" b="0" i="0">
                          <a:solidFill>
                            <a:srgbClr val="1F2937"/>
                          </a:solidFill>
                          <a:latin typeface="Arial"/>
                        </a:rPr>
                        <a:t>--</a:t>
                      </a:r>
                      <a:endParaRPr sz="800"/>
                    </a:p>
                  </a:txBody>
                  <a:tcPr marL="36576" marR="36576" marT="0" marB="0" anchor="ctr">
                    <a:noFill/>
                  </a:tcPr>
                </a:tc>
              </a:tr>
              <a:tr h="214884">
                <a:tc>
                  <a:txBody>
                    <a:bodyPr wrap="none"/>
                    <a:lstStyle/>
                    <a:p>
                      <a:pPr algn="l"/>
                      <a:r>
                        <a:rPr sz="800" b="0" i="0">
                          <a:solidFill>
                            <a:srgbClr val="1F2937"/>
                          </a:solidFill>
                          <a:latin typeface="Arial"/>
                        </a:rPr>
                        <a:t>LowRank</a:t>
                      </a:r>
                      <a:endParaRPr sz="800"/>
                    </a:p>
                  </a:txBody>
                  <a:tcPr marL="36576" marR="36576" marT="0" marB="0" anchor="ctr">
                    <a:noFill/>
                  </a:tcPr>
                </a:tc>
                <a:tc>
                  <a:txBody>
                    <a:bodyPr wrap="none"/>
                    <a:lstStyle/>
                    <a:p>
                      <a:pPr algn="r"/>
                      <a:r>
                        <a:rPr sz="800" b="0" i="0">
                          <a:solidFill>
                            <a:srgbClr val="1F2937"/>
                          </a:solidFill>
                          <a:latin typeface="Arial"/>
                        </a:rPr>
                        <a:t>0.0137</a:t>
                      </a:r>
                      <a:endParaRPr sz="800"/>
                    </a:p>
                  </a:txBody>
                  <a:tcPr marL="36576" marR="36576" marT="0" marB="0" anchor="ctr">
                    <a:noFill/>
                  </a:tcPr>
                </a:tc>
                <a:tc>
                  <a:txBody>
                    <a:bodyPr wrap="none"/>
                    <a:lstStyle/>
                    <a:p>
                      <a:pPr algn="r"/>
                      <a:r>
                        <a:rPr sz="800" b="0" i="0">
                          <a:solidFill>
                            <a:srgbClr val="1F2937"/>
                          </a:solidFill>
                          <a:latin typeface="Arial"/>
                        </a:rPr>
                        <a:t>0.0212</a:t>
                      </a:r>
                      <a:endParaRPr sz="800"/>
                    </a:p>
                  </a:txBody>
                  <a:tcPr marL="36576" marR="36576" marT="0" marB="0" anchor="ctr">
                    <a:noFill/>
                  </a:tcPr>
                </a:tc>
                <a:tc>
                  <a:txBody>
                    <a:bodyPr wrap="none"/>
                    <a:lstStyle/>
                    <a:p>
                      <a:pPr algn="r"/>
                      <a:r>
                        <a:rPr sz="800" b="0" i="0">
                          <a:solidFill>
                            <a:srgbClr val="1F2937"/>
                          </a:solidFill>
                          <a:latin typeface="Arial"/>
                        </a:rPr>
                        <a:t>0.6525</a:t>
                      </a:r>
                      <a:endParaRPr sz="800"/>
                    </a:p>
                  </a:txBody>
                  <a:tcPr marL="36576" marR="36576" marT="0" marB="0" anchor="ctr">
                    <a:noFill/>
                  </a:tcPr>
                </a:tc>
                <a:tc>
                  <a:txBody>
                    <a:bodyPr wrap="none"/>
                    <a:lstStyle/>
                    <a:p>
                      <a:pPr algn="r"/>
                      <a:r>
                        <a:rPr sz="800" b="1" i="0">
                          <a:solidFill>
                            <a:srgbClr val="1F2937"/>
                          </a:solidFill>
                          <a:latin typeface="Arial"/>
                        </a:rPr>
                        <a:t>0.0062</a:t>
                      </a:r>
                      <a:endParaRPr sz="800"/>
                    </a:p>
                  </a:txBody>
                  <a:tcPr marL="36576" marR="36576" marT="0" marB="0" anchor="ctr">
                    <a:noFill/>
                  </a:tcPr>
                </a:tc>
                <a:tc>
                  <a:txBody>
                    <a:bodyPr wrap="none"/>
                    <a:lstStyle/>
                    <a:p>
                      <a:pPr algn="r"/>
                      <a:r>
                        <a:rPr sz="800" b="0" i="0">
                          <a:solidFill>
                            <a:srgbClr val="1F2937"/>
                          </a:solidFill>
                          <a:latin typeface="Arial"/>
                        </a:rPr>
                        <a:t>0.0029</a:t>
                      </a:r>
                      <a:endParaRPr sz="800"/>
                    </a:p>
                  </a:txBody>
                  <a:tcPr marL="36576" marR="36576" marT="0" marB="0" anchor="ctr">
                    <a:noFill/>
                  </a:tcPr>
                </a:tc>
                <a:tc>
                  <a:txBody>
                    <a:bodyPr wrap="none"/>
                    <a:lstStyle/>
                    <a:p>
                      <a:pPr algn="r"/>
                      <a:r>
                        <a:rPr sz="800" b="0" i="0">
                          <a:solidFill>
                            <a:srgbClr val="1F2937"/>
                          </a:solidFill>
                          <a:latin typeface="Arial"/>
                        </a:rPr>
                        <a:t>0.1111</a:t>
                      </a:r>
                      <a:endParaRPr sz="800"/>
                    </a:p>
                  </a:txBody>
                  <a:tcPr marL="36576" marR="36576" marT="0" marB="0" anchor="ctr">
                    <a:noFill/>
                  </a:tcPr>
                </a:tc>
                <a:tc>
                  <a:txBody>
                    <a:bodyPr wrap="none"/>
                    <a:lstStyle/>
                    <a:p>
                      <a:pPr algn="r"/>
                      <a:r>
                        <a:rPr sz="800" b="0" i="0">
                          <a:solidFill>
                            <a:srgbClr val="1F2937"/>
                          </a:solidFill>
                          <a:latin typeface="Arial"/>
                        </a:rPr>
                        <a:t>0.0316</a:t>
                      </a:r>
                      <a:endParaRPr sz="800"/>
                    </a:p>
                  </a:txBody>
                  <a:tcPr marL="36576" marR="36576" marT="0" marB="0" anchor="ctr">
                    <a:noFill/>
                  </a:tcPr>
                </a:tc>
              </a:tr>
              <a:tr h="214884">
                <a:tc>
                  <a:txBody>
                    <a:bodyPr wrap="none"/>
                    <a:lstStyle/>
                    <a:p>
                      <a:pPr algn="l"/>
                      <a:r>
                        <a:rPr sz="800" b="0" i="0">
                          <a:solidFill>
                            <a:srgbClr val="1F2937"/>
                          </a:solidFill>
                          <a:latin typeface="Arial"/>
                        </a:rPr>
                        <a:t>EM</a:t>
                      </a:r>
                      <a:endParaRPr sz="800"/>
                    </a:p>
                  </a:txBody>
                  <a:tcPr marL="36576" marR="36576" marT="0" marB="0" anchor="ctr">
                    <a:noFill/>
                  </a:tcPr>
                </a:tc>
                <a:tc>
                  <a:txBody>
                    <a:bodyPr wrap="none"/>
                    <a:lstStyle/>
                    <a:p>
                      <a:pPr algn="r"/>
                      <a:r>
                        <a:rPr sz="800" b="1" i="0">
                          <a:solidFill>
                            <a:srgbClr val="1F2937"/>
                          </a:solidFill>
                          <a:latin typeface="Arial"/>
                        </a:rPr>
                        <a:t>0.0134</a:t>
                      </a:r>
                      <a:endParaRPr sz="800"/>
                    </a:p>
                  </a:txBody>
                  <a:tcPr marL="36576" marR="36576" marT="0" marB="0" anchor="ctr">
                    <a:noFill/>
                  </a:tcPr>
                </a:tc>
                <a:tc>
                  <a:txBody>
                    <a:bodyPr wrap="none"/>
                    <a:lstStyle/>
                    <a:p>
                      <a:pPr algn="r"/>
                      <a:r>
                        <a:rPr sz="800" b="1" i="0">
                          <a:solidFill>
                            <a:srgbClr val="1F2937"/>
                          </a:solidFill>
                          <a:latin typeface="Arial"/>
                        </a:rPr>
                        <a:t>0.0210</a:t>
                      </a:r>
                      <a:endParaRPr sz="800"/>
                    </a:p>
                  </a:txBody>
                  <a:tcPr marL="36576" marR="36576" marT="0" marB="0" anchor="ctr">
                    <a:noFill/>
                  </a:tcPr>
                </a:tc>
                <a:tc>
                  <a:txBody>
                    <a:bodyPr wrap="none"/>
                    <a:lstStyle/>
                    <a:p>
                      <a:pPr algn="r"/>
                      <a:r>
                        <a:rPr sz="800" b="0" i="0">
                          <a:solidFill>
                            <a:srgbClr val="1F2937"/>
                          </a:solidFill>
                          <a:latin typeface="Arial"/>
                        </a:rPr>
                        <a:t>0.6634</a:t>
                      </a:r>
                      <a:endParaRPr sz="800"/>
                    </a:p>
                  </a:txBody>
                  <a:tcPr marL="36576" marR="36576" marT="0" marB="0" anchor="ctr">
                    <a:noFill/>
                  </a:tcPr>
                </a:tc>
                <a:tc>
                  <a:txBody>
                    <a:bodyPr wrap="none"/>
                    <a:lstStyle/>
                    <a:p>
                      <a:pPr algn="r"/>
                      <a:r>
                        <a:rPr sz="800" b="0" i="0">
                          <a:solidFill>
                            <a:srgbClr val="1F2937"/>
                          </a:solidFill>
                          <a:latin typeface="Arial"/>
                        </a:rPr>
                        <a:t>0.0065</a:t>
                      </a:r>
                      <a:endParaRPr sz="800"/>
                    </a:p>
                  </a:txBody>
                  <a:tcPr marL="36576" marR="36576" marT="0" marB="0" anchor="ctr">
                    <a:noFill/>
                  </a:tcPr>
                </a:tc>
                <a:tc>
                  <a:txBody>
                    <a:bodyPr wrap="none"/>
                    <a:lstStyle/>
                    <a:p>
                      <a:pPr algn="r"/>
                      <a:r>
                        <a:rPr sz="800" b="0" i="0">
                          <a:solidFill>
                            <a:srgbClr val="1F2937"/>
                          </a:solidFill>
                          <a:latin typeface="Arial"/>
                        </a:rPr>
                        <a:t>0.0031</a:t>
                      </a:r>
                      <a:endParaRPr sz="800"/>
                    </a:p>
                  </a:txBody>
                  <a:tcPr marL="36576" marR="36576" marT="0" marB="0" anchor="ctr">
                    <a:noFill/>
                  </a:tcPr>
                </a:tc>
                <a:tc>
                  <a:txBody>
                    <a:bodyPr wrap="none"/>
                    <a:lstStyle/>
                    <a:p>
                      <a:pPr algn="r"/>
                      <a:r>
                        <a:rPr sz="800" b="0" i="0">
                          <a:solidFill>
                            <a:srgbClr val="1F2937"/>
                          </a:solidFill>
                          <a:latin typeface="Arial"/>
                        </a:rPr>
                        <a:t>0.1112</a:t>
                      </a:r>
                      <a:endParaRPr sz="800"/>
                    </a:p>
                  </a:txBody>
                  <a:tcPr marL="36576" marR="36576" marT="0" marB="0" anchor="ctr">
                    <a:noFill/>
                  </a:tcPr>
                </a:tc>
                <a:tc>
                  <a:txBody>
                    <a:bodyPr wrap="none"/>
                    <a:lstStyle/>
                    <a:p>
                      <a:pPr algn="r"/>
                      <a:r>
                        <a:rPr sz="800" b="0" i="0">
                          <a:solidFill>
                            <a:srgbClr val="1F2937"/>
                          </a:solidFill>
                          <a:latin typeface="Arial"/>
                        </a:rPr>
                        <a:t>0.0315</a:t>
                      </a:r>
                      <a:endParaRPr sz="800"/>
                    </a:p>
                  </a:txBody>
                  <a:tcPr marL="36576" marR="36576" marT="0" marB="0" anchor="ctr">
                    <a:noFill/>
                  </a:tcPr>
                </a:tc>
              </a:tr>
              <a:tr h="214884">
                <a:tc>
                  <a:txBody>
                    <a:bodyPr wrap="none"/>
                    <a:lstStyle/>
                    <a:p>
                      <a:pPr algn="l"/>
                      <a:r>
                        <a:rPr sz="800" b="0" i="0">
                          <a:solidFill>
                            <a:srgbClr val="1F2937"/>
                          </a:solidFill>
                          <a:latin typeface="Arial"/>
                        </a:rPr>
                        <a:t>BRITS</a:t>
                      </a:r>
                      <a:endParaRPr sz="800"/>
                    </a:p>
                  </a:txBody>
                  <a:tcPr marL="36576" marR="36576" marT="0" marB="0" anchor="ctr">
                    <a:noFill/>
                  </a:tcPr>
                </a:tc>
                <a:tc>
                  <a:txBody>
                    <a:bodyPr wrap="none"/>
                    <a:lstStyle/>
                    <a:p>
                      <a:pPr algn="r"/>
                      <a:r>
                        <a:rPr sz="800" b="0" i="0">
                          <a:solidFill>
                            <a:srgbClr val="1F2937"/>
                          </a:solidFill>
                          <a:latin typeface="Arial"/>
                        </a:rPr>
                        <a:t>0.0136</a:t>
                      </a:r>
                      <a:endParaRPr sz="800"/>
                    </a:p>
                  </a:txBody>
                  <a:tcPr marL="36576" marR="36576" marT="0" marB="0" anchor="ctr">
                    <a:noFill/>
                  </a:tcPr>
                </a:tc>
                <a:tc>
                  <a:txBody>
                    <a:bodyPr wrap="none"/>
                    <a:lstStyle/>
                    <a:p>
                      <a:pPr algn="r"/>
                      <a:r>
                        <a:rPr sz="800" b="0" i="0">
                          <a:solidFill>
                            <a:srgbClr val="1F2937"/>
                          </a:solidFill>
                          <a:latin typeface="Arial"/>
                        </a:rPr>
                        <a:t>0.0214</a:t>
                      </a:r>
                      <a:endParaRPr sz="800"/>
                    </a:p>
                  </a:txBody>
                  <a:tcPr marL="36576" marR="36576" marT="0" marB="0" anchor="ctr">
                    <a:noFill/>
                  </a:tcPr>
                </a:tc>
                <a:tc>
                  <a:txBody>
                    <a:bodyPr wrap="none"/>
                    <a:lstStyle/>
                    <a:p>
                      <a:pPr algn="r"/>
                      <a:r>
                        <a:rPr sz="800" b="1" i="0">
                          <a:solidFill>
                            <a:srgbClr val="1F2937"/>
                          </a:solidFill>
                          <a:latin typeface="Arial"/>
                        </a:rPr>
                        <a:t>0.6480</a:t>
                      </a:r>
                      <a:endParaRPr sz="800"/>
                    </a:p>
                  </a:txBody>
                  <a:tcPr marL="36576" marR="36576" marT="0" marB="0" anchor="ctr">
                    <a:noFill/>
                  </a:tcPr>
                </a:tc>
                <a:tc>
                  <a:txBody>
                    <a:bodyPr wrap="none"/>
                    <a:lstStyle/>
                    <a:p>
                      <a:pPr algn="r"/>
                      <a:r>
                        <a:rPr sz="800" b="0" i="0">
                          <a:solidFill>
                            <a:srgbClr val="1F2937"/>
                          </a:solidFill>
                          <a:latin typeface="Arial"/>
                        </a:rPr>
                        <a:t>0.0063</a:t>
                      </a:r>
                      <a:endParaRPr sz="800"/>
                    </a:p>
                  </a:txBody>
                  <a:tcPr marL="36576" marR="36576" marT="0" marB="0" anchor="ctr">
                    <a:noFill/>
                  </a:tcPr>
                </a:tc>
                <a:tc>
                  <a:txBody>
                    <a:bodyPr wrap="none"/>
                    <a:lstStyle/>
                    <a:p>
                      <a:pPr algn="r"/>
                      <a:r>
                        <a:rPr sz="800" b="1" i="0">
                          <a:solidFill>
                            <a:srgbClr val="1F2937"/>
                          </a:solidFill>
                          <a:latin typeface="Arial"/>
                        </a:rPr>
                        <a:t>0.0025</a:t>
                      </a:r>
                      <a:endParaRPr sz="800"/>
                    </a:p>
                  </a:txBody>
                  <a:tcPr marL="36576" marR="36576" marT="0" marB="0" anchor="ctr">
                    <a:noFill/>
                  </a:tcPr>
                </a:tc>
                <a:tc>
                  <a:txBody>
                    <a:bodyPr wrap="none"/>
                    <a:lstStyle/>
                    <a:p>
                      <a:pPr algn="r"/>
                      <a:r>
                        <a:rPr sz="800" b="0" i="0">
                          <a:solidFill>
                            <a:srgbClr val="1F2937"/>
                          </a:solidFill>
                          <a:latin typeface="Arial"/>
                        </a:rPr>
                        <a:t>0.1069</a:t>
                      </a:r>
                      <a:endParaRPr sz="800"/>
                    </a:p>
                  </a:txBody>
                  <a:tcPr marL="36576" marR="36576" marT="0" marB="0" anchor="ctr">
                    <a:noFill/>
                  </a:tcPr>
                </a:tc>
                <a:tc>
                  <a:txBody>
                    <a:bodyPr wrap="none"/>
                    <a:lstStyle/>
                    <a:p>
                      <a:pPr algn="r"/>
                      <a:r>
                        <a:rPr sz="800" b="0" i="0">
                          <a:solidFill>
                            <a:srgbClr val="1F2937"/>
                          </a:solidFill>
                          <a:latin typeface="Arial"/>
                        </a:rPr>
                        <a:t>0.0299</a:t>
                      </a:r>
                      <a:endParaRPr sz="800"/>
                    </a:p>
                  </a:txBody>
                  <a:tcPr marL="36576" marR="36576" marT="0" marB="0" anchor="ctr">
                    <a:noFill/>
                  </a:tcPr>
                </a:tc>
              </a:tr>
              <a:tr h="214884">
                <a:tc>
                  <a:txBody>
                    <a:bodyPr wrap="none"/>
                    <a:lstStyle/>
                    <a:p>
                      <a:pPr algn="l"/>
                      <a:r>
                        <a:rPr sz="800" b="0" i="0">
                          <a:solidFill>
                            <a:srgbClr val="1F2937"/>
                          </a:solidFill>
                          <a:latin typeface="Arial"/>
                        </a:rPr>
                        <a:t>CSDI</a:t>
                      </a:r>
                      <a:endParaRPr sz="800"/>
                    </a:p>
                  </a:txBody>
                  <a:tcPr marL="36576" marR="36576" marT="0" marB="0" anchor="ctr">
                    <a:lnB w="15875">
                      <a:solidFill>
                        <a:srgbClr val="14213D"/>
                      </a:solidFill>
                    </a:lnB>
                    <a:noFill/>
                  </a:tcPr>
                </a:tc>
                <a:tc>
                  <a:txBody>
                    <a:bodyPr wrap="none"/>
                    <a:lstStyle/>
                    <a:p>
                      <a:pPr algn="r"/>
                      <a:r>
                        <a:rPr sz="800" b="1" i="0">
                          <a:solidFill>
                            <a:srgbClr val="1F2937"/>
                          </a:solidFill>
                          <a:latin typeface="Arial"/>
                        </a:rPr>
                        <a:t>0.0134</a:t>
                      </a:r>
                      <a:endParaRPr sz="800"/>
                    </a:p>
                  </a:txBody>
                  <a:tcPr marL="36576" marR="36576" marT="0" marB="0" anchor="ctr">
                    <a:lnB w="15875">
                      <a:solidFill>
                        <a:srgbClr val="14213D"/>
                      </a:solidFill>
                    </a:lnB>
                    <a:noFill/>
                  </a:tcPr>
                </a:tc>
                <a:tc>
                  <a:txBody>
                    <a:bodyPr wrap="none"/>
                    <a:lstStyle/>
                    <a:p>
                      <a:pPr algn="r"/>
                      <a:r>
                        <a:rPr sz="800" b="1" i="0">
                          <a:solidFill>
                            <a:srgbClr val="1F2937"/>
                          </a:solidFill>
                          <a:latin typeface="Arial"/>
                        </a:rPr>
                        <a:t>0.0210</a:t>
                      </a:r>
                      <a:endParaRPr sz="800"/>
                    </a:p>
                  </a:txBody>
                  <a:tcPr marL="36576" marR="36576" marT="0" marB="0" anchor="ctr">
                    <a:lnB w="15875">
                      <a:solidFill>
                        <a:srgbClr val="14213D"/>
                      </a:solidFill>
                    </a:lnB>
                    <a:noFill/>
                  </a:tcPr>
                </a:tc>
                <a:tc>
                  <a:txBody>
                    <a:bodyPr wrap="none"/>
                    <a:lstStyle/>
                    <a:p>
                      <a:pPr algn="r"/>
                      <a:r>
                        <a:rPr sz="800" b="0" i="0">
                          <a:solidFill>
                            <a:srgbClr val="1F2937"/>
                          </a:solidFill>
                          <a:latin typeface="Arial"/>
                        </a:rPr>
                        <a:t>0.6559</a:t>
                      </a:r>
                      <a:endParaRPr sz="800"/>
                    </a:p>
                  </a:txBody>
                  <a:tcPr marL="36576" marR="36576" marT="0" marB="0" anchor="ctr">
                    <a:lnB w="15875">
                      <a:solidFill>
                        <a:srgbClr val="14213D"/>
                      </a:solidFill>
                    </a:lnB>
                    <a:noFill/>
                  </a:tcPr>
                </a:tc>
                <a:tc>
                  <a:txBody>
                    <a:bodyPr wrap="none"/>
                    <a:lstStyle/>
                    <a:p>
                      <a:pPr algn="r"/>
                      <a:r>
                        <a:rPr sz="800" b="0" i="0">
                          <a:solidFill>
                            <a:srgbClr val="1F2937"/>
                          </a:solidFill>
                          <a:latin typeface="Arial"/>
                        </a:rPr>
                        <a:t>0.0064</a:t>
                      </a:r>
                      <a:endParaRPr sz="800"/>
                    </a:p>
                  </a:txBody>
                  <a:tcPr marL="36576" marR="36576" marT="0" marB="0" anchor="ctr">
                    <a:lnB w="15875">
                      <a:solidFill>
                        <a:srgbClr val="14213D"/>
                      </a:solidFill>
                    </a:lnB>
                    <a:noFill/>
                  </a:tcPr>
                </a:tc>
                <a:tc>
                  <a:txBody>
                    <a:bodyPr wrap="none"/>
                    <a:lstStyle/>
                    <a:p>
                      <a:pPr algn="r"/>
                      <a:r>
                        <a:rPr sz="800" b="0" i="0">
                          <a:solidFill>
                            <a:srgbClr val="1F2937"/>
                          </a:solidFill>
                          <a:latin typeface="Arial"/>
                        </a:rPr>
                        <a:t>0.0028</a:t>
                      </a:r>
                      <a:endParaRPr sz="800"/>
                    </a:p>
                  </a:txBody>
                  <a:tcPr marL="36576" marR="36576" marT="0" marB="0" anchor="ctr">
                    <a:lnB w="15875">
                      <a:solidFill>
                        <a:srgbClr val="14213D"/>
                      </a:solidFill>
                    </a:lnB>
                    <a:noFill/>
                  </a:tcPr>
                </a:tc>
                <a:tc>
                  <a:txBody>
                    <a:bodyPr wrap="none"/>
                    <a:lstStyle/>
                    <a:p>
                      <a:pPr algn="r"/>
                      <a:r>
                        <a:rPr sz="800" b="1" i="0">
                          <a:solidFill>
                            <a:srgbClr val="1F2937"/>
                          </a:solidFill>
                          <a:latin typeface="Arial"/>
                        </a:rPr>
                        <a:t>0.1065</a:t>
                      </a:r>
                      <a:endParaRPr sz="800"/>
                    </a:p>
                  </a:txBody>
                  <a:tcPr marL="36576" marR="36576" marT="0" marB="0" anchor="ctr">
                    <a:lnB w="15875">
                      <a:solidFill>
                        <a:srgbClr val="14213D"/>
                      </a:solidFill>
                    </a:lnB>
                    <a:noFill/>
                  </a:tcPr>
                </a:tc>
                <a:tc>
                  <a:txBody>
                    <a:bodyPr wrap="none"/>
                    <a:lstStyle/>
                    <a:p>
                      <a:pPr algn="r"/>
                      <a:r>
                        <a:rPr sz="800" b="1" i="0">
                          <a:solidFill>
                            <a:srgbClr val="1F2937"/>
                          </a:solidFill>
                          <a:latin typeface="Arial"/>
                        </a:rPr>
                        <a:t>0.0298</a:t>
                      </a:r>
                      <a:endParaRPr sz="800"/>
                    </a:p>
                  </a:txBody>
                  <a:tcPr marL="36576" marR="36576" marT="0" marB="0" anchor="ctr">
                    <a:lnB w="15875">
                      <a:solidFill>
                        <a:srgbClr val="14213D"/>
                      </a:solidFill>
                    </a:lnB>
                    <a:no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548640" y="393192"/>
            <a:ext cx="77724" cy="77724"/>
          </a:xfrm>
          <a:prstGeom prst="rect">
            <a:avLst/>
          </a:prstGeom>
          <a:solidFill>
            <a:srgbClr val="C4C9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62940" y="393192"/>
            <a:ext cx="77724" cy="77724"/>
          </a:xfrm>
          <a:prstGeom prst="rect">
            <a:avLst/>
          </a:prstGeom>
          <a:solidFill>
            <a:srgbClr val="C4C9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393192"/>
            <a:ext cx="77724" cy="77724"/>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329184"/>
            <a:ext cx="8229600" cy="274320"/>
          </a:xfrm>
          <a:prstGeom prst="rect">
            <a:avLst/>
          </a:prstGeom>
          <a:noFill/>
        </p:spPr>
        <p:txBody>
          <a:bodyPr wrap="square" lIns="0" rIns="0" tIns="0" bIns="0" anchor="t">
            <a:noAutofit/>
          </a:bodyPr>
          <a:lstStyle/>
          <a:p>
            <a:pPr algn="l">
              <a:spcAft>
                <a:spcPts val="600"/>
              </a:spcAft>
            </a:pPr>
            <a:r>
              <a:rPr sz="1100" b="1" i="0" spc="150">
                <a:solidFill>
                  <a:srgbClr val="E4572E"/>
                </a:solidFill>
                <a:latin typeface="Arial"/>
              </a:rPr>
              <a:t>BACKUP</a:t>
            </a:r>
            <a:endParaRPr sz="1100"/>
          </a:p>
        </p:txBody>
      </p:sp>
      <p:sp>
        <p:nvSpPr>
          <p:cNvPr id="6" name="TextBox 5"/>
          <p:cNvSpPr txBox="1"/>
          <p:nvPr/>
        </p:nvSpPr>
        <p:spPr>
          <a:xfrm>
            <a:off x="548640" y="585216"/>
            <a:ext cx="11091672" cy="411480"/>
          </a:xfrm>
          <a:prstGeom prst="rect">
            <a:avLst/>
          </a:prstGeom>
          <a:noFill/>
        </p:spPr>
        <p:txBody>
          <a:bodyPr wrap="square" lIns="0" rIns="0" tIns="0" bIns="0" anchor="t">
            <a:noAutofit/>
          </a:bodyPr>
          <a:lstStyle/>
          <a:p>
            <a:pPr algn="l">
              <a:spcAft>
                <a:spcPts val="600"/>
              </a:spcAft>
            </a:pPr>
            <a:r>
              <a:rPr sz="1750" b="1" i="0">
                <a:solidFill>
                  <a:srgbClr val="14213D"/>
                </a:solidFill>
                <a:latin typeface="Georgia"/>
              </a:rPr>
              <a:t>Optimal portfolio at every level (Tables 3.4 to 3.6; best Sharpe in bold)</a:t>
            </a:r>
            <a:endParaRPr sz="1750"/>
          </a:p>
        </p:txBody>
      </p:sp>
      <p:graphicFrame>
        <p:nvGraphicFramePr>
          <p:cNvPr id="7" name="Table 6"/>
          <p:cNvGraphicFramePr>
            <a:graphicFrameLocks noGrp="1"/>
          </p:cNvGraphicFramePr>
          <p:nvPr/>
        </p:nvGraphicFramePr>
        <p:xfrm>
          <a:off x="548640" y="1051560"/>
          <a:ext cx="11091210" cy="5420558"/>
        </p:xfrm>
        <a:graphic>
          <a:graphicData uri="http://schemas.openxmlformats.org/drawingml/2006/table">
            <a:tbl>
              <a:tblPr firstRow="0" bandRow="0">
                <a:tableStyleId>{2D5ABB26-0587-4C30-8999-92F81FD0307C}</a:tableStyleId>
              </a:tblPr>
              <a:tblGrid>
                <a:gridCol w="2103120"/>
                <a:gridCol w="599206"/>
                <a:gridCol w="599206"/>
                <a:gridCol w="599206"/>
                <a:gridCol w="599206"/>
                <a:gridCol w="599206"/>
                <a:gridCol w="599206"/>
                <a:gridCol w="599206"/>
                <a:gridCol w="599206"/>
                <a:gridCol w="599206"/>
                <a:gridCol w="599206"/>
                <a:gridCol w="599206"/>
                <a:gridCol w="599206"/>
                <a:gridCol w="599206"/>
                <a:gridCol w="599206"/>
                <a:gridCol w="599206"/>
              </a:tblGrid>
              <a:tr h="208483">
                <a:tc>
                  <a:txBody>
                    <a:bodyPr wrap="none"/>
                    <a:lstStyle/>
                    <a:p>
                      <a:pPr algn="l"/>
                      <a:endParaRPr sz="800"/>
                    </a:p>
                  </a:txBody>
                  <a:tcPr marL="36576" marR="36576" marT="0" marB="0" anchor="ctr">
                    <a:lnT w="15875">
                      <a:solidFill>
                        <a:srgbClr val="14213D"/>
                      </a:solidFill>
                    </a:lnT>
                    <a:noFill/>
                  </a:tcPr>
                </a:tc>
                <a:tc gridSpan="5">
                  <a:txBody>
                    <a:bodyPr wrap="none"/>
                    <a:lstStyle/>
                    <a:p>
                      <a:pPr algn="ctr"/>
                      <a:r>
                        <a:rPr sz="800" b="1" i="0">
                          <a:solidFill>
                            <a:srgbClr val="1F2937"/>
                          </a:solidFill>
                          <a:latin typeface="Arial"/>
                        </a:rPr>
                        <a:t>Sparse</a:t>
                      </a:r>
                      <a:endParaRPr sz="800"/>
                    </a:p>
                  </a:txBody>
                  <a:tcPr marL="36576" marR="36576" marT="0" marB="0" anchor="ctr">
                    <a:lnT w="15875">
                      <a:solidFill>
                        <a:srgbClr val="14213D"/>
                      </a:solidFill>
                    </a:lnT>
                    <a:noFill/>
                  </a:tcPr>
                </a:tc>
                <a:tc hMerge="1">
                  <a:txBody>
                    <a:bodyPr wrap="none"/>
                    <a:lstStyle/>
                    <a:p>
                      <a:pPr algn="r"/>
                      <a:endParaRPr sz="800"/>
                    </a:p>
                  </a:txBody>
                  <a:tcPr marL="36576" marR="36576" marT="0" marB="0" anchor="ctr">
                    <a:lnT w="15875">
                      <a:solidFill>
                        <a:srgbClr val="14213D"/>
                      </a:solidFill>
                    </a:lnT>
                    <a:noFill/>
                  </a:tcPr>
                </a:tc>
                <a:tc hMerge="1">
                  <a:txBody>
                    <a:bodyPr wrap="none"/>
                    <a:lstStyle/>
                    <a:p>
                      <a:pPr algn="r"/>
                      <a:endParaRPr sz="800"/>
                    </a:p>
                  </a:txBody>
                  <a:tcPr marL="36576" marR="36576" marT="0" marB="0" anchor="ctr">
                    <a:lnT w="15875">
                      <a:solidFill>
                        <a:srgbClr val="14213D"/>
                      </a:solidFill>
                    </a:lnT>
                    <a:noFill/>
                  </a:tcPr>
                </a:tc>
                <a:tc hMerge="1">
                  <a:txBody>
                    <a:bodyPr wrap="none"/>
                    <a:lstStyle/>
                    <a:p>
                      <a:pPr algn="r"/>
                      <a:endParaRPr sz="800"/>
                    </a:p>
                  </a:txBody>
                  <a:tcPr marL="36576" marR="36576" marT="0" marB="0" anchor="ctr">
                    <a:lnT w="15875">
                      <a:solidFill>
                        <a:srgbClr val="14213D"/>
                      </a:solidFill>
                    </a:lnT>
                    <a:noFill/>
                  </a:tcPr>
                </a:tc>
                <a:tc hMerge="1">
                  <a:txBody>
                    <a:bodyPr wrap="none"/>
                    <a:lstStyle/>
                    <a:p>
                      <a:pPr algn="r"/>
                      <a:endParaRPr sz="800"/>
                    </a:p>
                  </a:txBody>
                  <a:tcPr marL="36576" marR="36576" marT="0" marB="0" anchor="ctr">
                    <a:lnT w="15875">
                      <a:solidFill>
                        <a:srgbClr val="14213D"/>
                      </a:solidFill>
                    </a:lnT>
                    <a:noFill/>
                  </a:tcPr>
                </a:tc>
                <a:tc gridSpan="5">
                  <a:txBody>
                    <a:bodyPr wrap="none"/>
                    <a:lstStyle/>
                    <a:p>
                      <a:pPr algn="ctr"/>
                      <a:r>
                        <a:rPr sz="800" b="1" i="0">
                          <a:solidFill>
                            <a:srgbClr val="1F2937"/>
                          </a:solidFill>
                          <a:latin typeface="Arial"/>
                        </a:rPr>
                        <a:t>Contiguous gaps</a:t>
                      </a:r>
                      <a:endParaRPr sz="800"/>
                    </a:p>
                  </a:txBody>
                  <a:tcPr marL="36576" marR="36576" marT="0" marB="0" anchor="ctr">
                    <a:lnT w="15875">
                      <a:solidFill>
                        <a:srgbClr val="14213D"/>
                      </a:solidFill>
                    </a:lnT>
                    <a:noFill/>
                  </a:tcPr>
                </a:tc>
                <a:tc hMerge="1">
                  <a:txBody>
                    <a:bodyPr wrap="none"/>
                    <a:lstStyle/>
                    <a:p>
                      <a:pPr algn="r"/>
                      <a:endParaRPr sz="800"/>
                    </a:p>
                  </a:txBody>
                  <a:tcPr marL="36576" marR="36576" marT="0" marB="0" anchor="ctr">
                    <a:lnT w="15875">
                      <a:solidFill>
                        <a:srgbClr val="14213D"/>
                      </a:solidFill>
                    </a:lnT>
                    <a:noFill/>
                  </a:tcPr>
                </a:tc>
                <a:tc hMerge="1">
                  <a:txBody>
                    <a:bodyPr wrap="none"/>
                    <a:lstStyle/>
                    <a:p>
                      <a:pPr algn="r"/>
                      <a:endParaRPr sz="800"/>
                    </a:p>
                  </a:txBody>
                  <a:tcPr marL="36576" marR="36576" marT="0" marB="0" anchor="ctr">
                    <a:lnT w="15875">
                      <a:solidFill>
                        <a:srgbClr val="14213D"/>
                      </a:solidFill>
                    </a:lnT>
                    <a:noFill/>
                  </a:tcPr>
                </a:tc>
                <a:tc hMerge="1">
                  <a:txBody>
                    <a:bodyPr wrap="none"/>
                    <a:lstStyle/>
                    <a:p>
                      <a:pPr algn="r"/>
                      <a:endParaRPr sz="800"/>
                    </a:p>
                  </a:txBody>
                  <a:tcPr marL="36576" marR="36576" marT="0" marB="0" anchor="ctr">
                    <a:lnT w="15875">
                      <a:solidFill>
                        <a:srgbClr val="14213D"/>
                      </a:solidFill>
                    </a:lnT>
                    <a:noFill/>
                  </a:tcPr>
                </a:tc>
                <a:tc hMerge="1">
                  <a:txBody>
                    <a:bodyPr wrap="none"/>
                    <a:lstStyle/>
                    <a:p>
                      <a:pPr algn="r"/>
                      <a:endParaRPr sz="800"/>
                    </a:p>
                  </a:txBody>
                  <a:tcPr marL="36576" marR="36576" marT="0" marB="0" anchor="ctr">
                    <a:lnT w="15875">
                      <a:solidFill>
                        <a:srgbClr val="14213D"/>
                      </a:solidFill>
                    </a:lnT>
                    <a:noFill/>
                  </a:tcPr>
                </a:tc>
                <a:tc gridSpan="5">
                  <a:txBody>
                    <a:bodyPr wrap="none"/>
                    <a:lstStyle/>
                    <a:p>
                      <a:pPr algn="ctr"/>
                      <a:r>
                        <a:rPr sz="800" b="1" i="0">
                          <a:solidFill>
                            <a:srgbClr val="1F2937"/>
                          </a:solidFill>
                          <a:latin typeface="Arial"/>
                        </a:rPr>
                        <a:t>Stressed</a:t>
                      </a:r>
                      <a:endParaRPr sz="800"/>
                    </a:p>
                  </a:txBody>
                  <a:tcPr marL="36576" marR="36576" marT="0" marB="0" anchor="ctr">
                    <a:lnT w="15875">
                      <a:solidFill>
                        <a:srgbClr val="14213D"/>
                      </a:solidFill>
                    </a:lnT>
                    <a:noFill/>
                  </a:tcPr>
                </a:tc>
                <a:tc hMerge="1">
                  <a:txBody>
                    <a:bodyPr wrap="none"/>
                    <a:lstStyle/>
                    <a:p>
                      <a:pPr algn="r"/>
                      <a:endParaRPr sz="800"/>
                    </a:p>
                  </a:txBody>
                  <a:tcPr marL="36576" marR="36576" marT="0" marB="0" anchor="ctr">
                    <a:lnT w="15875">
                      <a:solidFill>
                        <a:srgbClr val="14213D"/>
                      </a:solidFill>
                    </a:lnT>
                    <a:noFill/>
                  </a:tcPr>
                </a:tc>
                <a:tc hMerge="1">
                  <a:txBody>
                    <a:bodyPr wrap="none"/>
                    <a:lstStyle/>
                    <a:p>
                      <a:pPr algn="r"/>
                      <a:endParaRPr sz="800"/>
                    </a:p>
                  </a:txBody>
                  <a:tcPr marL="36576" marR="36576" marT="0" marB="0" anchor="ctr">
                    <a:lnT w="15875">
                      <a:solidFill>
                        <a:srgbClr val="14213D"/>
                      </a:solidFill>
                    </a:lnT>
                    <a:noFill/>
                  </a:tcPr>
                </a:tc>
                <a:tc hMerge="1">
                  <a:txBody>
                    <a:bodyPr wrap="none"/>
                    <a:lstStyle/>
                    <a:p>
                      <a:pPr algn="r"/>
                      <a:endParaRPr sz="800"/>
                    </a:p>
                  </a:txBody>
                  <a:tcPr marL="36576" marR="36576" marT="0" marB="0" anchor="ctr">
                    <a:lnT w="15875">
                      <a:solidFill>
                        <a:srgbClr val="14213D"/>
                      </a:solidFill>
                    </a:lnT>
                    <a:noFill/>
                  </a:tcPr>
                </a:tc>
                <a:tc hMerge="1">
                  <a:txBody>
                    <a:bodyPr wrap="none"/>
                    <a:lstStyle/>
                    <a:p>
                      <a:pPr algn="r"/>
                      <a:endParaRPr sz="800"/>
                    </a:p>
                  </a:txBody>
                  <a:tcPr marL="36576" marR="36576" marT="0" marB="0" anchor="ctr">
                    <a:lnT w="15875">
                      <a:solidFill>
                        <a:srgbClr val="14213D"/>
                      </a:solidFill>
                    </a:lnT>
                    <a:noFill/>
                  </a:tcPr>
                </a:tc>
              </a:tr>
              <a:tr h="208483">
                <a:tc>
                  <a:txBody>
                    <a:bodyPr wrap="none"/>
                    <a:lstStyle/>
                    <a:p>
                      <a:pPr algn="l"/>
                      <a:r>
                        <a:rPr sz="800" b="1" i="0">
                          <a:solidFill>
                            <a:srgbClr val="1F2937"/>
                          </a:solidFill>
                          <a:latin typeface="Arial"/>
                        </a:rPr>
                        <a:t>Expected share</a:t>
                      </a:r>
                      <a:endParaRPr sz="800"/>
                    </a:p>
                  </a:txBody>
                  <a:tcPr marL="36576" marR="36576" marT="0" marB="0" anchor="ctr">
                    <a:lnB w="6350">
                      <a:solidFill>
                        <a:srgbClr val="D0D5DD"/>
                      </a:solidFill>
                    </a:lnB>
                    <a:noFill/>
                  </a:tcPr>
                </a:tc>
                <a:tc>
                  <a:txBody>
                    <a:bodyPr wrap="none"/>
                    <a:lstStyle/>
                    <a:p>
                      <a:pPr algn="r"/>
                      <a:r>
                        <a:rPr sz="800" b="1" i="0">
                          <a:solidFill>
                            <a:srgbClr val="1F2937"/>
                          </a:solidFill>
                          <a:latin typeface="Arial"/>
                        </a:rPr>
                        <a:t>0.1%</a:t>
                      </a:r>
                      <a:endParaRPr sz="800"/>
                    </a:p>
                  </a:txBody>
                  <a:tcPr marL="36576" marR="36576" marT="0" marB="0" anchor="ctr">
                    <a:lnB w="6350">
                      <a:solidFill>
                        <a:srgbClr val="D0D5DD"/>
                      </a:solidFill>
                    </a:lnB>
                    <a:noFill/>
                  </a:tcPr>
                </a:tc>
                <a:tc>
                  <a:txBody>
                    <a:bodyPr wrap="none"/>
                    <a:lstStyle/>
                    <a:p>
                      <a:pPr algn="r"/>
                      <a:r>
                        <a:rPr sz="800" b="1" i="0">
                          <a:solidFill>
                            <a:srgbClr val="1F2937"/>
                          </a:solidFill>
                          <a:latin typeface="Arial"/>
                        </a:rPr>
                        <a:t>1%</a:t>
                      </a:r>
                      <a:endParaRPr sz="800"/>
                    </a:p>
                  </a:txBody>
                  <a:tcPr marL="36576" marR="36576" marT="0" marB="0" anchor="ctr">
                    <a:lnB w="6350">
                      <a:solidFill>
                        <a:srgbClr val="D0D5DD"/>
                      </a:solidFill>
                    </a:lnB>
                    <a:noFill/>
                  </a:tcPr>
                </a:tc>
                <a:tc>
                  <a:txBody>
                    <a:bodyPr wrap="none"/>
                    <a:lstStyle/>
                    <a:p>
                      <a:pPr algn="r"/>
                      <a:r>
                        <a:rPr sz="800" b="1" i="0">
                          <a:solidFill>
                            <a:srgbClr val="1F2937"/>
                          </a:solidFill>
                          <a:latin typeface="Arial"/>
                        </a:rPr>
                        <a:t>5%</a:t>
                      </a:r>
                      <a:endParaRPr sz="800"/>
                    </a:p>
                  </a:txBody>
                  <a:tcPr marL="36576" marR="36576" marT="0" marB="0" anchor="ctr">
                    <a:lnB w="6350">
                      <a:solidFill>
                        <a:srgbClr val="D0D5DD"/>
                      </a:solidFill>
                    </a:lnB>
                    <a:noFill/>
                  </a:tcPr>
                </a:tc>
                <a:tc>
                  <a:txBody>
                    <a:bodyPr wrap="none"/>
                    <a:lstStyle/>
                    <a:p>
                      <a:pPr algn="r"/>
                      <a:r>
                        <a:rPr sz="800" b="1" i="0">
                          <a:solidFill>
                            <a:srgbClr val="1F2937"/>
                          </a:solidFill>
                          <a:latin typeface="Arial"/>
                        </a:rPr>
                        <a:t>10%</a:t>
                      </a:r>
                      <a:endParaRPr sz="800"/>
                    </a:p>
                  </a:txBody>
                  <a:tcPr marL="36576" marR="36576" marT="0" marB="0" anchor="ctr">
                    <a:lnB w="6350">
                      <a:solidFill>
                        <a:srgbClr val="D0D5DD"/>
                      </a:solidFill>
                    </a:lnB>
                    <a:noFill/>
                  </a:tcPr>
                </a:tc>
                <a:tc>
                  <a:txBody>
                    <a:bodyPr wrap="none"/>
                    <a:lstStyle/>
                    <a:p>
                      <a:pPr algn="r"/>
                      <a:r>
                        <a:rPr sz="800" b="1" i="0">
                          <a:solidFill>
                            <a:srgbClr val="1F2937"/>
                          </a:solidFill>
                          <a:latin typeface="Arial"/>
                        </a:rPr>
                        <a:t>30%</a:t>
                      </a:r>
                      <a:endParaRPr sz="800"/>
                    </a:p>
                  </a:txBody>
                  <a:tcPr marL="36576" marR="36576" marT="0" marB="0" anchor="ctr">
                    <a:lnB w="6350">
                      <a:solidFill>
                        <a:srgbClr val="D0D5DD"/>
                      </a:solidFill>
                    </a:lnB>
                    <a:noFill/>
                  </a:tcPr>
                </a:tc>
                <a:tc>
                  <a:txBody>
                    <a:bodyPr wrap="none"/>
                    <a:lstStyle/>
                    <a:p>
                      <a:pPr algn="r"/>
                      <a:r>
                        <a:rPr sz="800" b="1" i="0">
                          <a:solidFill>
                            <a:srgbClr val="1F2937"/>
                          </a:solidFill>
                          <a:latin typeface="Arial"/>
                        </a:rPr>
                        <a:t>0.1%</a:t>
                      </a:r>
                      <a:endParaRPr sz="800"/>
                    </a:p>
                  </a:txBody>
                  <a:tcPr marL="36576" marR="36576" marT="0" marB="0" anchor="ctr">
                    <a:lnB w="6350">
                      <a:solidFill>
                        <a:srgbClr val="D0D5DD"/>
                      </a:solidFill>
                    </a:lnB>
                    <a:noFill/>
                  </a:tcPr>
                </a:tc>
                <a:tc>
                  <a:txBody>
                    <a:bodyPr wrap="none"/>
                    <a:lstStyle/>
                    <a:p>
                      <a:pPr algn="r"/>
                      <a:r>
                        <a:rPr sz="800" b="1" i="0">
                          <a:solidFill>
                            <a:srgbClr val="1F2937"/>
                          </a:solidFill>
                          <a:latin typeface="Arial"/>
                        </a:rPr>
                        <a:t>1%</a:t>
                      </a:r>
                      <a:endParaRPr sz="800"/>
                    </a:p>
                  </a:txBody>
                  <a:tcPr marL="36576" marR="36576" marT="0" marB="0" anchor="ctr">
                    <a:lnB w="6350">
                      <a:solidFill>
                        <a:srgbClr val="D0D5DD"/>
                      </a:solidFill>
                    </a:lnB>
                    <a:noFill/>
                  </a:tcPr>
                </a:tc>
                <a:tc>
                  <a:txBody>
                    <a:bodyPr wrap="none"/>
                    <a:lstStyle/>
                    <a:p>
                      <a:pPr algn="r"/>
                      <a:r>
                        <a:rPr sz="800" b="1" i="0">
                          <a:solidFill>
                            <a:srgbClr val="1F2937"/>
                          </a:solidFill>
                          <a:latin typeface="Arial"/>
                        </a:rPr>
                        <a:t>5%</a:t>
                      </a:r>
                      <a:endParaRPr sz="800"/>
                    </a:p>
                  </a:txBody>
                  <a:tcPr marL="36576" marR="36576" marT="0" marB="0" anchor="ctr">
                    <a:lnB w="6350">
                      <a:solidFill>
                        <a:srgbClr val="D0D5DD"/>
                      </a:solidFill>
                    </a:lnB>
                    <a:noFill/>
                  </a:tcPr>
                </a:tc>
                <a:tc>
                  <a:txBody>
                    <a:bodyPr wrap="none"/>
                    <a:lstStyle/>
                    <a:p>
                      <a:pPr algn="r"/>
                      <a:r>
                        <a:rPr sz="800" b="1" i="0">
                          <a:solidFill>
                            <a:srgbClr val="1F2937"/>
                          </a:solidFill>
                          <a:latin typeface="Arial"/>
                        </a:rPr>
                        <a:t>10%</a:t>
                      </a:r>
                      <a:endParaRPr sz="800"/>
                    </a:p>
                  </a:txBody>
                  <a:tcPr marL="36576" marR="36576" marT="0" marB="0" anchor="ctr">
                    <a:lnB w="6350">
                      <a:solidFill>
                        <a:srgbClr val="D0D5DD"/>
                      </a:solidFill>
                    </a:lnB>
                    <a:noFill/>
                  </a:tcPr>
                </a:tc>
                <a:tc>
                  <a:txBody>
                    <a:bodyPr wrap="none"/>
                    <a:lstStyle/>
                    <a:p>
                      <a:pPr algn="r"/>
                      <a:r>
                        <a:rPr sz="800" b="1" i="0">
                          <a:solidFill>
                            <a:srgbClr val="1F2937"/>
                          </a:solidFill>
                          <a:latin typeface="Arial"/>
                        </a:rPr>
                        <a:t>30%</a:t>
                      </a:r>
                      <a:endParaRPr sz="800"/>
                    </a:p>
                  </a:txBody>
                  <a:tcPr marL="36576" marR="36576" marT="0" marB="0" anchor="ctr">
                    <a:lnB w="6350">
                      <a:solidFill>
                        <a:srgbClr val="D0D5DD"/>
                      </a:solidFill>
                    </a:lnB>
                    <a:noFill/>
                  </a:tcPr>
                </a:tc>
                <a:tc>
                  <a:txBody>
                    <a:bodyPr wrap="none"/>
                    <a:lstStyle/>
                    <a:p>
                      <a:pPr algn="r"/>
                      <a:r>
                        <a:rPr sz="800" b="1" i="0">
                          <a:solidFill>
                            <a:srgbClr val="1F2937"/>
                          </a:solidFill>
                          <a:latin typeface="Arial"/>
                        </a:rPr>
                        <a:t>0.1%</a:t>
                      </a:r>
                      <a:endParaRPr sz="800"/>
                    </a:p>
                  </a:txBody>
                  <a:tcPr marL="36576" marR="36576" marT="0" marB="0" anchor="ctr">
                    <a:lnB w="6350">
                      <a:solidFill>
                        <a:srgbClr val="D0D5DD"/>
                      </a:solidFill>
                    </a:lnB>
                    <a:noFill/>
                  </a:tcPr>
                </a:tc>
                <a:tc>
                  <a:txBody>
                    <a:bodyPr wrap="none"/>
                    <a:lstStyle/>
                    <a:p>
                      <a:pPr algn="r"/>
                      <a:r>
                        <a:rPr sz="800" b="1" i="0">
                          <a:solidFill>
                            <a:srgbClr val="1F2937"/>
                          </a:solidFill>
                          <a:latin typeface="Arial"/>
                        </a:rPr>
                        <a:t>1%</a:t>
                      </a:r>
                      <a:endParaRPr sz="800"/>
                    </a:p>
                  </a:txBody>
                  <a:tcPr marL="36576" marR="36576" marT="0" marB="0" anchor="ctr">
                    <a:lnB w="6350">
                      <a:solidFill>
                        <a:srgbClr val="D0D5DD"/>
                      </a:solidFill>
                    </a:lnB>
                    <a:noFill/>
                  </a:tcPr>
                </a:tc>
                <a:tc>
                  <a:txBody>
                    <a:bodyPr wrap="none"/>
                    <a:lstStyle/>
                    <a:p>
                      <a:pPr algn="r"/>
                      <a:r>
                        <a:rPr sz="800" b="1" i="0">
                          <a:solidFill>
                            <a:srgbClr val="1F2937"/>
                          </a:solidFill>
                          <a:latin typeface="Arial"/>
                        </a:rPr>
                        <a:t>5%</a:t>
                      </a:r>
                      <a:endParaRPr sz="800"/>
                    </a:p>
                  </a:txBody>
                  <a:tcPr marL="36576" marR="36576" marT="0" marB="0" anchor="ctr">
                    <a:lnB w="6350">
                      <a:solidFill>
                        <a:srgbClr val="D0D5DD"/>
                      </a:solidFill>
                    </a:lnB>
                    <a:noFill/>
                  </a:tcPr>
                </a:tc>
                <a:tc>
                  <a:txBody>
                    <a:bodyPr wrap="none"/>
                    <a:lstStyle/>
                    <a:p>
                      <a:pPr algn="r"/>
                      <a:r>
                        <a:rPr sz="800" b="1" i="0">
                          <a:solidFill>
                            <a:srgbClr val="1F2937"/>
                          </a:solidFill>
                          <a:latin typeface="Arial"/>
                        </a:rPr>
                        <a:t>10%</a:t>
                      </a:r>
                      <a:endParaRPr sz="800"/>
                    </a:p>
                  </a:txBody>
                  <a:tcPr marL="36576" marR="36576" marT="0" marB="0" anchor="ctr">
                    <a:lnB w="6350">
                      <a:solidFill>
                        <a:srgbClr val="D0D5DD"/>
                      </a:solidFill>
                    </a:lnB>
                    <a:noFill/>
                  </a:tcPr>
                </a:tc>
                <a:tc>
                  <a:txBody>
                    <a:bodyPr wrap="none"/>
                    <a:lstStyle/>
                    <a:p>
                      <a:pPr algn="r"/>
                      <a:r>
                        <a:rPr sz="800" b="1" i="0">
                          <a:solidFill>
                            <a:srgbClr val="1F2937"/>
                          </a:solidFill>
                          <a:latin typeface="Arial"/>
                        </a:rPr>
                        <a:t>30%</a:t>
                      </a:r>
                      <a:endParaRPr sz="800"/>
                    </a:p>
                  </a:txBody>
                  <a:tcPr marL="36576" marR="36576" marT="0" marB="0" anchor="ctr">
                    <a:lnB w="6350">
                      <a:solidFill>
                        <a:srgbClr val="D0D5DD"/>
                      </a:solidFill>
                    </a:lnB>
                    <a:noFill/>
                  </a:tcPr>
                </a:tc>
              </a:tr>
              <a:tr h="208483">
                <a:tc gridSpan="16">
                  <a:txBody>
                    <a:bodyPr wrap="none"/>
                    <a:lstStyle/>
                    <a:p>
                      <a:pPr algn="l"/>
                      <a:r>
                        <a:rPr sz="800" b="1" i="0">
                          <a:solidFill>
                            <a:srgbClr val="1F2937"/>
                          </a:solidFill>
                          <a:latin typeface="Arial"/>
                        </a:rPr>
                        <a:t>Sharpe ratio</a:t>
                      </a:r>
                      <a:r>
                        <a:rPr sz="800" b="0" i="0">
                          <a:solidFill>
                            <a:srgbClr val="1F2937"/>
                          </a:solidFill>
                          <a:latin typeface="Arial"/>
                        </a:rPr>
                        <a:t>  </a:t>
                      </a:r>
                      <a:r>
                        <a:rPr sz="800" b="0" i="0">
                          <a:solidFill>
                            <a:srgbClr val="6B7280"/>
                          </a:solidFill>
                          <a:latin typeface="Arial"/>
                        </a:rPr>
                        <a:t>(true 1.636)</a:t>
                      </a: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r>
              <a:tr h="208483">
                <a:tc>
                  <a:txBody>
                    <a:bodyPr wrap="none"/>
                    <a:lstStyle/>
                    <a:p>
                      <a:pPr algn="l"/>
                      <a:r>
                        <a:rPr sz="800" b="0" i="0">
                          <a:solidFill>
                            <a:srgbClr val="1F2937"/>
                          </a:solidFill>
                          <a:latin typeface="Arial"/>
                        </a:rPr>
                        <a:t>KNN</a:t>
                      </a:r>
                      <a:endParaRPr sz="800"/>
                    </a:p>
                  </a:txBody>
                  <a:tcPr marL="36576" marR="36576" marT="0" marB="0" anchor="ctr">
                    <a:noFill/>
                  </a:tcPr>
                </a:tc>
                <a:tc>
                  <a:txBody>
                    <a:bodyPr wrap="none"/>
                    <a:lstStyle/>
                    <a:p>
                      <a:pPr algn="r"/>
                      <a:r>
                        <a:rPr sz="800" b="0" i="0">
                          <a:solidFill>
                            <a:srgbClr val="1F2937"/>
                          </a:solidFill>
                          <a:latin typeface="Arial"/>
                        </a:rPr>
                        <a:t>1.635</a:t>
                      </a:r>
                      <a:endParaRPr sz="800"/>
                    </a:p>
                  </a:txBody>
                  <a:tcPr marL="36576" marR="36576" marT="0" marB="0" anchor="ctr">
                    <a:noFill/>
                  </a:tcPr>
                </a:tc>
                <a:tc>
                  <a:txBody>
                    <a:bodyPr wrap="none"/>
                    <a:lstStyle/>
                    <a:p>
                      <a:pPr algn="r"/>
                      <a:r>
                        <a:rPr sz="800" b="0" i="0">
                          <a:solidFill>
                            <a:srgbClr val="1F2937"/>
                          </a:solidFill>
                          <a:latin typeface="Arial"/>
                        </a:rPr>
                        <a:t>1.623</a:t>
                      </a:r>
                      <a:endParaRPr sz="800"/>
                    </a:p>
                  </a:txBody>
                  <a:tcPr marL="36576" marR="36576" marT="0" marB="0" anchor="ctr">
                    <a:noFill/>
                  </a:tcPr>
                </a:tc>
                <a:tc>
                  <a:txBody>
                    <a:bodyPr wrap="none"/>
                    <a:lstStyle/>
                    <a:p>
                      <a:pPr algn="r"/>
                      <a:r>
                        <a:rPr sz="800" b="0" i="0">
                          <a:solidFill>
                            <a:srgbClr val="1F2937"/>
                          </a:solidFill>
                          <a:latin typeface="Arial"/>
                        </a:rPr>
                        <a:t>1.569</a:t>
                      </a:r>
                      <a:endParaRPr sz="800"/>
                    </a:p>
                  </a:txBody>
                  <a:tcPr marL="36576" marR="36576" marT="0" marB="0" anchor="ctr">
                    <a:noFill/>
                  </a:tcPr>
                </a:tc>
                <a:tc>
                  <a:txBody>
                    <a:bodyPr wrap="none"/>
                    <a:lstStyle/>
                    <a:p>
                      <a:pPr algn="r"/>
                      <a:r>
                        <a:rPr sz="800" b="0" i="0">
                          <a:solidFill>
                            <a:srgbClr val="1F2937"/>
                          </a:solidFill>
                          <a:latin typeface="Arial"/>
                        </a:rPr>
                        <a:t>1.490</a:t>
                      </a:r>
                      <a:endParaRPr sz="800"/>
                    </a:p>
                  </a:txBody>
                  <a:tcPr marL="36576" marR="36576" marT="0" marB="0" anchor="ctr">
                    <a:noFill/>
                  </a:tcPr>
                </a:tc>
                <a:tc>
                  <a:txBody>
                    <a:bodyPr wrap="none"/>
                    <a:lstStyle/>
                    <a:p>
                      <a:pPr algn="r"/>
                      <a:r>
                        <a:rPr sz="800" b="1" i="0">
                          <a:solidFill>
                            <a:srgbClr val="1F2937"/>
                          </a:solidFill>
                          <a:latin typeface="Arial"/>
                        </a:rPr>
                        <a:t>1.279</a:t>
                      </a:r>
                      <a:endParaRPr sz="800"/>
                    </a:p>
                  </a:txBody>
                  <a:tcPr marL="36576" marR="36576" marT="0" marB="0" anchor="ctr">
                    <a:noFill/>
                  </a:tcPr>
                </a:tc>
                <a:tc>
                  <a:txBody>
                    <a:bodyPr wrap="none"/>
                    <a:lstStyle/>
                    <a:p>
                      <a:pPr algn="r"/>
                      <a:r>
                        <a:rPr sz="800" b="0" i="0">
                          <a:solidFill>
                            <a:srgbClr val="1F2937"/>
                          </a:solidFill>
                          <a:latin typeface="Arial"/>
                        </a:rPr>
                        <a:t>1.635</a:t>
                      </a:r>
                      <a:endParaRPr sz="800"/>
                    </a:p>
                  </a:txBody>
                  <a:tcPr marL="36576" marR="36576" marT="0" marB="0" anchor="ctr">
                    <a:noFill/>
                  </a:tcPr>
                </a:tc>
                <a:tc>
                  <a:txBody>
                    <a:bodyPr wrap="none"/>
                    <a:lstStyle/>
                    <a:p>
                      <a:pPr algn="r"/>
                      <a:r>
                        <a:rPr sz="800" b="0" i="0">
                          <a:solidFill>
                            <a:srgbClr val="1F2937"/>
                          </a:solidFill>
                          <a:latin typeface="Arial"/>
                        </a:rPr>
                        <a:t>1.627</a:t>
                      </a:r>
                      <a:endParaRPr sz="800"/>
                    </a:p>
                  </a:txBody>
                  <a:tcPr marL="36576" marR="36576" marT="0" marB="0" anchor="ctr">
                    <a:noFill/>
                  </a:tcPr>
                </a:tc>
                <a:tc>
                  <a:txBody>
                    <a:bodyPr wrap="none"/>
                    <a:lstStyle/>
                    <a:p>
                      <a:pPr algn="r"/>
                      <a:r>
                        <a:rPr sz="800" b="0" i="0">
                          <a:solidFill>
                            <a:srgbClr val="1F2937"/>
                          </a:solidFill>
                          <a:latin typeface="Arial"/>
                        </a:rPr>
                        <a:t>1.575</a:t>
                      </a:r>
                      <a:endParaRPr sz="800"/>
                    </a:p>
                  </a:txBody>
                  <a:tcPr marL="36576" marR="36576" marT="0" marB="0" anchor="ctr">
                    <a:noFill/>
                  </a:tcPr>
                </a:tc>
                <a:tc>
                  <a:txBody>
                    <a:bodyPr wrap="none"/>
                    <a:lstStyle/>
                    <a:p>
                      <a:pPr algn="r"/>
                      <a:r>
                        <a:rPr sz="800" b="0" i="0">
                          <a:solidFill>
                            <a:srgbClr val="1F2937"/>
                          </a:solidFill>
                          <a:latin typeface="Arial"/>
                        </a:rPr>
                        <a:t>1.500</a:t>
                      </a:r>
                      <a:endParaRPr sz="800"/>
                    </a:p>
                  </a:txBody>
                  <a:tcPr marL="36576" marR="36576" marT="0" marB="0" anchor="ctr">
                    <a:noFill/>
                  </a:tcPr>
                </a:tc>
                <a:tc>
                  <a:txBody>
                    <a:bodyPr wrap="none"/>
                    <a:lstStyle/>
                    <a:p>
                      <a:pPr algn="r"/>
                      <a:r>
                        <a:rPr sz="800" b="0" i="0">
                          <a:solidFill>
                            <a:srgbClr val="1F2937"/>
                          </a:solidFill>
                          <a:latin typeface="Arial"/>
                        </a:rPr>
                        <a:t>1.186</a:t>
                      </a:r>
                      <a:endParaRPr sz="800"/>
                    </a:p>
                  </a:txBody>
                  <a:tcPr marL="36576" marR="36576" marT="0" marB="0" anchor="ctr">
                    <a:noFill/>
                  </a:tcPr>
                </a:tc>
                <a:tc>
                  <a:txBody>
                    <a:bodyPr wrap="none"/>
                    <a:lstStyle/>
                    <a:p>
                      <a:pPr algn="r"/>
                      <a:r>
                        <a:rPr sz="800" b="0" i="0">
                          <a:solidFill>
                            <a:srgbClr val="1F2937"/>
                          </a:solidFill>
                          <a:latin typeface="Arial"/>
                        </a:rPr>
                        <a:t>1.619</a:t>
                      </a:r>
                      <a:endParaRPr sz="800"/>
                    </a:p>
                  </a:txBody>
                  <a:tcPr marL="36576" marR="36576" marT="0" marB="0" anchor="ctr">
                    <a:noFill/>
                  </a:tcPr>
                </a:tc>
                <a:tc>
                  <a:txBody>
                    <a:bodyPr wrap="none"/>
                    <a:lstStyle/>
                    <a:p>
                      <a:pPr algn="r"/>
                      <a:r>
                        <a:rPr sz="800" b="0" i="0">
                          <a:solidFill>
                            <a:srgbClr val="1F2937"/>
                          </a:solidFill>
                          <a:latin typeface="Arial"/>
                        </a:rPr>
                        <a:t>1.565</a:t>
                      </a:r>
                      <a:endParaRPr sz="800"/>
                    </a:p>
                  </a:txBody>
                  <a:tcPr marL="36576" marR="36576" marT="0" marB="0" anchor="ctr">
                    <a:noFill/>
                  </a:tcPr>
                </a:tc>
                <a:tc>
                  <a:txBody>
                    <a:bodyPr wrap="none"/>
                    <a:lstStyle/>
                    <a:p>
                      <a:pPr algn="r"/>
                      <a:r>
                        <a:rPr sz="800" b="0" i="0">
                          <a:solidFill>
                            <a:srgbClr val="1F2937"/>
                          </a:solidFill>
                          <a:latin typeface="Arial"/>
                        </a:rPr>
                        <a:t>1.542</a:t>
                      </a:r>
                      <a:endParaRPr sz="800"/>
                    </a:p>
                  </a:txBody>
                  <a:tcPr marL="36576" marR="36576" marT="0" marB="0" anchor="ctr">
                    <a:noFill/>
                  </a:tcPr>
                </a:tc>
                <a:tc>
                  <a:txBody>
                    <a:bodyPr wrap="none"/>
                    <a:lstStyle/>
                    <a:p>
                      <a:pPr algn="r"/>
                      <a:r>
                        <a:rPr sz="800" b="0" i="0">
                          <a:solidFill>
                            <a:srgbClr val="1F2937"/>
                          </a:solidFill>
                          <a:latin typeface="Arial"/>
                        </a:rPr>
                        <a:t>1.418</a:t>
                      </a:r>
                      <a:endParaRPr sz="800"/>
                    </a:p>
                  </a:txBody>
                  <a:tcPr marL="36576" marR="36576" marT="0" marB="0" anchor="ctr">
                    <a:noFill/>
                  </a:tcPr>
                </a:tc>
                <a:tc>
                  <a:txBody>
                    <a:bodyPr wrap="none"/>
                    <a:lstStyle/>
                    <a:p>
                      <a:pPr algn="r"/>
                      <a:r>
                        <a:rPr sz="800" b="0" i="0">
                          <a:solidFill>
                            <a:srgbClr val="1F2937"/>
                          </a:solidFill>
                          <a:latin typeface="Arial"/>
                        </a:rPr>
                        <a:t>--</a:t>
                      </a:r>
                      <a:endParaRPr sz="800"/>
                    </a:p>
                  </a:txBody>
                  <a:tcPr marL="36576" marR="36576" marT="0" marB="0" anchor="ctr">
                    <a:noFill/>
                  </a:tcPr>
                </a:tc>
              </a:tr>
              <a:tr h="208483">
                <a:tc>
                  <a:txBody>
                    <a:bodyPr wrap="none"/>
                    <a:lstStyle/>
                    <a:p>
                      <a:pPr algn="l"/>
                      <a:r>
                        <a:rPr sz="800" b="0" i="0">
                          <a:solidFill>
                            <a:srgbClr val="1F2937"/>
                          </a:solidFill>
                          <a:latin typeface="Arial"/>
                        </a:rPr>
                        <a:t>LowRank</a:t>
                      </a:r>
                      <a:endParaRPr sz="800"/>
                    </a:p>
                  </a:txBody>
                  <a:tcPr marL="36576" marR="36576" marT="0" marB="0" anchor="ctr">
                    <a:noFill/>
                  </a:tcPr>
                </a:tc>
                <a:tc>
                  <a:txBody>
                    <a:bodyPr wrap="none"/>
                    <a:lstStyle/>
                    <a:p>
                      <a:pPr algn="r"/>
                      <a:r>
                        <a:rPr sz="800" b="0" i="0">
                          <a:solidFill>
                            <a:srgbClr val="1F2937"/>
                          </a:solidFill>
                          <a:latin typeface="Arial"/>
                        </a:rPr>
                        <a:t>1.635</a:t>
                      </a:r>
                      <a:endParaRPr sz="800"/>
                    </a:p>
                  </a:txBody>
                  <a:tcPr marL="36576" marR="36576" marT="0" marB="0" anchor="ctr">
                    <a:noFill/>
                  </a:tcPr>
                </a:tc>
                <a:tc>
                  <a:txBody>
                    <a:bodyPr wrap="none"/>
                    <a:lstStyle/>
                    <a:p>
                      <a:pPr algn="r"/>
                      <a:r>
                        <a:rPr sz="800" b="0" i="0">
                          <a:solidFill>
                            <a:srgbClr val="1F2937"/>
                          </a:solidFill>
                          <a:latin typeface="Arial"/>
                        </a:rPr>
                        <a:t>1.624</a:t>
                      </a:r>
                      <a:endParaRPr sz="800"/>
                    </a:p>
                  </a:txBody>
                  <a:tcPr marL="36576" marR="36576" marT="0" marB="0" anchor="ctr">
                    <a:noFill/>
                  </a:tcPr>
                </a:tc>
                <a:tc>
                  <a:txBody>
                    <a:bodyPr wrap="none"/>
                    <a:lstStyle/>
                    <a:p>
                      <a:pPr algn="r"/>
                      <a:r>
                        <a:rPr sz="800" b="0" i="0">
                          <a:solidFill>
                            <a:srgbClr val="1F2937"/>
                          </a:solidFill>
                          <a:latin typeface="Arial"/>
                        </a:rPr>
                        <a:t>1.565</a:t>
                      </a:r>
                      <a:endParaRPr sz="800"/>
                    </a:p>
                  </a:txBody>
                  <a:tcPr marL="36576" marR="36576" marT="0" marB="0" anchor="ctr">
                    <a:noFill/>
                  </a:tcPr>
                </a:tc>
                <a:tc>
                  <a:txBody>
                    <a:bodyPr wrap="none"/>
                    <a:lstStyle/>
                    <a:p>
                      <a:pPr algn="r"/>
                      <a:r>
                        <a:rPr sz="800" b="0" i="0">
                          <a:solidFill>
                            <a:srgbClr val="1F2937"/>
                          </a:solidFill>
                          <a:latin typeface="Arial"/>
                        </a:rPr>
                        <a:t>1.529</a:t>
                      </a:r>
                      <a:endParaRPr sz="800"/>
                    </a:p>
                  </a:txBody>
                  <a:tcPr marL="36576" marR="36576" marT="0" marB="0" anchor="ctr">
                    <a:noFill/>
                  </a:tcPr>
                </a:tc>
                <a:tc>
                  <a:txBody>
                    <a:bodyPr wrap="none"/>
                    <a:lstStyle/>
                    <a:p>
                      <a:pPr algn="r"/>
                      <a:r>
                        <a:rPr sz="800" b="0" i="0">
                          <a:solidFill>
                            <a:srgbClr val="1F2937"/>
                          </a:solidFill>
                          <a:latin typeface="Arial"/>
                        </a:rPr>
                        <a:t>1.253</a:t>
                      </a:r>
                      <a:endParaRPr sz="800"/>
                    </a:p>
                  </a:txBody>
                  <a:tcPr marL="36576" marR="36576" marT="0" marB="0" anchor="ctr">
                    <a:noFill/>
                  </a:tcPr>
                </a:tc>
                <a:tc>
                  <a:txBody>
                    <a:bodyPr wrap="none"/>
                    <a:lstStyle/>
                    <a:p>
                      <a:pPr algn="r"/>
                      <a:r>
                        <a:rPr sz="800" b="0" i="0">
                          <a:solidFill>
                            <a:srgbClr val="1F2937"/>
                          </a:solidFill>
                          <a:latin typeface="Arial"/>
                        </a:rPr>
                        <a:t>1.635</a:t>
                      </a:r>
                      <a:endParaRPr sz="800"/>
                    </a:p>
                  </a:txBody>
                  <a:tcPr marL="36576" marR="36576" marT="0" marB="0" anchor="ctr">
                    <a:noFill/>
                  </a:tcPr>
                </a:tc>
                <a:tc>
                  <a:txBody>
                    <a:bodyPr wrap="none"/>
                    <a:lstStyle/>
                    <a:p>
                      <a:pPr algn="r"/>
                      <a:r>
                        <a:rPr sz="800" b="0" i="0">
                          <a:solidFill>
                            <a:srgbClr val="1F2937"/>
                          </a:solidFill>
                          <a:latin typeface="Arial"/>
                        </a:rPr>
                        <a:t>1.627</a:t>
                      </a:r>
                      <a:endParaRPr sz="800"/>
                    </a:p>
                  </a:txBody>
                  <a:tcPr marL="36576" marR="36576" marT="0" marB="0" anchor="ctr">
                    <a:noFill/>
                  </a:tcPr>
                </a:tc>
                <a:tc>
                  <a:txBody>
                    <a:bodyPr wrap="none"/>
                    <a:lstStyle/>
                    <a:p>
                      <a:pPr algn="r"/>
                      <a:r>
                        <a:rPr sz="800" b="0" i="0">
                          <a:solidFill>
                            <a:srgbClr val="1F2937"/>
                          </a:solidFill>
                          <a:latin typeface="Arial"/>
                        </a:rPr>
                        <a:t>1.593</a:t>
                      </a:r>
                      <a:endParaRPr sz="800"/>
                    </a:p>
                  </a:txBody>
                  <a:tcPr marL="36576" marR="36576" marT="0" marB="0" anchor="ctr">
                    <a:noFill/>
                  </a:tcPr>
                </a:tc>
                <a:tc>
                  <a:txBody>
                    <a:bodyPr wrap="none"/>
                    <a:lstStyle/>
                    <a:p>
                      <a:pPr algn="r"/>
                      <a:r>
                        <a:rPr sz="800" b="1" i="0">
                          <a:solidFill>
                            <a:srgbClr val="1F2937"/>
                          </a:solidFill>
                          <a:latin typeface="Arial"/>
                        </a:rPr>
                        <a:t>1.560</a:t>
                      </a:r>
                      <a:endParaRPr sz="800"/>
                    </a:p>
                  </a:txBody>
                  <a:tcPr marL="36576" marR="36576" marT="0" marB="0" anchor="ctr">
                    <a:noFill/>
                  </a:tcPr>
                </a:tc>
                <a:tc>
                  <a:txBody>
                    <a:bodyPr wrap="none"/>
                    <a:lstStyle/>
                    <a:p>
                      <a:pPr algn="r"/>
                      <a:r>
                        <a:rPr sz="800" b="0" i="0">
                          <a:solidFill>
                            <a:srgbClr val="1F2937"/>
                          </a:solidFill>
                          <a:latin typeface="Arial"/>
                        </a:rPr>
                        <a:t>1.225</a:t>
                      </a:r>
                      <a:endParaRPr sz="800"/>
                    </a:p>
                  </a:txBody>
                  <a:tcPr marL="36576" marR="36576" marT="0" marB="0" anchor="ctr">
                    <a:noFill/>
                  </a:tcPr>
                </a:tc>
                <a:tc>
                  <a:txBody>
                    <a:bodyPr wrap="none"/>
                    <a:lstStyle/>
                    <a:p>
                      <a:pPr algn="r"/>
                      <a:r>
                        <a:rPr sz="800" b="0" i="0">
                          <a:solidFill>
                            <a:srgbClr val="1F2937"/>
                          </a:solidFill>
                          <a:latin typeface="Arial"/>
                        </a:rPr>
                        <a:t>1.629</a:t>
                      </a:r>
                      <a:endParaRPr sz="800"/>
                    </a:p>
                  </a:txBody>
                  <a:tcPr marL="36576" marR="36576" marT="0" marB="0" anchor="ctr">
                    <a:noFill/>
                  </a:tcPr>
                </a:tc>
                <a:tc>
                  <a:txBody>
                    <a:bodyPr wrap="none"/>
                    <a:lstStyle/>
                    <a:p>
                      <a:pPr algn="r"/>
                      <a:r>
                        <a:rPr sz="800" b="0" i="0">
                          <a:solidFill>
                            <a:srgbClr val="1F2937"/>
                          </a:solidFill>
                          <a:latin typeface="Arial"/>
                        </a:rPr>
                        <a:t>1.606</a:t>
                      </a:r>
                      <a:endParaRPr sz="800"/>
                    </a:p>
                  </a:txBody>
                  <a:tcPr marL="36576" marR="36576" marT="0" marB="0" anchor="ctr">
                    <a:noFill/>
                  </a:tcPr>
                </a:tc>
                <a:tc>
                  <a:txBody>
                    <a:bodyPr wrap="none"/>
                    <a:lstStyle/>
                    <a:p>
                      <a:pPr algn="r"/>
                      <a:r>
                        <a:rPr sz="800" b="0" i="0">
                          <a:solidFill>
                            <a:srgbClr val="1F2937"/>
                          </a:solidFill>
                          <a:latin typeface="Arial"/>
                        </a:rPr>
                        <a:t>1.586</a:t>
                      </a:r>
                      <a:endParaRPr sz="800"/>
                    </a:p>
                  </a:txBody>
                  <a:tcPr marL="36576" marR="36576" marT="0" marB="0" anchor="ctr">
                    <a:noFill/>
                  </a:tcPr>
                </a:tc>
                <a:tc>
                  <a:txBody>
                    <a:bodyPr wrap="none"/>
                    <a:lstStyle/>
                    <a:p>
                      <a:pPr algn="r"/>
                      <a:r>
                        <a:rPr sz="800" b="0" i="0">
                          <a:solidFill>
                            <a:srgbClr val="1F2937"/>
                          </a:solidFill>
                          <a:latin typeface="Arial"/>
                        </a:rPr>
                        <a:t>1.494</a:t>
                      </a:r>
                      <a:endParaRPr sz="800"/>
                    </a:p>
                  </a:txBody>
                  <a:tcPr marL="36576" marR="36576" marT="0" marB="0" anchor="ctr">
                    <a:noFill/>
                  </a:tcPr>
                </a:tc>
                <a:tc>
                  <a:txBody>
                    <a:bodyPr wrap="none"/>
                    <a:lstStyle/>
                    <a:p>
                      <a:pPr algn="r"/>
                      <a:r>
                        <a:rPr sz="800" b="0" i="0">
                          <a:solidFill>
                            <a:srgbClr val="1F2937"/>
                          </a:solidFill>
                          <a:latin typeface="Arial"/>
                        </a:rPr>
                        <a:t>1.195</a:t>
                      </a:r>
                      <a:endParaRPr sz="800"/>
                    </a:p>
                  </a:txBody>
                  <a:tcPr marL="36576" marR="36576" marT="0" marB="0" anchor="ctr">
                    <a:noFill/>
                  </a:tcPr>
                </a:tc>
              </a:tr>
              <a:tr h="208483">
                <a:tc>
                  <a:txBody>
                    <a:bodyPr wrap="none"/>
                    <a:lstStyle/>
                    <a:p>
                      <a:pPr algn="l"/>
                      <a:r>
                        <a:rPr sz="800" b="0" i="0">
                          <a:solidFill>
                            <a:srgbClr val="1F2937"/>
                          </a:solidFill>
                          <a:latin typeface="Arial"/>
                        </a:rPr>
                        <a:t>EM</a:t>
                      </a:r>
                      <a:endParaRPr sz="800"/>
                    </a:p>
                  </a:txBody>
                  <a:tcPr marL="36576" marR="36576" marT="0" marB="0" anchor="ctr">
                    <a:noFill/>
                  </a:tcPr>
                </a:tc>
                <a:tc>
                  <a:txBody>
                    <a:bodyPr wrap="none"/>
                    <a:lstStyle/>
                    <a:p>
                      <a:pPr algn="r"/>
                      <a:r>
                        <a:rPr sz="800" b="0" i="0">
                          <a:solidFill>
                            <a:srgbClr val="1F2937"/>
                          </a:solidFill>
                          <a:latin typeface="Arial"/>
                        </a:rPr>
                        <a:t>1.634</a:t>
                      </a:r>
                      <a:endParaRPr sz="800"/>
                    </a:p>
                  </a:txBody>
                  <a:tcPr marL="36576" marR="36576" marT="0" marB="0" anchor="ctr">
                    <a:noFill/>
                  </a:tcPr>
                </a:tc>
                <a:tc>
                  <a:txBody>
                    <a:bodyPr wrap="none"/>
                    <a:lstStyle/>
                    <a:p>
                      <a:pPr algn="r"/>
                      <a:r>
                        <a:rPr sz="800" b="0" i="0">
                          <a:solidFill>
                            <a:srgbClr val="1F2937"/>
                          </a:solidFill>
                          <a:latin typeface="Arial"/>
                        </a:rPr>
                        <a:t>1.625</a:t>
                      </a:r>
                      <a:endParaRPr sz="800"/>
                    </a:p>
                  </a:txBody>
                  <a:tcPr marL="36576" marR="36576" marT="0" marB="0" anchor="ctr">
                    <a:noFill/>
                  </a:tcPr>
                </a:tc>
                <a:tc>
                  <a:txBody>
                    <a:bodyPr wrap="none"/>
                    <a:lstStyle/>
                    <a:p>
                      <a:pPr algn="r"/>
                      <a:r>
                        <a:rPr sz="800" b="0" i="0">
                          <a:solidFill>
                            <a:srgbClr val="1F2937"/>
                          </a:solidFill>
                          <a:latin typeface="Arial"/>
                        </a:rPr>
                        <a:t>1.567</a:t>
                      </a:r>
                      <a:endParaRPr sz="800"/>
                    </a:p>
                  </a:txBody>
                  <a:tcPr marL="36576" marR="36576" marT="0" marB="0" anchor="ctr">
                    <a:noFill/>
                  </a:tcPr>
                </a:tc>
                <a:tc>
                  <a:txBody>
                    <a:bodyPr wrap="none"/>
                    <a:lstStyle/>
                    <a:p>
                      <a:pPr algn="r"/>
                      <a:r>
                        <a:rPr sz="800" b="0" i="0">
                          <a:solidFill>
                            <a:srgbClr val="1F2937"/>
                          </a:solidFill>
                          <a:latin typeface="Arial"/>
                        </a:rPr>
                        <a:t>1.531</a:t>
                      </a:r>
                      <a:endParaRPr sz="800"/>
                    </a:p>
                  </a:txBody>
                  <a:tcPr marL="36576" marR="36576" marT="0" marB="0" anchor="ctr">
                    <a:noFill/>
                  </a:tcPr>
                </a:tc>
                <a:tc>
                  <a:txBody>
                    <a:bodyPr wrap="none"/>
                    <a:lstStyle/>
                    <a:p>
                      <a:pPr algn="r"/>
                      <a:r>
                        <a:rPr sz="800" b="0" i="0">
                          <a:solidFill>
                            <a:srgbClr val="1F2937"/>
                          </a:solidFill>
                          <a:latin typeface="Arial"/>
                        </a:rPr>
                        <a:t>1.259</a:t>
                      </a:r>
                      <a:endParaRPr sz="800"/>
                    </a:p>
                  </a:txBody>
                  <a:tcPr marL="36576" marR="36576" marT="0" marB="0" anchor="ctr">
                    <a:noFill/>
                  </a:tcPr>
                </a:tc>
                <a:tc>
                  <a:txBody>
                    <a:bodyPr wrap="none"/>
                    <a:lstStyle/>
                    <a:p>
                      <a:pPr algn="r"/>
                      <a:r>
                        <a:rPr sz="800" b="0" i="0">
                          <a:solidFill>
                            <a:srgbClr val="1F2937"/>
                          </a:solidFill>
                          <a:latin typeface="Arial"/>
                        </a:rPr>
                        <a:t>1.635</a:t>
                      </a:r>
                      <a:endParaRPr sz="800"/>
                    </a:p>
                  </a:txBody>
                  <a:tcPr marL="36576" marR="36576" marT="0" marB="0" anchor="ctr">
                    <a:noFill/>
                  </a:tcPr>
                </a:tc>
                <a:tc>
                  <a:txBody>
                    <a:bodyPr wrap="none"/>
                    <a:lstStyle/>
                    <a:p>
                      <a:pPr algn="r"/>
                      <a:r>
                        <a:rPr sz="800" b="0" i="0">
                          <a:solidFill>
                            <a:srgbClr val="1F2937"/>
                          </a:solidFill>
                          <a:latin typeface="Arial"/>
                        </a:rPr>
                        <a:t>1.628</a:t>
                      </a:r>
                      <a:endParaRPr sz="800"/>
                    </a:p>
                  </a:txBody>
                  <a:tcPr marL="36576" marR="36576" marT="0" marB="0" anchor="ctr">
                    <a:noFill/>
                  </a:tcPr>
                </a:tc>
                <a:tc>
                  <a:txBody>
                    <a:bodyPr wrap="none"/>
                    <a:lstStyle/>
                    <a:p>
                      <a:pPr algn="r"/>
                      <a:r>
                        <a:rPr sz="800" b="1" i="0">
                          <a:solidFill>
                            <a:srgbClr val="1F2937"/>
                          </a:solidFill>
                          <a:latin typeface="Arial"/>
                        </a:rPr>
                        <a:t>1.596</a:t>
                      </a:r>
                      <a:endParaRPr sz="800"/>
                    </a:p>
                  </a:txBody>
                  <a:tcPr marL="36576" marR="36576" marT="0" marB="0" anchor="ctr">
                    <a:noFill/>
                  </a:tcPr>
                </a:tc>
                <a:tc>
                  <a:txBody>
                    <a:bodyPr wrap="none"/>
                    <a:lstStyle/>
                    <a:p>
                      <a:pPr algn="r"/>
                      <a:r>
                        <a:rPr sz="800" b="0" i="0">
                          <a:solidFill>
                            <a:srgbClr val="1F2937"/>
                          </a:solidFill>
                          <a:latin typeface="Arial"/>
                        </a:rPr>
                        <a:t>1.549</a:t>
                      </a:r>
                      <a:endParaRPr sz="800"/>
                    </a:p>
                  </a:txBody>
                  <a:tcPr marL="36576" marR="36576" marT="0" marB="0" anchor="ctr">
                    <a:noFill/>
                  </a:tcPr>
                </a:tc>
                <a:tc>
                  <a:txBody>
                    <a:bodyPr wrap="none"/>
                    <a:lstStyle/>
                    <a:p>
                      <a:pPr algn="r"/>
                      <a:r>
                        <a:rPr sz="800" b="0" i="0">
                          <a:solidFill>
                            <a:srgbClr val="1F2937"/>
                          </a:solidFill>
                          <a:latin typeface="Arial"/>
                        </a:rPr>
                        <a:t>1.250</a:t>
                      </a:r>
                      <a:endParaRPr sz="800"/>
                    </a:p>
                  </a:txBody>
                  <a:tcPr marL="36576" marR="36576" marT="0" marB="0" anchor="ctr">
                    <a:noFill/>
                  </a:tcPr>
                </a:tc>
                <a:tc>
                  <a:txBody>
                    <a:bodyPr wrap="none"/>
                    <a:lstStyle/>
                    <a:p>
                      <a:pPr algn="r"/>
                      <a:r>
                        <a:rPr sz="800" b="1" i="0">
                          <a:solidFill>
                            <a:srgbClr val="1F2937"/>
                          </a:solidFill>
                          <a:latin typeface="Arial"/>
                        </a:rPr>
                        <a:t>1.631</a:t>
                      </a:r>
                      <a:endParaRPr sz="800"/>
                    </a:p>
                  </a:txBody>
                  <a:tcPr marL="36576" marR="36576" marT="0" marB="0" anchor="ctr">
                    <a:noFill/>
                  </a:tcPr>
                </a:tc>
                <a:tc>
                  <a:txBody>
                    <a:bodyPr wrap="none"/>
                    <a:lstStyle/>
                    <a:p>
                      <a:pPr algn="r"/>
                      <a:r>
                        <a:rPr sz="800" b="1" i="0">
                          <a:solidFill>
                            <a:srgbClr val="1F2937"/>
                          </a:solidFill>
                          <a:latin typeface="Arial"/>
                        </a:rPr>
                        <a:t>1.612</a:t>
                      </a:r>
                      <a:endParaRPr sz="800"/>
                    </a:p>
                  </a:txBody>
                  <a:tcPr marL="36576" marR="36576" marT="0" marB="0" anchor="ctr">
                    <a:noFill/>
                  </a:tcPr>
                </a:tc>
                <a:tc>
                  <a:txBody>
                    <a:bodyPr wrap="none"/>
                    <a:lstStyle/>
                    <a:p>
                      <a:pPr algn="r"/>
                      <a:r>
                        <a:rPr sz="800" b="0" i="0">
                          <a:solidFill>
                            <a:srgbClr val="1F2937"/>
                          </a:solidFill>
                          <a:latin typeface="Arial"/>
                        </a:rPr>
                        <a:t>1.587</a:t>
                      </a:r>
                      <a:endParaRPr sz="800"/>
                    </a:p>
                  </a:txBody>
                  <a:tcPr marL="36576" marR="36576" marT="0" marB="0" anchor="ctr">
                    <a:noFill/>
                  </a:tcPr>
                </a:tc>
                <a:tc>
                  <a:txBody>
                    <a:bodyPr wrap="none"/>
                    <a:lstStyle/>
                    <a:p>
                      <a:pPr algn="r"/>
                      <a:r>
                        <a:rPr sz="800" b="0" i="0">
                          <a:solidFill>
                            <a:srgbClr val="1F2937"/>
                          </a:solidFill>
                          <a:latin typeface="Arial"/>
                        </a:rPr>
                        <a:t>1.506</a:t>
                      </a:r>
                      <a:endParaRPr sz="800"/>
                    </a:p>
                  </a:txBody>
                  <a:tcPr marL="36576" marR="36576" marT="0" marB="0" anchor="ctr">
                    <a:noFill/>
                  </a:tcPr>
                </a:tc>
                <a:tc>
                  <a:txBody>
                    <a:bodyPr wrap="none"/>
                    <a:lstStyle/>
                    <a:p>
                      <a:pPr algn="r"/>
                      <a:r>
                        <a:rPr sz="800" b="0" i="0">
                          <a:solidFill>
                            <a:srgbClr val="1F2937"/>
                          </a:solidFill>
                          <a:latin typeface="Arial"/>
                        </a:rPr>
                        <a:t>1.207</a:t>
                      </a:r>
                      <a:endParaRPr sz="800"/>
                    </a:p>
                  </a:txBody>
                  <a:tcPr marL="36576" marR="36576" marT="0" marB="0" anchor="ctr">
                    <a:noFill/>
                  </a:tcPr>
                </a:tc>
              </a:tr>
              <a:tr h="208483">
                <a:tc>
                  <a:txBody>
                    <a:bodyPr wrap="none"/>
                    <a:lstStyle/>
                    <a:p>
                      <a:pPr algn="l"/>
                      <a:r>
                        <a:rPr sz="800" b="0" i="0">
                          <a:solidFill>
                            <a:srgbClr val="1F2937"/>
                          </a:solidFill>
                          <a:latin typeface="Arial"/>
                        </a:rPr>
                        <a:t>BRITS</a:t>
                      </a:r>
                      <a:endParaRPr sz="800"/>
                    </a:p>
                  </a:txBody>
                  <a:tcPr marL="36576" marR="36576" marT="0" marB="0" anchor="ctr">
                    <a:noFill/>
                  </a:tcPr>
                </a:tc>
                <a:tc>
                  <a:txBody>
                    <a:bodyPr wrap="none"/>
                    <a:lstStyle/>
                    <a:p>
                      <a:pPr algn="r"/>
                      <a:r>
                        <a:rPr sz="800" b="0" i="0">
                          <a:solidFill>
                            <a:srgbClr val="1F2937"/>
                          </a:solidFill>
                          <a:latin typeface="Arial"/>
                        </a:rPr>
                        <a:t>1.634</a:t>
                      </a:r>
                      <a:endParaRPr sz="800"/>
                    </a:p>
                  </a:txBody>
                  <a:tcPr marL="36576" marR="36576" marT="0" marB="0" anchor="ctr">
                    <a:noFill/>
                  </a:tcPr>
                </a:tc>
                <a:tc>
                  <a:txBody>
                    <a:bodyPr wrap="none"/>
                    <a:lstStyle/>
                    <a:p>
                      <a:pPr algn="r"/>
                      <a:r>
                        <a:rPr sz="800" b="0" i="0">
                          <a:solidFill>
                            <a:srgbClr val="1F2937"/>
                          </a:solidFill>
                          <a:latin typeface="Arial"/>
                        </a:rPr>
                        <a:t>1.625</a:t>
                      </a:r>
                      <a:endParaRPr sz="800"/>
                    </a:p>
                  </a:txBody>
                  <a:tcPr marL="36576" marR="36576" marT="0" marB="0" anchor="ctr">
                    <a:noFill/>
                  </a:tcPr>
                </a:tc>
                <a:tc>
                  <a:txBody>
                    <a:bodyPr wrap="none"/>
                    <a:lstStyle/>
                    <a:p>
                      <a:pPr algn="r"/>
                      <a:r>
                        <a:rPr sz="800" b="0" i="0">
                          <a:solidFill>
                            <a:srgbClr val="1F2937"/>
                          </a:solidFill>
                          <a:latin typeface="Arial"/>
                        </a:rPr>
                        <a:t>1.572</a:t>
                      </a:r>
                      <a:endParaRPr sz="800"/>
                    </a:p>
                  </a:txBody>
                  <a:tcPr marL="36576" marR="36576" marT="0" marB="0" anchor="ctr">
                    <a:noFill/>
                  </a:tcPr>
                </a:tc>
                <a:tc>
                  <a:txBody>
                    <a:bodyPr wrap="none"/>
                    <a:lstStyle/>
                    <a:p>
                      <a:pPr algn="r"/>
                      <a:r>
                        <a:rPr sz="800" b="1" i="0">
                          <a:solidFill>
                            <a:srgbClr val="1F2937"/>
                          </a:solidFill>
                          <a:latin typeface="Arial"/>
                        </a:rPr>
                        <a:t>1.542</a:t>
                      </a:r>
                      <a:endParaRPr sz="800"/>
                    </a:p>
                  </a:txBody>
                  <a:tcPr marL="36576" marR="36576" marT="0" marB="0" anchor="ctr">
                    <a:noFill/>
                  </a:tcPr>
                </a:tc>
                <a:tc>
                  <a:txBody>
                    <a:bodyPr wrap="none"/>
                    <a:lstStyle/>
                    <a:p>
                      <a:pPr algn="r"/>
                      <a:r>
                        <a:rPr sz="800" b="0" i="0">
                          <a:solidFill>
                            <a:srgbClr val="1F2937"/>
                          </a:solidFill>
                          <a:latin typeface="Arial"/>
                        </a:rPr>
                        <a:t>1.226</a:t>
                      </a:r>
                      <a:endParaRPr sz="800"/>
                    </a:p>
                  </a:txBody>
                  <a:tcPr marL="36576" marR="36576" marT="0" marB="0" anchor="ctr">
                    <a:noFill/>
                  </a:tcPr>
                </a:tc>
                <a:tc>
                  <a:txBody>
                    <a:bodyPr wrap="none"/>
                    <a:lstStyle/>
                    <a:p>
                      <a:pPr algn="r"/>
                      <a:r>
                        <a:rPr sz="800" b="1" i="0">
                          <a:solidFill>
                            <a:srgbClr val="1F2937"/>
                          </a:solidFill>
                          <a:latin typeface="Arial"/>
                        </a:rPr>
                        <a:t>1.635</a:t>
                      </a:r>
                      <a:endParaRPr sz="800"/>
                    </a:p>
                  </a:txBody>
                  <a:tcPr marL="36576" marR="36576" marT="0" marB="0" anchor="ctr">
                    <a:noFill/>
                  </a:tcPr>
                </a:tc>
                <a:tc>
                  <a:txBody>
                    <a:bodyPr wrap="none"/>
                    <a:lstStyle/>
                    <a:p>
                      <a:pPr algn="r"/>
                      <a:r>
                        <a:rPr sz="800" b="1" i="0">
                          <a:solidFill>
                            <a:srgbClr val="1F2937"/>
                          </a:solidFill>
                          <a:latin typeface="Arial"/>
                        </a:rPr>
                        <a:t>1.629</a:t>
                      </a:r>
                      <a:endParaRPr sz="800"/>
                    </a:p>
                  </a:txBody>
                  <a:tcPr marL="36576" marR="36576" marT="0" marB="0" anchor="ctr">
                    <a:noFill/>
                  </a:tcPr>
                </a:tc>
                <a:tc>
                  <a:txBody>
                    <a:bodyPr wrap="none"/>
                    <a:lstStyle/>
                    <a:p>
                      <a:pPr algn="r"/>
                      <a:r>
                        <a:rPr sz="800" b="0" i="0">
                          <a:solidFill>
                            <a:srgbClr val="1F2937"/>
                          </a:solidFill>
                          <a:latin typeface="Arial"/>
                        </a:rPr>
                        <a:t>1.588</a:t>
                      </a:r>
                      <a:endParaRPr sz="800"/>
                    </a:p>
                  </a:txBody>
                  <a:tcPr marL="36576" marR="36576" marT="0" marB="0" anchor="ctr">
                    <a:noFill/>
                  </a:tcPr>
                </a:tc>
                <a:tc>
                  <a:txBody>
                    <a:bodyPr wrap="none"/>
                    <a:lstStyle/>
                    <a:p>
                      <a:pPr algn="r"/>
                      <a:r>
                        <a:rPr sz="800" b="0" i="0">
                          <a:solidFill>
                            <a:srgbClr val="1F2937"/>
                          </a:solidFill>
                          <a:latin typeface="Arial"/>
                        </a:rPr>
                        <a:t>1.555</a:t>
                      </a:r>
                      <a:endParaRPr sz="800"/>
                    </a:p>
                  </a:txBody>
                  <a:tcPr marL="36576" marR="36576" marT="0" marB="0" anchor="ctr">
                    <a:noFill/>
                  </a:tcPr>
                </a:tc>
                <a:tc>
                  <a:txBody>
                    <a:bodyPr wrap="none"/>
                    <a:lstStyle/>
                    <a:p>
                      <a:pPr algn="r"/>
                      <a:r>
                        <a:rPr sz="800" b="1" i="0">
                          <a:solidFill>
                            <a:srgbClr val="1F2937"/>
                          </a:solidFill>
                          <a:latin typeface="Arial"/>
                        </a:rPr>
                        <a:t>1.276</a:t>
                      </a:r>
                      <a:endParaRPr sz="800"/>
                    </a:p>
                  </a:txBody>
                  <a:tcPr marL="36576" marR="36576" marT="0" marB="0" anchor="ctr">
                    <a:noFill/>
                  </a:tcPr>
                </a:tc>
                <a:tc>
                  <a:txBody>
                    <a:bodyPr wrap="none"/>
                    <a:lstStyle/>
                    <a:p>
                      <a:pPr algn="r"/>
                      <a:r>
                        <a:rPr sz="800" b="0" i="0">
                          <a:solidFill>
                            <a:srgbClr val="1F2937"/>
                          </a:solidFill>
                          <a:latin typeface="Arial"/>
                        </a:rPr>
                        <a:t>1.620</a:t>
                      </a:r>
                      <a:endParaRPr sz="800"/>
                    </a:p>
                  </a:txBody>
                  <a:tcPr marL="36576" marR="36576" marT="0" marB="0" anchor="ctr">
                    <a:noFill/>
                  </a:tcPr>
                </a:tc>
                <a:tc>
                  <a:txBody>
                    <a:bodyPr wrap="none"/>
                    <a:lstStyle/>
                    <a:p>
                      <a:pPr algn="r"/>
                      <a:r>
                        <a:rPr sz="800" b="0" i="0">
                          <a:solidFill>
                            <a:srgbClr val="1F2937"/>
                          </a:solidFill>
                          <a:latin typeface="Arial"/>
                        </a:rPr>
                        <a:t>1.602</a:t>
                      </a:r>
                      <a:endParaRPr sz="800"/>
                    </a:p>
                  </a:txBody>
                  <a:tcPr marL="36576" marR="36576" marT="0" marB="0" anchor="ctr">
                    <a:noFill/>
                  </a:tcPr>
                </a:tc>
                <a:tc>
                  <a:txBody>
                    <a:bodyPr wrap="none"/>
                    <a:lstStyle/>
                    <a:p>
                      <a:pPr algn="r"/>
                      <a:r>
                        <a:rPr sz="800" b="1" i="0">
                          <a:solidFill>
                            <a:srgbClr val="1F2937"/>
                          </a:solidFill>
                          <a:latin typeface="Arial"/>
                        </a:rPr>
                        <a:t>1.593</a:t>
                      </a:r>
                      <a:endParaRPr sz="800"/>
                    </a:p>
                  </a:txBody>
                  <a:tcPr marL="36576" marR="36576" marT="0" marB="0" anchor="ctr">
                    <a:noFill/>
                  </a:tcPr>
                </a:tc>
                <a:tc>
                  <a:txBody>
                    <a:bodyPr wrap="none"/>
                    <a:lstStyle/>
                    <a:p>
                      <a:pPr algn="r"/>
                      <a:r>
                        <a:rPr sz="800" b="0" i="0">
                          <a:solidFill>
                            <a:srgbClr val="1F2937"/>
                          </a:solidFill>
                          <a:latin typeface="Arial"/>
                        </a:rPr>
                        <a:t>1.304</a:t>
                      </a:r>
                      <a:endParaRPr sz="800"/>
                    </a:p>
                  </a:txBody>
                  <a:tcPr marL="36576" marR="36576" marT="0" marB="0" anchor="ctr">
                    <a:noFill/>
                  </a:tcPr>
                </a:tc>
                <a:tc>
                  <a:txBody>
                    <a:bodyPr wrap="none"/>
                    <a:lstStyle/>
                    <a:p>
                      <a:pPr algn="r"/>
                      <a:r>
                        <a:rPr sz="800" b="0" i="0">
                          <a:solidFill>
                            <a:srgbClr val="1F2937"/>
                          </a:solidFill>
                          <a:latin typeface="Arial"/>
                        </a:rPr>
                        <a:t>1.212</a:t>
                      </a:r>
                      <a:endParaRPr sz="800"/>
                    </a:p>
                  </a:txBody>
                  <a:tcPr marL="36576" marR="36576" marT="0" marB="0" anchor="ctr">
                    <a:noFill/>
                  </a:tcPr>
                </a:tc>
              </a:tr>
              <a:tr h="208483">
                <a:tc>
                  <a:txBody>
                    <a:bodyPr wrap="none"/>
                    <a:lstStyle/>
                    <a:p>
                      <a:pPr algn="l"/>
                      <a:r>
                        <a:rPr sz="800" b="0" i="0">
                          <a:solidFill>
                            <a:srgbClr val="1F2937"/>
                          </a:solidFill>
                          <a:latin typeface="Arial"/>
                        </a:rPr>
                        <a:t>CSDI</a:t>
                      </a:r>
                      <a:endParaRPr sz="800"/>
                    </a:p>
                  </a:txBody>
                  <a:tcPr marL="36576" marR="36576" marT="0" marB="0" anchor="ctr">
                    <a:lnB w="6350">
                      <a:solidFill>
                        <a:srgbClr val="D0D5DD"/>
                      </a:solidFill>
                    </a:lnB>
                    <a:noFill/>
                  </a:tcPr>
                </a:tc>
                <a:tc>
                  <a:txBody>
                    <a:bodyPr wrap="none"/>
                    <a:lstStyle/>
                    <a:p>
                      <a:pPr algn="r"/>
                      <a:r>
                        <a:rPr sz="800" b="1" i="0">
                          <a:solidFill>
                            <a:srgbClr val="1F2937"/>
                          </a:solidFill>
                          <a:latin typeface="Arial"/>
                        </a:rPr>
                        <a:t>1.635</a:t>
                      </a:r>
                      <a:endParaRPr sz="800"/>
                    </a:p>
                  </a:txBody>
                  <a:tcPr marL="36576" marR="36576" marT="0" marB="0" anchor="ctr">
                    <a:lnB w="6350">
                      <a:solidFill>
                        <a:srgbClr val="D0D5DD"/>
                      </a:solidFill>
                    </a:lnB>
                    <a:noFill/>
                  </a:tcPr>
                </a:tc>
                <a:tc>
                  <a:txBody>
                    <a:bodyPr wrap="none"/>
                    <a:lstStyle/>
                    <a:p>
                      <a:pPr algn="r"/>
                      <a:r>
                        <a:rPr sz="800" b="1" i="0">
                          <a:solidFill>
                            <a:srgbClr val="1F2937"/>
                          </a:solidFill>
                          <a:latin typeface="Arial"/>
                        </a:rPr>
                        <a:t>1.626</a:t>
                      </a:r>
                      <a:endParaRPr sz="800"/>
                    </a:p>
                  </a:txBody>
                  <a:tcPr marL="36576" marR="36576" marT="0" marB="0" anchor="ctr">
                    <a:lnB w="6350">
                      <a:solidFill>
                        <a:srgbClr val="D0D5DD"/>
                      </a:solidFill>
                    </a:lnB>
                    <a:noFill/>
                  </a:tcPr>
                </a:tc>
                <a:tc>
                  <a:txBody>
                    <a:bodyPr wrap="none"/>
                    <a:lstStyle/>
                    <a:p>
                      <a:pPr algn="r"/>
                      <a:r>
                        <a:rPr sz="800" b="1" i="0">
                          <a:solidFill>
                            <a:srgbClr val="1F2937"/>
                          </a:solidFill>
                          <a:latin typeface="Arial"/>
                        </a:rPr>
                        <a:t>1.580</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1.527</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1.279</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1.635</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1.628</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1.589</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1.542</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1.186</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1.630</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1.566</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1.580</a:t>
                      </a:r>
                      <a:endParaRPr sz="800"/>
                    </a:p>
                  </a:txBody>
                  <a:tcPr marL="36576" marR="36576" marT="0" marB="0" anchor="ctr">
                    <a:lnB w="6350">
                      <a:solidFill>
                        <a:srgbClr val="D0D5DD"/>
                      </a:solidFill>
                    </a:lnB>
                    <a:noFill/>
                  </a:tcPr>
                </a:tc>
                <a:tc>
                  <a:txBody>
                    <a:bodyPr wrap="none"/>
                    <a:lstStyle/>
                    <a:p>
                      <a:pPr algn="r"/>
                      <a:r>
                        <a:rPr sz="800" b="1" i="0">
                          <a:solidFill>
                            <a:srgbClr val="1F2937"/>
                          </a:solidFill>
                          <a:latin typeface="Arial"/>
                        </a:rPr>
                        <a:t>1.508</a:t>
                      </a:r>
                      <a:endParaRPr sz="800"/>
                    </a:p>
                  </a:txBody>
                  <a:tcPr marL="36576" marR="36576" marT="0" marB="0" anchor="ctr">
                    <a:lnB w="6350">
                      <a:solidFill>
                        <a:srgbClr val="D0D5DD"/>
                      </a:solidFill>
                    </a:lnB>
                    <a:noFill/>
                  </a:tcPr>
                </a:tc>
                <a:tc>
                  <a:txBody>
                    <a:bodyPr wrap="none"/>
                    <a:lstStyle/>
                    <a:p>
                      <a:pPr algn="r"/>
                      <a:r>
                        <a:rPr sz="800" b="1" i="0">
                          <a:solidFill>
                            <a:srgbClr val="1F2937"/>
                          </a:solidFill>
                          <a:latin typeface="Arial"/>
                        </a:rPr>
                        <a:t>1.281</a:t>
                      </a:r>
                      <a:endParaRPr sz="800"/>
                    </a:p>
                  </a:txBody>
                  <a:tcPr marL="36576" marR="36576" marT="0" marB="0" anchor="ctr">
                    <a:lnB w="6350">
                      <a:solidFill>
                        <a:srgbClr val="D0D5DD"/>
                      </a:solidFill>
                    </a:lnB>
                    <a:noFill/>
                  </a:tcPr>
                </a:tc>
              </a:tr>
              <a:tr h="208483">
                <a:tc gridSpan="16">
                  <a:txBody>
                    <a:bodyPr wrap="none"/>
                    <a:lstStyle/>
                    <a:p>
                      <a:pPr algn="l"/>
                      <a:r>
                        <a:rPr sz="800" b="1" i="0">
                          <a:solidFill>
                            <a:srgbClr val="1F2937"/>
                          </a:solidFill>
                          <a:latin typeface="Arial"/>
                        </a:rPr>
                        <a:t>L</a:t>
                      </a:r>
                      <a:r>
                        <a:rPr sz="800" b="1" i="0" baseline="30000">
                          <a:solidFill>
                            <a:srgbClr val="1F2937"/>
                          </a:solidFill>
                          <a:latin typeface="Arial"/>
                        </a:rPr>
                        <a:t>1</a:t>
                      </a:r>
                      <a:r>
                        <a:rPr sz="800" b="1" i="0">
                          <a:solidFill>
                            <a:srgbClr val="1F2937"/>
                          </a:solidFill>
                          <a:latin typeface="Arial"/>
                        </a:rPr>
                        <a:t> weight distance to the oracle</a:t>
                      </a: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r>
              <a:tr h="208483">
                <a:tc>
                  <a:txBody>
                    <a:bodyPr wrap="none"/>
                    <a:lstStyle/>
                    <a:p>
                      <a:pPr algn="l"/>
                      <a:r>
                        <a:rPr sz="800" b="0" i="0">
                          <a:solidFill>
                            <a:srgbClr val="1F2937"/>
                          </a:solidFill>
                          <a:latin typeface="Arial"/>
                        </a:rPr>
                        <a:t>KNN</a:t>
                      </a:r>
                      <a:endParaRPr sz="800"/>
                    </a:p>
                  </a:txBody>
                  <a:tcPr marL="36576" marR="36576" marT="0" marB="0" anchor="ctr">
                    <a:noFill/>
                  </a:tcPr>
                </a:tc>
                <a:tc>
                  <a:txBody>
                    <a:bodyPr wrap="none"/>
                    <a:lstStyle/>
                    <a:p>
                      <a:pPr algn="r"/>
                      <a:r>
                        <a:rPr sz="800" b="0" i="0">
                          <a:solidFill>
                            <a:srgbClr val="1F2937"/>
                          </a:solidFill>
                          <a:latin typeface="Arial"/>
                        </a:rPr>
                        <a:t>0.30</a:t>
                      </a:r>
                      <a:endParaRPr sz="800"/>
                    </a:p>
                  </a:txBody>
                  <a:tcPr marL="36576" marR="36576" marT="0" marB="0" anchor="ctr">
                    <a:noFill/>
                  </a:tcPr>
                </a:tc>
                <a:tc>
                  <a:txBody>
                    <a:bodyPr wrap="none"/>
                    <a:lstStyle/>
                    <a:p>
                      <a:pPr algn="r"/>
                      <a:r>
                        <a:rPr sz="800" b="0" i="0">
                          <a:solidFill>
                            <a:srgbClr val="1F2937"/>
                          </a:solidFill>
                          <a:latin typeface="Arial"/>
                        </a:rPr>
                        <a:t>1.11</a:t>
                      </a:r>
                      <a:endParaRPr sz="800"/>
                    </a:p>
                  </a:txBody>
                  <a:tcPr marL="36576" marR="36576" marT="0" marB="0" anchor="ctr">
                    <a:noFill/>
                  </a:tcPr>
                </a:tc>
                <a:tc>
                  <a:txBody>
                    <a:bodyPr wrap="none"/>
                    <a:lstStyle/>
                    <a:p>
                      <a:pPr algn="r"/>
                      <a:r>
                        <a:rPr sz="800" b="0" i="0">
                          <a:solidFill>
                            <a:srgbClr val="1F2937"/>
                          </a:solidFill>
                          <a:latin typeface="Arial"/>
                        </a:rPr>
                        <a:t>2.92</a:t>
                      </a:r>
                      <a:endParaRPr sz="800"/>
                    </a:p>
                  </a:txBody>
                  <a:tcPr marL="36576" marR="36576" marT="0" marB="0" anchor="ctr">
                    <a:noFill/>
                  </a:tcPr>
                </a:tc>
                <a:tc>
                  <a:txBody>
                    <a:bodyPr wrap="none"/>
                    <a:lstStyle/>
                    <a:p>
                      <a:pPr algn="r"/>
                      <a:r>
                        <a:rPr sz="800" b="0" i="0">
                          <a:solidFill>
                            <a:srgbClr val="1F2937"/>
                          </a:solidFill>
                          <a:latin typeface="Arial"/>
                        </a:rPr>
                        <a:t>4.07</a:t>
                      </a:r>
                      <a:endParaRPr sz="800"/>
                    </a:p>
                  </a:txBody>
                  <a:tcPr marL="36576" marR="36576" marT="0" marB="0" anchor="ctr">
                    <a:noFill/>
                  </a:tcPr>
                </a:tc>
                <a:tc>
                  <a:txBody>
                    <a:bodyPr wrap="none"/>
                    <a:lstStyle/>
                    <a:p>
                      <a:pPr algn="r"/>
                      <a:r>
                        <a:rPr sz="800" b="0" i="0">
                          <a:solidFill>
                            <a:srgbClr val="1F2937"/>
                          </a:solidFill>
                          <a:latin typeface="Arial"/>
                        </a:rPr>
                        <a:t>8.43</a:t>
                      </a:r>
                      <a:endParaRPr sz="800"/>
                    </a:p>
                  </a:txBody>
                  <a:tcPr marL="36576" marR="36576" marT="0" marB="0" anchor="ctr">
                    <a:noFill/>
                  </a:tcPr>
                </a:tc>
                <a:tc>
                  <a:txBody>
                    <a:bodyPr wrap="none"/>
                    <a:lstStyle/>
                    <a:p>
                      <a:pPr algn="r"/>
                      <a:r>
                        <a:rPr sz="800" b="0" i="0">
                          <a:solidFill>
                            <a:srgbClr val="1F2937"/>
                          </a:solidFill>
                          <a:latin typeface="Arial"/>
                        </a:rPr>
                        <a:t>0.16</a:t>
                      </a:r>
                      <a:endParaRPr sz="800"/>
                    </a:p>
                  </a:txBody>
                  <a:tcPr marL="36576" marR="36576" marT="0" marB="0" anchor="ctr">
                    <a:noFill/>
                  </a:tcPr>
                </a:tc>
                <a:tc>
                  <a:txBody>
                    <a:bodyPr wrap="none"/>
                    <a:lstStyle/>
                    <a:p>
                      <a:pPr algn="r"/>
                      <a:r>
                        <a:rPr sz="800" b="0" i="0">
                          <a:solidFill>
                            <a:srgbClr val="1F2937"/>
                          </a:solidFill>
                          <a:latin typeface="Arial"/>
                        </a:rPr>
                        <a:t>0.87</a:t>
                      </a:r>
                      <a:endParaRPr sz="800"/>
                    </a:p>
                  </a:txBody>
                  <a:tcPr marL="36576" marR="36576" marT="0" marB="0" anchor="ctr">
                    <a:noFill/>
                  </a:tcPr>
                </a:tc>
                <a:tc>
                  <a:txBody>
                    <a:bodyPr wrap="none"/>
                    <a:lstStyle/>
                    <a:p>
                      <a:pPr algn="r"/>
                      <a:r>
                        <a:rPr sz="800" b="0" i="0">
                          <a:solidFill>
                            <a:srgbClr val="1F2937"/>
                          </a:solidFill>
                          <a:latin typeface="Arial"/>
                        </a:rPr>
                        <a:t>2.24</a:t>
                      </a:r>
                      <a:endParaRPr sz="800"/>
                    </a:p>
                  </a:txBody>
                  <a:tcPr marL="36576" marR="36576" marT="0" marB="0" anchor="ctr">
                    <a:noFill/>
                  </a:tcPr>
                </a:tc>
                <a:tc>
                  <a:txBody>
                    <a:bodyPr wrap="none"/>
                    <a:lstStyle/>
                    <a:p>
                      <a:pPr algn="r"/>
                      <a:r>
                        <a:rPr sz="800" b="0" i="0">
                          <a:solidFill>
                            <a:srgbClr val="1F2937"/>
                          </a:solidFill>
                          <a:latin typeface="Arial"/>
                        </a:rPr>
                        <a:t>4.31</a:t>
                      </a:r>
                      <a:endParaRPr sz="800"/>
                    </a:p>
                  </a:txBody>
                  <a:tcPr marL="36576" marR="36576" marT="0" marB="0" anchor="ctr">
                    <a:noFill/>
                  </a:tcPr>
                </a:tc>
                <a:tc>
                  <a:txBody>
                    <a:bodyPr wrap="none"/>
                    <a:lstStyle/>
                    <a:p>
                      <a:pPr algn="r"/>
                      <a:r>
                        <a:rPr sz="800" b="0" i="0">
                          <a:solidFill>
                            <a:srgbClr val="1F2937"/>
                          </a:solidFill>
                          <a:latin typeface="Arial"/>
                        </a:rPr>
                        <a:t>6.52</a:t>
                      </a:r>
                      <a:endParaRPr sz="800"/>
                    </a:p>
                  </a:txBody>
                  <a:tcPr marL="36576" marR="36576" marT="0" marB="0" anchor="ctr">
                    <a:noFill/>
                  </a:tcPr>
                </a:tc>
                <a:tc>
                  <a:txBody>
                    <a:bodyPr wrap="none"/>
                    <a:lstStyle/>
                    <a:p>
                      <a:pPr algn="r"/>
                      <a:r>
                        <a:rPr sz="800" b="0" i="0">
                          <a:solidFill>
                            <a:srgbClr val="1F2937"/>
                          </a:solidFill>
                          <a:latin typeface="Arial"/>
                        </a:rPr>
                        <a:t>1.13</a:t>
                      </a:r>
                      <a:endParaRPr sz="800"/>
                    </a:p>
                  </a:txBody>
                  <a:tcPr marL="36576" marR="36576" marT="0" marB="0" anchor="ctr">
                    <a:noFill/>
                  </a:tcPr>
                </a:tc>
                <a:tc>
                  <a:txBody>
                    <a:bodyPr wrap="none"/>
                    <a:lstStyle/>
                    <a:p>
                      <a:pPr algn="r"/>
                      <a:r>
                        <a:rPr sz="800" b="0" i="0">
                          <a:solidFill>
                            <a:srgbClr val="1F2937"/>
                          </a:solidFill>
                          <a:latin typeface="Arial"/>
                        </a:rPr>
                        <a:t>2.50</a:t>
                      </a:r>
                      <a:endParaRPr sz="800"/>
                    </a:p>
                  </a:txBody>
                  <a:tcPr marL="36576" marR="36576" marT="0" marB="0" anchor="ctr">
                    <a:noFill/>
                  </a:tcPr>
                </a:tc>
                <a:tc>
                  <a:txBody>
                    <a:bodyPr wrap="none"/>
                    <a:lstStyle/>
                    <a:p>
                      <a:pPr algn="r"/>
                      <a:r>
                        <a:rPr sz="800" b="0" i="0">
                          <a:solidFill>
                            <a:srgbClr val="1F2937"/>
                          </a:solidFill>
                          <a:latin typeface="Arial"/>
                        </a:rPr>
                        <a:t>3.16</a:t>
                      </a:r>
                      <a:endParaRPr sz="800"/>
                    </a:p>
                  </a:txBody>
                  <a:tcPr marL="36576" marR="36576" marT="0" marB="0" anchor="ctr">
                    <a:noFill/>
                  </a:tcPr>
                </a:tc>
                <a:tc>
                  <a:txBody>
                    <a:bodyPr wrap="none"/>
                    <a:lstStyle/>
                    <a:p>
                      <a:pPr algn="r"/>
                      <a:r>
                        <a:rPr sz="800" b="0" i="0">
                          <a:solidFill>
                            <a:srgbClr val="1F2937"/>
                          </a:solidFill>
                          <a:latin typeface="Arial"/>
                        </a:rPr>
                        <a:t>4.64</a:t>
                      </a:r>
                      <a:endParaRPr sz="800"/>
                    </a:p>
                  </a:txBody>
                  <a:tcPr marL="36576" marR="36576" marT="0" marB="0" anchor="ctr">
                    <a:noFill/>
                  </a:tcPr>
                </a:tc>
                <a:tc>
                  <a:txBody>
                    <a:bodyPr wrap="none"/>
                    <a:lstStyle/>
                    <a:p>
                      <a:pPr algn="r"/>
                      <a:r>
                        <a:rPr sz="800" b="0" i="0">
                          <a:solidFill>
                            <a:srgbClr val="1F2937"/>
                          </a:solidFill>
                          <a:latin typeface="Arial"/>
                        </a:rPr>
                        <a:t>--</a:t>
                      </a:r>
                      <a:endParaRPr sz="800"/>
                    </a:p>
                  </a:txBody>
                  <a:tcPr marL="36576" marR="36576" marT="0" marB="0" anchor="ctr">
                    <a:noFill/>
                  </a:tcPr>
                </a:tc>
              </a:tr>
              <a:tr h="208483">
                <a:tc>
                  <a:txBody>
                    <a:bodyPr wrap="none"/>
                    <a:lstStyle/>
                    <a:p>
                      <a:pPr algn="l"/>
                      <a:r>
                        <a:rPr sz="800" b="0" i="0">
                          <a:solidFill>
                            <a:srgbClr val="1F2937"/>
                          </a:solidFill>
                          <a:latin typeface="Arial"/>
                        </a:rPr>
                        <a:t>LowRank</a:t>
                      </a:r>
                      <a:endParaRPr sz="800"/>
                    </a:p>
                  </a:txBody>
                  <a:tcPr marL="36576" marR="36576" marT="0" marB="0" anchor="ctr">
                    <a:noFill/>
                  </a:tcPr>
                </a:tc>
                <a:tc>
                  <a:txBody>
                    <a:bodyPr wrap="none"/>
                    <a:lstStyle/>
                    <a:p>
                      <a:pPr algn="r"/>
                      <a:r>
                        <a:rPr sz="800" b="0" i="0">
                          <a:solidFill>
                            <a:srgbClr val="1F2937"/>
                          </a:solidFill>
                          <a:latin typeface="Arial"/>
                        </a:rPr>
                        <a:t>0.29</a:t>
                      </a:r>
                      <a:endParaRPr sz="800"/>
                    </a:p>
                  </a:txBody>
                  <a:tcPr marL="36576" marR="36576" marT="0" marB="0" anchor="ctr">
                    <a:noFill/>
                  </a:tcPr>
                </a:tc>
                <a:tc>
                  <a:txBody>
                    <a:bodyPr wrap="none"/>
                    <a:lstStyle/>
                    <a:p>
                      <a:pPr algn="r"/>
                      <a:r>
                        <a:rPr sz="800" b="0" i="0">
                          <a:solidFill>
                            <a:srgbClr val="1F2937"/>
                          </a:solidFill>
                          <a:latin typeface="Arial"/>
                        </a:rPr>
                        <a:t>1.08</a:t>
                      </a:r>
                      <a:endParaRPr sz="800"/>
                    </a:p>
                  </a:txBody>
                  <a:tcPr marL="36576" marR="36576" marT="0" marB="0" anchor="ctr">
                    <a:noFill/>
                  </a:tcPr>
                </a:tc>
                <a:tc>
                  <a:txBody>
                    <a:bodyPr wrap="none"/>
                    <a:lstStyle/>
                    <a:p>
                      <a:pPr algn="r"/>
                      <a:r>
                        <a:rPr sz="800" b="0" i="0">
                          <a:solidFill>
                            <a:srgbClr val="1F2937"/>
                          </a:solidFill>
                          <a:latin typeface="Arial"/>
                        </a:rPr>
                        <a:t>3.01</a:t>
                      </a:r>
                      <a:endParaRPr sz="800"/>
                    </a:p>
                  </a:txBody>
                  <a:tcPr marL="36576" marR="36576" marT="0" marB="0" anchor="ctr">
                    <a:noFill/>
                  </a:tcPr>
                </a:tc>
                <a:tc>
                  <a:txBody>
                    <a:bodyPr wrap="none"/>
                    <a:lstStyle/>
                    <a:p>
                      <a:pPr algn="r"/>
                      <a:r>
                        <a:rPr sz="800" b="0" i="0">
                          <a:solidFill>
                            <a:srgbClr val="1F2937"/>
                          </a:solidFill>
                          <a:latin typeface="Arial"/>
                        </a:rPr>
                        <a:t>3.33</a:t>
                      </a:r>
                      <a:endParaRPr sz="800"/>
                    </a:p>
                  </a:txBody>
                  <a:tcPr marL="36576" marR="36576" marT="0" marB="0" anchor="ctr">
                    <a:noFill/>
                  </a:tcPr>
                </a:tc>
                <a:tc>
                  <a:txBody>
                    <a:bodyPr wrap="none"/>
                    <a:lstStyle/>
                    <a:p>
                      <a:pPr algn="r"/>
                      <a:r>
                        <a:rPr sz="800" b="0" i="0">
                          <a:solidFill>
                            <a:srgbClr val="1F2937"/>
                          </a:solidFill>
                          <a:latin typeface="Arial"/>
                        </a:rPr>
                        <a:t>12.21</a:t>
                      </a:r>
                      <a:endParaRPr sz="800"/>
                    </a:p>
                  </a:txBody>
                  <a:tcPr marL="36576" marR="36576" marT="0" marB="0" anchor="ctr">
                    <a:noFill/>
                  </a:tcPr>
                </a:tc>
                <a:tc>
                  <a:txBody>
                    <a:bodyPr wrap="none"/>
                    <a:lstStyle/>
                    <a:p>
                      <a:pPr algn="r"/>
                      <a:r>
                        <a:rPr sz="800" b="0" i="0">
                          <a:solidFill>
                            <a:srgbClr val="1F2937"/>
                          </a:solidFill>
                          <a:latin typeface="Arial"/>
                        </a:rPr>
                        <a:t>0.11</a:t>
                      </a:r>
                      <a:endParaRPr sz="800"/>
                    </a:p>
                  </a:txBody>
                  <a:tcPr marL="36576" marR="36576" marT="0" marB="0" anchor="ctr">
                    <a:noFill/>
                  </a:tcPr>
                </a:tc>
                <a:tc>
                  <a:txBody>
                    <a:bodyPr wrap="none"/>
                    <a:lstStyle/>
                    <a:p>
                      <a:pPr algn="r"/>
                      <a:r>
                        <a:rPr sz="800" b="0" i="0">
                          <a:solidFill>
                            <a:srgbClr val="1F2937"/>
                          </a:solidFill>
                          <a:latin typeface="Arial"/>
                        </a:rPr>
                        <a:t>0.84</a:t>
                      </a:r>
                      <a:endParaRPr sz="800"/>
                    </a:p>
                  </a:txBody>
                  <a:tcPr marL="36576" marR="36576" marT="0" marB="0" anchor="ctr">
                    <a:noFill/>
                  </a:tcPr>
                </a:tc>
                <a:tc>
                  <a:txBody>
                    <a:bodyPr wrap="none"/>
                    <a:lstStyle/>
                    <a:p>
                      <a:pPr algn="r"/>
                      <a:r>
                        <a:rPr sz="800" b="0" i="0">
                          <a:solidFill>
                            <a:srgbClr val="1F2937"/>
                          </a:solidFill>
                          <a:latin typeface="Arial"/>
                        </a:rPr>
                        <a:t>1.91</a:t>
                      </a:r>
                      <a:endParaRPr sz="800"/>
                    </a:p>
                  </a:txBody>
                  <a:tcPr marL="36576" marR="36576" marT="0" marB="0" anchor="ctr">
                    <a:noFill/>
                  </a:tcPr>
                </a:tc>
                <a:tc>
                  <a:txBody>
                    <a:bodyPr wrap="none"/>
                    <a:lstStyle/>
                    <a:p>
                      <a:pPr algn="r"/>
                      <a:r>
                        <a:rPr sz="800" b="0" i="0">
                          <a:solidFill>
                            <a:srgbClr val="1F2937"/>
                          </a:solidFill>
                          <a:latin typeface="Arial"/>
                        </a:rPr>
                        <a:t>3.14</a:t>
                      </a:r>
                      <a:endParaRPr sz="800"/>
                    </a:p>
                  </a:txBody>
                  <a:tcPr marL="36576" marR="36576" marT="0" marB="0" anchor="ctr">
                    <a:noFill/>
                  </a:tcPr>
                </a:tc>
                <a:tc>
                  <a:txBody>
                    <a:bodyPr wrap="none"/>
                    <a:lstStyle/>
                    <a:p>
                      <a:pPr algn="r"/>
                      <a:r>
                        <a:rPr sz="800" b="0" i="0">
                          <a:solidFill>
                            <a:srgbClr val="1F2937"/>
                          </a:solidFill>
                          <a:latin typeface="Arial"/>
                        </a:rPr>
                        <a:t>9.14</a:t>
                      </a:r>
                      <a:endParaRPr sz="800"/>
                    </a:p>
                  </a:txBody>
                  <a:tcPr marL="36576" marR="36576" marT="0" marB="0" anchor="ctr">
                    <a:noFill/>
                  </a:tcPr>
                </a:tc>
                <a:tc>
                  <a:txBody>
                    <a:bodyPr wrap="none"/>
                    <a:lstStyle/>
                    <a:p>
                      <a:pPr algn="r"/>
                      <a:r>
                        <a:rPr sz="800" b="0" i="0">
                          <a:solidFill>
                            <a:srgbClr val="1F2937"/>
                          </a:solidFill>
                          <a:latin typeface="Arial"/>
                        </a:rPr>
                        <a:t>0.76</a:t>
                      </a:r>
                      <a:endParaRPr sz="800"/>
                    </a:p>
                  </a:txBody>
                  <a:tcPr marL="36576" marR="36576" marT="0" marB="0" anchor="ctr">
                    <a:noFill/>
                  </a:tcPr>
                </a:tc>
                <a:tc>
                  <a:txBody>
                    <a:bodyPr wrap="none"/>
                    <a:lstStyle/>
                    <a:p>
                      <a:pPr algn="r"/>
                      <a:r>
                        <a:rPr sz="800" b="0" i="0">
                          <a:solidFill>
                            <a:srgbClr val="1F2937"/>
                          </a:solidFill>
                          <a:latin typeface="Arial"/>
                        </a:rPr>
                        <a:t>1.58</a:t>
                      </a:r>
                      <a:endParaRPr sz="800"/>
                    </a:p>
                  </a:txBody>
                  <a:tcPr marL="36576" marR="36576" marT="0" marB="0" anchor="ctr">
                    <a:noFill/>
                  </a:tcPr>
                </a:tc>
                <a:tc>
                  <a:txBody>
                    <a:bodyPr wrap="none"/>
                    <a:lstStyle/>
                    <a:p>
                      <a:pPr algn="r"/>
                      <a:r>
                        <a:rPr sz="800" b="0" i="0">
                          <a:solidFill>
                            <a:srgbClr val="1F2937"/>
                          </a:solidFill>
                          <a:latin typeface="Arial"/>
                        </a:rPr>
                        <a:t>2.09</a:t>
                      </a:r>
                      <a:endParaRPr sz="800"/>
                    </a:p>
                  </a:txBody>
                  <a:tcPr marL="36576" marR="36576" marT="0" marB="0" anchor="ctr">
                    <a:noFill/>
                  </a:tcPr>
                </a:tc>
                <a:tc>
                  <a:txBody>
                    <a:bodyPr wrap="none"/>
                    <a:lstStyle/>
                    <a:p>
                      <a:pPr algn="r"/>
                      <a:r>
                        <a:rPr sz="800" b="0" i="0">
                          <a:solidFill>
                            <a:srgbClr val="1F2937"/>
                          </a:solidFill>
                          <a:latin typeface="Arial"/>
                        </a:rPr>
                        <a:t>3.50</a:t>
                      </a:r>
                      <a:endParaRPr sz="800"/>
                    </a:p>
                  </a:txBody>
                  <a:tcPr marL="36576" marR="36576" marT="0" marB="0" anchor="ctr">
                    <a:noFill/>
                  </a:tcPr>
                </a:tc>
                <a:tc>
                  <a:txBody>
                    <a:bodyPr wrap="none"/>
                    <a:lstStyle/>
                    <a:p>
                      <a:pPr algn="r"/>
                      <a:r>
                        <a:rPr sz="800" b="0" i="0">
                          <a:solidFill>
                            <a:srgbClr val="1F2937"/>
                          </a:solidFill>
                          <a:latin typeface="Arial"/>
                        </a:rPr>
                        <a:t>5.30</a:t>
                      </a:r>
                      <a:endParaRPr sz="800"/>
                    </a:p>
                  </a:txBody>
                  <a:tcPr marL="36576" marR="36576" marT="0" marB="0" anchor="ctr">
                    <a:noFill/>
                  </a:tcPr>
                </a:tc>
              </a:tr>
              <a:tr h="208483">
                <a:tc>
                  <a:txBody>
                    <a:bodyPr wrap="none"/>
                    <a:lstStyle/>
                    <a:p>
                      <a:pPr algn="l"/>
                      <a:r>
                        <a:rPr sz="800" b="0" i="0">
                          <a:solidFill>
                            <a:srgbClr val="1F2937"/>
                          </a:solidFill>
                          <a:latin typeface="Arial"/>
                        </a:rPr>
                        <a:t>EM</a:t>
                      </a:r>
                      <a:endParaRPr sz="800"/>
                    </a:p>
                  </a:txBody>
                  <a:tcPr marL="36576" marR="36576" marT="0" marB="0" anchor="ctr">
                    <a:noFill/>
                  </a:tcPr>
                </a:tc>
                <a:tc>
                  <a:txBody>
                    <a:bodyPr wrap="none"/>
                    <a:lstStyle/>
                    <a:p>
                      <a:pPr algn="r"/>
                      <a:r>
                        <a:rPr sz="800" b="0" i="0">
                          <a:solidFill>
                            <a:srgbClr val="1F2937"/>
                          </a:solidFill>
                          <a:latin typeface="Arial"/>
                        </a:rPr>
                        <a:t>0.30</a:t>
                      </a:r>
                      <a:endParaRPr sz="800"/>
                    </a:p>
                  </a:txBody>
                  <a:tcPr marL="36576" marR="36576" marT="0" marB="0" anchor="ctr">
                    <a:noFill/>
                  </a:tcPr>
                </a:tc>
                <a:tc>
                  <a:txBody>
                    <a:bodyPr wrap="none"/>
                    <a:lstStyle/>
                    <a:p>
                      <a:pPr algn="r"/>
                      <a:r>
                        <a:rPr sz="800" b="0" i="0">
                          <a:solidFill>
                            <a:srgbClr val="1F2937"/>
                          </a:solidFill>
                          <a:latin typeface="Arial"/>
                        </a:rPr>
                        <a:t>1.03</a:t>
                      </a:r>
                      <a:endParaRPr sz="800"/>
                    </a:p>
                  </a:txBody>
                  <a:tcPr marL="36576" marR="36576" marT="0" marB="0" anchor="ctr">
                    <a:noFill/>
                  </a:tcPr>
                </a:tc>
                <a:tc>
                  <a:txBody>
                    <a:bodyPr wrap="none"/>
                    <a:lstStyle/>
                    <a:p>
                      <a:pPr algn="r"/>
                      <a:r>
                        <a:rPr sz="800" b="0" i="0">
                          <a:solidFill>
                            <a:srgbClr val="1F2937"/>
                          </a:solidFill>
                          <a:latin typeface="Arial"/>
                        </a:rPr>
                        <a:t>3.06</a:t>
                      </a:r>
                      <a:endParaRPr sz="800"/>
                    </a:p>
                  </a:txBody>
                  <a:tcPr marL="36576" marR="36576" marT="0" marB="0" anchor="ctr">
                    <a:noFill/>
                  </a:tcPr>
                </a:tc>
                <a:tc>
                  <a:txBody>
                    <a:bodyPr wrap="none"/>
                    <a:lstStyle/>
                    <a:p>
                      <a:pPr algn="r"/>
                      <a:r>
                        <a:rPr sz="800" b="0" i="0">
                          <a:solidFill>
                            <a:srgbClr val="1F2937"/>
                          </a:solidFill>
                          <a:latin typeface="Arial"/>
                        </a:rPr>
                        <a:t>3.40</a:t>
                      </a:r>
                      <a:endParaRPr sz="800"/>
                    </a:p>
                  </a:txBody>
                  <a:tcPr marL="36576" marR="36576" marT="0" marB="0" anchor="ctr">
                    <a:noFill/>
                  </a:tcPr>
                </a:tc>
                <a:tc>
                  <a:txBody>
                    <a:bodyPr wrap="none"/>
                    <a:lstStyle/>
                    <a:p>
                      <a:pPr algn="r"/>
                      <a:r>
                        <a:rPr sz="800" b="0" i="0">
                          <a:solidFill>
                            <a:srgbClr val="1F2937"/>
                          </a:solidFill>
                          <a:latin typeface="Arial"/>
                        </a:rPr>
                        <a:t>13.76</a:t>
                      </a:r>
                      <a:endParaRPr sz="800"/>
                    </a:p>
                  </a:txBody>
                  <a:tcPr marL="36576" marR="36576" marT="0" marB="0" anchor="ctr">
                    <a:noFill/>
                  </a:tcPr>
                </a:tc>
                <a:tc>
                  <a:txBody>
                    <a:bodyPr wrap="none"/>
                    <a:lstStyle/>
                    <a:p>
                      <a:pPr algn="r"/>
                      <a:r>
                        <a:rPr sz="800" b="0" i="0">
                          <a:solidFill>
                            <a:srgbClr val="1F2937"/>
                          </a:solidFill>
                          <a:latin typeface="Arial"/>
                        </a:rPr>
                        <a:t>0.10</a:t>
                      </a:r>
                      <a:endParaRPr sz="800"/>
                    </a:p>
                  </a:txBody>
                  <a:tcPr marL="36576" marR="36576" marT="0" marB="0" anchor="ctr">
                    <a:noFill/>
                  </a:tcPr>
                </a:tc>
                <a:tc>
                  <a:txBody>
                    <a:bodyPr wrap="none"/>
                    <a:lstStyle/>
                    <a:p>
                      <a:pPr algn="r"/>
                      <a:r>
                        <a:rPr sz="800" b="0" i="0">
                          <a:solidFill>
                            <a:srgbClr val="1F2937"/>
                          </a:solidFill>
                          <a:latin typeface="Arial"/>
                        </a:rPr>
                        <a:t>0.84</a:t>
                      </a:r>
                      <a:endParaRPr sz="800"/>
                    </a:p>
                  </a:txBody>
                  <a:tcPr marL="36576" marR="36576" marT="0" marB="0" anchor="ctr">
                    <a:noFill/>
                  </a:tcPr>
                </a:tc>
                <a:tc>
                  <a:txBody>
                    <a:bodyPr wrap="none"/>
                    <a:lstStyle/>
                    <a:p>
                      <a:pPr algn="r"/>
                      <a:r>
                        <a:rPr sz="800" b="0" i="0">
                          <a:solidFill>
                            <a:srgbClr val="1F2937"/>
                          </a:solidFill>
                          <a:latin typeface="Arial"/>
                        </a:rPr>
                        <a:t>1.77</a:t>
                      </a:r>
                      <a:endParaRPr sz="800"/>
                    </a:p>
                  </a:txBody>
                  <a:tcPr marL="36576" marR="36576" marT="0" marB="0" anchor="ctr">
                    <a:noFill/>
                  </a:tcPr>
                </a:tc>
                <a:tc>
                  <a:txBody>
                    <a:bodyPr wrap="none"/>
                    <a:lstStyle/>
                    <a:p>
                      <a:pPr algn="r"/>
                      <a:r>
                        <a:rPr sz="800" b="0" i="0">
                          <a:solidFill>
                            <a:srgbClr val="1F2937"/>
                          </a:solidFill>
                          <a:latin typeface="Arial"/>
                        </a:rPr>
                        <a:t>3.40</a:t>
                      </a:r>
                      <a:endParaRPr sz="800"/>
                    </a:p>
                  </a:txBody>
                  <a:tcPr marL="36576" marR="36576" marT="0" marB="0" anchor="ctr">
                    <a:noFill/>
                  </a:tcPr>
                </a:tc>
                <a:tc>
                  <a:txBody>
                    <a:bodyPr wrap="none"/>
                    <a:lstStyle/>
                    <a:p>
                      <a:pPr algn="r"/>
                      <a:r>
                        <a:rPr sz="800" b="0" i="0">
                          <a:solidFill>
                            <a:srgbClr val="1F2937"/>
                          </a:solidFill>
                          <a:latin typeface="Arial"/>
                        </a:rPr>
                        <a:t>10.17</a:t>
                      </a:r>
                      <a:endParaRPr sz="800"/>
                    </a:p>
                  </a:txBody>
                  <a:tcPr marL="36576" marR="36576" marT="0" marB="0" anchor="ctr">
                    <a:noFill/>
                  </a:tcPr>
                </a:tc>
                <a:tc>
                  <a:txBody>
                    <a:bodyPr wrap="none"/>
                    <a:lstStyle/>
                    <a:p>
                      <a:pPr algn="r"/>
                      <a:r>
                        <a:rPr sz="800" b="0" i="0">
                          <a:solidFill>
                            <a:srgbClr val="1F2937"/>
                          </a:solidFill>
                          <a:latin typeface="Arial"/>
                        </a:rPr>
                        <a:t>0.60</a:t>
                      </a:r>
                      <a:endParaRPr sz="800"/>
                    </a:p>
                  </a:txBody>
                  <a:tcPr marL="36576" marR="36576" marT="0" marB="0" anchor="ctr">
                    <a:noFill/>
                  </a:tcPr>
                </a:tc>
                <a:tc>
                  <a:txBody>
                    <a:bodyPr wrap="none"/>
                    <a:lstStyle/>
                    <a:p>
                      <a:pPr algn="r"/>
                      <a:r>
                        <a:rPr sz="800" b="0" i="0">
                          <a:solidFill>
                            <a:srgbClr val="1F2937"/>
                          </a:solidFill>
                          <a:latin typeface="Arial"/>
                        </a:rPr>
                        <a:t>1.44</a:t>
                      </a:r>
                      <a:endParaRPr sz="800"/>
                    </a:p>
                  </a:txBody>
                  <a:tcPr marL="36576" marR="36576" marT="0" marB="0" anchor="ctr">
                    <a:noFill/>
                  </a:tcPr>
                </a:tc>
                <a:tc>
                  <a:txBody>
                    <a:bodyPr wrap="none"/>
                    <a:lstStyle/>
                    <a:p>
                      <a:pPr algn="r"/>
                      <a:r>
                        <a:rPr sz="800" b="0" i="0">
                          <a:solidFill>
                            <a:srgbClr val="1F2937"/>
                          </a:solidFill>
                          <a:latin typeface="Arial"/>
                        </a:rPr>
                        <a:t>2.00</a:t>
                      </a:r>
                      <a:endParaRPr sz="800"/>
                    </a:p>
                  </a:txBody>
                  <a:tcPr marL="36576" marR="36576" marT="0" marB="0" anchor="ctr">
                    <a:noFill/>
                  </a:tcPr>
                </a:tc>
                <a:tc>
                  <a:txBody>
                    <a:bodyPr wrap="none"/>
                    <a:lstStyle/>
                    <a:p>
                      <a:pPr algn="r"/>
                      <a:r>
                        <a:rPr sz="800" b="0" i="0">
                          <a:solidFill>
                            <a:srgbClr val="1F2937"/>
                          </a:solidFill>
                          <a:latin typeface="Arial"/>
                        </a:rPr>
                        <a:t>3.45</a:t>
                      </a:r>
                      <a:endParaRPr sz="800"/>
                    </a:p>
                  </a:txBody>
                  <a:tcPr marL="36576" marR="36576" marT="0" marB="0" anchor="ctr">
                    <a:noFill/>
                  </a:tcPr>
                </a:tc>
                <a:tc>
                  <a:txBody>
                    <a:bodyPr wrap="none"/>
                    <a:lstStyle/>
                    <a:p>
                      <a:pPr algn="r"/>
                      <a:r>
                        <a:rPr sz="800" b="0" i="0">
                          <a:solidFill>
                            <a:srgbClr val="1F2937"/>
                          </a:solidFill>
                          <a:latin typeface="Arial"/>
                        </a:rPr>
                        <a:t>5.22</a:t>
                      </a:r>
                      <a:endParaRPr sz="800"/>
                    </a:p>
                  </a:txBody>
                  <a:tcPr marL="36576" marR="36576" marT="0" marB="0" anchor="ctr">
                    <a:noFill/>
                  </a:tcPr>
                </a:tc>
              </a:tr>
              <a:tr h="208483">
                <a:tc>
                  <a:txBody>
                    <a:bodyPr wrap="none"/>
                    <a:lstStyle/>
                    <a:p>
                      <a:pPr algn="l"/>
                      <a:r>
                        <a:rPr sz="800" b="0" i="0">
                          <a:solidFill>
                            <a:srgbClr val="1F2937"/>
                          </a:solidFill>
                          <a:latin typeface="Arial"/>
                        </a:rPr>
                        <a:t>BRITS</a:t>
                      </a:r>
                      <a:endParaRPr sz="800"/>
                    </a:p>
                  </a:txBody>
                  <a:tcPr marL="36576" marR="36576" marT="0" marB="0" anchor="ctr">
                    <a:noFill/>
                  </a:tcPr>
                </a:tc>
                <a:tc>
                  <a:txBody>
                    <a:bodyPr wrap="none"/>
                    <a:lstStyle/>
                    <a:p>
                      <a:pPr algn="r"/>
                      <a:r>
                        <a:rPr sz="800" b="0" i="0">
                          <a:solidFill>
                            <a:srgbClr val="1F2937"/>
                          </a:solidFill>
                          <a:latin typeface="Arial"/>
                        </a:rPr>
                        <a:t>0.33</a:t>
                      </a:r>
                      <a:endParaRPr sz="800"/>
                    </a:p>
                  </a:txBody>
                  <a:tcPr marL="36576" marR="36576" marT="0" marB="0" anchor="ctr">
                    <a:noFill/>
                  </a:tcPr>
                </a:tc>
                <a:tc>
                  <a:txBody>
                    <a:bodyPr wrap="none"/>
                    <a:lstStyle/>
                    <a:p>
                      <a:pPr algn="r"/>
                      <a:r>
                        <a:rPr sz="800" b="0" i="0">
                          <a:solidFill>
                            <a:srgbClr val="1F2937"/>
                          </a:solidFill>
                          <a:latin typeface="Arial"/>
                        </a:rPr>
                        <a:t>0.94</a:t>
                      </a:r>
                      <a:endParaRPr sz="800"/>
                    </a:p>
                  </a:txBody>
                  <a:tcPr marL="36576" marR="36576" marT="0" marB="0" anchor="ctr">
                    <a:noFill/>
                  </a:tcPr>
                </a:tc>
                <a:tc>
                  <a:txBody>
                    <a:bodyPr wrap="none"/>
                    <a:lstStyle/>
                    <a:p>
                      <a:pPr algn="r"/>
                      <a:r>
                        <a:rPr sz="800" b="0" i="0">
                          <a:solidFill>
                            <a:srgbClr val="1F2937"/>
                          </a:solidFill>
                          <a:latin typeface="Arial"/>
                        </a:rPr>
                        <a:t>2.81</a:t>
                      </a:r>
                      <a:endParaRPr sz="800"/>
                    </a:p>
                  </a:txBody>
                  <a:tcPr marL="36576" marR="36576" marT="0" marB="0" anchor="ctr">
                    <a:noFill/>
                  </a:tcPr>
                </a:tc>
                <a:tc>
                  <a:txBody>
                    <a:bodyPr wrap="none"/>
                    <a:lstStyle/>
                    <a:p>
                      <a:pPr algn="r"/>
                      <a:r>
                        <a:rPr sz="800" b="0" i="0">
                          <a:solidFill>
                            <a:srgbClr val="1F2937"/>
                          </a:solidFill>
                          <a:latin typeface="Arial"/>
                        </a:rPr>
                        <a:t>3.10</a:t>
                      </a:r>
                      <a:endParaRPr sz="800"/>
                    </a:p>
                  </a:txBody>
                  <a:tcPr marL="36576" marR="36576" marT="0" marB="0" anchor="ctr">
                    <a:noFill/>
                  </a:tcPr>
                </a:tc>
                <a:tc>
                  <a:txBody>
                    <a:bodyPr wrap="none"/>
                    <a:lstStyle/>
                    <a:p>
                      <a:pPr algn="r"/>
                      <a:r>
                        <a:rPr sz="800" b="0" i="0">
                          <a:solidFill>
                            <a:srgbClr val="1F2937"/>
                          </a:solidFill>
                          <a:latin typeface="Arial"/>
                        </a:rPr>
                        <a:t>12.61</a:t>
                      </a:r>
                      <a:endParaRPr sz="800"/>
                    </a:p>
                  </a:txBody>
                  <a:tcPr marL="36576" marR="36576" marT="0" marB="0" anchor="ctr">
                    <a:noFill/>
                  </a:tcPr>
                </a:tc>
                <a:tc>
                  <a:txBody>
                    <a:bodyPr wrap="none"/>
                    <a:lstStyle/>
                    <a:p>
                      <a:pPr algn="r"/>
                      <a:r>
                        <a:rPr sz="800" b="0" i="0">
                          <a:solidFill>
                            <a:srgbClr val="1F2937"/>
                          </a:solidFill>
                          <a:latin typeface="Arial"/>
                        </a:rPr>
                        <a:t>0.10</a:t>
                      </a:r>
                      <a:endParaRPr sz="800"/>
                    </a:p>
                  </a:txBody>
                  <a:tcPr marL="36576" marR="36576" marT="0" marB="0" anchor="ctr">
                    <a:noFill/>
                  </a:tcPr>
                </a:tc>
                <a:tc>
                  <a:txBody>
                    <a:bodyPr wrap="none"/>
                    <a:lstStyle/>
                    <a:p>
                      <a:pPr algn="r"/>
                      <a:r>
                        <a:rPr sz="800" b="0" i="0">
                          <a:solidFill>
                            <a:srgbClr val="1F2937"/>
                          </a:solidFill>
                          <a:latin typeface="Arial"/>
                        </a:rPr>
                        <a:t>0.73</a:t>
                      </a:r>
                      <a:endParaRPr sz="800"/>
                    </a:p>
                  </a:txBody>
                  <a:tcPr marL="36576" marR="36576" marT="0" marB="0" anchor="ctr">
                    <a:noFill/>
                  </a:tcPr>
                </a:tc>
                <a:tc>
                  <a:txBody>
                    <a:bodyPr wrap="none"/>
                    <a:lstStyle/>
                    <a:p>
                      <a:pPr algn="r"/>
                      <a:r>
                        <a:rPr sz="800" b="0" i="0">
                          <a:solidFill>
                            <a:srgbClr val="1F2937"/>
                          </a:solidFill>
                          <a:latin typeface="Arial"/>
                        </a:rPr>
                        <a:t>1.99</a:t>
                      </a:r>
                      <a:endParaRPr sz="800"/>
                    </a:p>
                  </a:txBody>
                  <a:tcPr marL="36576" marR="36576" marT="0" marB="0" anchor="ctr">
                    <a:noFill/>
                  </a:tcPr>
                </a:tc>
                <a:tc>
                  <a:txBody>
                    <a:bodyPr wrap="none"/>
                    <a:lstStyle/>
                    <a:p>
                      <a:pPr algn="r"/>
                      <a:r>
                        <a:rPr sz="800" b="0" i="0">
                          <a:solidFill>
                            <a:srgbClr val="1F2937"/>
                          </a:solidFill>
                          <a:latin typeface="Arial"/>
                        </a:rPr>
                        <a:t>3.20</a:t>
                      </a:r>
                      <a:endParaRPr sz="800"/>
                    </a:p>
                  </a:txBody>
                  <a:tcPr marL="36576" marR="36576" marT="0" marB="0" anchor="ctr">
                    <a:noFill/>
                  </a:tcPr>
                </a:tc>
                <a:tc>
                  <a:txBody>
                    <a:bodyPr wrap="none"/>
                    <a:lstStyle/>
                    <a:p>
                      <a:pPr algn="r"/>
                      <a:r>
                        <a:rPr sz="800" b="0" i="0">
                          <a:solidFill>
                            <a:srgbClr val="1F2937"/>
                          </a:solidFill>
                          <a:latin typeface="Arial"/>
                        </a:rPr>
                        <a:t>7.50</a:t>
                      </a:r>
                      <a:endParaRPr sz="800"/>
                    </a:p>
                  </a:txBody>
                  <a:tcPr marL="36576" marR="36576" marT="0" marB="0" anchor="ctr">
                    <a:noFill/>
                  </a:tcPr>
                </a:tc>
                <a:tc>
                  <a:txBody>
                    <a:bodyPr wrap="none"/>
                    <a:lstStyle/>
                    <a:p>
                      <a:pPr algn="r"/>
                      <a:r>
                        <a:rPr sz="800" b="0" i="0">
                          <a:solidFill>
                            <a:srgbClr val="1F2937"/>
                          </a:solidFill>
                          <a:latin typeface="Arial"/>
                        </a:rPr>
                        <a:t>1.20</a:t>
                      </a:r>
                      <a:endParaRPr sz="800"/>
                    </a:p>
                  </a:txBody>
                  <a:tcPr marL="36576" marR="36576" marT="0" marB="0" anchor="ctr">
                    <a:noFill/>
                  </a:tcPr>
                </a:tc>
                <a:tc>
                  <a:txBody>
                    <a:bodyPr wrap="none"/>
                    <a:lstStyle/>
                    <a:p>
                      <a:pPr algn="r"/>
                      <a:r>
                        <a:rPr sz="800" b="0" i="0">
                          <a:solidFill>
                            <a:srgbClr val="1F2937"/>
                          </a:solidFill>
                          <a:latin typeface="Arial"/>
                        </a:rPr>
                        <a:t>1.78</a:t>
                      </a:r>
                      <a:endParaRPr sz="800"/>
                    </a:p>
                  </a:txBody>
                  <a:tcPr marL="36576" marR="36576" marT="0" marB="0" anchor="ctr">
                    <a:noFill/>
                  </a:tcPr>
                </a:tc>
                <a:tc>
                  <a:txBody>
                    <a:bodyPr wrap="none"/>
                    <a:lstStyle/>
                    <a:p>
                      <a:pPr algn="r"/>
                      <a:r>
                        <a:rPr sz="800" b="0" i="0">
                          <a:solidFill>
                            <a:srgbClr val="1F2937"/>
                          </a:solidFill>
                          <a:latin typeface="Arial"/>
                        </a:rPr>
                        <a:t>1.91</a:t>
                      </a:r>
                      <a:endParaRPr sz="800"/>
                    </a:p>
                  </a:txBody>
                  <a:tcPr marL="36576" marR="36576" marT="0" marB="0" anchor="ctr">
                    <a:noFill/>
                  </a:tcPr>
                </a:tc>
                <a:tc>
                  <a:txBody>
                    <a:bodyPr wrap="none"/>
                    <a:lstStyle/>
                    <a:p>
                      <a:pPr algn="r"/>
                      <a:r>
                        <a:rPr sz="800" b="0" i="0">
                          <a:solidFill>
                            <a:srgbClr val="1F2937"/>
                          </a:solidFill>
                          <a:latin typeface="Arial"/>
                        </a:rPr>
                        <a:t>4.49</a:t>
                      </a:r>
                      <a:endParaRPr sz="800"/>
                    </a:p>
                  </a:txBody>
                  <a:tcPr marL="36576" marR="36576" marT="0" marB="0" anchor="ctr">
                    <a:noFill/>
                  </a:tcPr>
                </a:tc>
                <a:tc>
                  <a:txBody>
                    <a:bodyPr wrap="none"/>
                    <a:lstStyle/>
                    <a:p>
                      <a:pPr algn="r"/>
                      <a:r>
                        <a:rPr sz="800" b="0" i="0">
                          <a:solidFill>
                            <a:srgbClr val="1F2937"/>
                          </a:solidFill>
                          <a:latin typeface="Arial"/>
                        </a:rPr>
                        <a:t>5.43</a:t>
                      </a:r>
                      <a:endParaRPr sz="800"/>
                    </a:p>
                  </a:txBody>
                  <a:tcPr marL="36576" marR="36576" marT="0" marB="0" anchor="ctr">
                    <a:noFill/>
                  </a:tcPr>
                </a:tc>
              </a:tr>
              <a:tr h="208483">
                <a:tc>
                  <a:txBody>
                    <a:bodyPr wrap="none"/>
                    <a:lstStyle/>
                    <a:p>
                      <a:pPr algn="l"/>
                      <a:r>
                        <a:rPr sz="800" b="0" i="0">
                          <a:solidFill>
                            <a:srgbClr val="1F2937"/>
                          </a:solidFill>
                          <a:latin typeface="Arial"/>
                        </a:rPr>
                        <a:t>CSDI</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0.30</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1.02</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2.89</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3.03</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11.33</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0.11</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0.79</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1.97</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3.52</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14.48</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0.66</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2.91</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2.62</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3.50</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5.22</a:t>
                      </a:r>
                      <a:endParaRPr sz="800"/>
                    </a:p>
                  </a:txBody>
                  <a:tcPr marL="36576" marR="36576" marT="0" marB="0" anchor="ctr">
                    <a:lnB w="6350">
                      <a:solidFill>
                        <a:srgbClr val="D0D5DD"/>
                      </a:solidFill>
                    </a:lnB>
                    <a:noFill/>
                  </a:tcPr>
                </a:tc>
              </a:tr>
              <a:tr h="208483">
                <a:tc gridSpan="16">
                  <a:txBody>
                    <a:bodyPr wrap="none"/>
                    <a:lstStyle/>
                    <a:p>
                      <a:pPr algn="l"/>
                      <a:r>
                        <a:rPr sz="800" b="1" i="0">
                          <a:solidFill>
                            <a:srgbClr val="1F2937"/>
                          </a:solidFill>
                          <a:latin typeface="Arial"/>
                        </a:rPr>
                        <a:t>Annualised mean</a:t>
                      </a:r>
                      <a:r>
                        <a:rPr sz="800" b="0" i="0">
                          <a:solidFill>
                            <a:srgbClr val="1F2937"/>
                          </a:solidFill>
                          <a:latin typeface="Arial"/>
                        </a:rPr>
                        <a:t>  </a:t>
                      </a:r>
                      <a:r>
                        <a:rPr sz="800" b="0" i="0">
                          <a:solidFill>
                            <a:srgbClr val="6B7280"/>
                          </a:solidFill>
                          <a:latin typeface="Arial"/>
                        </a:rPr>
                        <a:t>(true 0.361)</a:t>
                      </a: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r>
              <a:tr h="208483">
                <a:tc>
                  <a:txBody>
                    <a:bodyPr wrap="none"/>
                    <a:lstStyle/>
                    <a:p>
                      <a:pPr algn="l"/>
                      <a:r>
                        <a:rPr sz="800" b="0" i="0">
                          <a:solidFill>
                            <a:srgbClr val="1F2937"/>
                          </a:solidFill>
                          <a:latin typeface="Arial"/>
                        </a:rPr>
                        <a:t>KNN</a:t>
                      </a:r>
                      <a:endParaRPr sz="800"/>
                    </a:p>
                  </a:txBody>
                  <a:tcPr marL="36576" marR="36576" marT="0" marB="0" anchor="ctr">
                    <a:noFill/>
                  </a:tcPr>
                </a:tc>
                <a:tc>
                  <a:txBody>
                    <a:bodyPr wrap="none"/>
                    <a:lstStyle/>
                    <a:p>
                      <a:pPr algn="r"/>
                      <a:r>
                        <a:rPr sz="800" b="0" i="0">
                          <a:solidFill>
                            <a:srgbClr val="1F2937"/>
                          </a:solidFill>
                          <a:latin typeface="Arial"/>
                        </a:rPr>
                        <a:t>0.362</a:t>
                      </a:r>
                      <a:endParaRPr sz="800"/>
                    </a:p>
                  </a:txBody>
                  <a:tcPr marL="36576" marR="36576" marT="0" marB="0" anchor="ctr">
                    <a:noFill/>
                  </a:tcPr>
                </a:tc>
                <a:tc>
                  <a:txBody>
                    <a:bodyPr wrap="none"/>
                    <a:lstStyle/>
                    <a:p>
                      <a:pPr algn="r"/>
                      <a:r>
                        <a:rPr sz="800" b="0" i="0">
                          <a:solidFill>
                            <a:srgbClr val="1F2937"/>
                          </a:solidFill>
                          <a:latin typeface="Arial"/>
                        </a:rPr>
                        <a:t>0.358</a:t>
                      </a:r>
                      <a:endParaRPr sz="800"/>
                    </a:p>
                  </a:txBody>
                  <a:tcPr marL="36576" marR="36576" marT="0" marB="0" anchor="ctr">
                    <a:noFill/>
                  </a:tcPr>
                </a:tc>
                <a:tc>
                  <a:txBody>
                    <a:bodyPr wrap="none"/>
                    <a:lstStyle/>
                    <a:p>
                      <a:pPr algn="r"/>
                      <a:r>
                        <a:rPr sz="800" b="0" i="0">
                          <a:solidFill>
                            <a:srgbClr val="1F2937"/>
                          </a:solidFill>
                          <a:latin typeface="Arial"/>
                        </a:rPr>
                        <a:t>0.373</a:t>
                      </a:r>
                      <a:endParaRPr sz="800"/>
                    </a:p>
                  </a:txBody>
                  <a:tcPr marL="36576" marR="36576" marT="0" marB="0" anchor="ctr">
                    <a:noFill/>
                  </a:tcPr>
                </a:tc>
                <a:tc>
                  <a:txBody>
                    <a:bodyPr wrap="none"/>
                    <a:lstStyle/>
                    <a:p>
                      <a:pPr algn="r"/>
                      <a:r>
                        <a:rPr sz="800" b="0" i="0">
                          <a:solidFill>
                            <a:srgbClr val="1F2937"/>
                          </a:solidFill>
                          <a:latin typeface="Arial"/>
                        </a:rPr>
                        <a:t>0.351</a:t>
                      </a:r>
                      <a:endParaRPr sz="800"/>
                    </a:p>
                  </a:txBody>
                  <a:tcPr marL="36576" marR="36576" marT="0" marB="0" anchor="ctr">
                    <a:noFill/>
                  </a:tcPr>
                </a:tc>
                <a:tc>
                  <a:txBody>
                    <a:bodyPr wrap="none"/>
                    <a:lstStyle/>
                    <a:p>
                      <a:pPr algn="r"/>
                      <a:r>
                        <a:rPr sz="800" b="0" i="0">
                          <a:solidFill>
                            <a:srgbClr val="1F2937"/>
                          </a:solidFill>
                          <a:latin typeface="Arial"/>
                        </a:rPr>
                        <a:t>0.422</a:t>
                      </a:r>
                      <a:endParaRPr sz="800"/>
                    </a:p>
                  </a:txBody>
                  <a:tcPr marL="36576" marR="36576" marT="0" marB="0" anchor="ctr">
                    <a:noFill/>
                  </a:tcPr>
                </a:tc>
                <a:tc>
                  <a:txBody>
                    <a:bodyPr wrap="none"/>
                    <a:lstStyle/>
                    <a:p>
                      <a:pPr algn="r"/>
                      <a:r>
                        <a:rPr sz="800" b="0" i="0">
                          <a:solidFill>
                            <a:srgbClr val="1F2937"/>
                          </a:solidFill>
                          <a:latin typeface="Arial"/>
                        </a:rPr>
                        <a:t>0.363</a:t>
                      </a:r>
                      <a:endParaRPr sz="800"/>
                    </a:p>
                  </a:txBody>
                  <a:tcPr marL="36576" marR="36576" marT="0" marB="0" anchor="ctr">
                    <a:noFill/>
                  </a:tcPr>
                </a:tc>
                <a:tc>
                  <a:txBody>
                    <a:bodyPr wrap="none"/>
                    <a:lstStyle/>
                    <a:p>
                      <a:pPr algn="r"/>
                      <a:r>
                        <a:rPr sz="800" b="0" i="0">
                          <a:solidFill>
                            <a:srgbClr val="1F2937"/>
                          </a:solidFill>
                          <a:latin typeface="Arial"/>
                        </a:rPr>
                        <a:t>0.363</a:t>
                      </a:r>
                      <a:endParaRPr sz="800"/>
                    </a:p>
                  </a:txBody>
                  <a:tcPr marL="36576" marR="36576" marT="0" marB="0" anchor="ctr">
                    <a:noFill/>
                  </a:tcPr>
                </a:tc>
                <a:tc>
                  <a:txBody>
                    <a:bodyPr wrap="none"/>
                    <a:lstStyle/>
                    <a:p>
                      <a:pPr algn="r"/>
                      <a:r>
                        <a:rPr sz="800" b="0" i="0">
                          <a:solidFill>
                            <a:srgbClr val="1F2937"/>
                          </a:solidFill>
                          <a:latin typeface="Arial"/>
                        </a:rPr>
                        <a:t>0.372</a:t>
                      </a:r>
                      <a:endParaRPr sz="800"/>
                    </a:p>
                  </a:txBody>
                  <a:tcPr marL="36576" marR="36576" marT="0" marB="0" anchor="ctr">
                    <a:noFill/>
                  </a:tcPr>
                </a:tc>
                <a:tc>
                  <a:txBody>
                    <a:bodyPr wrap="none"/>
                    <a:lstStyle/>
                    <a:p>
                      <a:pPr algn="r"/>
                      <a:r>
                        <a:rPr sz="800" b="0" i="0">
                          <a:solidFill>
                            <a:srgbClr val="1F2937"/>
                          </a:solidFill>
                          <a:latin typeface="Arial"/>
                        </a:rPr>
                        <a:t>0.380</a:t>
                      </a:r>
                      <a:endParaRPr sz="800"/>
                    </a:p>
                  </a:txBody>
                  <a:tcPr marL="36576" marR="36576" marT="0" marB="0" anchor="ctr">
                    <a:noFill/>
                  </a:tcPr>
                </a:tc>
                <a:tc>
                  <a:txBody>
                    <a:bodyPr wrap="none"/>
                    <a:lstStyle/>
                    <a:p>
                      <a:pPr algn="r"/>
                      <a:r>
                        <a:rPr sz="800" b="0" i="0">
                          <a:solidFill>
                            <a:srgbClr val="1F2937"/>
                          </a:solidFill>
                          <a:latin typeface="Arial"/>
                        </a:rPr>
                        <a:t>0.329</a:t>
                      </a:r>
                      <a:endParaRPr sz="800"/>
                    </a:p>
                  </a:txBody>
                  <a:tcPr marL="36576" marR="36576" marT="0" marB="0" anchor="ctr">
                    <a:noFill/>
                  </a:tcPr>
                </a:tc>
                <a:tc>
                  <a:txBody>
                    <a:bodyPr wrap="none"/>
                    <a:lstStyle/>
                    <a:p>
                      <a:pPr algn="r"/>
                      <a:r>
                        <a:rPr sz="800" b="0" i="0">
                          <a:solidFill>
                            <a:srgbClr val="1F2937"/>
                          </a:solidFill>
                          <a:latin typeface="Arial"/>
                        </a:rPr>
                        <a:t>0.347</a:t>
                      </a:r>
                      <a:endParaRPr sz="800"/>
                    </a:p>
                  </a:txBody>
                  <a:tcPr marL="36576" marR="36576" marT="0" marB="0" anchor="ctr">
                    <a:noFill/>
                  </a:tcPr>
                </a:tc>
                <a:tc>
                  <a:txBody>
                    <a:bodyPr wrap="none"/>
                    <a:lstStyle/>
                    <a:p>
                      <a:pPr algn="r"/>
                      <a:r>
                        <a:rPr sz="800" b="0" i="0">
                          <a:solidFill>
                            <a:srgbClr val="1F2937"/>
                          </a:solidFill>
                          <a:latin typeface="Arial"/>
                        </a:rPr>
                        <a:t>0.328</a:t>
                      </a:r>
                      <a:endParaRPr sz="800"/>
                    </a:p>
                  </a:txBody>
                  <a:tcPr marL="36576" marR="36576" marT="0" marB="0" anchor="ctr">
                    <a:noFill/>
                  </a:tcPr>
                </a:tc>
                <a:tc>
                  <a:txBody>
                    <a:bodyPr wrap="none"/>
                    <a:lstStyle/>
                    <a:p>
                      <a:pPr algn="r"/>
                      <a:r>
                        <a:rPr sz="800" b="0" i="0">
                          <a:solidFill>
                            <a:srgbClr val="1F2937"/>
                          </a:solidFill>
                          <a:latin typeface="Arial"/>
                        </a:rPr>
                        <a:t>0.359</a:t>
                      </a:r>
                      <a:endParaRPr sz="800"/>
                    </a:p>
                  </a:txBody>
                  <a:tcPr marL="36576" marR="36576" marT="0" marB="0" anchor="ctr">
                    <a:noFill/>
                  </a:tcPr>
                </a:tc>
                <a:tc>
                  <a:txBody>
                    <a:bodyPr wrap="none"/>
                    <a:lstStyle/>
                    <a:p>
                      <a:pPr algn="r"/>
                      <a:r>
                        <a:rPr sz="800" b="0" i="0">
                          <a:solidFill>
                            <a:srgbClr val="1F2937"/>
                          </a:solidFill>
                          <a:latin typeface="Arial"/>
                        </a:rPr>
                        <a:t>0.346</a:t>
                      </a:r>
                      <a:endParaRPr sz="800"/>
                    </a:p>
                  </a:txBody>
                  <a:tcPr marL="36576" marR="36576" marT="0" marB="0" anchor="ctr">
                    <a:noFill/>
                  </a:tcPr>
                </a:tc>
                <a:tc>
                  <a:txBody>
                    <a:bodyPr wrap="none"/>
                    <a:lstStyle/>
                    <a:p>
                      <a:pPr algn="r"/>
                      <a:r>
                        <a:rPr sz="800" b="0" i="0">
                          <a:solidFill>
                            <a:srgbClr val="1F2937"/>
                          </a:solidFill>
                          <a:latin typeface="Arial"/>
                        </a:rPr>
                        <a:t>--</a:t>
                      </a:r>
                      <a:endParaRPr sz="800"/>
                    </a:p>
                  </a:txBody>
                  <a:tcPr marL="36576" marR="36576" marT="0" marB="0" anchor="ctr">
                    <a:noFill/>
                  </a:tcPr>
                </a:tc>
              </a:tr>
              <a:tr h="208483">
                <a:tc>
                  <a:txBody>
                    <a:bodyPr wrap="none"/>
                    <a:lstStyle/>
                    <a:p>
                      <a:pPr algn="l"/>
                      <a:r>
                        <a:rPr sz="800" b="0" i="0">
                          <a:solidFill>
                            <a:srgbClr val="1F2937"/>
                          </a:solidFill>
                          <a:latin typeface="Arial"/>
                        </a:rPr>
                        <a:t>LowRank</a:t>
                      </a:r>
                      <a:endParaRPr sz="800"/>
                    </a:p>
                  </a:txBody>
                  <a:tcPr marL="36576" marR="36576" marT="0" marB="0" anchor="ctr">
                    <a:noFill/>
                  </a:tcPr>
                </a:tc>
                <a:tc>
                  <a:txBody>
                    <a:bodyPr wrap="none"/>
                    <a:lstStyle/>
                    <a:p>
                      <a:pPr algn="r"/>
                      <a:r>
                        <a:rPr sz="800" b="0" i="0">
                          <a:solidFill>
                            <a:srgbClr val="1F2937"/>
                          </a:solidFill>
                          <a:latin typeface="Arial"/>
                        </a:rPr>
                        <a:t>0.362</a:t>
                      </a:r>
                      <a:endParaRPr sz="800"/>
                    </a:p>
                  </a:txBody>
                  <a:tcPr marL="36576" marR="36576" marT="0" marB="0" anchor="ctr">
                    <a:noFill/>
                  </a:tcPr>
                </a:tc>
                <a:tc>
                  <a:txBody>
                    <a:bodyPr wrap="none"/>
                    <a:lstStyle/>
                    <a:p>
                      <a:pPr algn="r"/>
                      <a:r>
                        <a:rPr sz="800" b="0" i="0">
                          <a:solidFill>
                            <a:srgbClr val="1F2937"/>
                          </a:solidFill>
                          <a:latin typeface="Arial"/>
                        </a:rPr>
                        <a:t>0.360</a:t>
                      </a:r>
                      <a:endParaRPr sz="800"/>
                    </a:p>
                  </a:txBody>
                  <a:tcPr marL="36576" marR="36576" marT="0" marB="0" anchor="ctr">
                    <a:noFill/>
                  </a:tcPr>
                </a:tc>
                <a:tc>
                  <a:txBody>
                    <a:bodyPr wrap="none"/>
                    <a:lstStyle/>
                    <a:p>
                      <a:pPr algn="r"/>
                      <a:r>
                        <a:rPr sz="800" b="0" i="0">
                          <a:solidFill>
                            <a:srgbClr val="1F2937"/>
                          </a:solidFill>
                          <a:latin typeface="Arial"/>
                        </a:rPr>
                        <a:t>0.391</a:t>
                      </a:r>
                      <a:endParaRPr sz="800"/>
                    </a:p>
                  </a:txBody>
                  <a:tcPr marL="36576" marR="36576" marT="0" marB="0" anchor="ctr">
                    <a:noFill/>
                  </a:tcPr>
                </a:tc>
                <a:tc>
                  <a:txBody>
                    <a:bodyPr wrap="none"/>
                    <a:lstStyle/>
                    <a:p>
                      <a:pPr algn="r"/>
                      <a:r>
                        <a:rPr sz="800" b="0" i="0">
                          <a:solidFill>
                            <a:srgbClr val="1F2937"/>
                          </a:solidFill>
                          <a:latin typeface="Arial"/>
                        </a:rPr>
                        <a:t>0.375</a:t>
                      </a:r>
                      <a:endParaRPr sz="800"/>
                    </a:p>
                  </a:txBody>
                  <a:tcPr marL="36576" marR="36576" marT="0" marB="0" anchor="ctr">
                    <a:noFill/>
                  </a:tcPr>
                </a:tc>
                <a:tc>
                  <a:txBody>
                    <a:bodyPr wrap="none"/>
                    <a:lstStyle/>
                    <a:p>
                      <a:pPr algn="r"/>
                      <a:r>
                        <a:rPr sz="800" b="0" i="0">
                          <a:solidFill>
                            <a:srgbClr val="1F2937"/>
                          </a:solidFill>
                          <a:latin typeface="Arial"/>
                        </a:rPr>
                        <a:t>0.556</a:t>
                      </a:r>
                      <a:endParaRPr sz="800"/>
                    </a:p>
                  </a:txBody>
                  <a:tcPr marL="36576" marR="36576" marT="0" marB="0" anchor="ctr">
                    <a:noFill/>
                  </a:tcPr>
                </a:tc>
                <a:tc>
                  <a:txBody>
                    <a:bodyPr wrap="none"/>
                    <a:lstStyle/>
                    <a:p>
                      <a:pPr algn="r"/>
                      <a:r>
                        <a:rPr sz="800" b="0" i="0">
                          <a:solidFill>
                            <a:srgbClr val="1F2937"/>
                          </a:solidFill>
                          <a:latin typeface="Arial"/>
                        </a:rPr>
                        <a:t>0.362</a:t>
                      </a:r>
                      <a:endParaRPr sz="800"/>
                    </a:p>
                  </a:txBody>
                  <a:tcPr marL="36576" marR="36576" marT="0" marB="0" anchor="ctr">
                    <a:noFill/>
                  </a:tcPr>
                </a:tc>
                <a:tc>
                  <a:txBody>
                    <a:bodyPr wrap="none"/>
                    <a:lstStyle/>
                    <a:p>
                      <a:pPr algn="r"/>
                      <a:r>
                        <a:rPr sz="800" b="0" i="0">
                          <a:solidFill>
                            <a:srgbClr val="1F2937"/>
                          </a:solidFill>
                          <a:latin typeface="Arial"/>
                        </a:rPr>
                        <a:t>0.365</a:t>
                      </a:r>
                      <a:endParaRPr sz="800"/>
                    </a:p>
                  </a:txBody>
                  <a:tcPr marL="36576" marR="36576" marT="0" marB="0" anchor="ctr">
                    <a:noFill/>
                  </a:tcPr>
                </a:tc>
                <a:tc>
                  <a:txBody>
                    <a:bodyPr wrap="none"/>
                    <a:lstStyle/>
                    <a:p>
                      <a:pPr algn="r"/>
                      <a:r>
                        <a:rPr sz="800" b="0" i="0">
                          <a:solidFill>
                            <a:srgbClr val="1F2937"/>
                          </a:solidFill>
                          <a:latin typeface="Arial"/>
                        </a:rPr>
                        <a:t>0.369</a:t>
                      </a:r>
                      <a:endParaRPr sz="800"/>
                    </a:p>
                  </a:txBody>
                  <a:tcPr marL="36576" marR="36576" marT="0" marB="0" anchor="ctr">
                    <a:noFill/>
                  </a:tcPr>
                </a:tc>
                <a:tc>
                  <a:txBody>
                    <a:bodyPr wrap="none"/>
                    <a:lstStyle/>
                    <a:p>
                      <a:pPr algn="r"/>
                      <a:r>
                        <a:rPr sz="800" b="0" i="0">
                          <a:solidFill>
                            <a:srgbClr val="1F2937"/>
                          </a:solidFill>
                          <a:latin typeface="Arial"/>
                        </a:rPr>
                        <a:t>0.386</a:t>
                      </a:r>
                      <a:endParaRPr sz="800"/>
                    </a:p>
                  </a:txBody>
                  <a:tcPr marL="36576" marR="36576" marT="0" marB="0" anchor="ctr">
                    <a:noFill/>
                  </a:tcPr>
                </a:tc>
                <a:tc>
                  <a:txBody>
                    <a:bodyPr wrap="none"/>
                    <a:lstStyle/>
                    <a:p>
                      <a:pPr algn="r"/>
                      <a:r>
                        <a:rPr sz="800" b="0" i="0">
                          <a:solidFill>
                            <a:srgbClr val="1F2937"/>
                          </a:solidFill>
                          <a:latin typeface="Arial"/>
                        </a:rPr>
                        <a:t>0.465</a:t>
                      </a:r>
                      <a:endParaRPr sz="800"/>
                    </a:p>
                  </a:txBody>
                  <a:tcPr marL="36576" marR="36576" marT="0" marB="0" anchor="ctr">
                    <a:noFill/>
                  </a:tcPr>
                </a:tc>
                <a:tc>
                  <a:txBody>
                    <a:bodyPr wrap="none"/>
                    <a:lstStyle/>
                    <a:p>
                      <a:pPr algn="r"/>
                      <a:r>
                        <a:rPr sz="800" b="0" i="0">
                          <a:solidFill>
                            <a:srgbClr val="1F2937"/>
                          </a:solidFill>
                          <a:latin typeface="Arial"/>
                        </a:rPr>
                        <a:t>0.356</a:t>
                      </a:r>
                      <a:endParaRPr sz="800"/>
                    </a:p>
                  </a:txBody>
                  <a:tcPr marL="36576" marR="36576" marT="0" marB="0" anchor="ctr">
                    <a:noFill/>
                  </a:tcPr>
                </a:tc>
                <a:tc>
                  <a:txBody>
                    <a:bodyPr wrap="none"/>
                    <a:lstStyle/>
                    <a:p>
                      <a:pPr algn="r"/>
                      <a:r>
                        <a:rPr sz="800" b="0" i="0">
                          <a:solidFill>
                            <a:srgbClr val="1F2937"/>
                          </a:solidFill>
                          <a:latin typeface="Arial"/>
                        </a:rPr>
                        <a:t>0.353</a:t>
                      </a:r>
                      <a:endParaRPr sz="800"/>
                    </a:p>
                  </a:txBody>
                  <a:tcPr marL="36576" marR="36576" marT="0" marB="0" anchor="ctr">
                    <a:noFill/>
                  </a:tcPr>
                </a:tc>
                <a:tc>
                  <a:txBody>
                    <a:bodyPr wrap="none"/>
                    <a:lstStyle/>
                    <a:p>
                      <a:pPr algn="r"/>
                      <a:r>
                        <a:rPr sz="800" b="0" i="0">
                          <a:solidFill>
                            <a:srgbClr val="1F2937"/>
                          </a:solidFill>
                          <a:latin typeface="Arial"/>
                        </a:rPr>
                        <a:t>0.365</a:t>
                      </a:r>
                      <a:endParaRPr sz="800"/>
                    </a:p>
                  </a:txBody>
                  <a:tcPr marL="36576" marR="36576" marT="0" marB="0" anchor="ctr">
                    <a:noFill/>
                  </a:tcPr>
                </a:tc>
                <a:tc>
                  <a:txBody>
                    <a:bodyPr wrap="none"/>
                    <a:lstStyle/>
                    <a:p>
                      <a:pPr algn="r"/>
                      <a:r>
                        <a:rPr sz="800" b="0" i="0">
                          <a:solidFill>
                            <a:srgbClr val="1F2937"/>
                          </a:solidFill>
                          <a:latin typeface="Arial"/>
                        </a:rPr>
                        <a:t>0.359</a:t>
                      </a:r>
                      <a:endParaRPr sz="800"/>
                    </a:p>
                  </a:txBody>
                  <a:tcPr marL="36576" marR="36576" marT="0" marB="0" anchor="ctr">
                    <a:noFill/>
                  </a:tcPr>
                </a:tc>
                <a:tc>
                  <a:txBody>
                    <a:bodyPr wrap="none"/>
                    <a:lstStyle/>
                    <a:p>
                      <a:pPr algn="r"/>
                      <a:r>
                        <a:rPr sz="800" b="0" i="0">
                          <a:solidFill>
                            <a:srgbClr val="1F2937"/>
                          </a:solidFill>
                          <a:latin typeface="Arial"/>
                        </a:rPr>
                        <a:t>0.191</a:t>
                      </a:r>
                      <a:endParaRPr sz="800"/>
                    </a:p>
                  </a:txBody>
                  <a:tcPr marL="36576" marR="36576" marT="0" marB="0" anchor="ctr">
                    <a:noFill/>
                  </a:tcPr>
                </a:tc>
              </a:tr>
              <a:tr h="208483">
                <a:tc>
                  <a:txBody>
                    <a:bodyPr wrap="none"/>
                    <a:lstStyle/>
                    <a:p>
                      <a:pPr algn="l"/>
                      <a:r>
                        <a:rPr sz="800" b="0" i="0">
                          <a:solidFill>
                            <a:srgbClr val="1F2937"/>
                          </a:solidFill>
                          <a:latin typeface="Arial"/>
                        </a:rPr>
                        <a:t>EM</a:t>
                      </a:r>
                      <a:endParaRPr sz="800"/>
                    </a:p>
                  </a:txBody>
                  <a:tcPr marL="36576" marR="36576" marT="0" marB="0" anchor="ctr">
                    <a:noFill/>
                  </a:tcPr>
                </a:tc>
                <a:tc>
                  <a:txBody>
                    <a:bodyPr wrap="none"/>
                    <a:lstStyle/>
                    <a:p>
                      <a:pPr algn="r"/>
                      <a:r>
                        <a:rPr sz="800" b="0" i="0">
                          <a:solidFill>
                            <a:srgbClr val="1F2937"/>
                          </a:solidFill>
                          <a:latin typeface="Arial"/>
                        </a:rPr>
                        <a:t>0.362</a:t>
                      </a:r>
                      <a:endParaRPr sz="800"/>
                    </a:p>
                  </a:txBody>
                  <a:tcPr marL="36576" marR="36576" marT="0" marB="0" anchor="ctr">
                    <a:noFill/>
                  </a:tcPr>
                </a:tc>
                <a:tc>
                  <a:txBody>
                    <a:bodyPr wrap="none"/>
                    <a:lstStyle/>
                    <a:p>
                      <a:pPr algn="r"/>
                      <a:r>
                        <a:rPr sz="800" b="0" i="0">
                          <a:solidFill>
                            <a:srgbClr val="1F2937"/>
                          </a:solidFill>
                          <a:latin typeface="Arial"/>
                        </a:rPr>
                        <a:t>0.361</a:t>
                      </a:r>
                      <a:endParaRPr sz="800"/>
                    </a:p>
                  </a:txBody>
                  <a:tcPr marL="36576" marR="36576" marT="0" marB="0" anchor="ctr">
                    <a:noFill/>
                  </a:tcPr>
                </a:tc>
                <a:tc>
                  <a:txBody>
                    <a:bodyPr wrap="none"/>
                    <a:lstStyle/>
                    <a:p>
                      <a:pPr algn="r"/>
                      <a:r>
                        <a:rPr sz="800" b="0" i="0">
                          <a:solidFill>
                            <a:srgbClr val="1F2937"/>
                          </a:solidFill>
                          <a:latin typeface="Arial"/>
                        </a:rPr>
                        <a:t>0.391</a:t>
                      </a:r>
                      <a:endParaRPr sz="800"/>
                    </a:p>
                  </a:txBody>
                  <a:tcPr marL="36576" marR="36576" marT="0" marB="0" anchor="ctr">
                    <a:noFill/>
                  </a:tcPr>
                </a:tc>
                <a:tc>
                  <a:txBody>
                    <a:bodyPr wrap="none"/>
                    <a:lstStyle/>
                    <a:p>
                      <a:pPr algn="r"/>
                      <a:r>
                        <a:rPr sz="800" b="0" i="0">
                          <a:solidFill>
                            <a:srgbClr val="1F2937"/>
                          </a:solidFill>
                          <a:latin typeface="Arial"/>
                        </a:rPr>
                        <a:t>0.377</a:t>
                      </a:r>
                      <a:endParaRPr sz="800"/>
                    </a:p>
                  </a:txBody>
                  <a:tcPr marL="36576" marR="36576" marT="0" marB="0" anchor="ctr">
                    <a:noFill/>
                  </a:tcPr>
                </a:tc>
                <a:tc>
                  <a:txBody>
                    <a:bodyPr wrap="none"/>
                    <a:lstStyle/>
                    <a:p>
                      <a:pPr algn="r"/>
                      <a:r>
                        <a:rPr sz="800" b="0" i="0">
                          <a:solidFill>
                            <a:srgbClr val="1F2937"/>
                          </a:solidFill>
                          <a:latin typeface="Arial"/>
                        </a:rPr>
                        <a:t>0.581</a:t>
                      </a:r>
                      <a:endParaRPr sz="800"/>
                    </a:p>
                  </a:txBody>
                  <a:tcPr marL="36576" marR="36576" marT="0" marB="0" anchor="ctr">
                    <a:noFill/>
                  </a:tcPr>
                </a:tc>
                <a:tc>
                  <a:txBody>
                    <a:bodyPr wrap="none"/>
                    <a:lstStyle/>
                    <a:p>
                      <a:pPr algn="r"/>
                      <a:r>
                        <a:rPr sz="800" b="0" i="0">
                          <a:solidFill>
                            <a:srgbClr val="1F2937"/>
                          </a:solidFill>
                          <a:latin typeface="Arial"/>
                        </a:rPr>
                        <a:t>0.362</a:t>
                      </a:r>
                      <a:endParaRPr sz="800"/>
                    </a:p>
                  </a:txBody>
                  <a:tcPr marL="36576" marR="36576" marT="0" marB="0" anchor="ctr">
                    <a:noFill/>
                  </a:tcPr>
                </a:tc>
                <a:tc>
                  <a:txBody>
                    <a:bodyPr wrap="none"/>
                    <a:lstStyle/>
                    <a:p>
                      <a:pPr algn="r"/>
                      <a:r>
                        <a:rPr sz="800" b="0" i="0">
                          <a:solidFill>
                            <a:srgbClr val="1F2937"/>
                          </a:solidFill>
                          <a:latin typeface="Arial"/>
                        </a:rPr>
                        <a:t>0.363</a:t>
                      </a:r>
                      <a:endParaRPr sz="800"/>
                    </a:p>
                  </a:txBody>
                  <a:tcPr marL="36576" marR="36576" marT="0" marB="0" anchor="ctr">
                    <a:noFill/>
                  </a:tcPr>
                </a:tc>
                <a:tc>
                  <a:txBody>
                    <a:bodyPr wrap="none"/>
                    <a:lstStyle/>
                    <a:p>
                      <a:pPr algn="r"/>
                      <a:r>
                        <a:rPr sz="800" b="0" i="0">
                          <a:solidFill>
                            <a:srgbClr val="1F2937"/>
                          </a:solidFill>
                          <a:latin typeface="Arial"/>
                        </a:rPr>
                        <a:t>0.371</a:t>
                      </a:r>
                      <a:endParaRPr sz="800"/>
                    </a:p>
                  </a:txBody>
                  <a:tcPr marL="36576" marR="36576" marT="0" marB="0" anchor="ctr">
                    <a:noFill/>
                  </a:tcPr>
                </a:tc>
                <a:tc>
                  <a:txBody>
                    <a:bodyPr wrap="none"/>
                    <a:lstStyle/>
                    <a:p>
                      <a:pPr algn="r"/>
                      <a:r>
                        <a:rPr sz="800" b="0" i="0">
                          <a:solidFill>
                            <a:srgbClr val="1F2937"/>
                          </a:solidFill>
                          <a:latin typeface="Arial"/>
                        </a:rPr>
                        <a:t>0.379</a:t>
                      </a:r>
                      <a:endParaRPr sz="800"/>
                    </a:p>
                  </a:txBody>
                  <a:tcPr marL="36576" marR="36576" marT="0" marB="0" anchor="ctr">
                    <a:noFill/>
                  </a:tcPr>
                </a:tc>
                <a:tc>
                  <a:txBody>
                    <a:bodyPr wrap="none"/>
                    <a:lstStyle/>
                    <a:p>
                      <a:pPr algn="r"/>
                      <a:r>
                        <a:rPr sz="800" b="0" i="0">
                          <a:solidFill>
                            <a:srgbClr val="1F2937"/>
                          </a:solidFill>
                          <a:latin typeface="Arial"/>
                        </a:rPr>
                        <a:t>0.478</a:t>
                      </a:r>
                      <a:endParaRPr sz="800"/>
                    </a:p>
                  </a:txBody>
                  <a:tcPr marL="36576" marR="36576" marT="0" marB="0" anchor="ctr">
                    <a:noFill/>
                  </a:tcPr>
                </a:tc>
                <a:tc>
                  <a:txBody>
                    <a:bodyPr wrap="none"/>
                    <a:lstStyle/>
                    <a:p>
                      <a:pPr algn="r"/>
                      <a:r>
                        <a:rPr sz="800" b="0" i="0">
                          <a:solidFill>
                            <a:srgbClr val="1F2937"/>
                          </a:solidFill>
                          <a:latin typeface="Arial"/>
                        </a:rPr>
                        <a:t>0.356</a:t>
                      </a:r>
                      <a:endParaRPr sz="800"/>
                    </a:p>
                  </a:txBody>
                  <a:tcPr marL="36576" marR="36576" marT="0" marB="0" anchor="ctr">
                    <a:noFill/>
                  </a:tcPr>
                </a:tc>
                <a:tc>
                  <a:txBody>
                    <a:bodyPr wrap="none"/>
                    <a:lstStyle/>
                    <a:p>
                      <a:pPr algn="r"/>
                      <a:r>
                        <a:rPr sz="800" b="0" i="0">
                          <a:solidFill>
                            <a:srgbClr val="1F2937"/>
                          </a:solidFill>
                          <a:latin typeface="Arial"/>
                        </a:rPr>
                        <a:t>0.353</a:t>
                      </a:r>
                      <a:endParaRPr sz="800"/>
                    </a:p>
                  </a:txBody>
                  <a:tcPr marL="36576" marR="36576" marT="0" marB="0" anchor="ctr">
                    <a:noFill/>
                  </a:tcPr>
                </a:tc>
                <a:tc>
                  <a:txBody>
                    <a:bodyPr wrap="none"/>
                    <a:lstStyle/>
                    <a:p>
                      <a:pPr algn="r"/>
                      <a:r>
                        <a:rPr sz="800" b="0" i="0">
                          <a:solidFill>
                            <a:srgbClr val="1F2937"/>
                          </a:solidFill>
                          <a:latin typeface="Arial"/>
                        </a:rPr>
                        <a:t>0.370</a:t>
                      </a:r>
                      <a:endParaRPr sz="800"/>
                    </a:p>
                  </a:txBody>
                  <a:tcPr marL="36576" marR="36576" marT="0" marB="0" anchor="ctr">
                    <a:noFill/>
                  </a:tcPr>
                </a:tc>
                <a:tc>
                  <a:txBody>
                    <a:bodyPr wrap="none"/>
                    <a:lstStyle/>
                    <a:p>
                      <a:pPr algn="r"/>
                      <a:r>
                        <a:rPr sz="800" b="0" i="0">
                          <a:solidFill>
                            <a:srgbClr val="1F2937"/>
                          </a:solidFill>
                          <a:latin typeface="Arial"/>
                        </a:rPr>
                        <a:t>0.359</a:t>
                      </a:r>
                      <a:endParaRPr sz="800"/>
                    </a:p>
                  </a:txBody>
                  <a:tcPr marL="36576" marR="36576" marT="0" marB="0" anchor="ctr">
                    <a:noFill/>
                  </a:tcPr>
                </a:tc>
                <a:tc>
                  <a:txBody>
                    <a:bodyPr wrap="none"/>
                    <a:lstStyle/>
                    <a:p>
                      <a:pPr algn="r"/>
                      <a:r>
                        <a:rPr sz="800" b="0" i="0">
                          <a:solidFill>
                            <a:srgbClr val="1F2937"/>
                          </a:solidFill>
                          <a:latin typeface="Arial"/>
                        </a:rPr>
                        <a:t>0.189</a:t>
                      </a:r>
                      <a:endParaRPr sz="800"/>
                    </a:p>
                  </a:txBody>
                  <a:tcPr marL="36576" marR="36576" marT="0" marB="0" anchor="ctr">
                    <a:noFill/>
                  </a:tcPr>
                </a:tc>
              </a:tr>
              <a:tr h="208483">
                <a:tc>
                  <a:txBody>
                    <a:bodyPr wrap="none"/>
                    <a:lstStyle/>
                    <a:p>
                      <a:pPr algn="l"/>
                      <a:r>
                        <a:rPr sz="800" b="0" i="0">
                          <a:solidFill>
                            <a:srgbClr val="1F2937"/>
                          </a:solidFill>
                          <a:latin typeface="Arial"/>
                        </a:rPr>
                        <a:t>BRITS</a:t>
                      </a:r>
                      <a:endParaRPr sz="800"/>
                    </a:p>
                  </a:txBody>
                  <a:tcPr marL="36576" marR="36576" marT="0" marB="0" anchor="ctr">
                    <a:noFill/>
                  </a:tcPr>
                </a:tc>
                <a:tc>
                  <a:txBody>
                    <a:bodyPr wrap="none"/>
                    <a:lstStyle/>
                    <a:p>
                      <a:pPr algn="r"/>
                      <a:r>
                        <a:rPr sz="800" b="0" i="0">
                          <a:solidFill>
                            <a:srgbClr val="1F2937"/>
                          </a:solidFill>
                          <a:latin typeface="Arial"/>
                        </a:rPr>
                        <a:t>0.362</a:t>
                      </a:r>
                      <a:endParaRPr sz="800"/>
                    </a:p>
                  </a:txBody>
                  <a:tcPr marL="36576" marR="36576" marT="0" marB="0" anchor="ctr">
                    <a:noFill/>
                  </a:tcPr>
                </a:tc>
                <a:tc>
                  <a:txBody>
                    <a:bodyPr wrap="none"/>
                    <a:lstStyle/>
                    <a:p>
                      <a:pPr algn="r"/>
                      <a:r>
                        <a:rPr sz="800" b="0" i="0">
                          <a:solidFill>
                            <a:srgbClr val="1F2937"/>
                          </a:solidFill>
                          <a:latin typeface="Arial"/>
                        </a:rPr>
                        <a:t>0.359</a:t>
                      </a:r>
                      <a:endParaRPr sz="800"/>
                    </a:p>
                  </a:txBody>
                  <a:tcPr marL="36576" marR="36576" marT="0" marB="0" anchor="ctr">
                    <a:noFill/>
                  </a:tcPr>
                </a:tc>
                <a:tc>
                  <a:txBody>
                    <a:bodyPr wrap="none"/>
                    <a:lstStyle/>
                    <a:p>
                      <a:pPr algn="r"/>
                      <a:r>
                        <a:rPr sz="800" b="0" i="0">
                          <a:solidFill>
                            <a:srgbClr val="1F2937"/>
                          </a:solidFill>
                          <a:latin typeface="Arial"/>
                        </a:rPr>
                        <a:t>0.384</a:t>
                      </a:r>
                      <a:endParaRPr sz="800"/>
                    </a:p>
                  </a:txBody>
                  <a:tcPr marL="36576" marR="36576" marT="0" marB="0" anchor="ctr">
                    <a:noFill/>
                  </a:tcPr>
                </a:tc>
                <a:tc>
                  <a:txBody>
                    <a:bodyPr wrap="none"/>
                    <a:lstStyle/>
                    <a:p>
                      <a:pPr algn="r"/>
                      <a:r>
                        <a:rPr sz="800" b="0" i="0">
                          <a:solidFill>
                            <a:srgbClr val="1F2937"/>
                          </a:solidFill>
                          <a:latin typeface="Arial"/>
                        </a:rPr>
                        <a:t>0.371</a:t>
                      </a:r>
                      <a:endParaRPr sz="800"/>
                    </a:p>
                  </a:txBody>
                  <a:tcPr marL="36576" marR="36576" marT="0" marB="0" anchor="ctr">
                    <a:noFill/>
                  </a:tcPr>
                </a:tc>
                <a:tc>
                  <a:txBody>
                    <a:bodyPr wrap="none"/>
                    <a:lstStyle/>
                    <a:p>
                      <a:pPr algn="r"/>
                      <a:r>
                        <a:rPr sz="800" b="0" i="0">
                          <a:solidFill>
                            <a:srgbClr val="1F2937"/>
                          </a:solidFill>
                          <a:latin typeface="Arial"/>
                        </a:rPr>
                        <a:t>0.528</a:t>
                      </a:r>
                      <a:endParaRPr sz="800"/>
                    </a:p>
                  </a:txBody>
                  <a:tcPr marL="36576" marR="36576" marT="0" marB="0" anchor="ctr">
                    <a:noFill/>
                  </a:tcPr>
                </a:tc>
                <a:tc>
                  <a:txBody>
                    <a:bodyPr wrap="none"/>
                    <a:lstStyle/>
                    <a:p>
                      <a:pPr algn="r"/>
                      <a:r>
                        <a:rPr sz="800" b="0" i="0">
                          <a:solidFill>
                            <a:srgbClr val="1F2937"/>
                          </a:solidFill>
                          <a:latin typeface="Arial"/>
                        </a:rPr>
                        <a:t>0.362</a:t>
                      </a:r>
                      <a:endParaRPr sz="800"/>
                    </a:p>
                  </a:txBody>
                  <a:tcPr marL="36576" marR="36576" marT="0" marB="0" anchor="ctr">
                    <a:noFill/>
                  </a:tcPr>
                </a:tc>
                <a:tc>
                  <a:txBody>
                    <a:bodyPr wrap="none"/>
                    <a:lstStyle/>
                    <a:p>
                      <a:pPr algn="r"/>
                      <a:r>
                        <a:rPr sz="800" b="0" i="0">
                          <a:solidFill>
                            <a:srgbClr val="1F2937"/>
                          </a:solidFill>
                          <a:latin typeface="Arial"/>
                        </a:rPr>
                        <a:t>0.362</a:t>
                      </a:r>
                      <a:endParaRPr sz="800"/>
                    </a:p>
                  </a:txBody>
                  <a:tcPr marL="36576" marR="36576" marT="0" marB="0" anchor="ctr">
                    <a:noFill/>
                  </a:tcPr>
                </a:tc>
                <a:tc>
                  <a:txBody>
                    <a:bodyPr wrap="none"/>
                    <a:lstStyle/>
                    <a:p>
                      <a:pPr algn="r"/>
                      <a:r>
                        <a:rPr sz="800" b="0" i="0">
                          <a:solidFill>
                            <a:srgbClr val="1F2937"/>
                          </a:solidFill>
                          <a:latin typeface="Arial"/>
                        </a:rPr>
                        <a:t>0.369</a:t>
                      </a:r>
                      <a:endParaRPr sz="800"/>
                    </a:p>
                  </a:txBody>
                  <a:tcPr marL="36576" marR="36576" marT="0" marB="0" anchor="ctr">
                    <a:noFill/>
                  </a:tcPr>
                </a:tc>
                <a:tc>
                  <a:txBody>
                    <a:bodyPr wrap="none"/>
                    <a:lstStyle/>
                    <a:p>
                      <a:pPr algn="r"/>
                      <a:r>
                        <a:rPr sz="800" b="0" i="0">
                          <a:solidFill>
                            <a:srgbClr val="1F2937"/>
                          </a:solidFill>
                          <a:latin typeface="Arial"/>
                        </a:rPr>
                        <a:t>0.358</a:t>
                      </a:r>
                      <a:endParaRPr sz="800"/>
                    </a:p>
                  </a:txBody>
                  <a:tcPr marL="36576" marR="36576" marT="0" marB="0" anchor="ctr">
                    <a:noFill/>
                  </a:tcPr>
                </a:tc>
                <a:tc>
                  <a:txBody>
                    <a:bodyPr wrap="none"/>
                    <a:lstStyle/>
                    <a:p>
                      <a:pPr algn="r"/>
                      <a:r>
                        <a:rPr sz="800" b="0" i="0">
                          <a:solidFill>
                            <a:srgbClr val="1F2937"/>
                          </a:solidFill>
                          <a:latin typeface="Arial"/>
                        </a:rPr>
                        <a:t>0.423</a:t>
                      </a:r>
                      <a:endParaRPr sz="800"/>
                    </a:p>
                  </a:txBody>
                  <a:tcPr marL="36576" marR="36576" marT="0" marB="0" anchor="ctr">
                    <a:noFill/>
                  </a:tcPr>
                </a:tc>
                <a:tc>
                  <a:txBody>
                    <a:bodyPr wrap="none"/>
                    <a:lstStyle/>
                    <a:p>
                      <a:pPr algn="r"/>
                      <a:r>
                        <a:rPr sz="800" b="0" i="0">
                          <a:solidFill>
                            <a:srgbClr val="1F2937"/>
                          </a:solidFill>
                          <a:latin typeface="Arial"/>
                        </a:rPr>
                        <a:t>0.345</a:t>
                      </a:r>
                      <a:endParaRPr sz="800"/>
                    </a:p>
                  </a:txBody>
                  <a:tcPr marL="36576" marR="36576" marT="0" marB="0" anchor="ctr">
                    <a:noFill/>
                  </a:tcPr>
                </a:tc>
                <a:tc>
                  <a:txBody>
                    <a:bodyPr wrap="none"/>
                    <a:lstStyle/>
                    <a:p>
                      <a:pPr algn="r"/>
                      <a:r>
                        <a:rPr sz="800" b="0" i="0">
                          <a:solidFill>
                            <a:srgbClr val="1F2937"/>
                          </a:solidFill>
                          <a:latin typeface="Arial"/>
                        </a:rPr>
                        <a:t>0.349</a:t>
                      </a:r>
                      <a:endParaRPr sz="800"/>
                    </a:p>
                  </a:txBody>
                  <a:tcPr marL="36576" marR="36576" marT="0" marB="0" anchor="ctr">
                    <a:noFill/>
                  </a:tcPr>
                </a:tc>
                <a:tc>
                  <a:txBody>
                    <a:bodyPr wrap="none"/>
                    <a:lstStyle/>
                    <a:p>
                      <a:pPr algn="r"/>
                      <a:r>
                        <a:rPr sz="800" b="0" i="0">
                          <a:solidFill>
                            <a:srgbClr val="1F2937"/>
                          </a:solidFill>
                          <a:latin typeface="Arial"/>
                        </a:rPr>
                        <a:t>0.369</a:t>
                      </a:r>
                      <a:endParaRPr sz="800"/>
                    </a:p>
                  </a:txBody>
                  <a:tcPr marL="36576" marR="36576" marT="0" marB="0" anchor="ctr">
                    <a:noFill/>
                  </a:tcPr>
                </a:tc>
                <a:tc>
                  <a:txBody>
                    <a:bodyPr wrap="none"/>
                    <a:lstStyle/>
                    <a:p>
                      <a:pPr algn="r"/>
                      <a:r>
                        <a:rPr sz="800" b="0" i="0">
                          <a:solidFill>
                            <a:srgbClr val="1F2937"/>
                          </a:solidFill>
                          <a:latin typeface="Arial"/>
                        </a:rPr>
                        <a:t>0.243</a:t>
                      </a:r>
                      <a:endParaRPr sz="800"/>
                    </a:p>
                  </a:txBody>
                  <a:tcPr marL="36576" marR="36576" marT="0" marB="0" anchor="ctr">
                    <a:noFill/>
                  </a:tcPr>
                </a:tc>
                <a:tc>
                  <a:txBody>
                    <a:bodyPr wrap="none"/>
                    <a:lstStyle/>
                    <a:p>
                      <a:pPr algn="r"/>
                      <a:r>
                        <a:rPr sz="800" b="0" i="0">
                          <a:solidFill>
                            <a:srgbClr val="1F2937"/>
                          </a:solidFill>
                          <a:latin typeface="Arial"/>
                        </a:rPr>
                        <a:t>0.193</a:t>
                      </a:r>
                      <a:endParaRPr sz="800"/>
                    </a:p>
                  </a:txBody>
                  <a:tcPr marL="36576" marR="36576" marT="0" marB="0" anchor="ctr">
                    <a:noFill/>
                  </a:tcPr>
                </a:tc>
              </a:tr>
              <a:tr h="208483">
                <a:tc>
                  <a:txBody>
                    <a:bodyPr wrap="none"/>
                    <a:lstStyle/>
                    <a:p>
                      <a:pPr algn="l"/>
                      <a:r>
                        <a:rPr sz="800" b="0" i="0">
                          <a:solidFill>
                            <a:srgbClr val="1F2937"/>
                          </a:solidFill>
                          <a:latin typeface="Arial"/>
                        </a:rPr>
                        <a:t>CSDI</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0.362</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0.361</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0.396</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0.373</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0.531</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0.362</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0.364</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0.374</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0.381</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0.643</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0.360</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0.375</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0.392</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0.354</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0.209</a:t>
                      </a:r>
                      <a:endParaRPr sz="800"/>
                    </a:p>
                  </a:txBody>
                  <a:tcPr marL="36576" marR="36576" marT="0" marB="0" anchor="ctr">
                    <a:lnB w="6350">
                      <a:solidFill>
                        <a:srgbClr val="D0D5DD"/>
                      </a:solidFill>
                    </a:lnB>
                    <a:noFill/>
                  </a:tcPr>
                </a:tc>
              </a:tr>
              <a:tr h="208483">
                <a:tc gridSpan="16">
                  <a:txBody>
                    <a:bodyPr wrap="none"/>
                    <a:lstStyle/>
                    <a:p>
                      <a:pPr algn="l"/>
                      <a:r>
                        <a:rPr sz="800" b="1" i="0">
                          <a:solidFill>
                            <a:srgbClr val="1F2937"/>
                          </a:solidFill>
                          <a:latin typeface="Arial"/>
                        </a:rPr>
                        <a:t>Annualised variance</a:t>
                      </a:r>
                      <a:r>
                        <a:rPr sz="800" b="0" i="0">
                          <a:solidFill>
                            <a:srgbClr val="1F2937"/>
                          </a:solidFill>
                          <a:latin typeface="Arial"/>
                        </a:rPr>
                        <a:t>  </a:t>
                      </a:r>
                      <a:r>
                        <a:rPr sz="800" b="0" i="0">
                          <a:solidFill>
                            <a:srgbClr val="6B7280"/>
                          </a:solidFill>
                          <a:latin typeface="Arial"/>
                        </a:rPr>
                        <a:t>(true 0.0488)</a:t>
                      </a: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r>
              <a:tr h="208483">
                <a:tc>
                  <a:txBody>
                    <a:bodyPr wrap="none"/>
                    <a:lstStyle/>
                    <a:p>
                      <a:pPr algn="l"/>
                      <a:r>
                        <a:rPr sz="800" b="0" i="0">
                          <a:solidFill>
                            <a:srgbClr val="1F2937"/>
                          </a:solidFill>
                          <a:latin typeface="Arial"/>
                        </a:rPr>
                        <a:t>KNN</a:t>
                      </a:r>
                      <a:endParaRPr sz="800"/>
                    </a:p>
                  </a:txBody>
                  <a:tcPr marL="36576" marR="36576" marT="0" marB="0" anchor="ctr">
                    <a:noFill/>
                  </a:tcPr>
                </a:tc>
                <a:tc>
                  <a:txBody>
                    <a:bodyPr wrap="none"/>
                    <a:lstStyle/>
                    <a:p>
                      <a:pPr algn="r"/>
                      <a:r>
                        <a:rPr sz="800" b="0" i="0">
                          <a:solidFill>
                            <a:srgbClr val="1F2937"/>
                          </a:solidFill>
                          <a:latin typeface="Arial"/>
                        </a:rPr>
                        <a:t>0.0491</a:t>
                      </a:r>
                      <a:endParaRPr sz="800"/>
                    </a:p>
                  </a:txBody>
                  <a:tcPr marL="36576" marR="36576" marT="0" marB="0" anchor="ctr">
                    <a:noFill/>
                  </a:tcPr>
                </a:tc>
                <a:tc>
                  <a:txBody>
                    <a:bodyPr wrap="none"/>
                    <a:lstStyle/>
                    <a:p>
                      <a:pPr algn="r"/>
                      <a:r>
                        <a:rPr sz="800" b="0" i="0">
                          <a:solidFill>
                            <a:srgbClr val="1F2937"/>
                          </a:solidFill>
                          <a:latin typeface="Arial"/>
                        </a:rPr>
                        <a:t>0.0486</a:t>
                      </a:r>
                      <a:endParaRPr sz="800"/>
                    </a:p>
                  </a:txBody>
                  <a:tcPr marL="36576" marR="36576" marT="0" marB="0" anchor="ctr">
                    <a:noFill/>
                  </a:tcPr>
                </a:tc>
                <a:tc>
                  <a:txBody>
                    <a:bodyPr wrap="none"/>
                    <a:lstStyle/>
                    <a:p>
                      <a:pPr algn="r"/>
                      <a:r>
                        <a:rPr sz="800" b="0" i="0">
                          <a:solidFill>
                            <a:srgbClr val="1F2937"/>
                          </a:solidFill>
                          <a:latin typeface="Arial"/>
                        </a:rPr>
                        <a:t>0.0564</a:t>
                      </a:r>
                      <a:endParaRPr sz="800"/>
                    </a:p>
                  </a:txBody>
                  <a:tcPr marL="36576" marR="36576" marT="0" marB="0" anchor="ctr">
                    <a:noFill/>
                  </a:tcPr>
                </a:tc>
                <a:tc>
                  <a:txBody>
                    <a:bodyPr wrap="none"/>
                    <a:lstStyle/>
                    <a:p>
                      <a:pPr algn="r"/>
                      <a:r>
                        <a:rPr sz="800" b="0" i="0">
                          <a:solidFill>
                            <a:srgbClr val="1F2937"/>
                          </a:solidFill>
                          <a:latin typeface="Arial"/>
                        </a:rPr>
                        <a:t>0.0554</a:t>
                      </a:r>
                      <a:endParaRPr sz="800"/>
                    </a:p>
                  </a:txBody>
                  <a:tcPr marL="36576" marR="36576" marT="0" marB="0" anchor="ctr">
                    <a:noFill/>
                  </a:tcPr>
                </a:tc>
                <a:tc>
                  <a:txBody>
                    <a:bodyPr wrap="none"/>
                    <a:lstStyle/>
                    <a:p>
                      <a:pPr algn="r"/>
                      <a:r>
                        <a:rPr sz="800" b="0" i="0">
                          <a:solidFill>
                            <a:srgbClr val="1F2937"/>
                          </a:solidFill>
                          <a:latin typeface="Arial"/>
                        </a:rPr>
                        <a:t>0.1086</a:t>
                      </a:r>
                      <a:endParaRPr sz="800"/>
                    </a:p>
                  </a:txBody>
                  <a:tcPr marL="36576" marR="36576" marT="0" marB="0" anchor="ctr">
                    <a:noFill/>
                  </a:tcPr>
                </a:tc>
                <a:tc>
                  <a:txBody>
                    <a:bodyPr wrap="none"/>
                    <a:lstStyle/>
                    <a:p>
                      <a:pPr algn="r"/>
                      <a:r>
                        <a:rPr sz="800" b="0" i="0">
                          <a:solidFill>
                            <a:srgbClr val="1F2937"/>
                          </a:solidFill>
                          <a:latin typeface="Arial"/>
                        </a:rPr>
                        <a:t>0.0492</a:t>
                      </a:r>
                      <a:endParaRPr sz="800"/>
                    </a:p>
                  </a:txBody>
                  <a:tcPr marL="36576" marR="36576" marT="0" marB="0" anchor="ctr">
                    <a:noFill/>
                  </a:tcPr>
                </a:tc>
                <a:tc>
                  <a:txBody>
                    <a:bodyPr wrap="none"/>
                    <a:lstStyle/>
                    <a:p>
                      <a:pPr algn="r"/>
                      <a:r>
                        <a:rPr sz="800" b="0" i="0">
                          <a:solidFill>
                            <a:srgbClr val="1F2937"/>
                          </a:solidFill>
                          <a:latin typeface="Arial"/>
                        </a:rPr>
                        <a:t>0.0497</a:t>
                      </a:r>
                      <a:endParaRPr sz="800"/>
                    </a:p>
                  </a:txBody>
                  <a:tcPr marL="36576" marR="36576" marT="0" marB="0" anchor="ctr">
                    <a:noFill/>
                  </a:tcPr>
                </a:tc>
                <a:tc>
                  <a:txBody>
                    <a:bodyPr wrap="none"/>
                    <a:lstStyle/>
                    <a:p>
                      <a:pPr algn="r"/>
                      <a:r>
                        <a:rPr sz="800" b="0" i="0">
                          <a:solidFill>
                            <a:srgbClr val="1F2937"/>
                          </a:solidFill>
                          <a:latin typeface="Arial"/>
                        </a:rPr>
                        <a:t>0.0557</a:t>
                      </a:r>
                      <a:endParaRPr sz="800"/>
                    </a:p>
                  </a:txBody>
                  <a:tcPr marL="36576" marR="36576" marT="0" marB="0" anchor="ctr">
                    <a:noFill/>
                  </a:tcPr>
                </a:tc>
                <a:tc>
                  <a:txBody>
                    <a:bodyPr wrap="none"/>
                    <a:lstStyle/>
                    <a:p>
                      <a:pPr algn="r"/>
                      <a:r>
                        <a:rPr sz="800" b="0" i="0">
                          <a:solidFill>
                            <a:srgbClr val="1F2937"/>
                          </a:solidFill>
                          <a:latin typeface="Arial"/>
                        </a:rPr>
                        <a:t>0.0644</a:t>
                      </a:r>
                      <a:endParaRPr sz="800"/>
                    </a:p>
                  </a:txBody>
                  <a:tcPr marL="36576" marR="36576" marT="0" marB="0" anchor="ctr">
                    <a:noFill/>
                  </a:tcPr>
                </a:tc>
                <a:tc>
                  <a:txBody>
                    <a:bodyPr wrap="none"/>
                    <a:lstStyle/>
                    <a:p>
                      <a:pPr algn="r"/>
                      <a:r>
                        <a:rPr sz="800" b="0" i="0">
                          <a:solidFill>
                            <a:srgbClr val="1F2937"/>
                          </a:solidFill>
                          <a:latin typeface="Arial"/>
                        </a:rPr>
                        <a:t>0.0767</a:t>
                      </a:r>
                      <a:endParaRPr sz="800"/>
                    </a:p>
                  </a:txBody>
                  <a:tcPr marL="36576" marR="36576" marT="0" marB="0" anchor="ctr">
                    <a:noFill/>
                  </a:tcPr>
                </a:tc>
                <a:tc>
                  <a:txBody>
                    <a:bodyPr wrap="none"/>
                    <a:lstStyle/>
                    <a:p>
                      <a:pPr algn="r"/>
                      <a:r>
                        <a:rPr sz="800" b="0" i="0">
                          <a:solidFill>
                            <a:srgbClr val="1F2937"/>
                          </a:solidFill>
                          <a:latin typeface="Arial"/>
                        </a:rPr>
                        <a:t>0.0459</a:t>
                      </a:r>
                      <a:endParaRPr sz="800"/>
                    </a:p>
                  </a:txBody>
                  <a:tcPr marL="36576" marR="36576" marT="0" marB="0" anchor="ctr">
                    <a:noFill/>
                  </a:tcPr>
                </a:tc>
                <a:tc>
                  <a:txBody>
                    <a:bodyPr wrap="none"/>
                    <a:lstStyle/>
                    <a:p>
                      <a:pPr algn="r"/>
                      <a:r>
                        <a:rPr sz="800" b="0" i="0">
                          <a:solidFill>
                            <a:srgbClr val="1F2937"/>
                          </a:solidFill>
                          <a:latin typeface="Arial"/>
                        </a:rPr>
                        <a:t>0.0439</a:t>
                      </a:r>
                      <a:endParaRPr sz="800"/>
                    </a:p>
                  </a:txBody>
                  <a:tcPr marL="36576" marR="36576" marT="0" marB="0" anchor="ctr">
                    <a:noFill/>
                  </a:tcPr>
                </a:tc>
                <a:tc>
                  <a:txBody>
                    <a:bodyPr wrap="none"/>
                    <a:lstStyle/>
                    <a:p>
                      <a:pPr algn="r"/>
                      <a:r>
                        <a:rPr sz="800" b="0" i="0">
                          <a:solidFill>
                            <a:srgbClr val="1F2937"/>
                          </a:solidFill>
                          <a:latin typeface="Arial"/>
                        </a:rPr>
                        <a:t>0.0543</a:t>
                      </a:r>
                      <a:endParaRPr sz="800"/>
                    </a:p>
                  </a:txBody>
                  <a:tcPr marL="36576" marR="36576" marT="0" marB="0" anchor="ctr">
                    <a:noFill/>
                  </a:tcPr>
                </a:tc>
                <a:tc>
                  <a:txBody>
                    <a:bodyPr wrap="none"/>
                    <a:lstStyle/>
                    <a:p>
                      <a:pPr algn="r"/>
                      <a:r>
                        <a:rPr sz="800" b="0" i="0">
                          <a:solidFill>
                            <a:srgbClr val="1F2937"/>
                          </a:solidFill>
                          <a:latin typeface="Arial"/>
                        </a:rPr>
                        <a:t>0.0597</a:t>
                      </a:r>
                      <a:endParaRPr sz="800"/>
                    </a:p>
                  </a:txBody>
                  <a:tcPr marL="36576" marR="36576" marT="0" marB="0" anchor="ctr">
                    <a:noFill/>
                  </a:tcPr>
                </a:tc>
                <a:tc>
                  <a:txBody>
                    <a:bodyPr wrap="none"/>
                    <a:lstStyle/>
                    <a:p>
                      <a:pPr algn="r"/>
                      <a:r>
                        <a:rPr sz="800" b="0" i="0">
                          <a:solidFill>
                            <a:srgbClr val="1F2937"/>
                          </a:solidFill>
                          <a:latin typeface="Arial"/>
                        </a:rPr>
                        <a:t>--</a:t>
                      </a:r>
                      <a:endParaRPr sz="800"/>
                    </a:p>
                  </a:txBody>
                  <a:tcPr marL="36576" marR="36576" marT="0" marB="0" anchor="ctr">
                    <a:noFill/>
                  </a:tcPr>
                </a:tc>
              </a:tr>
              <a:tr h="208483">
                <a:tc>
                  <a:txBody>
                    <a:bodyPr wrap="none"/>
                    <a:lstStyle/>
                    <a:p>
                      <a:pPr algn="l"/>
                      <a:r>
                        <a:rPr sz="800" b="0" i="0">
                          <a:solidFill>
                            <a:srgbClr val="1F2937"/>
                          </a:solidFill>
                          <a:latin typeface="Arial"/>
                        </a:rPr>
                        <a:t>LowRank</a:t>
                      </a:r>
                      <a:endParaRPr sz="800"/>
                    </a:p>
                  </a:txBody>
                  <a:tcPr marL="36576" marR="36576" marT="0" marB="0" anchor="ctr">
                    <a:noFill/>
                  </a:tcPr>
                </a:tc>
                <a:tc>
                  <a:txBody>
                    <a:bodyPr wrap="none"/>
                    <a:lstStyle/>
                    <a:p>
                      <a:pPr algn="r"/>
                      <a:r>
                        <a:rPr sz="800" b="0" i="0">
                          <a:solidFill>
                            <a:srgbClr val="1F2937"/>
                          </a:solidFill>
                          <a:latin typeface="Arial"/>
                        </a:rPr>
                        <a:t>0.0490</a:t>
                      </a:r>
                      <a:endParaRPr sz="800"/>
                    </a:p>
                  </a:txBody>
                  <a:tcPr marL="36576" marR="36576" marT="0" marB="0" anchor="ctr">
                    <a:noFill/>
                  </a:tcPr>
                </a:tc>
                <a:tc>
                  <a:txBody>
                    <a:bodyPr wrap="none"/>
                    <a:lstStyle/>
                    <a:p>
                      <a:pPr algn="r"/>
                      <a:r>
                        <a:rPr sz="800" b="0" i="0">
                          <a:solidFill>
                            <a:srgbClr val="1F2937"/>
                          </a:solidFill>
                          <a:latin typeface="Arial"/>
                        </a:rPr>
                        <a:t>0.0492</a:t>
                      </a:r>
                      <a:endParaRPr sz="800"/>
                    </a:p>
                  </a:txBody>
                  <a:tcPr marL="36576" marR="36576" marT="0" marB="0" anchor="ctr">
                    <a:noFill/>
                  </a:tcPr>
                </a:tc>
                <a:tc>
                  <a:txBody>
                    <a:bodyPr wrap="none"/>
                    <a:lstStyle/>
                    <a:p>
                      <a:pPr algn="r"/>
                      <a:r>
                        <a:rPr sz="800" b="0" i="0">
                          <a:solidFill>
                            <a:srgbClr val="1F2937"/>
                          </a:solidFill>
                          <a:latin typeface="Arial"/>
                        </a:rPr>
                        <a:t>0.0625</a:t>
                      </a:r>
                      <a:endParaRPr sz="800"/>
                    </a:p>
                  </a:txBody>
                  <a:tcPr marL="36576" marR="36576" marT="0" marB="0" anchor="ctr">
                    <a:noFill/>
                  </a:tcPr>
                </a:tc>
                <a:tc>
                  <a:txBody>
                    <a:bodyPr wrap="none"/>
                    <a:lstStyle/>
                    <a:p>
                      <a:pPr algn="r"/>
                      <a:r>
                        <a:rPr sz="800" b="0" i="0">
                          <a:solidFill>
                            <a:srgbClr val="1F2937"/>
                          </a:solidFill>
                          <a:latin typeface="Arial"/>
                        </a:rPr>
                        <a:t>0.0603</a:t>
                      </a:r>
                      <a:endParaRPr sz="800"/>
                    </a:p>
                  </a:txBody>
                  <a:tcPr marL="36576" marR="36576" marT="0" marB="0" anchor="ctr">
                    <a:noFill/>
                  </a:tcPr>
                </a:tc>
                <a:tc>
                  <a:txBody>
                    <a:bodyPr wrap="none"/>
                    <a:lstStyle/>
                    <a:p>
                      <a:pPr algn="r"/>
                      <a:r>
                        <a:rPr sz="800" b="0" i="0">
                          <a:solidFill>
                            <a:srgbClr val="1F2937"/>
                          </a:solidFill>
                          <a:latin typeface="Arial"/>
                        </a:rPr>
                        <a:t>0.1970</a:t>
                      </a:r>
                      <a:endParaRPr sz="800"/>
                    </a:p>
                  </a:txBody>
                  <a:tcPr marL="36576" marR="36576" marT="0" marB="0" anchor="ctr">
                    <a:noFill/>
                  </a:tcPr>
                </a:tc>
                <a:tc>
                  <a:txBody>
                    <a:bodyPr wrap="none"/>
                    <a:lstStyle/>
                    <a:p>
                      <a:pPr algn="r"/>
                      <a:r>
                        <a:rPr sz="800" b="0" i="0">
                          <a:solidFill>
                            <a:srgbClr val="1F2937"/>
                          </a:solidFill>
                          <a:latin typeface="Arial"/>
                        </a:rPr>
                        <a:t>0.0491</a:t>
                      </a:r>
                      <a:endParaRPr sz="800"/>
                    </a:p>
                  </a:txBody>
                  <a:tcPr marL="36576" marR="36576" marT="0" marB="0" anchor="ctr">
                    <a:noFill/>
                  </a:tcPr>
                </a:tc>
                <a:tc>
                  <a:txBody>
                    <a:bodyPr wrap="none"/>
                    <a:lstStyle/>
                    <a:p>
                      <a:pPr algn="r"/>
                      <a:r>
                        <a:rPr sz="800" b="0" i="0">
                          <a:solidFill>
                            <a:srgbClr val="1F2937"/>
                          </a:solidFill>
                          <a:latin typeface="Arial"/>
                        </a:rPr>
                        <a:t>0.0503</a:t>
                      </a:r>
                      <a:endParaRPr sz="800"/>
                    </a:p>
                  </a:txBody>
                  <a:tcPr marL="36576" marR="36576" marT="0" marB="0" anchor="ctr">
                    <a:noFill/>
                  </a:tcPr>
                </a:tc>
                <a:tc>
                  <a:txBody>
                    <a:bodyPr wrap="none"/>
                    <a:lstStyle/>
                    <a:p>
                      <a:pPr algn="r"/>
                      <a:r>
                        <a:rPr sz="800" b="0" i="0">
                          <a:solidFill>
                            <a:srgbClr val="1F2937"/>
                          </a:solidFill>
                          <a:latin typeface="Arial"/>
                        </a:rPr>
                        <a:t>0.0537</a:t>
                      </a:r>
                      <a:endParaRPr sz="800"/>
                    </a:p>
                  </a:txBody>
                  <a:tcPr marL="36576" marR="36576" marT="0" marB="0" anchor="ctr">
                    <a:noFill/>
                  </a:tcPr>
                </a:tc>
                <a:tc>
                  <a:txBody>
                    <a:bodyPr wrap="none"/>
                    <a:lstStyle/>
                    <a:p>
                      <a:pPr algn="r"/>
                      <a:r>
                        <a:rPr sz="800" b="0" i="0">
                          <a:solidFill>
                            <a:srgbClr val="1F2937"/>
                          </a:solidFill>
                          <a:latin typeface="Arial"/>
                        </a:rPr>
                        <a:t>0.0612</a:t>
                      </a:r>
                      <a:endParaRPr sz="800"/>
                    </a:p>
                  </a:txBody>
                  <a:tcPr marL="36576" marR="36576" marT="0" marB="0" anchor="ctr">
                    <a:noFill/>
                  </a:tcPr>
                </a:tc>
                <a:tc>
                  <a:txBody>
                    <a:bodyPr wrap="none"/>
                    <a:lstStyle/>
                    <a:p>
                      <a:pPr algn="r"/>
                      <a:r>
                        <a:rPr sz="800" b="0" i="0">
                          <a:solidFill>
                            <a:srgbClr val="1F2937"/>
                          </a:solidFill>
                          <a:latin typeface="Arial"/>
                        </a:rPr>
                        <a:t>0.1439</a:t>
                      </a:r>
                      <a:endParaRPr sz="800"/>
                    </a:p>
                  </a:txBody>
                  <a:tcPr marL="36576" marR="36576" marT="0" marB="0" anchor="ctr">
                    <a:noFill/>
                  </a:tcPr>
                </a:tc>
                <a:tc>
                  <a:txBody>
                    <a:bodyPr wrap="none"/>
                    <a:lstStyle/>
                    <a:p>
                      <a:pPr algn="r"/>
                      <a:r>
                        <a:rPr sz="800" b="0" i="0">
                          <a:solidFill>
                            <a:srgbClr val="1F2937"/>
                          </a:solidFill>
                          <a:latin typeface="Arial"/>
                        </a:rPr>
                        <a:t>0.0477</a:t>
                      </a:r>
                      <a:endParaRPr sz="800"/>
                    </a:p>
                  </a:txBody>
                  <a:tcPr marL="36576" marR="36576" marT="0" marB="0" anchor="ctr">
                    <a:noFill/>
                  </a:tcPr>
                </a:tc>
                <a:tc>
                  <a:txBody>
                    <a:bodyPr wrap="none"/>
                    <a:lstStyle/>
                    <a:p>
                      <a:pPr algn="r"/>
                      <a:r>
                        <a:rPr sz="800" b="0" i="0">
                          <a:solidFill>
                            <a:srgbClr val="1F2937"/>
                          </a:solidFill>
                          <a:latin typeface="Arial"/>
                        </a:rPr>
                        <a:t>0.0483</a:t>
                      </a:r>
                      <a:endParaRPr sz="800"/>
                    </a:p>
                  </a:txBody>
                  <a:tcPr marL="36576" marR="36576" marT="0" marB="0" anchor="ctr">
                    <a:noFill/>
                  </a:tcPr>
                </a:tc>
                <a:tc>
                  <a:txBody>
                    <a:bodyPr wrap="none"/>
                    <a:lstStyle/>
                    <a:p>
                      <a:pPr algn="r"/>
                      <a:r>
                        <a:rPr sz="800" b="0" i="0">
                          <a:solidFill>
                            <a:srgbClr val="1F2937"/>
                          </a:solidFill>
                          <a:latin typeface="Arial"/>
                        </a:rPr>
                        <a:t>0.0529</a:t>
                      </a:r>
                      <a:endParaRPr sz="800"/>
                    </a:p>
                  </a:txBody>
                  <a:tcPr marL="36576" marR="36576" marT="0" marB="0" anchor="ctr">
                    <a:noFill/>
                  </a:tcPr>
                </a:tc>
                <a:tc>
                  <a:txBody>
                    <a:bodyPr wrap="none"/>
                    <a:lstStyle/>
                    <a:p>
                      <a:pPr algn="r"/>
                      <a:r>
                        <a:rPr sz="800" b="0" i="0">
                          <a:solidFill>
                            <a:srgbClr val="1F2937"/>
                          </a:solidFill>
                          <a:latin typeface="Arial"/>
                        </a:rPr>
                        <a:t>0.0576</a:t>
                      </a:r>
                      <a:endParaRPr sz="800"/>
                    </a:p>
                  </a:txBody>
                  <a:tcPr marL="36576" marR="36576" marT="0" marB="0" anchor="ctr">
                    <a:noFill/>
                  </a:tcPr>
                </a:tc>
                <a:tc>
                  <a:txBody>
                    <a:bodyPr wrap="none"/>
                    <a:lstStyle/>
                    <a:p>
                      <a:pPr algn="r"/>
                      <a:r>
                        <a:rPr sz="800" b="0" i="0">
                          <a:solidFill>
                            <a:srgbClr val="1F2937"/>
                          </a:solidFill>
                          <a:latin typeface="Arial"/>
                        </a:rPr>
                        <a:t>0.0255</a:t>
                      </a:r>
                      <a:endParaRPr sz="800"/>
                    </a:p>
                  </a:txBody>
                  <a:tcPr marL="36576" marR="36576" marT="0" marB="0" anchor="ctr">
                    <a:noFill/>
                  </a:tcPr>
                </a:tc>
              </a:tr>
              <a:tr h="208483">
                <a:tc>
                  <a:txBody>
                    <a:bodyPr wrap="none"/>
                    <a:lstStyle/>
                    <a:p>
                      <a:pPr algn="l"/>
                      <a:r>
                        <a:rPr sz="800" b="0" i="0">
                          <a:solidFill>
                            <a:srgbClr val="1F2937"/>
                          </a:solidFill>
                          <a:latin typeface="Arial"/>
                        </a:rPr>
                        <a:t>EM</a:t>
                      </a:r>
                      <a:endParaRPr sz="800"/>
                    </a:p>
                  </a:txBody>
                  <a:tcPr marL="36576" marR="36576" marT="0" marB="0" anchor="ctr">
                    <a:noFill/>
                  </a:tcPr>
                </a:tc>
                <a:tc>
                  <a:txBody>
                    <a:bodyPr wrap="none"/>
                    <a:lstStyle/>
                    <a:p>
                      <a:pPr algn="r"/>
                      <a:r>
                        <a:rPr sz="800" b="0" i="0">
                          <a:solidFill>
                            <a:srgbClr val="1F2937"/>
                          </a:solidFill>
                          <a:latin typeface="Arial"/>
                        </a:rPr>
                        <a:t>0.0491</a:t>
                      </a:r>
                      <a:endParaRPr sz="800"/>
                    </a:p>
                  </a:txBody>
                  <a:tcPr marL="36576" marR="36576" marT="0" marB="0" anchor="ctr">
                    <a:noFill/>
                  </a:tcPr>
                </a:tc>
                <a:tc>
                  <a:txBody>
                    <a:bodyPr wrap="none"/>
                    <a:lstStyle/>
                    <a:p>
                      <a:pPr algn="r"/>
                      <a:r>
                        <a:rPr sz="800" b="0" i="0">
                          <a:solidFill>
                            <a:srgbClr val="1F2937"/>
                          </a:solidFill>
                          <a:latin typeface="Arial"/>
                        </a:rPr>
                        <a:t>0.0493</a:t>
                      </a:r>
                      <a:endParaRPr sz="800"/>
                    </a:p>
                  </a:txBody>
                  <a:tcPr marL="36576" marR="36576" marT="0" marB="0" anchor="ctr">
                    <a:noFill/>
                  </a:tcPr>
                </a:tc>
                <a:tc>
                  <a:txBody>
                    <a:bodyPr wrap="none"/>
                    <a:lstStyle/>
                    <a:p>
                      <a:pPr algn="r"/>
                      <a:r>
                        <a:rPr sz="800" b="0" i="0">
                          <a:solidFill>
                            <a:srgbClr val="1F2937"/>
                          </a:solidFill>
                          <a:latin typeface="Arial"/>
                        </a:rPr>
                        <a:t>0.0623</a:t>
                      </a:r>
                      <a:endParaRPr sz="800"/>
                    </a:p>
                  </a:txBody>
                  <a:tcPr marL="36576" marR="36576" marT="0" marB="0" anchor="ctr">
                    <a:noFill/>
                  </a:tcPr>
                </a:tc>
                <a:tc>
                  <a:txBody>
                    <a:bodyPr wrap="none"/>
                    <a:lstStyle/>
                    <a:p>
                      <a:pPr algn="r"/>
                      <a:r>
                        <a:rPr sz="800" b="0" i="0">
                          <a:solidFill>
                            <a:srgbClr val="1F2937"/>
                          </a:solidFill>
                          <a:latin typeface="Arial"/>
                        </a:rPr>
                        <a:t>0.0607</a:t>
                      </a:r>
                      <a:endParaRPr sz="800"/>
                    </a:p>
                  </a:txBody>
                  <a:tcPr marL="36576" marR="36576" marT="0" marB="0" anchor="ctr">
                    <a:noFill/>
                  </a:tcPr>
                </a:tc>
                <a:tc>
                  <a:txBody>
                    <a:bodyPr wrap="none"/>
                    <a:lstStyle/>
                    <a:p>
                      <a:pPr algn="r"/>
                      <a:r>
                        <a:rPr sz="800" b="0" i="0">
                          <a:solidFill>
                            <a:srgbClr val="1F2937"/>
                          </a:solidFill>
                          <a:latin typeface="Arial"/>
                        </a:rPr>
                        <a:t>0.2130</a:t>
                      </a:r>
                      <a:endParaRPr sz="800"/>
                    </a:p>
                  </a:txBody>
                  <a:tcPr marL="36576" marR="36576" marT="0" marB="0" anchor="ctr">
                    <a:noFill/>
                  </a:tcPr>
                </a:tc>
                <a:tc>
                  <a:txBody>
                    <a:bodyPr wrap="none"/>
                    <a:lstStyle/>
                    <a:p>
                      <a:pPr algn="r"/>
                      <a:r>
                        <a:rPr sz="800" b="0" i="0">
                          <a:solidFill>
                            <a:srgbClr val="1F2937"/>
                          </a:solidFill>
                          <a:latin typeface="Arial"/>
                        </a:rPr>
                        <a:t>0.0491</a:t>
                      </a:r>
                      <a:endParaRPr sz="800"/>
                    </a:p>
                  </a:txBody>
                  <a:tcPr marL="36576" marR="36576" marT="0" marB="0" anchor="ctr">
                    <a:noFill/>
                  </a:tcPr>
                </a:tc>
                <a:tc>
                  <a:txBody>
                    <a:bodyPr wrap="none"/>
                    <a:lstStyle/>
                    <a:p>
                      <a:pPr algn="r"/>
                      <a:r>
                        <a:rPr sz="800" b="0" i="0">
                          <a:solidFill>
                            <a:srgbClr val="1F2937"/>
                          </a:solidFill>
                          <a:latin typeface="Arial"/>
                        </a:rPr>
                        <a:t>0.0499</a:t>
                      </a:r>
                      <a:endParaRPr sz="800"/>
                    </a:p>
                  </a:txBody>
                  <a:tcPr marL="36576" marR="36576" marT="0" marB="0" anchor="ctr">
                    <a:noFill/>
                  </a:tcPr>
                </a:tc>
                <a:tc>
                  <a:txBody>
                    <a:bodyPr wrap="none"/>
                    <a:lstStyle/>
                    <a:p>
                      <a:pPr algn="r"/>
                      <a:r>
                        <a:rPr sz="800" b="0" i="0">
                          <a:solidFill>
                            <a:srgbClr val="1F2937"/>
                          </a:solidFill>
                          <a:latin typeface="Arial"/>
                        </a:rPr>
                        <a:t>0.0539</a:t>
                      </a:r>
                      <a:endParaRPr sz="800"/>
                    </a:p>
                  </a:txBody>
                  <a:tcPr marL="36576" marR="36576" marT="0" marB="0" anchor="ctr">
                    <a:noFill/>
                  </a:tcPr>
                </a:tc>
                <a:tc>
                  <a:txBody>
                    <a:bodyPr wrap="none"/>
                    <a:lstStyle/>
                    <a:p>
                      <a:pPr algn="r"/>
                      <a:r>
                        <a:rPr sz="800" b="0" i="0">
                          <a:solidFill>
                            <a:srgbClr val="1F2937"/>
                          </a:solidFill>
                          <a:latin typeface="Arial"/>
                        </a:rPr>
                        <a:t>0.0598</a:t>
                      </a:r>
                      <a:endParaRPr sz="800"/>
                    </a:p>
                  </a:txBody>
                  <a:tcPr marL="36576" marR="36576" marT="0" marB="0" anchor="ctr">
                    <a:noFill/>
                  </a:tcPr>
                </a:tc>
                <a:tc>
                  <a:txBody>
                    <a:bodyPr wrap="none"/>
                    <a:lstStyle/>
                    <a:p>
                      <a:pPr algn="r"/>
                      <a:r>
                        <a:rPr sz="800" b="0" i="0">
                          <a:solidFill>
                            <a:srgbClr val="1F2937"/>
                          </a:solidFill>
                          <a:latin typeface="Arial"/>
                        </a:rPr>
                        <a:t>0.1460</a:t>
                      </a:r>
                      <a:endParaRPr sz="800"/>
                    </a:p>
                  </a:txBody>
                  <a:tcPr marL="36576" marR="36576" marT="0" marB="0" anchor="ctr">
                    <a:noFill/>
                  </a:tcPr>
                </a:tc>
                <a:tc>
                  <a:txBody>
                    <a:bodyPr wrap="none"/>
                    <a:lstStyle/>
                    <a:p>
                      <a:pPr algn="r"/>
                      <a:r>
                        <a:rPr sz="800" b="0" i="0">
                          <a:solidFill>
                            <a:srgbClr val="1F2937"/>
                          </a:solidFill>
                          <a:latin typeface="Arial"/>
                        </a:rPr>
                        <a:t>0.0478</a:t>
                      </a:r>
                      <a:endParaRPr sz="800"/>
                    </a:p>
                  </a:txBody>
                  <a:tcPr marL="36576" marR="36576" marT="0" marB="0" anchor="ctr">
                    <a:noFill/>
                  </a:tcPr>
                </a:tc>
                <a:tc>
                  <a:txBody>
                    <a:bodyPr wrap="none"/>
                    <a:lstStyle/>
                    <a:p>
                      <a:pPr algn="r"/>
                      <a:r>
                        <a:rPr sz="800" b="0" i="0">
                          <a:solidFill>
                            <a:srgbClr val="1F2937"/>
                          </a:solidFill>
                          <a:latin typeface="Arial"/>
                        </a:rPr>
                        <a:t>0.0480</a:t>
                      </a:r>
                      <a:endParaRPr sz="800"/>
                    </a:p>
                  </a:txBody>
                  <a:tcPr marL="36576" marR="36576" marT="0" marB="0" anchor="ctr">
                    <a:noFill/>
                  </a:tcPr>
                </a:tc>
                <a:tc>
                  <a:txBody>
                    <a:bodyPr wrap="none"/>
                    <a:lstStyle/>
                    <a:p>
                      <a:pPr algn="r"/>
                      <a:r>
                        <a:rPr sz="800" b="0" i="0">
                          <a:solidFill>
                            <a:srgbClr val="1F2937"/>
                          </a:solidFill>
                          <a:latin typeface="Arial"/>
                        </a:rPr>
                        <a:t>0.0545</a:t>
                      </a:r>
                      <a:endParaRPr sz="800"/>
                    </a:p>
                  </a:txBody>
                  <a:tcPr marL="36576" marR="36576" marT="0" marB="0" anchor="ctr">
                    <a:noFill/>
                  </a:tcPr>
                </a:tc>
                <a:tc>
                  <a:txBody>
                    <a:bodyPr wrap="none"/>
                    <a:lstStyle/>
                    <a:p>
                      <a:pPr algn="r"/>
                      <a:r>
                        <a:rPr sz="800" b="0" i="0">
                          <a:solidFill>
                            <a:srgbClr val="1F2937"/>
                          </a:solidFill>
                          <a:latin typeface="Arial"/>
                        </a:rPr>
                        <a:t>0.0568</a:t>
                      </a:r>
                      <a:endParaRPr sz="800"/>
                    </a:p>
                  </a:txBody>
                  <a:tcPr marL="36576" marR="36576" marT="0" marB="0" anchor="ctr">
                    <a:noFill/>
                  </a:tcPr>
                </a:tc>
                <a:tc>
                  <a:txBody>
                    <a:bodyPr wrap="none"/>
                    <a:lstStyle/>
                    <a:p>
                      <a:pPr algn="r"/>
                      <a:r>
                        <a:rPr sz="800" b="0" i="0">
                          <a:solidFill>
                            <a:srgbClr val="1F2937"/>
                          </a:solidFill>
                          <a:latin typeface="Arial"/>
                        </a:rPr>
                        <a:t>0.0245</a:t>
                      </a:r>
                      <a:endParaRPr sz="800"/>
                    </a:p>
                  </a:txBody>
                  <a:tcPr marL="36576" marR="36576" marT="0" marB="0" anchor="ctr">
                    <a:noFill/>
                  </a:tcPr>
                </a:tc>
              </a:tr>
              <a:tr h="208483">
                <a:tc>
                  <a:txBody>
                    <a:bodyPr wrap="none"/>
                    <a:lstStyle/>
                    <a:p>
                      <a:pPr algn="l"/>
                      <a:r>
                        <a:rPr sz="800" b="0" i="0">
                          <a:solidFill>
                            <a:srgbClr val="1F2937"/>
                          </a:solidFill>
                          <a:latin typeface="Arial"/>
                        </a:rPr>
                        <a:t>BRITS</a:t>
                      </a:r>
                      <a:endParaRPr sz="800"/>
                    </a:p>
                  </a:txBody>
                  <a:tcPr marL="36576" marR="36576" marT="0" marB="0" anchor="ctr">
                    <a:noFill/>
                  </a:tcPr>
                </a:tc>
                <a:tc>
                  <a:txBody>
                    <a:bodyPr wrap="none"/>
                    <a:lstStyle/>
                    <a:p>
                      <a:pPr algn="r"/>
                      <a:r>
                        <a:rPr sz="800" b="0" i="0">
                          <a:solidFill>
                            <a:srgbClr val="1F2937"/>
                          </a:solidFill>
                          <a:latin typeface="Arial"/>
                        </a:rPr>
                        <a:t>0.0492</a:t>
                      </a:r>
                      <a:endParaRPr sz="800"/>
                    </a:p>
                  </a:txBody>
                  <a:tcPr marL="36576" marR="36576" marT="0" marB="0" anchor="ctr">
                    <a:noFill/>
                  </a:tcPr>
                </a:tc>
                <a:tc>
                  <a:txBody>
                    <a:bodyPr wrap="none"/>
                    <a:lstStyle/>
                    <a:p>
                      <a:pPr algn="r"/>
                      <a:r>
                        <a:rPr sz="800" b="0" i="0">
                          <a:solidFill>
                            <a:srgbClr val="1F2937"/>
                          </a:solidFill>
                          <a:latin typeface="Arial"/>
                        </a:rPr>
                        <a:t>0.0487</a:t>
                      </a:r>
                      <a:endParaRPr sz="800"/>
                    </a:p>
                  </a:txBody>
                  <a:tcPr marL="36576" marR="36576" marT="0" marB="0" anchor="ctr">
                    <a:noFill/>
                  </a:tcPr>
                </a:tc>
                <a:tc>
                  <a:txBody>
                    <a:bodyPr wrap="none"/>
                    <a:lstStyle/>
                    <a:p>
                      <a:pPr algn="r"/>
                      <a:r>
                        <a:rPr sz="800" b="0" i="0">
                          <a:solidFill>
                            <a:srgbClr val="1F2937"/>
                          </a:solidFill>
                          <a:latin typeface="Arial"/>
                        </a:rPr>
                        <a:t>0.0597</a:t>
                      </a:r>
                      <a:endParaRPr sz="800"/>
                    </a:p>
                  </a:txBody>
                  <a:tcPr marL="36576" marR="36576" marT="0" marB="0" anchor="ctr">
                    <a:noFill/>
                  </a:tcPr>
                </a:tc>
                <a:tc>
                  <a:txBody>
                    <a:bodyPr wrap="none"/>
                    <a:lstStyle/>
                    <a:p>
                      <a:pPr algn="r"/>
                      <a:r>
                        <a:rPr sz="800" b="0" i="0">
                          <a:solidFill>
                            <a:srgbClr val="1F2937"/>
                          </a:solidFill>
                          <a:latin typeface="Arial"/>
                        </a:rPr>
                        <a:t>0.0577</a:t>
                      </a:r>
                      <a:endParaRPr sz="800"/>
                    </a:p>
                  </a:txBody>
                  <a:tcPr marL="36576" marR="36576" marT="0" marB="0" anchor="ctr">
                    <a:noFill/>
                  </a:tcPr>
                </a:tc>
                <a:tc>
                  <a:txBody>
                    <a:bodyPr wrap="none"/>
                    <a:lstStyle/>
                    <a:p>
                      <a:pPr algn="r"/>
                      <a:r>
                        <a:rPr sz="800" b="0" i="0">
                          <a:solidFill>
                            <a:srgbClr val="1F2937"/>
                          </a:solidFill>
                          <a:latin typeface="Arial"/>
                        </a:rPr>
                        <a:t>0.1852</a:t>
                      </a:r>
                      <a:endParaRPr sz="800"/>
                    </a:p>
                  </a:txBody>
                  <a:tcPr marL="36576" marR="36576" marT="0" marB="0" anchor="ctr">
                    <a:noFill/>
                  </a:tcPr>
                </a:tc>
                <a:tc>
                  <a:txBody>
                    <a:bodyPr wrap="none"/>
                    <a:lstStyle/>
                    <a:p>
                      <a:pPr algn="r"/>
                      <a:r>
                        <a:rPr sz="800" b="0" i="0">
                          <a:solidFill>
                            <a:srgbClr val="1F2937"/>
                          </a:solidFill>
                          <a:latin typeface="Arial"/>
                        </a:rPr>
                        <a:t>0.0490</a:t>
                      </a:r>
                      <a:endParaRPr sz="800"/>
                    </a:p>
                  </a:txBody>
                  <a:tcPr marL="36576" marR="36576" marT="0" marB="0" anchor="ctr">
                    <a:noFill/>
                  </a:tcPr>
                </a:tc>
                <a:tc>
                  <a:txBody>
                    <a:bodyPr wrap="none"/>
                    <a:lstStyle/>
                    <a:p>
                      <a:pPr algn="r"/>
                      <a:r>
                        <a:rPr sz="800" b="0" i="0">
                          <a:solidFill>
                            <a:srgbClr val="1F2937"/>
                          </a:solidFill>
                          <a:latin typeface="Arial"/>
                        </a:rPr>
                        <a:t>0.0494</a:t>
                      </a:r>
                      <a:endParaRPr sz="800"/>
                    </a:p>
                  </a:txBody>
                  <a:tcPr marL="36576" marR="36576" marT="0" marB="0" anchor="ctr">
                    <a:noFill/>
                  </a:tcPr>
                </a:tc>
                <a:tc>
                  <a:txBody>
                    <a:bodyPr wrap="none"/>
                    <a:lstStyle/>
                    <a:p>
                      <a:pPr algn="r"/>
                      <a:r>
                        <a:rPr sz="800" b="0" i="0">
                          <a:solidFill>
                            <a:srgbClr val="1F2937"/>
                          </a:solidFill>
                          <a:latin typeface="Arial"/>
                        </a:rPr>
                        <a:t>0.0540</a:t>
                      </a:r>
                      <a:endParaRPr sz="800"/>
                    </a:p>
                  </a:txBody>
                  <a:tcPr marL="36576" marR="36576" marT="0" marB="0" anchor="ctr">
                    <a:noFill/>
                  </a:tcPr>
                </a:tc>
                <a:tc>
                  <a:txBody>
                    <a:bodyPr wrap="none"/>
                    <a:lstStyle/>
                    <a:p>
                      <a:pPr algn="r"/>
                      <a:r>
                        <a:rPr sz="800" b="0" i="0">
                          <a:solidFill>
                            <a:srgbClr val="1F2937"/>
                          </a:solidFill>
                          <a:latin typeface="Arial"/>
                        </a:rPr>
                        <a:t>0.0529</a:t>
                      </a:r>
                      <a:endParaRPr sz="800"/>
                    </a:p>
                  </a:txBody>
                  <a:tcPr marL="36576" marR="36576" marT="0" marB="0" anchor="ctr">
                    <a:noFill/>
                  </a:tcPr>
                </a:tc>
                <a:tc>
                  <a:txBody>
                    <a:bodyPr wrap="none"/>
                    <a:lstStyle/>
                    <a:p>
                      <a:pPr algn="r"/>
                      <a:r>
                        <a:rPr sz="800" b="0" i="0">
                          <a:solidFill>
                            <a:srgbClr val="1F2937"/>
                          </a:solidFill>
                          <a:latin typeface="Arial"/>
                        </a:rPr>
                        <a:t>0.1098</a:t>
                      </a:r>
                      <a:endParaRPr sz="800"/>
                    </a:p>
                  </a:txBody>
                  <a:tcPr marL="36576" marR="36576" marT="0" marB="0" anchor="ctr">
                    <a:noFill/>
                  </a:tcPr>
                </a:tc>
                <a:tc>
                  <a:txBody>
                    <a:bodyPr wrap="none"/>
                    <a:lstStyle/>
                    <a:p>
                      <a:pPr algn="r"/>
                      <a:r>
                        <a:rPr sz="800" b="0" i="0">
                          <a:solidFill>
                            <a:srgbClr val="1F2937"/>
                          </a:solidFill>
                          <a:latin typeface="Arial"/>
                        </a:rPr>
                        <a:t>0.0452</a:t>
                      </a:r>
                      <a:endParaRPr sz="800"/>
                    </a:p>
                  </a:txBody>
                  <a:tcPr marL="36576" marR="36576" marT="0" marB="0" anchor="ctr">
                    <a:noFill/>
                  </a:tcPr>
                </a:tc>
                <a:tc>
                  <a:txBody>
                    <a:bodyPr wrap="none"/>
                    <a:lstStyle/>
                    <a:p>
                      <a:pPr algn="r"/>
                      <a:r>
                        <a:rPr sz="800" b="0" i="0">
                          <a:solidFill>
                            <a:srgbClr val="1F2937"/>
                          </a:solidFill>
                          <a:latin typeface="Arial"/>
                        </a:rPr>
                        <a:t>0.0476</a:t>
                      </a:r>
                      <a:endParaRPr sz="800"/>
                    </a:p>
                  </a:txBody>
                  <a:tcPr marL="36576" marR="36576" marT="0" marB="0" anchor="ctr">
                    <a:noFill/>
                  </a:tcPr>
                </a:tc>
                <a:tc>
                  <a:txBody>
                    <a:bodyPr wrap="none"/>
                    <a:lstStyle/>
                    <a:p>
                      <a:pPr algn="r"/>
                      <a:r>
                        <a:rPr sz="800" b="0" i="0">
                          <a:solidFill>
                            <a:srgbClr val="1F2937"/>
                          </a:solidFill>
                          <a:latin typeface="Arial"/>
                        </a:rPr>
                        <a:t>0.0536</a:t>
                      </a:r>
                      <a:endParaRPr sz="800"/>
                    </a:p>
                  </a:txBody>
                  <a:tcPr marL="36576" marR="36576" marT="0" marB="0" anchor="ctr">
                    <a:noFill/>
                  </a:tcPr>
                </a:tc>
                <a:tc>
                  <a:txBody>
                    <a:bodyPr wrap="none"/>
                    <a:lstStyle/>
                    <a:p>
                      <a:pPr algn="r"/>
                      <a:r>
                        <a:rPr sz="800" b="0" i="0">
                          <a:solidFill>
                            <a:srgbClr val="1F2937"/>
                          </a:solidFill>
                          <a:latin typeface="Arial"/>
                        </a:rPr>
                        <a:t>0.0347</a:t>
                      </a:r>
                      <a:endParaRPr sz="800"/>
                    </a:p>
                  </a:txBody>
                  <a:tcPr marL="36576" marR="36576" marT="0" marB="0" anchor="ctr">
                    <a:noFill/>
                  </a:tcPr>
                </a:tc>
                <a:tc>
                  <a:txBody>
                    <a:bodyPr wrap="none"/>
                    <a:lstStyle/>
                    <a:p>
                      <a:pPr algn="r"/>
                      <a:r>
                        <a:rPr sz="800" b="0" i="0">
                          <a:solidFill>
                            <a:srgbClr val="1F2937"/>
                          </a:solidFill>
                          <a:latin typeface="Arial"/>
                        </a:rPr>
                        <a:t>0.0255</a:t>
                      </a:r>
                      <a:endParaRPr sz="800"/>
                    </a:p>
                  </a:txBody>
                  <a:tcPr marL="36576" marR="36576" marT="0" marB="0" anchor="ctr">
                    <a:noFill/>
                  </a:tcPr>
                </a:tc>
              </a:tr>
              <a:tr h="208483">
                <a:tc>
                  <a:txBody>
                    <a:bodyPr wrap="none"/>
                    <a:lstStyle/>
                    <a:p>
                      <a:pPr algn="l"/>
                      <a:r>
                        <a:rPr sz="800" b="0" i="0">
                          <a:solidFill>
                            <a:srgbClr val="1F2937"/>
                          </a:solidFill>
                          <a:latin typeface="Arial"/>
                        </a:rPr>
                        <a:t>CSDI</a:t>
                      </a:r>
                      <a:endParaRPr sz="800"/>
                    </a:p>
                  </a:txBody>
                  <a:tcPr marL="36576" marR="36576" marT="0" marB="0" anchor="ctr">
                    <a:lnB w="15875">
                      <a:solidFill>
                        <a:srgbClr val="14213D"/>
                      </a:solidFill>
                    </a:lnB>
                    <a:noFill/>
                  </a:tcPr>
                </a:tc>
                <a:tc>
                  <a:txBody>
                    <a:bodyPr wrap="none"/>
                    <a:lstStyle/>
                    <a:p>
                      <a:pPr algn="r"/>
                      <a:r>
                        <a:rPr sz="800" b="0" i="0">
                          <a:solidFill>
                            <a:srgbClr val="1F2937"/>
                          </a:solidFill>
                          <a:latin typeface="Arial"/>
                        </a:rPr>
                        <a:t>0.0489</a:t>
                      </a:r>
                      <a:endParaRPr sz="800"/>
                    </a:p>
                  </a:txBody>
                  <a:tcPr marL="36576" marR="36576" marT="0" marB="0" anchor="ctr">
                    <a:lnB w="15875">
                      <a:solidFill>
                        <a:srgbClr val="14213D"/>
                      </a:solidFill>
                    </a:lnB>
                    <a:noFill/>
                  </a:tcPr>
                </a:tc>
                <a:tc>
                  <a:txBody>
                    <a:bodyPr wrap="none"/>
                    <a:lstStyle/>
                    <a:p>
                      <a:pPr algn="r"/>
                      <a:r>
                        <a:rPr sz="800" b="0" i="0">
                          <a:solidFill>
                            <a:srgbClr val="1F2937"/>
                          </a:solidFill>
                          <a:latin typeface="Arial"/>
                        </a:rPr>
                        <a:t>0.0492</a:t>
                      </a:r>
                      <a:endParaRPr sz="800"/>
                    </a:p>
                  </a:txBody>
                  <a:tcPr marL="36576" marR="36576" marT="0" marB="0" anchor="ctr">
                    <a:lnB w="15875">
                      <a:solidFill>
                        <a:srgbClr val="14213D"/>
                      </a:solidFill>
                    </a:lnB>
                    <a:noFill/>
                  </a:tcPr>
                </a:tc>
                <a:tc>
                  <a:txBody>
                    <a:bodyPr wrap="none"/>
                    <a:lstStyle/>
                    <a:p>
                      <a:pPr algn="r"/>
                      <a:r>
                        <a:rPr sz="800" b="0" i="0">
                          <a:solidFill>
                            <a:srgbClr val="1F2937"/>
                          </a:solidFill>
                          <a:latin typeface="Arial"/>
                        </a:rPr>
                        <a:t>0.0627</a:t>
                      </a:r>
                      <a:endParaRPr sz="800"/>
                    </a:p>
                  </a:txBody>
                  <a:tcPr marL="36576" marR="36576" marT="0" marB="0" anchor="ctr">
                    <a:lnB w="15875">
                      <a:solidFill>
                        <a:srgbClr val="14213D"/>
                      </a:solidFill>
                    </a:lnB>
                    <a:noFill/>
                  </a:tcPr>
                </a:tc>
                <a:tc>
                  <a:txBody>
                    <a:bodyPr wrap="none"/>
                    <a:lstStyle/>
                    <a:p>
                      <a:pPr algn="r"/>
                      <a:r>
                        <a:rPr sz="800" b="0" i="0">
                          <a:solidFill>
                            <a:srgbClr val="1F2937"/>
                          </a:solidFill>
                          <a:latin typeface="Arial"/>
                        </a:rPr>
                        <a:t>0.0597</a:t>
                      </a:r>
                      <a:endParaRPr sz="800"/>
                    </a:p>
                  </a:txBody>
                  <a:tcPr marL="36576" marR="36576" marT="0" marB="0" anchor="ctr">
                    <a:lnB w="15875">
                      <a:solidFill>
                        <a:srgbClr val="14213D"/>
                      </a:solidFill>
                    </a:lnB>
                    <a:noFill/>
                  </a:tcPr>
                </a:tc>
                <a:tc>
                  <a:txBody>
                    <a:bodyPr wrap="none"/>
                    <a:lstStyle/>
                    <a:p>
                      <a:pPr algn="r"/>
                      <a:r>
                        <a:rPr sz="800" b="0" i="0">
                          <a:solidFill>
                            <a:srgbClr val="1F2937"/>
                          </a:solidFill>
                          <a:latin typeface="Arial"/>
                        </a:rPr>
                        <a:t>0.1723</a:t>
                      </a:r>
                      <a:endParaRPr sz="800"/>
                    </a:p>
                  </a:txBody>
                  <a:tcPr marL="36576" marR="36576" marT="0" marB="0" anchor="ctr">
                    <a:lnB w="15875">
                      <a:solidFill>
                        <a:srgbClr val="14213D"/>
                      </a:solidFill>
                    </a:lnB>
                    <a:noFill/>
                  </a:tcPr>
                </a:tc>
                <a:tc>
                  <a:txBody>
                    <a:bodyPr wrap="none"/>
                    <a:lstStyle/>
                    <a:p>
                      <a:pPr algn="r"/>
                      <a:r>
                        <a:rPr sz="800" b="0" i="0">
                          <a:solidFill>
                            <a:srgbClr val="1F2937"/>
                          </a:solidFill>
                          <a:latin typeface="Arial"/>
                        </a:rPr>
                        <a:t>0.0489</a:t>
                      </a:r>
                      <a:endParaRPr sz="800"/>
                    </a:p>
                  </a:txBody>
                  <a:tcPr marL="36576" marR="36576" marT="0" marB="0" anchor="ctr">
                    <a:lnB w="15875">
                      <a:solidFill>
                        <a:srgbClr val="14213D"/>
                      </a:solidFill>
                    </a:lnB>
                    <a:noFill/>
                  </a:tcPr>
                </a:tc>
                <a:tc>
                  <a:txBody>
                    <a:bodyPr wrap="none"/>
                    <a:lstStyle/>
                    <a:p>
                      <a:pPr algn="r"/>
                      <a:r>
                        <a:rPr sz="800" b="0" i="0">
                          <a:solidFill>
                            <a:srgbClr val="1F2937"/>
                          </a:solidFill>
                          <a:latin typeface="Arial"/>
                        </a:rPr>
                        <a:t>0.0499</a:t>
                      </a:r>
                      <a:endParaRPr sz="800"/>
                    </a:p>
                  </a:txBody>
                  <a:tcPr marL="36576" marR="36576" marT="0" marB="0" anchor="ctr">
                    <a:lnB w="15875">
                      <a:solidFill>
                        <a:srgbClr val="14213D"/>
                      </a:solidFill>
                    </a:lnB>
                    <a:noFill/>
                  </a:tcPr>
                </a:tc>
                <a:tc>
                  <a:txBody>
                    <a:bodyPr wrap="none"/>
                    <a:lstStyle/>
                    <a:p>
                      <a:pPr algn="r"/>
                      <a:r>
                        <a:rPr sz="800" b="0" i="0">
                          <a:solidFill>
                            <a:srgbClr val="1F2937"/>
                          </a:solidFill>
                          <a:latin typeface="Arial"/>
                        </a:rPr>
                        <a:t>0.0555</a:t>
                      </a:r>
                      <a:endParaRPr sz="800"/>
                    </a:p>
                  </a:txBody>
                  <a:tcPr marL="36576" marR="36576" marT="0" marB="0" anchor="ctr">
                    <a:lnB w="15875">
                      <a:solidFill>
                        <a:srgbClr val="14213D"/>
                      </a:solidFill>
                    </a:lnB>
                    <a:noFill/>
                  </a:tcPr>
                </a:tc>
                <a:tc>
                  <a:txBody>
                    <a:bodyPr wrap="none"/>
                    <a:lstStyle/>
                    <a:p>
                      <a:pPr algn="r"/>
                      <a:r>
                        <a:rPr sz="800" b="0" i="0">
                          <a:solidFill>
                            <a:srgbClr val="1F2937"/>
                          </a:solidFill>
                          <a:latin typeface="Arial"/>
                        </a:rPr>
                        <a:t>0.0611</a:t>
                      </a:r>
                      <a:endParaRPr sz="800"/>
                    </a:p>
                  </a:txBody>
                  <a:tcPr marL="36576" marR="36576" marT="0" marB="0" anchor="ctr">
                    <a:lnB w="15875">
                      <a:solidFill>
                        <a:srgbClr val="14213D"/>
                      </a:solidFill>
                    </a:lnB>
                    <a:noFill/>
                  </a:tcPr>
                </a:tc>
                <a:tc>
                  <a:txBody>
                    <a:bodyPr wrap="none"/>
                    <a:lstStyle/>
                    <a:p>
                      <a:pPr algn="r"/>
                      <a:r>
                        <a:rPr sz="800" b="0" i="0">
                          <a:solidFill>
                            <a:srgbClr val="1F2937"/>
                          </a:solidFill>
                          <a:latin typeface="Arial"/>
                        </a:rPr>
                        <a:t>0.2937</a:t>
                      </a:r>
                      <a:endParaRPr sz="800"/>
                    </a:p>
                  </a:txBody>
                  <a:tcPr marL="36576" marR="36576" marT="0" marB="0" anchor="ctr">
                    <a:lnB w="15875">
                      <a:solidFill>
                        <a:srgbClr val="14213D"/>
                      </a:solidFill>
                    </a:lnB>
                    <a:noFill/>
                  </a:tcPr>
                </a:tc>
                <a:tc>
                  <a:txBody>
                    <a:bodyPr wrap="none"/>
                    <a:lstStyle/>
                    <a:p>
                      <a:pPr algn="r"/>
                      <a:r>
                        <a:rPr sz="800" b="0" i="0">
                          <a:solidFill>
                            <a:srgbClr val="1F2937"/>
                          </a:solidFill>
                          <a:latin typeface="Arial"/>
                        </a:rPr>
                        <a:t>0.0487</a:t>
                      </a:r>
                      <a:endParaRPr sz="800"/>
                    </a:p>
                  </a:txBody>
                  <a:tcPr marL="36576" marR="36576" marT="0" marB="0" anchor="ctr">
                    <a:lnB w="15875">
                      <a:solidFill>
                        <a:srgbClr val="14213D"/>
                      </a:solidFill>
                    </a:lnB>
                    <a:noFill/>
                  </a:tcPr>
                </a:tc>
                <a:tc>
                  <a:txBody>
                    <a:bodyPr wrap="none"/>
                    <a:lstStyle/>
                    <a:p>
                      <a:pPr algn="r"/>
                      <a:r>
                        <a:rPr sz="800" b="0" i="0">
                          <a:solidFill>
                            <a:srgbClr val="1F2937"/>
                          </a:solidFill>
                          <a:latin typeface="Arial"/>
                        </a:rPr>
                        <a:t>0.0572</a:t>
                      </a:r>
                      <a:endParaRPr sz="800"/>
                    </a:p>
                  </a:txBody>
                  <a:tcPr marL="36576" marR="36576" marT="0" marB="0" anchor="ctr">
                    <a:lnB w="15875">
                      <a:solidFill>
                        <a:srgbClr val="14213D"/>
                      </a:solidFill>
                    </a:lnB>
                    <a:noFill/>
                  </a:tcPr>
                </a:tc>
                <a:tc>
                  <a:txBody>
                    <a:bodyPr wrap="none"/>
                    <a:lstStyle/>
                    <a:p>
                      <a:pPr algn="r"/>
                      <a:r>
                        <a:rPr sz="800" b="0" i="0">
                          <a:solidFill>
                            <a:srgbClr val="1F2937"/>
                          </a:solidFill>
                          <a:latin typeface="Arial"/>
                        </a:rPr>
                        <a:t>0.0615</a:t>
                      </a:r>
                      <a:endParaRPr sz="800"/>
                    </a:p>
                  </a:txBody>
                  <a:tcPr marL="36576" marR="36576" marT="0" marB="0" anchor="ctr">
                    <a:lnB w="15875">
                      <a:solidFill>
                        <a:srgbClr val="14213D"/>
                      </a:solidFill>
                    </a:lnB>
                    <a:noFill/>
                  </a:tcPr>
                </a:tc>
                <a:tc>
                  <a:txBody>
                    <a:bodyPr wrap="none"/>
                    <a:lstStyle/>
                    <a:p>
                      <a:pPr algn="r"/>
                      <a:r>
                        <a:rPr sz="800" b="0" i="0">
                          <a:solidFill>
                            <a:srgbClr val="1F2937"/>
                          </a:solidFill>
                          <a:latin typeface="Arial"/>
                        </a:rPr>
                        <a:t>0.0551</a:t>
                      </a:r>
                      <a:endParaRPr sz="800"/>
                    </a:p>
                  </a:txBody>
                  <a:tcPr marL="36576" marR="36576" marT="0" marB="0" anchor="ctr">
                    <a:lnB w="15875">
                      <a:solidFill>
                        <a:srgbClr val="14213D"/>
                      </a:solidFill>
                    </a:lnB>
                    <a:noFill/>
                  </a:tcPr>
                </a:tc>
                <a:tc>
                  <a:txBody>
                    <a:bodyPr wrap="none"/>
                    <a:lstStyle/>
                    <a:p>
                      <a:pPr algn="r"/>
                      <a:r>
                        <a:rPr sz="800" b="0" i="0">
                          <a:solidFill>
                            <a:srgbClr val="1F2937"/>
                          </a:solidFill>
                          <a:latin typeface="Arial"/>
                        </a:rPr>
                        <a:t>0.0266</a:t>
                      </a:r>
                      <a:endParaRPr sz="800"/>
                    </a:p>
                  </a:txBody>
                  <a:tcPr marL="36576" marR="36576" marT="0" marB="0" anchor="ctr">
                    <a:lnB w="15875">
                      <a:solidFill>
                        <a:srgbClr val="14213D"/>
                      </a:solidFill>
                    </a:lnB>
                    <a:no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548640" y="393192"/>
            <a:ext cx="77724" cy="77724"/>
          </a:xfrm>
          <a:prstGeom prst="rect">
            <a:avLst/>
          </a:prstGeom>
          <a:solidFill>
            <a:srgbClr val="C4C9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62940" y="393192"/>
            <a:ext cx="77724" cy="77724"/>
          </a:xfrm>
          <a:prstGeom prst="rect">
            <a:avLst/>
          </a:prstGeom>
          <a:solidFill>
            <a:srgbClr val="C4C9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393192"/>
            <a:ext cx="77724" cy="77724"/>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329184"/>
            <a:ext cx="8229600" cy="274320"/>
          </a:xfrm>
          <a:prstGeom prst="rect">
            <a:avLst/>
          </a:prstGeom>
          <a:noFill/>
        </p:spPr>
        <p:txBody>
          <a:bodyPr wrap="square" lIns="0" rIns="0" tIns="0" bIns="0" anchor="t">
            <a:noAutofit/>
          </a:bodyPr>
          <a:lstStyle/>
          <a:p>
            <a:pPr algn="l">
              <a:spcAft>
                <a:spcPts val="600"/>
              </a:spcAft>
            </a:pPr>
            <a:r>
              <a:rPr sz="1100" b="1" i="0" spc="150">
                <a:solidFill>
                  <a:srgbClr val="E4572E"/>
                </a:solidFill>
                <a:latin typeface="Arial"/>
              </a:rPr>
              <a:t>BACKUP</a:t>
            </a:r>
            <a:endParaRPr sz="1100"/>
          </a:p>
        </p:txBody>
      </p:sp>
      <p:sp>
        <p:nvSpPr>
          <p:cNvPr id="6" name="TextBox 5"/>
          <p:cNvSpPr txBox="1"/>
          <p:nvPr/>
        </p:nvSpPr>
        <p:spPr>
          <a:xfrm>
            <a:off x="548640" y="585216"/>
            <a:ext cx="11091672" cy="411480"/>
          </a:xfrm>
          <a:prstGeom prst="rect">
            <a:avLst/>
          </a:prstGeom>
          <a:noFill/>
        </p:spPr>
        <p:txBody>
          <a:bodyPr wrap="square" lIns="0" rIns="0" tIns="0" bIns="0" anchor="t">
            <a:noAutofit/>
          </a:bodyPr>
          <a:lstStyle/>
          <a:p>
            <a:pPr algn="l">
              <a:spcAft>
                <a:spcPts val="600"/>
              </a:spcAft>
            </a:pPr>
            <a:r>
              <a:rPr sz="1750" b="1" i="0">
                <a:solidFill>
                  <a:srgbClr val="14213D"/>
                </a:solidFill>
                <a:latin typeface="Georgia"/>
              </a:rPr>
              <a:t>Factor structure at every level (Tables 3.7 to 3.9; best D</a:t>
            </a:r>
            <a:r>
              <a:rPr sz="1750" b="1" i="0" baseline="-25000">
                <a:solidFill>
                  <a:srgbClr val="14213D"/>
                </a:solidFill>
                <a:latin typeface="Georgia"/>
              </a:rPr>
              <a:t>5</a:t>
            </a:r>
            <a:r>
              <a:rPr sz="1750" b="1" i="0">
                <a:solidFill>
                  <a:srgbClr val="14213D"/>
                </a:solidFill>
                <a:latin typeface="Georgia"/>
              </a:rPr>
              <a:t> in bold)</a:t>
            </a:r>
            <a:endParaRPr sz="1750"/>
          </a:p>
        </p:txBody>
      </p:sp>
      <p:graphicFrame>
        <p:nvGraphicFramePr>
          <p:cNvPr id="7" name="Table 6"/>
          <p:cNvGraphicFramePr>
            <a:graphicFrameLocks noGrp="1"/>
          </p:cNvGraphicFramePr>
          <p:nvPr/>
        </p:nvGraphicFramePr>
        <p:xfrm>
          <a:off x="548640" y="1051560"/>
          <a:ext cx="11091210" cy="5420558"/>
        </p:xfrm>
        <a:graphic>
          <a:graphicData uri="http://schemas.openxmlformats.org/drawingml/2006/table">
            <a:tbl>
              <a:tblPr firstRow="0" bandRow="0">
                <a:tableStyleId>{2D5ABB26-0587-4C30-8999-92F81FD0307C}</a:tableStyleId>
              </a:tblPr>
              <a:tblGrid>
                <a:gridCol w="2103120"/>
                <a:gridCol w="599206"/>
                <a:gridCol w="599206"/>
                <a:gridCol w="599206"/>
                <a:gridCol w="599206"/>
                <a:gridCol w="599206"/>
                <a:gridCol w="599206"/>
                <a:gridCol w="599206"/>
                <a:gridCol w="599206"/>
                <a:gridCol w="599206"/>
                <a:gridCol w="599206"/>
                <a:gridCol w="599206"/>
                <a:gridCol w="599206"/>
                <a:gridCol w="599206"/>
                <a:gridCol w="599206"/>
                <a:gridCol w="599206"/>
              </a:tblGrid>
              <a:tr h="208483">
                <a:tc>
                  <a:txBody>
                    <a:bodyPr wrap="none"/>
                    <a:lstStyle/>
                    <a:p>
                      <a:pPr algn="l"/>
                      <a:endParaRPr sz="800"/>
                    </a:p>
                  </a:txBody>
                  <a:tcPr marL="36576" marR="36576" marT="0" marB="0" anchor="ctr">
                    <a:lnT w="15875">
                      <a:solidFill>
                        <a:srgbClr val="14213D"/>
                      </a:solidFill>
                    </a:lnT>
                    <a:noFill/>
                  </a:tcPr>
                </a:tc>
                <a:tc gridSpan="5">
                  <a:txBody>
                    <a:bodyPr wrap="none"/>
                    <a:lstStyle/>
                    <a:p>
                      <a:pPr algn="ctr"/>
                      <a:r>
                        <a:rPr sz="800" b="1" i="0">
                          <a:solidFill>
                            <a:srgbClr val="1F2937"/>
                          </a:solidFill>
                          <a:latin typeface="Arial"/>
                        </a:rPr>
                        <a:t>Sparse</a:t>
                      </a:r>
                      <a:endParaRPr sz="800"/>
                    </a:p>
                  </a:txBody>
                  <a:tcPr marL="36576" marR="36576" marT="0" marB="0" anchor="ctr">
                    <a:lnT w="15875">
                      <a:solidFill>
                        <a:srgbClr val="14213D"/>
                      </a:solidFill>
                    </a:lnT>
                    <a:noFill/>
                  </a:tcPr>
                </a:tc>
                <a:tc hMerge="1">
                  <a:txBody>
                    <a:bodyPr wrap="none"/>
                    <a:lstStyle/>
                    <a:p>
                      <a:pPr algn="r"/>
                      <a:endParaRPr sz="800"/>
                    </a:p>
                  </a:txBody>
                  <a:tcPr marL="36576" marR="36576" marT="0" marB="0" anchor="ctr">
                    <a:lnT w="15875">
                      <a:solidFill>
                        <a:srgbClr val="14213D"/>
                      </a:solidFill>
                    </a:lnT>
                    <a:noFill/>
                  </a:tcPr>
                </a:tc>
                <a:tc hMerge="1">
                  <a:txBody>
                    <a:bodyPr wrap="none"/>
                    <a:lstStyle/>
                    <a:p>
                      <a:pPr algn="r"/>
                      <a:endParaRPr sz="800"/>
                    </a:p>
                  </a:txBody>
                  <a:tcPr marL="36576" marR="36576" marT="0" marB="0" anchor="ctr">
                    <a:lnT w="15875">
                      <a:solidFill>
                        <a:srgbClr val="14213D"/>
                      </a:solidFill>
                    </a:lnT>
                    <a:noFill/>
                  </a:tcPr>
                </a:tc>
                <a:tc hMerge="1">
                  <a:txBody>
                    <a:bodyPr wrap="none"/>
                    <a:lstStyle/>
                    <a:p>
                      <a:pPr algn="r"/>
                      <a:endParaRPr sz="800"/>
                    </a:p>
                  </a:txBody>
                  <a:tcPr marL="36576" marR="36576" marT="0" marB="0" anchor="ctr">
                    <a:lnT w="15875">
                      <a:solidFill>
                        <a:srgbClr val="14213D"/>
                      </a:solidFill>
                    </a:lnT>
                    <a:noFill/>
                  </a:tcPr>
                </a:tc>
                <a:tc hMerge="1">
                  <a:txBody>
                    <a:bodyPr wrap="none"/>
                    <a:lstStyle/>
                    <a:p>
                      <a:pPr algn="r"/>
                      <a:endParaRPr sz="800"/>
                    </a:p>
                  </a:txBody>
                  <a:tcPr marL="36576" marR="36576" marT="0" marB="0" anchor="ctr">
                    <a:lnT w="15875">
                      <a:solidFill>
                        <a:srgbClr val="14213D"/>
                      </a:solidFill>
                    </a:lnT>
                    <a:noFill/>
                  </a:tcPr>
                </a:tc>
                <a:tc gridSpan="5">
                  <a:txBody>
                    <a:bodyPr wrap="none"/>
                    <a:lstStyle/>
                    <a:p>
                      <a:pPr algn="ctr"/>
                      <a:r>
                        <a:rPr sz="800" b="1" i="0">
                          <a:solidFill>
                            <a:srgbClr val="1F2937"/>
                          </a:solidFill>
                          <a:latin typeface="Arial"/>
                        </a:rPr>
                        <a:t>Contiguous gaps</a:t>
                      </a:r>
                      <a:endParaRPr sz="800"/>
                    </a:p>
                  </a:txBody>
                  <a:tcPr marL="36576" marR="36576" marT="0" marB="0" anchor="ctr">
                    <a:lnT w="15875">
                      <a:solidFill>
                        <a:srgbClr val="14213D"/>
                      </a:solidFill>
                    </a:lnT>
                    <a:noFill/>
                  </a:tcPr>
                </a:tc>
                <a:tc hMerge="1">
                  <a:txBody>
                    <a:bodyPr wrap="none"/>
                    <a:lstStyle/>
                    <a:p>
                      <a:pPr algn="r"/>
                      <a:endParaRPr sz="800"/>
                    </a:p>
                  </a:txBody>
                  <a:tcPr marL="36576" marR="36576" marT="0" marB="0" anchor="ctr">
                    <a:lnT w="15875">
                      <a:solidFill>
                        <a:srgbClr val="14213D"/>
                      </a:solidFill>
                    </a:lnT>
                    <a:noFill/>
                  </a:tcPr>
                </a:tc>
                <a:tc hMerge="1">
                  <a:txBody>
                    <a:bodyPr wrap="none"/>
                    <a:lstStyle/>
                    <a:p>
                      <a:pPr algn="r"/>
                      <a:endParaRPr sz="800"/>
                    </a:p>
                  </a:txBody>
                  <a:tcPr marL="36576" marR="36576" marT="0" marB="0" anchor="ctr">
                    <a:lnT w="15875">
                      <a:solidFill>
                        <a:srgbClr val="14213D"/>
                      </a:solidFill>
                    </a:lnT>
                    <a:noFill/>
                  </a:tcPr>
                </a:tc>
                <a:tc hMerge="1">
                  <a:txBody>
                    <a:bodyPr wrap="none"/>
                    <a:lstStyle/>
                    <a:p>
                      <a:pPr algn="r"/>
                      <a:endParaRPr sz="800"/>
                    </a:p>
                  </a:txBody>
                  <a:tcPr marL="36576" marR="36576" marT="0" marB="0" anchor="ctr">
                    <a:lnT w="15875">
                      <a:solidFill>
                        <a:srgbClr val="14213D"/>
                      </a:solidFill>
                    </a:lnT>
                    <a:noFill/>
                  </a:tcPr>
                </a:tc>
                <a:tc hMerge="1">
                  <a:txBody>
                    <a:bodyPr wrap="none"/>
                    <a:lstStyle/>
                    <a:p>
                      <a:pPr algn="r"/>
                      <a:endParaRPr sz="800"/>
                    </a:p>
                  </a:txBody>
                  <a:tcPr marL="36576" marR="36576" marT="0" marB="0" anchor="ctr">
                    <a:lnT w="15875">
                      <a:solidFill>
                        <a:srgbClr val="14213D"/>
                      </a:solidFill>
                    </a:lnT>
                    <a:noFill/>
                  </a:tcPr>
                </a:tc>
                <a:tc gridSpan="5">
                  <a:txBody>
                    <a:bodyPr wrap="none"/>
                    <a:lstStyle/>
                    <a:p>
                      <a:pPr algn="ctr"/>
                      <a:r>
                        <a:rPr sz="800" b="1" i="0">
                          <a:solidFill>
                            <a:srgbClr val="1F2937"/>
                          </a:solidFill>
                          <a:latin typeface="Arial"/>
                        </a:rPr>
                        <a:t>Stressed</a:t>
                      </a:r>
                      <a:endParaRPr sz="800"/>
                    </a:p>
                  </a:txBody>
                  <a:tcPr marL="36576" marR="36576" marT="0" marB="0" anchor="ctr">
                    <a:lnT w="15875">
                      <a:solidFill>
                        <a:srgbClr val="14213D"/>
                      </a:solidFill>
                    </a:lnT>
                    <a:noFill/>
                  </a:tcPr>
                </a:tc>
                <a:tc hMerge="1">
                  <a:txBody>
                    <a:bodyPr wrap="none"/>
                    <a:lstStyle/>
                    <a:p>
                      <a:pPr algn="r"/>
                      <a:endParaRPr sz="800"/>
                    </a:p>
                  </a:txBody>
                  <a:tcPr marL="36576" marR="36576" marT="0" marB="0" anchor="ctr">
                    <a:lnT w="15875">
                      <a:solidFill>
                        <a:srgbClr val="14213D"/>
                      </a:solidFill>
                    </a:lnT>
                    <a:noFill/>
                  </a:tcPr>
                </a:tc>
                <a:tc hMerge="1">
                  <a:txBody>
                    <a:bodyPr wrap="none"/>
                    <a:lstStyle/>
                    <a:p>
                      <a:pPr algn="r"/>
                      <a:endParaRPr sz="800"/>
                    </a:p>
                  </a:txBody>
                  <a:tcPr marL="36576" marR="36576" marT="0" marB="0" anchor="ctr">
                    <a:lnT w="15875">
                      <a:solidFill>
                        <a:srgbClr val="14213D"/>
                      </a:solidFill>
                    </a:lnT>
                    <a:noFill/>
                  </a:tcPr>
                </a:tc>
                <a:tc hMerge="1">
                  <a:txBody>
                    <a:bodyPr wrap="none"/>
                    <a:lstStyle/>
                    <a:p>
                      <a:pPr algn="r"/>
                      <a:endParaRPr sz="800"/>
                    </a:p>
                  </a:txBody>
                  <a:tcPr marL="36576" marR="36576" marT="0" marB="0" anchor="ctr">
                    <a:lnT w="15875">
                      <a:solidFill>
                        <a:srgbClr val="14213D"/>
                      </a:solidFill>
                    </a:lnT>
                    <a:noFill/>
                  </a:tcPr>
                </a:tc>
                <a:tc hMerge="1">
                  <a:txBody>
                    <a:bodyPr wrap="none"/>
                    <a:lstStyle/>
                    <a:p>
                      <a:pPr algn="r"/>
                      <a:endParaRPr sz="800"/>
                    </a:p>
                  </a:txBody>
                  <a:tcPr marL="36576" marR="36576" marT="0" marB="0" anchor="ctr">
                    <a:lnT w="15875">
                      <a:solidFill>
                        <a:srgbClr val="14213D"/>
                      </a:solidFill>
                    </a:lnT>
                    <a:noFill/>
                  </a:tcPr>
                </a:tc>
              </a:tr>
              <a:tr h="208483">
                <a:tc>
                  <a:txBody>
                    <a:bodyPr wrap="none"/>
                    <a:lstStyle/>
                    <a:p>
                      <a:pPr algn="l"/>
                      <a:r>
                        <a:rPr sz="800" b="1" i="0">
                          <a:solidFill>
                            <a:srgbClr val="1F2937"/>
                          </a:solidFill>
                          <a:latin typeface="Arial"/>
                        </a:rPr>
                        <a:t>Expected share</a:t>
                      </a:r>
                      <a:endParaRPr sz="800"/>
                    </a:p>
                  </a:txBody>
                  <a:tcPr marL="36576" marR="36576" marT="0" marB="0" anchor="ctr">
                    <a:lnB w="6350">
                      <a:solidFill>
                        <a:srgbClr val="D0D5DD"/>
                      </a:solidFill>
                    </a:lnB>
                    <a:noFill/>
                  </a:tcPr>
                </a:tc>
                <a:tc>
                  <a:txBody>
                    <a:bodyPr wrap="none"/>
                    <a:lstStyle/>
                    <a:p>
                      <a:pPr algn="r"/>
                      <a:r>
                        <a:rPr sz="800" b="1" i="0">
                          <a:solidFill>
                            <a:srgbClr val="1F2937"/>
                          </a:solidFill>
                          <a:latin typeface="Arial"/>
                        </a:rPr>
                        <a:t>0.1%</a:t>
                      </a:r>
                      <a:endParaRPr sz="800"/>
                    </a:p>
                  </a:txBody>
                  <a:tcPr marL="36576" marR="36576" marT="0" marB="0" anchor="ctr">
                    <a:lnB w="6350">
                      <a:solidFill>
                        <a:srgbClr val="D0D5DD"/>
                      </a:solidFill>
                    </a:lnB>
                    <a:noFill/>
                  </a:tcPr>
                </a:tc>
                <a:tc>
                  <a:txBody>
                    <a:bodyPr wrap="none"/>
                    <a:lstStyle/>
                    <a:p>
                      <a:pPr algn="r"/>
                      <a:r>
                        <a:rPr sz="800" b="1" i="0">
                          <a:solidFill>
                            <a:srgbClr val="1F2937"/>
                          </a:solidFill>
                          <a:latin typeface="Arial"/>
                        </a:rPr>
                        <a:t>1%</a:t>
                      </a:r>
                      <a:endParaRPr sz="800"/>
                    </a:p>
                  </a:txBody>
                  <a:tcPr marL="36576" marR="36576" marT="0" marB="0" anchor="ctr">
                    <a:lnB w="6350">
                      <a:solidFill>
                        <a:srgbClr val="D0D5DD"/>
                      </a:solidFill>
                    </a:lnB>
                    <a:noFill/>
                  </a:tcPr>
                </a:tc>
                <a:tc>
                  <a:txBody>
                    <a:bodyPr wrap="none"/>
                    <a:lstStyle/>
                    <a:p>
                      <a:pPr algn="r"/>
                      <a:r>
                        <a:rPr sz="800" b="1" i="0">
                          <a:solidFill>
                            <a:srgbClr val="1F2937"/>
                          </a:solidFill>
                          <a:latin typeface="Arial"/>
                        </a:rPr>
                        <a:t>5%</a:t>
                      </a:r>
                      <a:endParaRPr sz="800"/>
                    </a:p>
                  </a:txBody>
                  <a:tcPr marL="36576" marR="36576" marT="0" marB="0" anchor="ctr">
                    <a:lnB w="6350">
                      <a:solidFill>
                        <a:srgbClr val="D0D5DD"/>
                      </a:solidFill>
                    </a:lnB>
                    <a:noFill/>
                  </a:tcPr>
                </a:tc>
                <a:tc>
                  <a:txBody>
                    <a:bodyPr wrap="none"/>
                    <a:lstStyle/>
                    <a:p>
                      <a:pPr algn="r"/>
                      <a:r>
                        <a:rPr sz="800" b="1" i="0">
                          <a:solidFill>
                            <a:srgbClr val="1F2937"/>
                          </a:solidFill>
                          <a:latin typeface="Arial"/>
                        </a:rPr>
                        <a:t>10%</a:t>
                      </a:r>
                      <a:endParaRPr sz="800"/>
                    </a:p>
                  </a:txBody>
                  <a:tcPr marL="36576" marR="36576" marT="0" marB="0" anchor="ctr">
                    <a:lnB w="6350">
                      <a:solidFill>
                        <a:srgbClr val="D0D5DD"/>
                      </a:solidFill>
                    </a:lnB>
                    <a:noFill/>
                  </a:tcPr>
                </a:tc>
                <a:tc>
                  <a:txBody>
                    <a:bodyPr wrap="none"/>
                    <a:lstStyle/>
                    <a:p>
                      <a:pPr algn="r"/>
                      <a:r>
                        <a:rPr sz="800" b="1" i="0">
                          <a:solidFill>
                            <a:srgbClr val="1F2937"/>
                          </a:solidFill>
                          <a:latin typeface="Arial"/>
                        </a:rPr>
                        <a:t>30%</a:t>
                      </a:r>
                      <a:endParaRPr sz="800"/>
                    </a:p>
                  </a:txBody>
                  <a:tcPr marL="36576" marR="36576" marT="0" marB="0" anchor="ctr">
                    <a:lnB w="6350">
                      <a:solidFill>
                        <a:srgbClr val="D0D5DD"/>
                      </a:solidFill>
                    </a:lnB>
                    <a:noFill/>
                  </a:tcPr>
                </a:tc>
                <a:tc>
                  <a:txBody>
                    <a:bodyPr wrap="none"/>
                    <a:lstStyle/>
                    <a:p>
                      <a:pPr algn="r"/>
                      <a:r>
                        <a:rPr sz="800" b="1" i="0">
                          <a:solidFill>
                            <a:srgbClr val="1F2937"/>
                          </a:solidFill>
                          <a:latin typeface="Arial"/>
                        </a:rPr>
                        <a:t>0.1%</a:t>
                      </a:r>
                      <a:endParaRPr sz="800"/>
                    </a:p>
                  </a:txBody>
                  <a:tcPr marL="36576" marR="36576" marT="0" marB="0" anchor="ctr">
                    <a:lnB w="6350">
                      <a:solidFill>
                        <a:srgbClr val="D0D5DD"/>
                      </a:solidFill>
                    </a:lnB>
                    <a:noFill/>
                  </a:tcPr>
                </a:tc>
                <a:tc>
                  <a:txBody>
                    <a:bodyPr wrap="none"/>
                    <a:lstStyle/>
                    <a:p>
                      <a:pPr algn="r"/>
                      <a:r>
                        <a:rPr sz="800" b="1" i="0">
                          <a:solidFill>
                            <a:srgbClr val="1F2937"/>
                          </a:solidFill>
                          <a:latin typeface="Arial"/>
                        </a:rPr>
                        <a:t>1%</a:t>
                      </a:r>
                      <a:endParaRPr sz="800"/>
                    </a:p>
                  </a:txBody>
                  <a:tcPr marL="36576" marR="36576" marT="0" marB="0" anchor="ctr">
                    <a:lnB w="6350">
                      <a:solidFill>
                        <a:srgbClr val="D0D5DD"/>
                      </a:solidFill>
                    </a:lnB>
                    <a:noFill/>
                  </a:tcPr>
                </a:tc>
                <a:tc>
                  <a:txBody>
                    <a:bodyPr wrap="none"/>
                    <a:lstStyle/>
                    <a:p>
                      <a:pPr algn="r"/>
                      <a:r>
                        <a:rPr sz="800" b="1" i="0">
                          <a:solidFill>
                            <a:srgbClr val="1F2937"/>
                          </a:solidFill>
                          <a:latin typeface="Arial"/>
                        </a:rPr>
                        <a:t>5%</a:t>
                      </a:r>
                      <a:endParaRPr sz="800"/>
                    </a:p>
                  </a:txBody>
                  <a:tcPr marL="36576" marR="36576" marT="0" marB="0" anchor="ctr">
                    <a:lnB w="6350">
                      <a:solidFill>
                        <a:srgbClr val="D0D5DD"/>
                      </a:solidFill>
                    </a:lnB>
                    <a:noFill/>
                  </a:tcPr>
                </a:tc>
                <a:tc>
                  <a:txBody>
                    <a:bodyPr wrap="none"/>
                    <a:lstStyle/>
                    <a:p>
                      <a:pPr algn="r"/>
                      <a:r>
                        <a:rPr sz="800" b="1" i="0">
                          <a:solidFill>
                            <a:srgbClr val="1F2937"/>
                          </a:solidFill>
                          <a:latin typeface="Arial"/>
                        </a:rPr>
                        <a:t>10%</a:t>
                      </a:r>
                      <a:endParaRPr sz="800"/>
                    </a:p>
                  </a:txBody>
                  <a:tcPr marL="36576" marR="36576" marT="0" marB="0" anchor="ctr">
                    <a:lnB w="6350">
                      <a:solidFill>
                        <a:srgbClr val="D0D5DD"/>
                      </a:solidFill>
                    </a:lnB>
                    <a:noFill/>
                  </a:tcPr>
                </a:tc>
                <a:tc>
                  <a:txBody>
                    <a:bodyPr wrap="none"/>
                    <a:lstStyle/>
                    <a:p>
                      <a:pPr algn="r"/>
                      <a:r>
                        <a:rPr sz="800" b="1" i="0">
                          <a:solidFill>
                            <a:srgbClr val="1F2937"/>
                          </a:solidFill>
                          <a:latin typeface="Arial"/>
                        </a:rPr>
                        <a:t>30%</a:t>
                      </a:r>
                      <a:endParaRPr sz="800"/>
                    </a:p>
                  </a:txBody>
                  <a:tcPr marL="36576" marR="36576" marT="0" marB="0" anchor="ctr">
                    <a:lnB w="6350">
                      <a:solidFill>
                        <a:srgbClr val="D0D5DD"/>
                      </a:solidFill>
                    </a:lnB>
                    <a:noFill/>
                  </a:tcPr>
                </a:tc>
                <a:tc>
                  <a:txBody>
                    <a:bodyPr wrap="none"/>
                    <a:lstStyle/>
                    <a:p>
                      <a:pPr algn="r"/>
                      <a:r>
                        <a:rPr sz="800" b="1" i="0">
                          <a:solidFill>
                            <a:srgbClr val="1F2937"/>
                          </a:solidFill>
                          <a:latin typeface="Arial"/>
                        </a:rPr>
                        <a:t>0.1%</a:t>
                      </a:r>
                      <a:endParaRPr sz="800"/>
                    </a:p>
                  </a:txBody>
                  <a:tcPr marL="36576" marR="36576" marT="0" marB="0" anchor="ctr">
                    <a:lnB w="6350">
                      <a:solidFill>
                        <a:srgbClr val="D0D5DD"/>
                      </a:solidFill>
                    </a:lnB>
                    <a:noFill/>
                  </a:tcPr>
                </a:tc>
                <a:tc>
                  <a:txBody>
                    <a:bodyPr wrap="none"/>
                    <a:lstStyle/>
                    <a:p>
                      <a:pPr algn="r"/>
                      <a:r>
                        <a:rPr sz="800" b="1" i="0">
                          <a:solidFill>
                            <a:srgbClr val="1F2937"/>
                          </a:solidFill>
                          <a:latin typeface="Arial"/>
                        </a:rPr>
                        <a:t>1%</a:t>
                      </a:r>
                      <a:endParaRPr sz="800"/>
                    </a:p>
                  </a:txBody>
                  <a:tcPr marL="36576" marR="36576" marT="0" marB="0" anchor="ctr">
                    <a:lnB w="6350">
                      <a:solidFill>
                        <a:srgbClr val="D0D5DD"/>
                      </a:solidFill>
                    </a:lnB>
                    <a:noFill/>
                  </a:tcPr>
                </a:tc>
                <a:tc>
                  <a:txBody>
                    <a:bodyPr wrap="none"/>
                    <a:lstStyle/>
                    <a:p>
                      <a:pPr algn="r"/>
                      <a:r>
                        <a:rPr sz="800" b="1" i="0">
                          <a:solidFill>
                            <a:srgbClr val="1F2937"/>
                          </a:solidFill>
                          <a:latin typeface="Arial"/>
                        </a:rPr>
                        <a:t>5%</a:t>
                      </a:r>
                      <a:endParaRPr sz="800"/>
                    </a:p>
                  </a:txBody>
                  <a:tcPr marL="36576" marR="36576" marT="0" marB="0" anchor="ctr">
                    <a:lnB w="6350">
                      <a:solidFill>
                        <a:srgbClr val="D0D5DD"/>
                      </a:solidFill>
                    </a:lnB>
                    <a:noFill/>
                  </a:tcPr>
                </a:tc>
                <a:tc>
                  <a:txBody>
                    <a:bodyPr wrap="none"/>
                    <a:lstStyle/>
                    <a:p>
                      <a:pPr algn="r"/>
                      <a:r>
                        <a:rPr sz="800" b="1" i="0">
                          <a:solidFill>
                            <a:srgbClr val="1F2937"/>
                          </a:solidFill>
                          <a:latin typeface="Arial"/>
                        </a:rPr>
                        <a:t>10%</a:t>
                      </a:r>
                      <a:endParaRPr sz="800"/>
                    </a:p>
                  </a:txBody>
                  <a:tcPr marL="36576" marR="36576" marT="0" marB="0" anchor="ctr">
                    <a:lnB w="6350">
                      <a:solidFill>
                        <a:srgbClr val="D0D5DD"/>
                      </a:solidFill>
                    </a:lnB>
                    <a:noFill/>
                  </a:tcPr>
                </a:tc>
                <a:tc>
                  <a:txBody>
                    <a:bodyPr wrap="none"/>
                    <a:lstStyle/>
                    <a:p>
                      <a:pPr algn="r"/>
                      <a:r>
                        <a:rPr sz="800" b="1" i="0">
                          <a:solidFill>
                            <a:srgbClr val="1F2937"/>
                          </a:solidFill>
                          <a:latin typeface="Arial"/>
                        </a:rPr>
                        <a:t>30%</a:t>
                      </a:r>
                      <a:endParaRPr sz="800"/>
                    </a:p>
                  </a:txBody>
                  <a:tcPr marL="36576" marR="36576" marT="0" marB="0" anchor="ctr">
                    <a:lnB w="6350">
                      <a:solidFill>
                        <a:srgbClr val="D0D5DD"/>
                      </a:solidFill>
                    </a:lnB>
                    <a:noFill/>
                  </a:tcPr>
                </a:tc>
              </a:tr>
              <a:tr h="208483">
                <a:tc gridSpan="16">
                  <a:txBody>
                    <a:bodyPr wrap="none"/>
                    <a:lstStyle/>
                    <a:p>
                      <a:pPr algn="l"/>
                      <a:r>
                        <a:rPr sz="800" b="1" i="0">
                          <a:solidFill>
                            <a:srgbClr val="1F2937"/>
                          </a:solidFill>
                          <a:latin typeface="Arial"/>
                        </a:rPr>
                        <a:t>Variance share of the first component (%)</a:t>
                      </a:r>
                      <a:r>
                        <a:rPr sz="800" b="0" i="0">
                          <a:solidFill>
                            <a:srgbClr val="1F2937"/>
                          </a:solidFill>
                          <a:latin typeface="Arial"/>
                        </a:rPr>
                        <a:t>  </a:t>
                      </a:r>
                      <a:r>
                        <a:rPr sz="800" b="0" i="0">
                          <a:solidFill>
                            <a:srgbClr val="6B7280"/>
                          </a:solidFill>
                          <a:latin typeface="Arial"/>
                        </a:rPr>
                        <a:t>(true 41.74)</a:t>
                      </a: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r>
              <a:tr h="208483">
                <a:tc>
                  <a:txBody>
                    <a:bodyPr wrap="none"/>
                    <a:lstStyle/>
                    <a:p>
                      <a:pPr algn="l"/>
                      <a:r>
                        <a:rPr sz="800" b="0" i="0">
                          <a:solidFill>
                            <a:srgbClr val="1F2937"/>
                          </a:solidFill>
                          <a:latin typeface="Arial"/>
                        </a:rPr>
                        <a:t>KNN</a:t>
                      </a:r>
                      <a:endParaRPr sz="800"/>
                    </a:p>
                  </a:txBody>
                  <a:tcPr marL="36576" marR="36576" marT="0" marB="0" anchor="ctr">
                    <a:noFill/>
                  </a:tcPr>
                </a:tc>
                <a:tc>
                  <a:txBody>
                    <a:bodyPr wrap="none"/>
                    <a:lstStyle/>
                    <a:p>
                      <a:pPr algn="r"/>
                      <a:r>
                        <a:rPr sz="800" b="0" i="0">
                          <a:solidFill>
                            <a:srgbClr val="1F2937"/>
                          </a:solidFill>
                          <a:latin typeface="Arial"/>
                        </a:rPr>
                        <a:t>41.76</a:t>
                      </a:r>
                      <a:endParaRPr sz="800"/>
                    </a:p>
                  </a:txBody>
                  <a:tcPr marL="36576" marR="36576" marT="0" marB="0" anchor="ctr">
                    <a:noFill/>
                  </a:tcPr>
                </a:tc>
                <a:tc>
                  <a:txBody>
                    <a:bodyPr wrap="none"/>
                    <a:lstStyle/>
                    <a:p>
                      <a:pPr algn="r"/>
                      <a:r>
                        <a:rPr sz="800" b="0" i="0">
                          <a:solidFill>
                            <a:srgbClr val="1F2937"/>
                          </a:solidFill>
                          <a:latin typeface="Arial"/>
                        </a:rPr>
                        <a:t>41.87</a:t>
                      </a:r>
                      <a:endParaRPr sz="800"/>
                    </a:p>
                  </a:txBody>
                  <a:tcPr marL="36576" marR="36576" marT="0" marB="0" anchor="ctr">
                    <a:noFill/>
                  </a:tcPr>
                </a:tc>
                <a:tc>
                  <a:txBody>
                    <a:bodyPr wrap="none"/>
                    <a:lstStyle/>
                    <a:p>
                      <a:pPr algn="r"/>
                      <a:r>
                        <a:rPr sz="800" b="0" i="0">
                          <a:solidFill>
                            <a:srgbClr val="1F2937"/>
                          </a:solidFill>
                          <a:latin typeface="Arial"/>
                        </a:rPr>
                        <a:t>42.28</a:t>
                      </a:r>
                      <a:endParaRPr sz="800"/>
                    </a:p>
                  </a:txBody>
                  <a:tcPr marL="36576" marR="36576" marT="0" marB="0" anchor="ctr">
                    <a:noFill/>
                  </a:tcPr>
                </a:tc>
                <a:tc>
                  <a:txBody>
                    <a:bodyPr wrap="none"/>
                    <a:lstStyle/>
                    <a:p>
                      <a:pPr algn="r"/>
                      <a:r>
                        <a:rPr sz="800" b="0" i="0">
                          <a:solidFill>
                            <a:srgbClr val="1F2937"/>
                          </a:solidFill>
                          <a:latin typeface="Arial"/>
                        </a:rPr>
                        <a:t>43.00</a:t>
                      </a:r>
                      <a:endParaRPr sz="800"/>
                    </a:p>
                  </a:txBody>
                  <a:tcPr marL="36576" marR="36576" marT="0" marB="0" anchor="ctr">
                    <a:noFill/>
                  </a:tcPr>
                </a:tc>
                <a:tc>
                  <a:txBody>
                    <a:bodyPr wrap="none"/>
                    <a:lstStyle/>
                    <a:p>
                      <a:pPr algn="r"/>
                      <a:r>
                        <a:rPr sz="800" b="0" i="0">
                          <a:solidFill>
                            <a:srgbClr val="1F2937"/>
                          </a:solidFill>
                          <a:latin typeface="Arial"/>
                        </a:rPr>
                        <a:t>45.62</a:t>
                      </a:r>
                      <a:endParaRPr sz="800"/>
                    </a:p>
                  </a:txBody>
                  <a:tcPr marL="36576" marR="36576" marT="0" marB="0" anchor="ctr">
                    <a:noFill/>
                  </a:tcPr>
                </a:tc>
                <a:tc>
                  <a:txBody>
                    <a:bodyPr wrap="none"/>
                    <a:lstStyle/>
                    <a:p>
                      <a:pPr algn="r"/>
                      <a:r>
                        <a:rPr sz="800" b="0" i="0">
                          <a:solidFill>
                            <a:srgbClr val="1F2937"/>
                          </a:solidFill>
                          <a:latin typeface="Arial"/>
                        </a:rPr>
                        <a:t>41.75</a:t>
                      </a:r>
                      <a:endParaRPr sz="800"/>
                    </a:p>
                  </a:txBody>
                  <a:tcPr marL="36576" marR="36576" marT="0" marB="0" anchor="ctr">
                    <a:noFill/>
                  </a:tcPr>
                </a:tc>
                <a:tc>
                  <a:txBody>
                    <a:bodyPr wrap="none"/>
                    <a:lstStyle/>
                    <a:p>
                      <a:pPr algn="r"/>
                      <a:r>
                        <a:rPr sz="800" b="0" i="0">
                          <a:solidFill>
                            <a:srgbClr val="1F2937"/>
                          </a:solidFill>
                          <a:latin typeface="Arial"/>
                        </a:rPr>
                        <a:t>41.90</a:t>
                      </a:r>
                      <a:endParaRPr sz="800"/>
                    </a:p>
                  </a:txBody>
                  <a:tcPr marL="36576" marR="36576" marT="0" marB="0" anchor="ctr">
                    <a:noFill/>
                  </a:tcPr>
                </a:tc>
                <a:tc>
                  <a:txBody>
                    <a:bodyPr wrap="none"/>
                    <a:lstStyle/>
                    <a:p>
                      <a:pPr algn="r"/>
                      <a:r>
                        <a:rPr sz="800" b="0" i="0">
                          <a:solidFill>
                            <a:srgbClr val="1F2937"/>
                          </a:solidFill>
                          <a:latin typeface="Arial"/>
                        </a:rPr>
                        <a:t>42.29</a:t>
                      </a:r>
                      <a:endParaRPr sz="800"/>
                    </a:p>
                  </a:txBody>
                  <a:tcPr marL="36576" marR="36576" marT="0" marB="0" anchor="ctr">
                    <a:noFill/>
                  </a:tcPr>
                </a:tc>
                <a:tc>
                  <a:txBody>
                    <a:bodyPr wrap="none"/>
                    <a:lstStyle/>
                    <a:p>
                      <a:pPr algn="r"/>
                      <a:r>
                        <a:rPr sz="800" b="0" i="0">
                          <a:solidFill>
                            <a:srgbClr val="1F2937"/>
                          </a:solidFill>
                          <a:latin typeface="Arial"/>
                        </a:rPr>
                        <a:t>42.93</a:t>
                      </a:r>
                      <a:endParaRPr sz="800"/>
                    </a:p>
                  </a:txBody>
                  <a:tcPr marL="36576" marR="36576" marT="0" marB="0" anchor="ctr">
                    <a:noFill/>
                  </a:tcPr>
                </a:tc>
                <a:tc>
                  <a:txBody>
                    <a:bodyPr wrap="none"/>
                    <a:lstStyle/>
                    <a:p>
                      <a:pPr algn="r"/>
                      <a:r>
                        <a:rPr sz="800" b="0" i="0">
                          <a:solidFill>
                            <a:srgbClr val="1F2937"/>
                          </a:solidFill>
                          <a:latin typeface="Arial"/>
                        </a:rPr>
                        <a:t>44.63</a:t>
                      </a:r>
                      <a:endParaRPr sz="800"/>
                    </a:p>
                  </a:txBody>
                  <a:tcPr marL="36576" marR="36576" marT="0" marB="0" anchor="ctr">
                    <a:noFill/>
                  </a:tcPr>
                </a:tc>
                <a:tc>
                  <a:txBody>
                    <a:bodyPr wrap="none"/>
                    <a:lstStyle/>
                    <a:p>
                      <a:pPr algn="r"/>
                      <a:r>
                        <a:rPr sz="800" b="0" i="0">
                          <a:solidFill>
                            <a:srgbClr val="1F2937"/>
                          </a:solidFill>
                          <a:latin typeface="Arial"/>
                        </a:rPr>
                        <a:t>41.31</a:t>
                      </a:r>
                      <a:endParaRPr sz="800"/>
                    </a:p>
                  </a:txBody>
                  <a:tcPr marL="36576" marR="36576" marT="0" marB="0" anchor="ctr">
                    <a:noFill/>
                  </a:tcPr>
                </a:tc>
                <a:tc>
                  <a:txBody>
                    <a:bodyPr wrap="none"/>
                    <a:lstStyle/>
                    <a:p>
                      <a:pPr algn="r"/>
                      <a:r>
                        <a:rPr sz="800" b="0" i="0">
                          <a:solidFill>
                            <a:srgbClr val="1F2937"/>
                          </a:solidFill>
                          <a:latin typeface="Arial"/>
                        </a:rPr>
                        <a:t>39.81</a:t>
                      </a:r>
                      <a:endParaRPr sz="800"/>
                    </a:p>
                  </a:txBody>
                  <a:tcPr marL="36576" marR="36576" marT="0" marB="0" anchor="ctr">
                    <a:noFill/>
                  </a:tcPr>
                </a:tc>
                <a:tc>
                  <a:txBody>
                    <a:bodyPr wrap="none"/>
                    <a:lstStyle/>
                    <a:p>
                      <a:pPr algn="r"/>
                      <a:r>
                        <a:rPr sz="800" b="0" i="0">
                          <a:solidFill>
                            <a:srgbClr val="1F2937"/>
                          </a:solidFill>
                          <a:latin typeface="Arial"/>
                        </a:rPr>
                        <a:t>41.68</a:t>
                      </a:r>
                      <a:endParaRPr sz="800"/>
                    </a:p>
                  </a:txBody>
                  <a:tcPr marL="36576" marR="36576" marT="0" marB="0" anchor="ctr">
                    <a:noFill/>
                  </a:tcPr>
                </a:tc>
                <a:tc>
                  <a:txBody>
                    <a:bodyPr wrap="none"/>
                    <a:lstStyle/>
                    <a:p>
                      <a:pPr algn="r"/>
                      <a:r>
                        <a:rPr sz="800" b="0" i="0">
                          <a:solidFill>
                            <a:srgbClr val="1F2937"/>
                          </a:solidFill>
                          <a:latin typeface="Arial"/>
                        </a:rPr>
                        <a:t>40.27</a:t>
                      </a:r>
                      <a:endParaRPr sz="800"/>
                    </a:p>
                  </a:txBody>
                  <a:tcPr marL="36576" marR="36576" marT="0" marB="0" anchor="ctr">
                    <a:noFill/>
                  </a:tcPr>
                </a:tc>
                <a:tc>
                  <a:txBody>
                    <a:bodyPr wrap="none"/>
                    <a:lstStyle/>
                    <a:p>
                      <a:pPr algn="r"/>
                      <a:r>
                        <a:rPr sz="800" b="0" i="0">
                          <a:solidFill>
                            <a:srgbClr val="1F2937"/>
                          </a:solidFill>
                          <a:latin typeface="Arial"/>
                        </a:rPr>
                        <a:t>--</a:t>
                      </a:r>
                      <a:endParaRPr sz="800"/>
                    </a:p>
                  </a:txBody>
                  <a:tcPr marL="36576" marR="36576" marT="0" marB="0" anchor="ctr">
                    <a:noFill/>
                  </a:tcPr>
                </a:tc>
              </a:tr>
              <a:tr h="208483">
                <a:tc>
                  <a:txBody>
                    <a:bodyPr wrap="none"/>
                    <a:lstStyle/>
                    <a:p>
                      <a:pPr algn="l"/>
                      <a:r>
                        <a:rPr sz="800" b="0" i="0">
                          <a:solidFill>
                            <a:srgbClr val="1F2937"/>
                          </a:solidFill>
                          <a:latin typeface="Arial"/>
                        </a:rPr>
                        <a:t>LowRank</a:t>
                      </a:r>
                      <a:endParaRPr sz="800"/>
                    </a:p>
                  </a:txBody>
                  <a:tcPr marL="36576" marR="36576" marT="0" marB="0" anchor="ctr">
                    <a:noFill/>
                  </a:tcPr>
                </a:tc>
                <a:tc>
                  <a:txBody>
                    <a:bodyPr wrap="none"/>
                    <a:lstStyle/>
                    <a:p>
                      <a:pPr algn="r"/>
                      <a:r>
                        <a:rPr sz="800" b="0" i="0">
                          <a:solidFill>
                            <a:srgbClr val="1F2937"/>
                          </a:solidFill>
                          <a:latin typeface="Arial"/>
                        </a:rPr>
                        <a:t>41.77</a:t>
                      </a:r>
                      <a:endParaRPr sz="800"/>
                    </a:p>
                  </a:txBody>
                  <a:tcPr marL="36576" marR="36576" marT="0" marB="0" anchor="ctr">
                    <a:noFill/>
                  </a:tcPr>
                </a:tc>
                <a:tc>
                  <a:txBody>
                    <a:bodyPr wrap="none"/>
                    <a:lstStyle/>
                    <a:p>
                      <a:pPr algn="r"/>
                      <a:r>
                        <a:rPr sz="800" b="0" i="0">
                          <a:solidFill>
                            <a:srgbClr val="1F2937"/>
                          </a:solidFill>
                          <a:latin typeface="Arial"/>
                        </a:rPr>
                        <a:t>41.91</a:t>
                      </a:r>
                      <a:endParaRPr sz="800"/>
                    </a:p>
                  </a:txBody>
                  <a:tcPr marL="36576" marR="36576" marT="0" marB="0" anchor="ctr">
                    <a:noFill/>
                  </a:tcPr>
                </a:tc>
                <a:tc>
                  <a:txBody>
                    <a:bodyPr wrap="none"/>
                    <a:lstStyle/>
                    <a:p>
                      <a:pPr algn="r"/>
                      <a:r>
                        <a:rPr sz="800" b="0" i="0">
                          <a:solidFill>
                            <a:srgbClr val="1F2937"/>
                          </a:solidFill>
                          <a:latin typeface="Arial"/>
                        </a:rPr>
                        <a:t>42.64</a:t>
                      </a:r>
                      <a:endParaRPr sz="800"/>
                    </a:p>
                  </a:txBody>
                  <a:tcPr marL="36576" marR="36576" marT="0" marB="0" anchor="ctr">
                    <a:noFill/>
                  </a:tcPr>
                </a:tc>
                <a:tc>
                  <a:txBody>
                    <a:bodyPr wrap="none"/>
                    <a:lstStyle/>
                    <a:p>
                      <a:pPr algn="r"/>
                      <a:r>
                        <a:rPr sz="800" b="0" i="0">
                          <a:solidFill>
                            <a:srgbClr val="1F2937"/>
                          </a:solidFill>
                          <a:latin typeface="Arial"/>
                        </a:rPr>
                        <a:t>43.60</a:t>
                      </a:r>
                      <a:endParaRPr sz="800"/>
                    </a:p>
                  </a:txBody>
                  <a:tcPr marL="36576" marR="36576" marT="0" marB="0" anchor="ctr">
                    <a:noFill/>
                  </a:tcPr>
                </a:tc>
                <a:tc>
                  <a:txBody>
                    <a:bodyPr wrap="none"/>
                    <a:lstStyle/>
                    <a:p>
                      <a:pPr algn="r"/>
                      <a:r>
                        <a:rPr sz="800" b="0" i="0">
                          <a:solidFill>
                            <a:srgbClr val="1F2937"/>
                          </a:solidFill>
                          <a:latin typeface="Arial"/>
                        </a:rPr>
                        <a:t>47.56</a:t>
                      </a:r>
                      <a:endParaRPr sz="800"/>
                    </a:p>
                  </a:txBody>
                  <a:tcPr marL="36576" marR="36576" marT="0" marB="0" anchor="ctr">
                    <a:noFill/>
                  </a:tcPr>
                </a:tc>
                <a:tc>
                  <a:txBody>
                    <a:bodyPr wrap="none"/>
                    <a:lstStyle/>
                    <a:p>
                      <a:pPr algn="r"/>
                      <a:r>
                        <a:rPr sz="800" b="0" i="0">
                          <a:solidFill>
                            <a:srgbClr val="1F2937"/>
                          </a:solidFill>
                          <a:latin typeface="Arial"/>
                        </a:rPr>
                        <a:t>41.75</a:t>
                      </a:r>
                      <a:endParaRPr sz="800"/>
                    </a:p>
                  </a:txBody>
                  <a:tcPr marL="36576" marR="36576" marT="0" marB="0" anchor="ctr">
                    <a:noFill/>
                  </a:tcPr>
                </a:tc>
                <a:tc>
                  <a:txBody>
                    <a:bodyPr wrap="none"/>
                    <a:lstStyle/>
                    <a:p>
                      <a:pPr algn="r"/>
                      <a:r>
                        <a:rPr sz="800" b="0" i="0">
                          <a:solidFill>
                            <a:srgbClr val="1F2937"/>
                          </a:solidFill>
                          <a:latin typeface="Arial"/>
                        </a:rPr>
                        <a:t>41.93</a:t>
                      </a:r>
                      <a:endParaRPr sz="800"/>
                    </a:p>
                  </a:txBody>
                  <a:tcPr marL="36576" marR="36576" marT="0" marB="0" anchor="ctr">
                    <a:noFill/>
                  </a:tcPr>
                </a:tc>
                <a:tc>
                  <a:txBody>
                    <a:bodyPr wrap="none"/>
                    <a:lstStyle/>
                    <a:p>
                      <a:pPr algn="r"/>
                      <a:r>
                        <a:rPr sz="800" b="0" i="0">
                          <a:solidFill>
                            <a:srgbClr val="1F2937"/>
                          </a:solidFill>
                          <a:latin typeface="Arial"/>
                        </a:rPr>
                        <a:t>42.42</a:t>
                      </a:r>
                      <a:endParaRPr sz="800"/>
                    </a:p>
                  </a:txBody>
                  <a:tcPr marL="36576" marR="36576" marT="0" marB="0" anchor="ctr">
                    <a:noFill/>
                  </a:tcPr>
                </a:tc>
                <a:tc>
                  <a:txBody>
                    <a:bodyPr wrap="none"/>
                    <a:lstStyle/>
                    <a:p>
                      <a:pPr algn="r"/>
                      <a:r>
                        <a:rPr sz="800" b="0" i="0">
                          <a:solidFill>
                            <a:srgbClr val="1F2937"/>
                          </a:solidFill>
                          <a:latin typeface="Arial"/>
                        </a:rPr>
                        <a:t>43.63</a:t>
                      </a:r>
                      <a:endParaRPr sz="800"/>
                    </a:p>
                  </a:txBody>
                  <a:tcPr marL="36576" marR="36576" marT="0" marB="0" anchor="ctr">
                    <a:noFill/>
                  </a:tcPr>
                </a:tc>
                <a:tc>
                  <a:txBody>
                    <a:bodyPr wrap="none"/>
                    <a:lstStyle/>
                    <a:p>
                      <a:pPr algn="r"/>
                      <a:r>
                        <a:rPr sz="800" b="0" i="0">
                          <a:solidFill>
                            <a:srgbClr val="1F2937"/>
                          </a:solidFill>
                          <a:latin typeface="Arial"/>
                        </a:rPr>
                        <a:t>46.84</a:t>
                      </a:r>
                      <a:endParaRPr sz="800"/>
                    </a:p>
                  </a:txBody>
                  <a:tcPr marL="36576" marR="36576" marT="0" marB="0" anchor="ctr">
                    <a:noFill/>
                  </a:tcPr>
                </a:tc>
                <a:tc>
                  <a:txBody>
                    <a:bodyPr wrap="none"/>
                    <a:lstStyle/>
                    <a:p>
                      <a:pPr algn="r"/>
                      <a:r>
                        <a:rPr sz="800" b="0" i="0">
                          <a:solidFill>
                            <a:srgbClr val="1F2937"/>
                          </a:solidFill>
                          <a:latin typeface="Arial"/>
                        </a:rPr>
                        <a:t>41.75</a:t>
                      </a:r>
                      <a:endParaRPr sz="800"/>
                    </a:p>
                  </a:txBody>
                  <a:tcPr marL="36576" marR="36576" marT="0" marB="0" anchor="ctr">
                    <a:noFill/>
                  </a:tcPr>
                </a:tc>
                <a:tc>
                  <a:txBody>
                    <a:bodyPr wrap="none"/>
                    <a:lstStyle/>
                    <a:p>
                      <a:pPr algn="r"/>
                      <a:r>
                        <a:rPr sz="800" b="0" i="0">
                          <a:solidFill>
                            <a:srgbClr val="1F2937"/>
                          </a:solidFill>
                          <a:latin typeface="Arial"/>
                        </a:rPr>
                        <a:t>41.92</a:t>
                      </a:r>
                      <a:endParaRPr sz="800"/>
                    </a:p>
                  </a:txBody>
                  <a:tcPr marL="36576" marR="36576" marT="0" marB="0" anchor="ctr">
                    <a:noFill/>
                  </a:tcPr>
                </a:tc>
                <a:tc>
                  <a:txBody>
                    <a:bodyPr wrap="none"/>
                    <a:lstStyle/>
                    <a:p>
                      <a:pPr algn="r"/>
                      <a:r>
                        <a:rPr sz="800" b="0" i="0">
                          <a:solidFill>
                            <a:srgbClr val="1F2937"/>
                          </a:solidFill>
                          <a:latin typeface="Arial"/>
                        </a:rPr>
                        <a:t>42.73</a:t>
                      </a:r>
                      <a:endParaRPr sz="800"/>
                    </a:p>
                  </a:txBody>
                  <a:tcPr marL="36576" marR="36576" marT="0" marB="0" anchor="ctr">
                    <a:noFill/>
                  </a:tcPr>
                </a:tc>
                <a:tc>
                  <a:txBody>
                    <a:bodyPr wrap="none"/>
                    <a:lstStyle/>
                    <a:p>
                      <a:pPr algn="r"/>
                      <a:r>
                        <a:rPr sz="800" b="0" i="0">
                          <a:solidFill>
                            <a:srgbClr val="1F2937"/>
                          </a:solidFill>
                          <a:latin typeface="Arial"/>
                        </a:rPr>
                        <a:t>43.50</a:t>
                      </a:r>
                      <a:endParaRPr sz="800"/>
                    </a:p>
                  </a:txBody>
                  <a:tcPr marL="36576" marR="36576" marT="0" marB="0" anchor="ctr">
                    <a:noFill/>
                  </a:tcPr>
                </a:tc>
                <a:tc>
                  <a:txBody>
                    <a:bodyPr wrap="none"/>
                    <a:lstStyle/>
                    <a:p>
                      <a:pPr algn="r"/>
                      <a:r>
                        <a:rPr sz="800" b="0" i="0">
                          <a:solidFill>
                            <a:srgbClr val="1F2937"/>
                          </a:solidFill>
                          <a:latin typeface="Arial"/>
                        </a:rPr>
                        <a:t>25.12</a:t>
                      </a:r>
                      <a:endParaRPr sz="800"/>
                    </a:p>
                  </a:txBody>
                  <a:tcPr marL="36576" marR="36576" marT="0" marB="0" anchor="ctr">
                    <a:noFill/>
                  </a:tcPr>
                </a:tc>
              </a:tr>
              <a:tr h="208483">
                <a:tc>
                  <a:txBody>
                    <a:bodyPr wrap="none"/>
                    <a:lstStyle/>
                    <a:p>
                      <a:pPr algn="l"/>
                      <a:r>
                        <a:rPr sz="800" b="0" i="0">
                          <a:solidFill>
                            <a:srgbClr val="1F2937"/>
                          </a:solidFill>
                          <a:latin typeface="Arial"/>
                        </a:rPr>
                        <a:t>EM</a:t>
                      </a:r>
                      <a:endParaRPr sz="800"/>
                    </a:p>
                  </a:txBody>
                  <a:tcPr marL="36576" marR="36576" marT="0" marB="0" anchor="ctr">
                    <a:noFill/>
                  </a:tcPr>
                </a:tc>
                <a:tc>
                  <a:txBody>
                    <a:bodyPr wrap="none"/>
                    <a:lstStyle/>
                    <a:p>
                      <a:pPr algn="r"/>
                      <a:r>
                        <a:rPr sz="800" b="0" i="0">
                          <a:solidFill>
                            <a:srgbClr val="1F2937"/>
                          </a:solidFill>
                          <a:latin typeface="Arial"/>
                        </a:rPr>
                        <a:t>41.77</a:t>
                      </a:r>
                      <a:endParaRPr sz="800"/>
                    </a:p>
                  </a:txBody>
                  <a:tcPr marL="36576" marR="36576" marT="0" marB="0" anchor="ctr">
                    <a:noFill/>
                  </a:tcPr>
                </a:tc>
                <a:tc>
                  <a:txBody>
                    <a:bodyPr wrap="none"/>
                    <a:lstStyle/>
                    <a:p>
                      <a:pPr algn="r"/>
                      <a:r>
                        <a:rPr sz="800" b="0" i="0">
                          <a:solidFill>
                            <a:srgbClr val="1F2937"/>
                          </a:solidFill>
                          <a:latin typeface="Arial"/>
                        </a:rPr>
                        <a:t>41.91</a:t>
                      </a:r>
                      <a:endParaRPr sz="800"/>
                    </a:p>
                  </a:txBody>
                  <a:tcPr marL="36576" marR="36576" marT="0" marB="0" anchor="ctr">
                    <a:noFill/>
                  </a:tcPr>
                </a:tc>
                <a:tc>
                  <a:txBody>
                    <a:bodyPr wrap="none"/>
                    <a:lstStyle/>
                    <a:p>
                      <a:pPr algn="r"/>
                      <a:r>
                        <a:rPr sz="800" b="0" i="0">
                          <a:solidFill>
                            <a:srgbClr val="1F2937"/>
                          </a:solidFill>
                          <a:latin typeface="Arial"/>
                        </a:rPr>
                        <a:t>42.64</a:t>
                      </a:r>
                      <a:endParaRPr sz="800"/>
                    </a:p>
                  </a:txBody>
                  <a:tcPr marL="36576" marR="36576" marT="0" marB="0" anchor="ctr">
                    <a:noFill/>
                  </a:tcPr>
                </a:tc>
                <a:tc>
                  <a:txBody>
                    <a:bodyPr wrap="none"/>
                    <a:lstStyle/>
                    <a:p>
                      <a:pPr algn="r"/>
                      <a:r>
                        <a:rPr sz="800" b="0" i="0">
                          <a:solidFill>
                            <a:srgbClr val="1F2937"/>
                          </a:solidFill>
                          <a:latin typeface="Arial"/>
                        </a:rPr>
                        <a:t>43.59</a:t>
                      </a:r>
                      <a:endParaRPr sz="800"/>
                    </a:p>
                  </a:txBody>
                  <a:tcPr marL="36576" marR="36576" marT="0" marB="0" anchor="ctr">
                    <a:noFill/>
                  </a:tcPr>
                </a:tc>
                <a:tc>
                  <a:txBody>
                    <a:bodyPr wrap="none"/>
                    <a:lstStyle/>
                    <a:p>
                      <a:pPr algn="r"/>
                      <a:r>
                        <a:rPr sz="800" b="0" i="0">
                          <a:solidFill>
                            <a:srgbClr val="1F2937"/>
                          </a:solidFill>
                          <a:latin typeface="Arial"/>
                        </a:rPr>
                        <a:t>47.88</a:t>
                      </a:r>
                      <a:endParaRPr sz="800"/>
                    </a:p>
                  </a:txBody>
                  <a:tcPr marL="36576" marR="36576" marT="0" marB="0" anchor="ctr">
                    <a:noFill/>
                  </a:tcPr>
                </a:tc>
                <a:tc>
                  <a:txBody>
                    <a:bodyPr wrap="none"/>
                    <a:lstStyle/>
                    <a:p>
                      <a:pPr algn="r"/>
                      <a:r>
                        <a:rPr sz="800" b="0" i="0">
                          <a:solidFill>
                            <a:srgbClr val="1F2937"/>
                          </a:solidFill>
                          <a:latin typeface="Arial"/>
                        </a:rPr>
                        <a:t>41.75</a:t>
                      </a:r>
                      <a:endParaRPr sz="800"/>
                    </a:p>
                  </a:txBody>
                  <a:tcPr marL="36576" marR="36576" marT="0" marB="0" anchor="ctr">
                    <a:noFill/>
                  </a:tcPr>
                </a:tc>
                <a:tc>
                  <a:txBody>
                    <a:bodyPr wrap="none"/>
                    <a:lstStyle/>
                    <a:p>
                      <a:pPr algn="r"/>
                      <a:r>
                        <a:rPr sz="800" b="0" i="0">
                          <a:solidFill>
                            <a:srgbClr val="1F2937"/>
                          </a:solidFill>
                          <a:latin typeface="Arial"/>
                        </a:rPr>
                        <a:t>41.92</a:t>
                      </a:r>
                      <a:endParaRPr sz="800"/>
                    </a:p>
                  </a:txBody>
                  <a:tcPr marL="36576" marR="36576" marT="0" marB="0" anchor="ctr">
                    <a:noFill/>
                  </a:tcPr>
                </a:tc>
                <a:tc>
                  <a:txBody>
                    <a:bodyPr wrap="none"/>
                    <a:lstStyle/>
                    <a:p>
                      <a:pPr algn="r"/>
                      <a:r>
                        <a:rPr sz="800" b="0" i="0">
                          <a:solidFill>
                            <a:srgbClr val="1F2937"/>
                          </a:solidFill>
                          <a:latin typeface="Arial"/>
                        </a:rPr>
                        <a:t>42.42</a:t>
                      </a:r>
                      <a:endParaRPr sz="800"/>
                    </a:p>
                  </a:txBody>
                  <a:tcPr marL="36576" marR="36576" marT="0" marB="0" anchor="ctr">
                    <a:noFill/>
                  </a:tcPr>
                </a:tc>
                <a:tc>
                  <a:txBody>
                    <a:bodyPr wrap="none"/>
                    <a:lstStyle/>
                    <a:p>
                      <a:pPr algn="r"/>
                      <a:r>
                        <a:rPr sz="800" b="0" i="0">
                          <a:solidFill>
                            <a:srgbClr val="1F2937"/>
                          </a:solidFill>
                          <a:latin typeface="Arial"/>
                        </a:rPr>
                        <a:t>43.52</a:t>
                      </a:r>
                      <a:endParaRPr sz="800"/>
                    </a:p>
                  </a:txBody>
                  <a:tcPr marL="36576" marR="36576" marT="0" marB="0" anchor="ctr">
                    <a:noFill/>
                  </a:tcPr>
                </a:tc>
                <a:tc>
                  <a:txBody>
                    <a:bodyPr wrap="none"/>
                    <a:lstStyle/>
                    <a:p>
                      <a:pPr algn="r"/>
                      <a:r>
                        <a:rPr sz="800" b="0" i="0">
                          <a:solidFill>
                            <a:srgbClr val="1F2937"/>
                          </a:solidFill>
                          <a:latin typeface="Arial"/>
                        </a:rPr>
                        <a:t>46.95</a:t>
                      </a:r>
                      <a:endParaRPr sz="800"/>
                    </a:p>
                  </a:txBody>
                  <a:tcPr marL="36576" marR="36576" marT="0" marB="0" anchor="ctr">
                    <a:noFill/>
                  </a:tcPr>
                </a:tc>
                <a:tc>
                  <a:txBody>
                    <a:bodyPr wrap="none"/>
                    <a:lstStyle/>
                    <a:p>
                      <a:pPr algn="r"/>
                      <a:r>
                        <a:rPr sz="800" b="0" i="0">
                          <a:solidFill>
                            <a:srgbClr val="1F2937"/>
                          </a:solidFill>
                          <a:latin typeface="Arial"/>
                        </a:rPr>
                        <a:t>41.73</a:t>
                      </a:r>
                      <a:endParaRPr sz="800"/>
                    </a:p>
                  </a:txBody>
                  <a:tcPr marL="36576" marR="36576" marT="0" marB="0" anchor="ctr">
                    <a:noFill/>
                  </a:tcPr>
                </a:tc>
                <a:tc>
                  <a:txBody>
                    <a:bodyPr wrap="none"/>
                    <a:lstStyle/>
                    <a:p>
                      <a:pPr algn="r"/>
                      <a:r>
                        <a:rPr sz="800" b="0" i="0">
                          <a:solidFill>
                            <a:srgbClr val="1F2937"/>
                          </a:solidFill>
                          <a:latin typeface="Arial"/>
                        </a:rPr>
                        <a:t>41.80</a:t>
                      </a:r>
                      <a:endParaRPr sz="800"/>
                    </a:p>
                  </a:txBody>
                  <a:tcPr marL="36576" marR="36576" marT="0" marB="0" anchor="ctr">
                    <a:noFill/>
                  </a:tcPr>
                </a:tc>
                <a:tc>
                  <a:txBody>
                    <a:bodyPr wrap="none"/>
                    <a:lstStyle/>
                    <a:p>
                      <a:pPr algn="r"/>
                      <a:r>
                        <a:rPr sz="800" b="0" i="0">
                          <a:solidFill>
                            <a:srgbClr val="1F2937"/>
                          </a:solidFill>
                          <a:latin typeface="Arial"/>
                        </a:rPr>
                        <a:t>42.66</a:t>
                      </a:r>
                      <a:endParaRPr sz="800"/>
                    </a:p>
                  </a:txBody>
                  <a:tcPr marL="36576" marR="36576" marT="0" marB="0" anchor="ctr">
                    <a:noFill/>
                  </a:tcPr>
                </a:tc>
                <a:tc>
                  <a:txBody>
                    <a:bodyPr wrap="none"/>
                    <a:lstStyle/>
                    <a:p>
                      <a:pPr algn="r"/>
                      <a:r>
                        <a:rPr sz="800" b="0" i="0">
                          <a:solidFill>
                            <a:srgbClr val="1F2937"/>
                          </a:solidFill>
                          <a:latin typeface="Arial"/>
                        </a:rPr>
                        <a:t>43.29</a:t>
                      </a:r>
                      <a:endParaRPr sz="800"/>
                    </a:p>
                  </a:txBody>
                  <a:tcPr marL="36576" marR="36576" marT="0" marB="0" anchor="ctr">
                    <a:noFill/>
                  </a:tcPr>
                </a:tc>
                <a:tc>
                  <a:txBody>
                    <a:bodyPr wrap="none"/>
                    <a:lstStyle/>
                    <a:p>
                      <a:pPr algn="r"/>
                      <a:r>
                        <a:rPr sz="800" b="0" i="0">
                          <a:solidFill>
                            <a:srgbClr val="1F2937"/>
                          </a:solidFill>
                          <a:latin typeface="Arial"/>
                        </a:rPr>
                        <a:t>24.81</a:t>
                      </a:r>
                      <a:endParaRPr sz="800"/>
                    </a:p>
                  </a:txBody>
                  <a:tcPr marL="36576" marR="36576" marT="0" marB="0" anchor="ctr">
                    <a:noFill/>
                  </a:tcPr>
                </a:tc>
              </a:tr>
              <a:tr h="208483">
                <a:tc>
                  <a:txBody>
                    <a:bodyPr wrap="none"/>
                    <a:lstStyle/>
                    <a:p>
                      <a:pPr algn="l"/>
                      <a:r>
                        <a:rPr sz="800" b="0" i="0">
                          <a:solidFill>
                            <a:srgbClr val="1F2937"/>
                          </a:solidFill>
                          <a:latin typeface="Arial"/>
                        </a:rPr>
                        <a:t>BRITS</a:t>
                      </a:r>
                      <a:endParaRPr sz="800"/>
                    </a:p>
                  </a:txBody>
                  <a:tcPr marL="36576" marR="36576" marT="0" marB="0" anchor="ctr">
                    <a:noFill/>
                  </a:tcPr>
                </a:tc>
                <a:tc>
                  <a:txBody>
                    <a:bodyPr wrap="none"/>
                    <a:lstStyle/>
                    <a:p>
                      <a:pPr algn="r"/>
                      <a:r>
                        <a:rPr sz="800" b="0" i="0">
                          <a:solidFill>
                            <a:srgbClr val="1F2937"/>
                          </a:solidFill>
                          <a:latin typeface="Arial"/>
                        </a:rPr>
                        <a:t>41.77</a:t>
                      </a:r>
                      <a:endParaRPr sz="800"/>
                    </a:p>
                  </a:txBody>
                  <a:tcPr marL="36576" marR="36576" marT="0" marB="0" anchor="ctr">
                    <a:noFill/>
                  </a:tcPr>
                </a:tc>
                <a:tc>
                  <a:txBody>
                    <a:bodyPr wrap="none"/>
                    <a:lstStyle/>
                    <a:p>
                      <a:pPr algn="r"/>
                      <a:r>
                        <a:rPr sz="800" b="0" i="0">
                          <a:solidFill>
                            <a:srgbClr val="1F2937"/>
                          </a:solidFill>
                          <a:latin typeface="Arial"/>
                        </a:rPr>
                        <a:t>41.87</a:t>
                      </a:r>
                      <a:endParaRPr sz="800"/>
                    </a:p>
                  </a:txBody>
                  <a:tcPr marL="36576" marR="36576" marT="0" marB="0" anchor="ctr">
                    <a:noFill/>
                  </a:tcPr>
                </a:tc>
                <a:tc>
                  <a:txBody>
                    <a:bodyPr wrap="none"/>
                    <a:lstStyle/>
                    <a:p>
                      <a:pPr algn="r"/>
                      <a:r>
                        <a:rPr sz="800" b="0" i="0">
                          <a:solidFill>
                            <a:srgbClr val="1F2937"/>
                          </a:solidFill>
                          <a:latin typeface="Arial"/>
                        </a:rPr>
                        <a:t>42.59</a:t>
                      </a:r>
                      <a:endParaRPr sz="800"/>
                    </a:p>
                  </a:txBody>
                  <a:tcPr marL="36576" marR="36576" marT="0" marB="0" anchor="ctr">
                    <a:noFill/>
                  </a:tcPr>
                </a:tc>
                <a:tc>
                  <a:txBody>
                    <a:bodyPr wrap="none"/>
                    <a:lstStyle/>
                    <a:p>
                      <a:pPr algn="r"/>
                      <a:r>
                        <a:rPr sz="800" b="0" i="0">
                          <a:solidFill>
                            <a:srgbClr val="1F2937"/>
                          </a:solidFill>
                          <a:latin typeface="Arial"/>
                        </a:rPr>
                        <a:t>43.47</a:t>
                      </a:r>
                      <a:endParaRPr sz="800"/>
                    </a:p>
                  </a:txBody>
                  <a:tcPr marL="36576" marR="36576" marT="0" marB="0" anchor="ctr">
                    <a:noFill/>
                  </a:tcPr>
                </a:tc>
                <a:tc>
                  <a:txBody>
                    <a:bodyPr wrap="none"/>
                    <a:lstStyle/>
                    <a:p>
                      <a:pPr algn="r"/>
                      <a:r>
                        <a:rPr sz="800" b="0" i="0">
                          <a:solidFill>
                            <a:srgbClr val="1F2937"/>
                          </a:solidFill>
                          <a:latin typeface="Arial"/>
                        </a:rPr>
                        <a:t>47.09</a:t>
                      </a:r>
                      <a:endParaRPr sz="800"/>
                    </a:p>
                  </a:txBody>
                  <a:tcPr marL="36576" marR="36576" marT="0" marB="0" anchor="ctr">
                    <a:noFill/>
                  </a:tcPr>
                </a:tc>
                <a:tc>
                  <a:txBody>
                    <a:bodyPr wrap="none"/>
                    <a:lstStyle/>
                    <a:p>
                      <a:pPr algn="r"/>
                      <a:r>
                        <a:rPr sz="800" b="0" i="0">
                          <a:solidFill>
                            <a:srgbClr val="1F2937"/>
                          </a:solidFill>
                          <a:latin typeface="Arial"/>
                        </a:rPr>
                        <a:t>41.75</a:t>
                      </a:r>
                      <a:endParaRPr sz="800"/>
                    </a:p>
                  </a:txBody>
                  <a:tcPr marL="36576" marR="36576" marT="0" marB="0" anchor="ctr">
                    <a:noFill/>
                  </a:tcPr>
                </a:tc>
                <a:tc>
                  <a:txBody>
                    <a:bodyPr wrap="none"/>
                    <a:lstStyle/>
                    <a:p>
                      <a:pPr algn="r"/>
                      <a:r>
                        <a:rPr sz="800" b="0" i="0">
                          <a:solidFill>
                            <a:srgbClr val="1F2937"/>
                          </a:solidFill>
                          <a:latin typeface="Arial"/>
                        </a:rPr>
                        <a:t>41.92</a:t>
                      </a:r>
                      <a:endParaRPr sz="800"/>
                    </a:p>
                  </a:txBody>
                  <a:tcPr marL="36576" marR="36576" marT="0" marB="0" anchor="ctr">
                    <a:noFill/>
                  </a:tcPr>
                </a:tc>
                <a:tc>
                  <a:txBody>
                    <a:bodyPr wrap="none"/>
                    <a:lstStyle/>
                    <a:p>
                      <a:pPr algn="r"/>
                      <a:r>
                        <a:rPr sz="800" b="0" i="0">
                          <a:solidFill>
                            <a:srgbClr val="1F2937"/>
                          </a:solidFill>
                          <a:latin typeface="Arial"/>
                        </a:rPr>
                        <a:t>42.37</a:t>
                      </a:r>
                      <a:endParaRPr sz="800"/>
                    </a:p>
                  </a:txBody>
                  <a:tcPr marL="36576" marR="36576" marT="0" marB="0" anchor="ctr">
                    <a:noFill/>
                  </a:tcPr>
                </a:tc>
                <a:tc>
                  <a:txBody>
                    <a:bodyPr wrap="none"/>
                    <a:lstStyle/>
                    <a:p>
                      <a:pPr algn="r"/>
                      <a:r>
                        <a:rPr sz="800" b="0" i="0">
                          <a:solidFill>
                            <a:srgbClr val="1F2937"/>
                          </a:solidFill>
                          <a:latin typeface="Arial"/>
                        </a:rPr>
                        <a:t>43.44</a:t>
                      </a:r>
                      <a:endParaRPr sz="800"/>
                    </a:p>
                  </a:txBody>
                  <a:tcPr marL="36576" marR="36576" marT="0" marB="0" anchor="ctr">
                    <a:noFill/>
                  </a:tcPr>
                </a:tc>
                <a:tc>
                  <a:txBody>
                    <a:bodyPr wrap="none"/>
                    <a:lstStyle/>
                    <a:p>
                      <a:pPr algn="r"/>
                      <a:r>
                        <a:rPr sz="800" b="0" i="0">
                          <a:solidFill>
                            <a:srgbClr val="1F2937"/>
                          </a:solidFill>
                          <a:latin typeface="Arial"/>
                        </a:rPr>
                        <a:t>46.36</a:t>
                      </a:r>
                      <a:endParaRPr sz="800"/>
                    </a:p>
                  </a:txBody>
                  <a:tcPr marL="36576" marR="36576" marT="0" marB="0" anchor="ctr">
                    <a:noFill/>
                  </a:tcPr>
                </a:tc>
                <a:tc>
                  <a:txBody>
                    <a:bodyPr wrap="none"/>
                    <a:lstStyle/>
                    <a:p>
                      <a:pPr algn="r"/>
                      <a:r>
                        <a:rPr sz="800" b="0" i="0">
                          <a:solidFill>
                            <a:srgbClr val="1F2937"/>
                          </a:solidFill>
                          <a:latin typeface="Arial"/>
                        </a:rPr>
                        <a:t>41.45</a:t>
                      </a:r>
                      <a:endParaRPr sz="800"/>
                    </a:p>
                  </a:txBody>
                  <a:tcPr marL="36576" marR="36576" marT="0" marB="0" anchor="ctr">
                    <a:noFill/>
                  </a:tcPr>
                </a:tc>
                <a:tc>
                  <a:txBody>
                    <a:bodyPr wrap="none"/>
                    <a:lstStyle/>
                    <a:p>
                      <a:pPr algn="r"/>
                      <a:r>
                        <a:rPr sz="800" b="0" i="0">
                          <a:solidFill>
                            <a:srgbClr val="1F2937"/>
                          </a:solidFill>
                          <a:latin typeface="Arial"/>
                        </a:rPr>
                        <a:t>41.56</a:t>
                      </a:r>
                      <a:endParaRPr sz="800"/>
                    </a:p>
                  </a:txBody>
                  <a:tcPr marL="36576" marR="36576" marT="0" marB="0" anchor="ctr">
                    <a:noFill/>
                  </a:tcPr>
                </a:tc>
                <a:tc>
                  <a:txBody>
                    <a:bodyPr wrap="none"/>
                    <a:lstStyle/>
                    <a:p>
                      <a:pPr algn="r"/>
                      <a:r>
                        <a:rPr sz="800" b="0" i="0">
                          <a:solidFill>
                            <a:srgbClr val="1F2937"/>
                          </a:solidFill>
                          <a:latin typeface="Arial"/>
                        </a:rPr>
                        <a:t>42.58</a:t>
                      </a:r>
                      <a:endParaRPr sz="800"/>
                    </a:p>
                  </a:txBody>
                  <a:tcPr marL="36576" marR="36576" marT="0" marB="0" anchor="ctr">
                    <a:noFill/>
                  </a:tcPr>
                </a:tc>
                <a:tc>
                  <a:txBody>
                    <a:bodyPr wrap="none"/>
                    <a:lstStyle/>
                    <a:p>
                      <a:pPr algn="r"/>
                      <a:r>
                        <a:rPr sz="800" b="0" i="0">
                          <a:solidFill>
                            <a:srgbClr val="1F2937"/>
                          </a:solidFill>
                          <a:latin typeface="Arial"/>
                        </a:rPr>
                        <a:t>40.36</a:t>
                      </a:r>
                      <a:endParaRPr sz="800"/>
                    </a:p>
                  </a:txBody>
                  <a:tcPr marL="36576" marR="36576" marT="0" marB="0" anchor="ctr">
                    <a:noFill/>
                  </a:tcPr>
                </a:tc>
                <a:tc>
                  <a:txBody>
                    <a:bodyPr wrap="none"/>
                    <a:lstStyle/>
                    <a:p>
                      <a:pPr algn="r"/>
                      <a:r>
                        <a:rPr sz="800" b="0" i="0">
                          <a:solidFill>
                            <a:srgbClr val="1F2937"/>
                          </a:solidFill>
                          <a:latin typeface="Arial"/>
                        </a:rPr>
                        <a:t>25.19</a:t>
                      </a:r>
                      <a:endParaRPr sz="800"/>
                    </a:p>
                  </a:txBody>
                  <a:tcPr marL="36576" marR="36576" marT="0" marB="0" anchor="ctr">
                    <a:noFill/>
                  </a:tcPr>
                </a:tc>
              </a:tr>
              <a:tr h="208483">
                <a:tc>
                  <a:txBody>
                    <a:bodyPr wrap="none"/>
                    <a:lstStyle/>
                    <a:p>
                      <a:pPr algn="l"/>
                      <a:r>
                        <a:rPr sz="800" b="0" i="0">
                          <a:solidFill>
                            <a:srgbClr val="1F2937"/>
                          </a:solidFill>
                          <a:latin typeface="Arial"/>
                        </a:rPr>
                        <a:t>CSDI</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41.77</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41.91</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42.72</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43.73</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48.54</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41.75</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41.92</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42.43</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43.78</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47.94</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42.06</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43.62</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43.27</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44.63</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25.01</a:t>
                      </a:r>
                      <a:endParaRPr sz="800"/>
                    </a:p>
                  </a:txBody>
                  <a:tcPr marL="36576" marR="36576" marT="0" marB="0" anchor="ctr">
                    <a:lnB w="6350">
                      <a:solidFill>
                        <a:srgbClr val="D0D5DD"/>
                      </a:solidFill>
                    </a:lnB>
                    <a:noFill/>
                  </a:tcPr>
                </a:tc>
              </a:tr>
              <a:tr h="208483">
                <a:tc gridSpan="16">
                  <a:txBody>
                    <a:bodyPr wrap="none"/>
                    <a:lstStyle/>
                    <a:p>
                      <a:pPr algn="l"/>
                      <a:r>
                        <a:rPr sz="800" b="1" i="0">
                          <a:solidFill>
                            <a:srgbClr val="1F2937"/>
                          </a:solidFill>
                          <a:latin typeface="Arial"/>
                        </a:rPr>
                        <a:t>Variance share of the first five (%)</a:t>
                      </a:r>
                      <a:r>
                        <a:rPr sz="800" b="0" i="0">
                          <a:solidFill>
                            <a:srgbClr val="1F2937"/>
                          </a:solidFill>
                          <a:latin typeface="Arial"/>
                        </a:rPr>
                        <a:t>  </a:t>
                      </a:r>
                      <a:r>
                        <a:rPr sz="800" b="0" i="0">
                          <a:solidFill>
                            <a:srgbClr val="6B7280"/>
                          </a:solidFill>
                          <a:latin typeface="Arial"/>
                        </a:rPr>
                        <a:t>(true 60.02)</a:t>
                      </a: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r>
              <a:tr h="208483">
                <a:tc>
                  <a:txBody>
                    <a:bodyPr wrap="none"/>
                    <a:lstStyle/>
                    <a:p>
                      <a:pPr algn="l"/>
                      <a:r>
                        <a:rPr sz="800" b="0" i="0">
                          <a:solidFill>
                            <a:srgbClr val="1F2937"/>
                          </a:solidFill>
                          <a:latin typeface="Arial"/>
                        </a:rPr>
                        <a:t>KNN</a:t>
                      </a:r>
                      <a:endParaRPr sz="800"/>
                    </a:p>
                  </a:txBody>
                  <a:tcPr marL="36576" marR="36576" marT="0" marB="0" anchor="ctr">
                    <a:noFill/>
                  </a:tcPr>
                </a:tc>
                <a:tc>
                  <a:txBody>
                    <a:bodyPr wrap="none"/>
                    <a:lstStyle/>
                    <a:p>
                      <a:pPr algn="r"/>
                      <a:r>
                        <a:rPr sz="800" b="0" i="0">
                          <a:solidFill>
                            <a:srgbClr val="1F2937"/>
                          </a:solidFill>
                          <a:latin typeface="Arial"/>
                        </a:rPr>
                        <a:t>60.04</a:t>
                      </a:r>
                      <a:endParaRPr sz="800"/>
                    </a:p>
                  </a:txBody>
                  <a:tcPr marL="36576" marR="36576" marT="0" marB="0" anchor="ctr">
                    <a:noFill/>
                  </a:tcPr>
                </a:tc>
                <a:tc>
                  <a:txBody>
                    <a:bodyPr wrap="none"/>
                    <a:lstStyle/>
                    <a:p>
                      <a:pPr algn="r"/>
                      <a:r>
                        <a:rPr sz="800" b="0" i="0">
                          <a:solidFill>
                            <a:srgbClr val="1F2937"/>
                          </a:solidFill>
                          <a:latin typeface="Arial"/>
                        </a:rPr>
                        <a:t>60.09</a:t>
                      </a:r>
                      <a:endParaRPr sz="800"/>
                    </a:p>
                  </a:txBody>
                  <a:tcPr marL="36576" marR="36576" marT="0" marB="0" anchor="ctr">
                    <a:noFill/>
                  </a:tcPr>
                </a:tc>
                <a:tc>
                  <a:txBody>
                    <a:bodyPr wrap="none"/>
                    <a:lstStyle/>
                    <a:p>
                      <a:pPr algn="r"/>
                      <a:r>
                        <a:rPr sz="800" b="0" i="0">
                          <a:solidFill>
                            <a:srgbClr val="1F2937"/>
                          </a:solidFill>
                          <a:latin typeface="Arial"/>
                        </a:rPr>
                        <a:t>60.32</a:t>
                      </a:r>
                      <a:endParaRPr sz="800"/>
                    </a:p>
                  </a:txBody>
                  <a:tcPr marL="36576" marR="36576" marT="0" marB="0" anchor="ctr">
                    <a:noFill/>
                  </a:tcPr>
                </a:tc>
                <a:tc>
                  <a:txBody>
                    <a:bodyPr wrap="none"/>
                    <a:lstStyle/>
                    <a:p>
                      <a:pPr algn="r"/>
                      <a:r>
                        <a:rPr sz="800" b="0" i="0">
                          <a:solidFill>
                            <a:srgbClr val="1F2937"/>
                          </a:solidFill>
                          <a:latin typeface="Arial"/>
                        </a:rPr>
                        <a:t>60.35</a:t>
                      </a:r>
                      <a:endParaRPr sz="800"/>
                    </a:p>
                  </a:txBody>
                  <a:tcPr marL="36576" marR="36576" marT="0" marB="0" anchor="ctr">
                    <a:noFill/>
                  </a:tcPr>
                </a:tc>
                <a:tc>
                  <a:txBody>
                    <a:bodyPr wrap="none"/>
                    <a:lstStyle/>
                    <a:p>
                      <a:pPr algn="r"/>
                      <a:r>
                        <a:rPr sz="800" b="0" i="0">
                          <a:solidFill>
                            <a:srgbClr val="1F2937"/>
                          </a:solidFill>
                          <a:latin typeface="Arial"/>
                        </a:rPr>
                        <a:t>61.19</a:t>
                      </a:r>
                      <a:endParaRPr sz="800"/>
                    </a:p>
                  </a:txBody>
                  <a:tcPr marL="36576" marR="36576" marT="0" marB="0" anchor="ctr">
                    <a:noFill/>
                  </a:tcPr>
                </a:tc>
                <a:tc>
                  <a:txBody>
                    <a:bodyPr wrap="none"/>
                    <a:lstStyle/>
                    <a:p>
                      <a:pPr algn="r"/>
                      <a:r>
                        <a:rPr sz="800" b="0" i="0">
                          <a:solidFill>
                            <a:srgbClr val="1F2937"/>
                          </a:solidFill>
                          <a:latin typeface="Arial"/>
                        </a:rPr>
                        <a:t>60.02</a:t>
                      </a:r>
                      <a:endParaRPr sz="800"/>
                    </a:p>
                  </a:txBody>
                  <a:tcPr marL="36576" marR="36576" marT="0" marB="0" anchor="ctr">
                    <a:noFill/>
                  </a:tcPr>
                </a:tc>
                <a:tc>
                  <a:txBody>
                    <a:bodyPr wrap="none"/>
                    <a:lstStyle/>
                    <a:p>
                      <a:pPr algn="r"/>
                      <a:r>
                        <a:rPr sz="800" b="0" i="0">
                          <a:solidFill>
                            <a:srgbClr val="1F2937"/>
                          </a:solidFill>
                          <a:latin typeface="Arial"/>
                        </a:rPr>
                        <a:t>60.15</a:t>
                      </a:r>
                      <a:endParaRPr sz="800"/>
                    </a:p>
                  </a:txBody>
                  <a:tcPr marL="36576" marR="36576" marT="0" marB="0" anchor="ctr">
                    <a:noFill/>
                  </a:tcPr>
                </a:tc>
                <a:tc>
                  <a:txBody>
                    <a:bodyPr wrap="none"/>
                    <a:lstStyle/>
                    <a:p>
                      <a:pPr algn="r"/>
                      <a:r>
                        <a:rPr sz="800" b="0" i="0">
                          <a:solidFill>
                            <a:srgbClr val="1F2937"/>
                          </a:solidFill>
                          <a:latin typeface="Arial"/>
                        </a:rPr>
                        <a:t>60.21</a:t>
                      </a:r>
                      <a:endParaRPr sz="800"/>
                    </a:p>
                  </a:txBody>
                  <a:tcPr marL="36576" marR="36576" marT="0" marB="0" anchor="ctr">
                    <a:noFill/>
                  </a:tcPr>
                </a:tc>
                <a:tc>
                  <a:txBody>
                    <a:bodyPr wrap="none"/>
                    <a:lstStyle/>
                    <a:p>
                      <a:pPr algn="r"/>
                      <a:r>
                        <a:rPr sz="800" b="0" i="0">
                          <a:solidFill>
                            <a:srgbClr val="1F2937"/>
                          </a:solidFill>
                          <a:latin typeface="Arial"/>
                        </a:rPr>
                        <a:t>60.62</a:t>
                      </a:r>
                      <a:endParaRPr sz="800"/>
                    </a:p>
                  </a:txBody>
                  <a:tcPr marL="36576" marR="36576" marT="0" marB="0" anchor="ctr">
                    <a:noFill/>
                  </a:tcPr>
                </a:tc>
                <a:tc>
                  <a:txBody>
                    <a:bodyPr wrap="none"/>
                    <a:lstStyle/>
                    <a:p>
                      <a:pPr algn="r"/>
                      <a:r>
                        <a:rPr sz="800" b="0" i="0">
                          <a:solidFill>
                            <a:srgbClr val="1F2937"/>
                          </a:solidFill>
                          <a:latin typeface="Arial"/>
                        </a:rPr>
                        <a:t>60.92</a:t>
                      </a:r>
                      <a:endParaRPr sz="800"/>
                    </a:p>
                  </a:txBody>
                  <a:tcPr marL="36576" marR="36576" marT="0" marB="0" anchor="ctr">
                    <a:noFill/>
                  </a:tcPr>
                </a:tc>
                <a:tc>
                  <a:txBody>
                    <a:bodyPr wrap="none"/>
                    <a:lstStyle/>
                    <a:p>
                      <a:pPr algn="r"/>
                      <a:r>
                        <a:rPr sz="800" b="0" i="0">
                          <a:solidFill>
                            <a:srgbClr val="1F2937"/>
                          </a:solidFill>
                          <a:latin typeface="Arial"/>
                        </a:rPr>
                        <a:t>59.70</a:t>
                      </a:r>
                      <a:endParaRPr sz="800"/>
                    </a:p>
                  </a:txBody>
                  <a:tcPr marL="36576" marR="36576" marT="0" marB="0" anchor="ctr">
                    <a:noFill/>
                  </a:tcPr>
                </a:tc>
                <a:tc>
                  <a:txBody>
                    <a:bodyPr wrap="none"/>
                    <a:lstStyle/>
                    <a:p>
                      <a:pPr algn="r"/>
                      <a:r>
                        <a:rPr sz="800" b="0" i="0">
                          <a:solidFill>
                            <a:srgbClr val="1F2937"/>
                          </a:solidFill>
                          <a:latin typeface="Arial"/>
                        </a:rPr>
                        <a:t>58.28</a:t>
                      </a:r>
                      <a:endParaRPr sz="800"/>
                    </a:p>
                  </a:txBody>
                  <a:tcPr marL="36576" marR="36576" marT="0" marB="0" anchor="ctr">
                    <a:noFill/>
                  </a:tcPr>
                </a:tc>
                <a:tc>
                  <a:txBody>
                    <a:bodyPr wrap="none"/>
                    <a:lstStyle/>
                    <a:p>
                      <a:pPr algn="r"/>
                      <a:r>
                        <a:rPr sz="800" b="0" i="0">
                          <a:solidFill>
                            <a:srgbClr val="1F2937"/>
                          </a:solidFill>
                          <a:latin typeface="Arial"/>
                        </a:rPr>
                        <a:t>59.49</a:t>
                      </a:r>
                      <a:endParaRPr sz="800"/>
                    </a:p>
                  </a:txBody>
                  <a:tcPr marL="36576" marR="36576" marT="0" marB="0" anchor="ctr">
                    <a:noFill/>
                  </a:tcPr>
                </a:tc>
                <a:tc>
                  <a:txBody>
                    <a:bodyPr wrap="none"/>
                    <a:lstStyle/>
                    <a:p>
                      <a:pPr algn="r"/>
                      <a:r>
                        <a:rPr sz="800" b="0" i="0">
                          <a:solidFill>
                            <a:srgbClr val="1F2937"/>
                          </a:solidFill>
                          <a:latin typeface="Arial"/>
                        </a:rPr>
                        <a:t>57.71</a:t>
                      </a:r>
                      <a:endParaRPr sz="800"/>
                    </a:p>
                  </a:txBody>
                  <a:tcPr marL="36576" marR="36576" marT="0" marB="0" anchor="ctr">
                    <a:noFill/>
                  </a:tcPr>
                </a:tc>
                <a:tc>
                  <a:txBody>
                    <a:bodyPr wrap="none"/>
                    <a:lstStyle/>
                    <a:p>
                      <a:pPr algn="r"/>
                      <a:r>
                        <a:rPr sz="800" b="0" i="0">
                          <a:solidFill>
                            <a:srgbClr val="1F2937"/>
                          </a:solidFill>
                          <a:latin typeface="Arial"/>
                        </a:rPr>
                        <a:t>--</a:t>
                      </a:r>
                      <a:endParaRPr sz="800"/>
                    </a:p>
                  </a:txBody>
                  <a:tcPr marL="36576" marR="36576" marT="0" marB="0" anchor="ctr">
                    <a:noFill/>
                  </a:tcPr>
                </a:tc>
              </a:tr>
              <a:tr h="208483">
                <a:tc>
                  <a:txBody>
                    <a:bodyPr wrap="none"/>
                    <a:lstStyle/>
                    <a:p>
                      <a:pPr algn="l"/>
                      <a:r>
                        <a:rPr sz="800" b="0" i="0">
                          <a:solidFill>
                            <a:srgbClr val="1F2937"/>
                          </a:solidFill>
                          <a:latin typeface="Arial"/>
                        </a:rPr>
                        <a:t>LowRank</a:t>
                      </a:r>
                      <a:endParaRPr sz="800"/>
                    </a:p>
                  </a:txBody>
                  <a:tcPr marL="36576" marR="36576" marT="0" marB="0" anchor="ctr">
                    <a:noFill/>
                  </a:tcPr>
                </a:tc>
                <a:tc>
                  <a:txBody>
                    <a:bodyPr wrap="none"/>
                    <a:lstStyle/>
                    <a:p>
                      <a:pPr algn="r"/>
                      <a:r>
                        <a:rPr sz="800" b="0" i="0">
                          <a:solidFill>
                            <a:srgbClr val="1F2937"/>
                          </a:solidFill>
                          <a:latin typeface="Arial"/>
                        </a:rPr>
                        <a:t>60.06</a:t>
                      </a:r>
                      <a:endParaRPr sz="800"/>
                    </a:p>
                  </a:txBody>
                  <a:tcPr marL="36576" marR="36576" marT="0" marB="0" anchor="ctr">
                    <a:noFill/>
                  </a:tcPr>
                </a:tc>
                <a:tc>
                  <a:txBody>
                    <a:bodyPr wrap="none"/>
                    <a:lstStyle/>
                    <a:p>
                      <a:pPr algn="r"/>
                      <a:r>
                        <a:rPr sz="800" b="0" i="0">
                          <a:solidFill>
                            <a:srgbClr val="1F2937"/>
                          </a:solidFill>
                          <a:latin typeface="Arial"/>
                        </a:rPr>
                        <a:t>60.26</a:t>
                      </a:r>
                      <a:endParaRPr sz="800"/>
                    </a:p>
                  </a:txBody>
                  <a:tcPr marL="36576" marR="36576" marT="0" marB="0" anchor="ctr">
                    <a:noFill/>
                  </a:tcPr>
                </a:tc>
                <a:tc>
                  <a:txBody>
                    <a:bodyPr wrap="none"/>
                    <a:lstStyle/>
                    <a:p>
                      <a:pPr algn="r"/>
                      <a:r>
                        <a:rPr sz="800" b="0" i="0">
                          <a:solidFill>
                            <a:srgbClr val="1F2937"/>
                          </a:solidFill>
                          <a:latin typeface="Arial"/>
                        </a:rPr>
                        <a:t>61.37</a:t>
                      </a:r>
                      <a:endParaRPr sz="800"/>
                    </a:p>
                  </a:txBody>
                  <a:tcPr marL="36576" marR="36576" marT="0" marB="0" anchor="ctr">
                    <a:noFill/>
                  </a:tcPr>
                </a:tc>
                <a:tc>
                  <a:txBody>
                    <a:bodyPr wrap="none"/>
                    <a:lstStyle/>
                    <a:p>
                      <a:pPr algn="r"/>
                      <a:r>
                        <a:rPr sz="800" b="0" i="0">
                          <a:solidFill>
                            <a:srgbClr val="1F2937"/>
                          </a:solidFill>
                          <a:latin typeface="Arial"/>
                        </a:rPr>
                        <a:t>62.56</a:t>
                      </a:r>
                      <a:endParaRPr sz="800"/>
                    </a:p>
                  </a:txBody>
                  <a:tcPr marL="36576" marR="36576" marT="0" marB="0" anchor="ctr">
                    <a:noFill/>
                  </a:tcPr>
                </a:tc>
                <a:tc>
                  <a:txBody>
                    <a:bodyPr wrap="none"/>
                    <a:lstStyle/>
                    <a:p>
                      <a:pPr algn="r"/>
                      <a:r>
                        <a:rPr sz="800" b="0" i="0">
                          <a:solidFill>
                            <a:srgbClr val="1F2937"/>
                          </a:solidFill>
                          <a:latin typeface="Arial"/>
                        </a:rPr>
                        <a:t>69.35</a:t>
                      </a:r>
                      <a:endParaRPr sz="800"/>
                    </a:p>
                  </a:txBody>
                  <a:tcPr marL="36576" marR="36576" marT="0" marB="0" anchor="ctr">
                    <a:noFill/>
                  </a:tcPr>
                </a:tc>
                <a:tc>
                  <a:txBody>
                    <a:bodyPr wrap="none"/>
                    <a:lstStyle/>
                    <a:p>
                      <a:pPr algn="r"/>
                      <a:r>
                        <a:rPr sz="800" b="0" i="0">
                          <a:solidFill>
                            <a:srgbClr val="1F2937"/>
                          </a:solidFill>
                          <a:latin typeface="Arial"/>
                        </a:rPr>
                        <a:t>60.03</a:t>
                      </a:r>
                      <a:endParaRPr sz="800"/>
                    </a:p>
                  </a:txBody>
                  <a:tcPr marL="36576" marR="36576" marT="0" marB="0" anchor="ctr">
                    <a:noFill/>
                  </a:tcPr>
                </a:tc>
                <a:tc>
                  <a:txBody>
                    <a:bodyPr wrap="none"/>
                    <a:lstStyle/>
                    <a:p>
                      <a:pPr algn="r"/>
                      <a:r>
                        <a:rPr sz="800" b="0" i="0">
                          <a:solidFill>
                            <a:srgbClr val="1F2937"/>
                          </a:solidFill>
                          <a:latin typeface="Arial"/>
                        </a:rPr>
                        <a:t>60.26</a:t>
                      </a:r>
                      <a:endParaRPr sz="800"/>
                    </a:p>
                  </a:txBody>
                  <a:tcPr marL="36576" marR="36576" marT="0" marB="0" anchor="ctr">
                    <a:noFill/>
                  </a:tcPr>
                </a:tc>
                <a:tc>
                  <a:txBody>
                    <a:bodyPr wrap="none"/>
                    <a:lstStyle/>
                    <a:p>
                      <a:pPr algn="r"/>
                      <a:r>
                        <a:rPr sz="800" b="0" i="0">
                          <a:solidFill>
                            <a:srgbClr val="1F2937"/>
                          </a:solidFill>
                          <a:latin typeface="Arial"/>
                        </a:rPr>
                        <a:t>61.07</a:t>
                      </a:r>
                      <a:endParaRPr sz="800"/>
                    </a:p>
                  </a:txBody>
                  <a:tcPr marL="36576" marR="36576" marT="0" marB="0" anchor="ctr">
                    <a:noFill/>
                  </a:tcPr>
                </a:tc>
                <a:tc>
                  <a:txBody>
                    <a:bodyPr wrap="none"/>
                    <a:lstStyle/>
                    <a:p>
                      <a:pPr algn="r"/>
                      <a:r>
                        <a:rPr sz="800" b="0" i="0">
                          <a:solidFill>
                            <a:srgbClr val="1F2937"/>
                          </a:solidFill>
                          <a:latin typeface="Arial"/>
                        </a:rPr>
                        <a:t>62.50</a:t>
                      </a:r>
                      <a:endParaRPr sz="800"/>
                    </a:p>
                  </a:txBody>
                  <a:tcPr marL="36576" marR="36576" marT="0" marB="0" anchor="ctr">
                    <a:noFill/>
                  </a:tcPr>
                </a:tc>
                <a:tc>
                  <a:txBody>
                    <a:bodyPr wrap="none"/>
                    <a:lstStyle/>
                    <a:p>
                      <a:pPr algn="r"/>
                      <a:r>
                        <a:rPr sz="800" b="0" i="0">
                          <a:solidFill>
                            <a:srgbClr val="1F2937"/>
                          </a:solidFill>
                          <a:latin typeface="Arial"/>
                        </a:rPr>
                        <a:t>67.76</a:t>
                      </a:r>
                      <a:endParaRPr sz="800"/>
                    </a:p>
                  </a:txBody>
                  <a:tcPr marL="36576" marR="36576" marT="0" marB="0" anchor="ctr">
                    <a:noFill/>
                  </a:tcPr>
                </a:tc>
                <a:tc>
                  <a:txBody>
                    <a:bodyPr wrap="none"/>
                    <a:lstStyle/>
                    <a:p>
                      <a:pPr algn="r"/>
                      <a:r>
                        <a:rPr sz="800" b="0" i="0">
                          <a:solidFill>
                            <a:srgbClr val="1F2937"/>
                          </a:solidFill>
                          <a:latin typeface="Arial"/>
                        </a:rPr>
                        <a:t>60.12</a:t>
                      </a:r>
                      <a:endParaRPr sz="800"/>
                    </a:p>
                  </a:txBody>
                  <a:tcPr marL="36576" marR="36576" marT="0" marB="0" anchor="ctr">
                    <a:noFill/>
                  </a:tcPr>
                </a:tc>
                <a:tc>
                  <a:txBody>
                    <a:bodyPr wrap="none"/>
                    <a:lstStyle/>
                    <a:p>
                      <a:pPr algn="r"/>
                      <a:r>
                        <a:rPr sz="800" b="0" i="0">
                          <a:solidFill>
                            <a:srgbClr val="1F2937"/>
                          </a:solidFill>
                          <a:latin typeface="Arial"/>
                        </a:rPr>
                        <a:t>60.67</a:t>
                      </a:r>
                      <a:endParaRPr sz="800"/>
                    </a:p>
                  </a:txBody>
                  <a:tcPr marL="36576" marR="36576" marT="0" marB="0" anchor="ctr">
                    <a:noFill/>
                  </a:tcPr>
                </a:tc>
                <a:tc>
                  <a:txBody>
                    <a:bodyPr wrap="none"/>
                    <a:lstStyle/>
                    <a:p>
                      <a:pPr algn="r"/>
                      <a:r>
                        <a:rPr sz="800" b="0" i="0">
                          <a:solidFill>
                            <a:srgbClr val="1F2937"/>
                          </a:solidFill>
                          <a:latin typeface="Arial"/>
                        </a:rPr>
                        <a:t>61.36</a:t>
                      </a:r>
                      <a:endParaRPr sz="800"/>
                    </a:p>
                  </a:txBody>
                  <a:tcPr marL="36576" marR="36576" marT="0" marB="0" anchor="ctr">
                    <a:noFill/>
                  </a:tcPr>
                </a:tc>
                <a:tc>
                  <a:txBody>
                    <a:bodyPr wrap="none"/>
                    <a:lstStyle/>
                    <a:p>
                      <a:pPr algn="r"/>
                      <a:r>
                        <a:rPr sz="800" b="0" i="0">
                          <a:solidFill>
                            <a:srgbClr val="1F2937"/>
                          </a:solidFill>
                          <a:latin typeface="Arial"/>
                        </a:rPr>
                        <a:t>63.34</a:t>
                      </a:r>
                      <a:endParaRPr sz="800"/>
                    </a:p>
                  </a:txBody>
                  <a:tcPr marL="36576" marR="36576" marT="0" marB="0" anchor="ctr">
                    <a:noFill/>
                  </a:tcPr>
                </a:tc>
                <a:tc>
                  <a:txBody>
                    <a:bodyPr wrap="none"/>
                    <a:lstStyle/>
                    <a:p>
                      <a:pPr algn="r"/>
                      <a:r>
                        <a:rPr sz="800" b="0" i="0">
                          <a:solidFill>
                            <a:srgbClr val="1F2937"/>
                          </a:solidFill>
                          <a:latin typeface="Arial"/>
                        </a:rPr>
                        <a:t>51.75</a:t>
                      </a:r>
                      <a:endParaRPr sz="800"/>
                    </a:p>
                  </a:txBody>
                  <a:tcPr marL="36576" marR="36576" marT="0" marB="0" anchor="ctr">
                    <a:noFill/>
                  </a:tcPr>
                </a:tc>
              </a:tr>
              <a:tr h="208483">
                <a:tc>
                  <a:txBody>
                    <a:bodyPr wrap="none"/>
                    <a:lstStyle/>
                    <a:p>
                      <a:pPr algn="l"/>
                      <a:r>
                        <a:rPr sz="800" b="0" i="0">
                          <a:solidFill>
                            <a:srgbClr val="1F2937"/>
                          </a:solidFill>
                          <a:latin typeface="Arial"/>
                        </a:rPr>
                        <a:t>EM</a:t>
                      </a:r>
                      <a:endParaRPr sz="800"/>
                    </a:p>
                  </a:txBody>
                  <a:tcPr marL="36576" marR="36576" marT="0" marB="0" anchor="ctr">
                    <a:noFill/>
                  </a:tcPr>
                </a:tc>
                <a:tc>
                  <a:txBody>
                    <a:bodyPr wrap="none"/>
                    <a:lstStyle/>
                    <a:p>
                      <a:pPr algn="r"/>
                      <a:r>
                        <a:rPr sz="800" b="0" i="0">
                          <a:solidFill>
                            <a:srgbClr val="1F2937"/>
                          </a:solidFill>
                          <a:latin typeface="Arial"/>
                        </a:rPr>
                        <a:t>60.06</a:t>
                      </a:r>
                      <a:endParaRPr sz="800"/>
                    </a:p>
                  </a:txBody>
                  <a:tcPr marL="36576" marR="36576" marT="0" marB="0" anchor="ctr">
                    <a:noFill/>
                  </a:tcPr>
                </a:tc>
                <a:tc>
                  <a:txBody>
                    <a:bodyPr wrap="none"/>
                    <a:lstStyle/>
                    <a:p>
                      <a:pPr algn="r"/>
                      <a:r>
                        <a:rPr sz="800" b="0" i="0">
                          <a:solidFill>
                            <a:srgbClr val="1F2937"/>
                          </a:solidFill>
                          <a:latin typeface="Arial"/>
                        </a:rPr>
                        <a:t>60.22</a:t>
                      </a:r>
                      <a:endParaRPr sz="800"/>
                    </a:p>
                  </a:txBody>
                  <a:tcPr marL="36576" marR="36576" marT="0" marB="0" anchor="ctr">
                    <a:noFill/>
                  </a:tcPr>
                </a:tc>
                <a:tc>
                  <a:txBody>
                    <a:bodyPr wrap="none"/>
                    <a:lstStyle/>
                    <a:p>
                      <a:pPr algn="r"/>
                      <a:r>
                        <a:rPr sz="800" b="0" i="0">
                          <a:solidFill>
                            <a:srgbClr val="1F2937"/>
                          </a:solidFill>
                          <a:latin typeface="Arial"/>
                        </a:rPr>
                        <a:t>61.19</a:t>
                      </a:r>
                      <a:endParaRPr sz="800"/>
                    </a:p>
                  </a:txBody>
                  <a:tcPr marL="36576" marR="36576" marT="0" marB="0" anchor="ctr">
                    <a:noFill/>
                  </a:tcPr>
                </a:tc>
                <a:tc>
                  <a:txBody>
                    <a:bodyPr wrap="none"/>
                    <a:lstStyle/>
                    <a:p>
                      <a:pPr algn="r"/>
                      <a:r>
                        <a:rPr sz="800" b="0" i="0">
                          <a:solidFill>
                            <a:srgbClr val="1F2937"/>
                          </a:solidFill>
                          <a:latin typeface="Arial"/>
                        </a:rPr>
                        <a:t>62.05</a:t>
                      </a:r>
                      <a:endParaRPr sz="800"/>
                    </a:p>
                  </a:txBody>
                  <a:tcPr marL="36576" marR="36576" marT="0" marB="0" anchor="ctr">
                    <a:noFill/>
                  </a:tcPr>
                </a:tc>
                <a:tc>
                  <a:txBody>
                    <a:bodyPr wrap="none"/>
                    <a:lstStyle/>
                    <a:p>
                      <a:pPr algn="r"/>
                      <a:r>
                        <a:rPr sz="800" b="0" i="0">
                          <a:solidFill>
                            <a:srgbClr val="1F2937"/>
                          </a:solidFill>
                          <a:latin typeface="Arial"/>
                        </a:rPr>
                        <a:t>67.16</a:t>
                      </a:r>
                      <a:endParaRPr sz="800"/>
                    </a:p>
                  </a:txBody>
                  <a:tcPr marL="36576" marR="36576" marT="0" marB="0" anchor="ctr">
                    <a:noFill/>
                  </a:tcPr>
                </a:tc>
                <a:tc>
                  <a:txBody>
                    <a:bodyPr wrap="none"/>
                    <a:lstStyle/>
                    <a:p>
                      <a:pPr algn="r"/>
                      <a:r>
                        <a:rPr sz="800" b="0" i="0">
                          <a:solidFill>
                            <a:srgbClr val="1F2937"/>
                          </a:solidFill>
                          <a:latin typeface="Arial"/>
                        </a:rPr>
                        <a:t>60.03</a:t>
                      </a:r>
                      <a:endParaRPr sz="800"/>
                    </a:p>
                  </a:txBody>
                  <a:tcPr marL="36576" marR="36576" marT="0" marB="0" anchor="ctr">
                    <a:noFill/>
                  </a:tcPr>
                </a:tc>
                <a:tc>
                  <a:txBody>
                    <a:bodyPr wrap="none"/>
                    <a:lstStyle/>
                    <a:p>
                      <a:pPr algn="r"/>
                      <a:r>
                        <a:rPr sz="800" b="0" i="0">
                          <a:solidFill>
                            <a:srgbClr val="1F2937"/>
                          </a:solidFill>
                          <a:latin typeface="Arial"/>
                        </a:rPr>
                        <a:t>60.24</a:t>
                      </a:r>
                      <a:endParaRPr sz="800"/>
                    </a:p>
                  </a:txBody>
                  <a:tcPr marL="36576" marR="36576" marT="0" marB="0" anchor="ctr">
                    <a:noFill/>
                  </a:tcPr>
                </a:tc>
                <a:tc>
                  <a:txBody>
                    <a:bodyPr wrap="none"/>
                    <a:lstStyle/>
                    <a:p>
                      <a:pPr algn="r"/>
                      <a:r>
                        <a:rPr sz="800" b="0" i="0">
                          <a:solidFill>
                            <a:srgbClr val="1F2937"/>
                          </a:solidFill>
                          <a:latin typeface="Arial"/>
                        </a:rPr>
                        <a:t>60.88</a:t>
                      </a:r>
                      <a:endParaRPr sz="800"/>
                    </a:p>
                  </a:txBody>
                  <a:tcPr marL="36576" marR="36576" marT="0" marB="0" anchor="ctr">
                    <a:noFill/>
                  </a:tcPr>
                </a:tc>
                <a:tc>
                  <a:txBody>
                    <a:bodyPr wrap="none"/>
                    <a:lstStyle/>
                    <a:p>
                      <a:pPr algn="r"/>
                      <a:r>
                        <a:rPr sz="800" b="0" i="0">
                          <a:solidFill>
                            <a:srgbClr val="1F2937"/>
                          </a:solidFill>
                          <a:latin typeface="Arial"/>
                        </a:rPr>
                        <a:t>62.14</a:t>
                      </a:r>
                      <a:endParaRPr sz="800"/>
                    </a:p>
                  </a:txBody>
                  <a:tcPr marL="36576" marR="36576" marT="0" marB="0" anchor="ctr">
                    <a:noFill/>
                  </a:tcPr>
                </a:tc>
                <a:tc>
                  <a:txBody>
                    <a:bodyPr wrap="none"/>
                    <a:lstStyle/>
                    <a:p>
                      <a:pPr algn="r"/>
                      <a:r>
                        <a:rPr sz="800" b="0" i="0">
                          <a:solidFill>
                            <a:srgbClr val="1F2937"/>
                          </a:solidFill>
                          <a:latin typeface="Arial"/>
                        </a:rPr>
                        <a:t>66.09</a:t>
                      </a:r>
                      <a:endParaRPr sz="800"/>
                    </a:p>
                  </a:txBody>
                  <a:tcPr marL="36576" marR="36576" marT="0" marB="0" anchor="ctr">
                    <a:noFill/>
                  </a:tcPr>
                </a:tc>
                <a:tc>
                  <a:txBody>
                    <a:bodyPr wrap="none"/>
                    <a:lstStyle/>
                    <a:p>
                      <a:pPr algn="r"/>
                      <a:r>
                        <a:rPr sz="800" b="0" i="0">
                          <a:solidFill>
                            <a:srgbClr val="1F2937"/>
                          </a:solidFill>
                          <a:latin typeface="Arial"/>
                        </a:rPr>
                        <a:t>60.07</a:t>
                      </a:r>
                      <a:endParaRPr sz="800"/>
                    </a:p>
                  </a:txBody>
                  <a:tcPr marL="36576" marR="36576" marT="0" marB="0" anchor="ctr">
                    <a:noFill/>
                  </a:tcPr>
                </a:tc>
                <a:tc>
                  <a:txBody>
                    <a:bodyPr wrap="none"/>
                    <a:lstStyle/>
                    <a:p>
                      <a:pPr algn="r"/>
                      <a:r>
                        <a:rPr sz="800" b="0" i="0">
                          <a:solidFill>
                            <a:srgbClr val="1F2937"/>
                          </a:solidFill>
                          <a:latin typeface="Arial"/>
                        </a:rPr>
                        <a:t>60.14</a:t>
                      </a:r>
                      <a:endParaRPr sz="800"/>
                    </a:p>
                  </a:txBody>
                  <a:tcPr marL="36576" marR="36576" marT="0" marB="0" anchor="ctr">
                    <a:noFill/>
                  </a:tcPr>
                </a:tc>
                <a:tc>
                  <a:txBody>
                    <a:bodyPr wrap="none"/>
                    <a:lstStyle/>
                    <a:p>
                      <a:pPr algn="r"/>
                      <a:r>
                        <a:rPr sz="800" b="0" i="0">
                          <a:solidFill>
                            <a:srgbClr val="1F2937"/>
                          </a:solidFill>
                          <a:latin typeface="Arial"/>
                        </a:rPr>
                        <a:t>61.03</a:t>
                      </a:r>
                      <a:endParaRPr sz="800"/>
                    </a:p>
                  </a:txBody>
                  <a:tcPr marL="36576" marR="36576" marT="0" marB="0" anchor="ctr">
                    <a:noFill/>
                  </a:tcPr>
                </a:tc>
                <a:tc>
                  <a:txBody>
                    <a:bodyPr wrap="none"/>
                    <a:lstStyle/>
                    <a:p>
                      <a:pPr algn="r"/>
                      <a:r>
                        <a:rPr sz="800" b="0" i="0">
                          <a:solidFill>
                            <a:srgbClr val="1F2937"/>
                          </a:solidFill>
                          <a:latin typeface="Arial"/>
                        </a:rPr>
                        <a:t>61.77</a:t>
                      </a:r>
                      <a:endParaRPr sz="800"/>
                    </a:p>
                  </a:txBody>
                  <a:tcPr marL="36576" marR="36576" marT="0" marB="0" anchor="ctr">
                    <a:noFill/>
                  </a:tcPr>
                </a:tc>
                <a:tc>
                  <a:txBody>
                    <a:bodyPr wrap="none"/>
                    <a:lstStyle/>
                    <a:p>
                      <a:pPr algn="r"/>
                      <a:r>
                        <a:rPr sz="800" b="0" i="0">
                          <a:solidFill>
                            <a:srgbClr val="1F2937"/>
                          </a:solidFill>
                          <a:latin typeface="Arial"/>
                        </a:rPr>
                        <a:t>49.58</a:t>
                      </a:r>
                      <a:endParaRPr sz="800"/>
                    </a:p>
                  </a:txBody>
                  <a:tcPr marL="36576" marR="36576" marT="0" marB="0" anchor="ctr">
                    <a:noFill/>
                  </a:tcPr>
                </a:tc>
              </a:tr>
              <a:tr h="208483">
                <a:tc>
                  <a:txBody>
                    <a:bodyPr wrap="none"/>
                    <a:lstStyle/>
                    <a:p>
                      <a:pPr algn="l"/>
                      <a:r>
                        <a:rPr sz="800" b="0" i="0">
                          <a:solidFill>
                            <a:srgbClr val="1F2937"/>
                          </a:solidFill>
                          <a:latin typeface="Arial"/>
                        </a:rPr>
                        <a:t>BRITS</a:t>
                      </a:r>
                      <a:endParaRPr sz="800"/>
                    </a:p>
                  </a:txBody>
                  <a:tcPr marL="36576" marR="36576" marT="0" marB="0" anchor="ctr">
                    <a:noFill/>
                  </a:tcPr>
                </a:tc>
                <a:tc>
                  <a:txBody>
                    <a:bodyPr wrap="none"/>
                    <a:lstStyle/>
                    <a:p>
                      <a:pPr algn="r"/>
                      <a:r>
                        <a:rPr sz="800" b="0" i="0">
                          <a:solidFill>
                            <a:srgbClr val="1F2937"/>
                          </a:solidFill>
                          <a:latin typeface="Arial"/>
                        </a:rPr>
                        <a:t>60.05</a:t>
                      </a:r>
                      <a:endParaRPr sz="800"/>
                    </a:p>
                  </a:txBody>
                  <a:tcPr marL="36576" marR="36576" marT="0" marB="0" anchor="ctr">
                    <a:noFill/>
                  </a:tcPr>
                </a:tc>
                <a:tc>
                  <a:txBody>
                    <a:bodyPr wrap="none"/>
                    <a:lstStyle/>
                    <a:p>
                      <a:pPr algn="r"/>
                      <a:r>
                        <a:rPr sz="800" b="0" i="0">
                          <a:solidFill>
                            <a:srgbClr val="1F2937"/>
                          </a:solidFill>
                          <a:latin typeface="Arial"/>
                        </a:rPr>
                        <a:t>60.16</a:t>
                      </a:r>
                      <a:endParaRPr sz="800"/>
                    </a:p>
                  </a:txBody>
                  <a:tcPr marL="36576" marR="36576" marT="0" marB="0" anchor="ctr">
                    <a:noFill/>
                  </a:tcPr>
                </a:tc>
                <a:tc>
                  <a:txBody>
                    <a:bodyPr wrap="none"/>
                    <a:lstStyle/>
                    <a:p>
                      <a:pPr algn="r"/>
                      <a:r>
                        <a:rPr sz="800" b="0" i="0">
                          <a:solidFill>
                            <a:srgbClr val="1F2937"/>
                          </a:solidFill>
                          <a:latin typeface="Arial"/>
                        </a:rPr>
                        <a:t>61.14</a:t>
                      </a:r>
                      <a:endParaRPr sz="800"/>
                    </a:p>
                  </a:txBody>
                  <a:tcPr marL="36576" marR="36576" marT="0" marB="0" anchor="ctr">
                    <a:noFill/>
                  </a:tcPr>
                </a:tc>
                <a:tc>
                  <a:txBody>
                    <a:bodyPr wrap="none"/>
                    <a:lstStyle/>
                    <a:p>
                      <a:pPr algn="r"/>
                      <a:r>
                        <a:rPr sz="800" b="0" i="0">
                          <a:solidFill>
                            <a:srgbClr val="1F2937"/>
                          </a:solidFill>
                          <a:latin typeface="Arial"/>
                        </a:rPr>
                        <a:t>61.96</a:t>
                      </a:r>
                      <a:endParaRPr sz="800"/>
                    </a:p>
                  </a:txBody>
                  <a:tcPr marL="36576" marR="36576" marT="0" marB="0" anchor="ctr">
                    <a:noFill/>
                  </a:tcPr>
                </a:tc>
                <a:tc>
                  <a:txBody>
                    <a:bodyPr wrap="none"/>
                    <a:lstStyle/>
                    <a:p>
                      <a:pPr algn="r"/>
                      <a:r>
                        <a:rPr sz="800" b="0" i="0">
                          <a:solidFill>
                            <a:srgbClr val="1F2937"/>
                          </a:solidFill>
                          <a:latin typeface="Arial"/>
                        </a:rPr>
                        <a:t>66.74</a:t>
                      </a:r>
                      <a:endParaRPr sz="800"/>
                    </a:p>
                  </a:txBody>
                  <a:tcPr marL="36576" marR="36576" marT="0" marB="0" anchor="ctr">
                    <a:noFill/>
                  </a:tcPr>
                </a:tc>
                <a:tc>
                  <a:txBody>
                    <a:bodyPr wrap="none"/>
                    <a:lstStyle/>
                    <a:p>
                      <a:pPr algn="r"/>
                      <a:r>
                        <a:rPr sz="800" b="0" i="0">
                          <a:solidFill>
                            <a:srgbClr val="1F2937"/>
                          </a:solidFill>
                          <a:latin typeface="Arial"/>
                        </a:rPr>
                        <a:t>60.03</a:t>
                      </a:r>
                      <a:endParaRPr sz="800"/>
                    </a:p>
                  </a:txBody>
                  <a:tcPr marL="36576" marR="36576" marT="0" marB="0" anchor="ctr">
                    <a:noFill/>
                  </a:tcPr>
                </a:tc>
                <a:tc>
                  <a:txBody>
                    <a:bodyPr wrap="none"/>
                    <a:lstStyle/>
                    <a:p>
                      <a:pPr algn="r"/>
                      <a:r>
                        <a:rPr sz="800" b="0" i="0">
                          <a:solidFill>
                            <a:srgbClr val="1F2937"/>
                          </a:solidFill>
                          <a:latin typeface="Arial"/>
                        </a:rPr>
                        <a:t>60.24</a:t>
                      </a:r>
                      <a:endParaRPr sz="800"/>
                    </a:p>
                  </a:txBody>
                  <a:tcPr marL="36576" marR="36576" marT="0" marB="0" anchor="ctr">
                    <a:noFill/>
                  </a:tcPr>
                </a:tc>
                <a:tc>
                  <a:txBody>
                    <a:bodyPr wrap="none"/>
                    <a:lstStyle/>
                    <a:p>
                      <a:pPr algn="r"/>
                      <a:r>
                        <a:rPr sz="800" b="0" i="0">
                          <a:solidFill>
                            <a:srgbClr val="1F2937"/>
                          </a:solidFill>
                          <a:latin typeface="Arial"/>
                        </a:rPr>
                        <a:t>60.84</a:t>
                      </a:r>
                      <a:endParaRPr sz="800"/>
                    </a:p>
                  </a:txBody>
                  <a:tcPr marL="36576" marR="36576" marT="0" marB="0" anchor="ctr">
                    <a:noFill/>
                  </a:tcPr>
                </a:tc>
                <a:tc>
                  <a:txBody>
                    <a:bodyPr wrap="none"/>
                    <a:lstStyle/>
                    <a:p>
                      <a:pPr algn="r"/>
                      <a:r>
                        <a:rPr sz="800" b="0" i="0">
                          <a:solidFill>
                            <a:srgbClr val="1F2937"/>
                          </a:solidFill>
                          <a:latin typeface="Arial"/>
                        </a:rPr>
                        <a:t>62.08</a:t>
                      </a:r>
                      <a:endParaRPr sz="800"/>
                    </a:p>
                  </a:txBody>
                  <a:tcPr marL="36576" marR="36576" marT="0" marB="0" anchor="ctr">
                    <a:noFill/>
                  </a:tcPr>
                </a:tc>
                <a:tc>
                  <a:txBody>
                    <a:bodyPr wrap="none"/>
                    <a:lstStyle/>
                    <a:p>
                      <a:pPr algn="r"/>
                      <a:r>
                        <a:rPr sz="800" b="0" i="0">
                          <a:solidFill>
                            <a:srgbClr val="1F2937"/>
                          </a:solidFill>
                          <a:latin typeface="Arial"/>
                        </a:rPr>
                        <a:t>65.70</a:t>
                      </a:r>
                      <a:endParaRPr sz="800"/>
                    </a:p>
                  </a:txBody>
                  <a:tcPr marL="36576" marR="36576" marT="0" marB="0" anchor="ctr">
                    <a:noFill/>
                  </a:tcPr>
                </a:tc>
                <a:tc>
                  <a:txBody>
                    <a:bodyPr wrap="none"/>
                    <a:lstStyle/>
                    <a:p>
                      <a:pPr algn="r"/>
                      <a:r>
                        <a:rPr sz="800" b="0" i="0">
                          <a:solidFill>
                            <a:srgbClr val="1F2937"/>
                          </a:solidFill>
                          <a:latin typeface="Arial"/>
                        </a:rPr>
                        <a:t>59.73</a:t>
                      </a:r>
                      <a:endParaRPr sz="800"/>
                    </a:p>
                  </a:txBody>
                  <a:tcPr marL="36576" marR="36576" marT="0" marB="0" anchor="ctr">
                    <a:noFill/>
                  </a:tcPr>
                </a:tc>
                <a:tc>
                  <a:txBody>
                    <a:bodyPr wrap="none"/>
                    <a:lstStyle/>
                    <a:p>
                      <a:pPr algn="r"/>
                      <a:r>
                        <a:rPr sz="800" b="0" i="0">
                          <a:solidFill>
                            <a:srgbClr val="1F2937"/>
                          </a:solidFill>
                          <a:latin typeface="Arial"/>
                        </a:rPr>
                        <a:t>59.92</a:t>
                      </a:r>
                      <a:endParaRPr sz="800"/>
                    </a:p>
                  </a:txBody>
                  <a:tcPr marL="36576" marR="36576" marT="0" marB="0" anchor="ctr">
                    <a:noFill/>
                  </a:tcPr>
                </a:tc>
                <a:tc>
                  <a:txBody>
                    <a:bodyPr wrap="none"/>
                    <a:lstStyle/>
                    <a:p>
                      <a:pPr algn="r"/>
                      <a:r>
                        <a:rPr sz="800" b="0" i="0">
                          <a:solidFill>
                            <a:srgbClr val="1F2937"/>
                          </a:solidFill>
                          <a:latin typeface="Arial"/>
                        </a:rPr>
                        <a:t>60.96</a:t>
                      </a:r>
                      <a:endParaRPr sz="800"/>
                    </a:p>
                  </a:txBody>
                  <a:tcPr marL="36576" marR="36576" marT="0" marB="0" anchor="ctr">
                    <a:noFill/>
                  </a:tcPr>
                </a:tc>
                <a:tc>
                  <a:txBody>
                    <a:bodyPr wrap="none"/>
                    <a:lstStyle/>
                    <a:p>
                      <a:pPr algn="r"/>
                      <a:r>
                        <a:rPr sz="800" b="0" i="0">
                          <a:solidFill>
                            <a:srgbClr val="1F2937"/>
                          </a:solidFill>
                          <a:latin typeface="Arial"/>
                        </a:rPr>
                        <a:t>59.06</a:t>
                      </a:r>
                      <a:endParaRPr sz="800"/>
                    </a:p>
                  </a:txBody>
                  <a:tcPr marL="36576" marR="36576" marT="0" marB="0" anchor="ctr">
                    <a:noFill/>
                  </a:tcPr>
                </a:tc>
                <a:tc>
                  <a:txBody>
                    <a:bodyPr wrap="none"/>
                    <a:lstStyle/>
                    <a:p>
                      <a:pPr algn="r"/>
                      <a:r>
                        <a:rPr sz="800" b="0" i="0">
                          <a:solidFill>
                            <a:srgbClr val="1F2937"/>
                          </a:solidFill>
                          <a:latin typeface="Arial"/>
                        </a:rPr>
                        <a:t>50.00</a:t>
                      </a:r>
                      <a:endParaRPr sz="800"/>
                    </a:p>
                  </a:txBody>
                  <a:tcPr marL="36576" marR="36576" marT="0" marB="0" anchor="ctr">
                    <a:noFill/>
                  </a:tcPr>
                </a:tc>
              </a:tr>
              <a:tr h="208483">
                <a:tc>
                  <a:txBody>
                    <a:bodyPr wrap="none"/>
                    <a:lstStyle/>
                    <a:p>
                      <a:pPr algn="l"/>
                      <a:r>
                        <a:rPr sz="800" b="0" i="0">
                          <a:solidFill>
                            <a:srgbClr val="1F2937"/>
                          </a:solidFill>
                          <a:latin typeface="Arial"/>
                        </a:rPr>
                        <a:t>CSDI</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60.06</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60.22</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61.18</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62.03</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67.28</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60.03</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60.24</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60.85</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62.22</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66.31</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60.23</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61.24</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61.34</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62.49</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49.66</a:t>
                      </a:r>
                      <a:endParaRPr sz="800"/>
                    </a:p>
                  </a:txBody>
                  <a:tcPr marL="36576" marR="36576" marT="0" marB="0" anchor="ctr">
                    <a:lnB w="6350">
                      <a:solidFill>
                        <a:srgbClr val="D0D5DD"/>
                      </a:solidFill>
                    </a:lnB>
                    <a:noFill/>
                  </a:tcPr>
                </a:tc>
              </a:tr>
              <a:tr h="208483">
                <a:tc gridSpan="16">
                  <a:txBody>
                    <a:bodyPr wrap="none"/>
                    <a:lstStyle/>
                    <a:p>
                      <a:pPr algn="l"/>
                      <a:r>
                        <a:rPr sz="800" b="1" i="0">
                          <a:solidFill>
                            <a:srgbClr val="1F2937"/>
                          </a:solidFill>
                          <a:latin typeface="Arial"/>
                        </a:rPr>
                        <a:t>Subspace distance D</a:t>
                      </a:r>
                      <a:r>
                        <a:rPr sz="800" b="1" i="0" baseline="-25000">
                          <a:solidFill>
                            <a:srgbClr val="1F2937"/>
                          </a:solidFill>
                          <a:latin typeface="Arial"/>
                        </a:rPr>
                        <a:t>1</a:t>
                      </a: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r>
              <a:tr h="208483">
                <a:tc>
                  <a:txBody>
                    <a:bodyPr wrap="none"/>
                    <a:lstStyle/>
                    <a:p>
                      <a:pPr algn="l"/>
                      <a:r>
                        <a:rPr sz="800" b="0" i="0">
                          <a:solidFill>
                            <a:srgbClr val="1F2937"/>
                          </a:solidFill>
                          <a:latin typeface="Arial"/>
                        </a:rPr>
                        <a:t>KNN</a:t>
                      </a:r>
                      <a:endParaRPr sz="800"/>
                    </a:p>
                  </a:txBody>
                  <a:tcPr marL="36576" marR="36576" marT="0" marB="0" anchor="ctr">
                    <a:noFill/>
                  </a:tcPr>
                </a:tc>
                <a:tc>
                  <a:txBody>
                    <a:bodyPr wrap="none"/>
                    <a:lstStyle/>
                    <a:p>
                      <a:pPr algn="r"/>
                      <a:r>
                        <a:rPr sz="800" b="0" i="0">
                          <a:solidFill>
                            <a:srgbClr val="1F2937"/>
                          </a:solidFill>
                          <a:latin typeface="Arial"/>
                        </a:rPr>
                        <a:t>0.0006</a:t>
                      </a:r>
                      <a:endParaRPr sz="800"/>
                    </a:p>
                  </a:txBody>
                  <a:tcPr marL="36576" marR="36576" marT="0" marB="0" anchor="ctr">
                    <a:noFill/>
                  </a:tcPr>
                </a:tc>
                <a:tc>
                  <a:txBody>
                    <a:bodyPr wrap="none"/>
                    <a:lstStyle/>
                    <a:p>
                      <a:pPr algn="r"/>
                      <a:r>
                        <a:rPr sz="800" b="0" i="0">
                          <a:solidFill>
                            <a:srgbClr val="1F2937"/>
                          </a:solidFill>
                          <a:latin typeface="Arial"/>
                        </a:rPr>
                        <a:t>0.0030</a:t>
                      </a:r>
                      <a:endParaRPr sz="800"/>
                    </a:p>
                  </a:txBody>
                  <a:tcPr marL="36576" marR="36576" marT="0" marB="0" anchor="ctr">
                    <a:noFill/>
                  </a:tcPr>
                </a:tc>
                <a:tc>
                  <a:txBody>
                    <a:bodyPr wrap="none"/>
                    <a:lstStyle/>
                    <a:p>
                      <a:pPr algn="r"/>
                      <a:r>
                        <a:rPr sz="800" b="0" i="0">
                          <a:solidFill>
                            <a:srgbClr val="1F2937"/>
                          </a:solidFill>
                          <a:latin typeface="Arial"/>
                        </a:rPr>
                        <a:t>0.0082</a:t>
                      </a:r>
                      <a:endParaRPr sz="800"/>
                    </a:p>
                  </a:txBody>
                  <a:tcPr marL="36576" marR="36576" marT="0" marB="0" anchor="ctr">
                    <a:noFill/>
                  </a:tcPr>
                </a:tc>
                <a:tc>
                  <a:txBody>
                    <a:bodyPr wrap="none"/>
                    <a:lstStyle/>
                    <a:p>
                      <a:pPr algn="r"/>
                      <a:r>
                        <a:rPr sz="800" b="0" i="0">
                          <a:solidFill>
                            <a:srgbClr val="1F2937"/>
                          </a:solidFill>
                          <a:latin typeface="Arial"/>
                        </a:rPr>
                        <a:t>0.0133</a:t>
                      </a:r>
                      <a:endParaRPr sz="800"/>
                    </a:p>
                  </a:txBody>
                  <a:tcPr marL="36576" marR="36576" marT="0" marB="0" anchor="ctr">
                    <a:noFill/>
                  </a:tcPr>
                </a:tc>
                <a:tc>
                  <a:txBody>
                    <a:bodyPr wrap="none"/>
                    <a:lstStyle/>
                    <a:p>
                      <a:pPr algn="r"/>
                      <a:r>
                        <a:rPr sz="800" b="0" i="0">
                          <a:solidFill>
                            <a:srgbClr val="1F2937"/>
                          </a:solidFill>
                          <a:latin typeface="Arial"/>
                        </a:rPr>
                        <a:t>0.0252</a:t>
                      </a:r>
                      <a:endParaRPr sz="800"/>
                    </a:p>
                  </a:txBody>
                  <a:tcPr marL="36576" marR="36576" marT="0" marB="0" anchor="ctr">
                    <a:noFill/>
                  </a:tcPr>
                </a:tc>
                <a:tc>
                  <a:txBody>
                    <a:bodyPr wrap="none"/>
                    <a:lstStyle/>
                    <a:p>
                      <a:pPr algn="r"/>
                      <a:r>
                        <a:rPr sz="800" b="0" i="0">
                          <a:solidFill>
                            <a:srgbClr val="1F2937"/>
                          </a:solidFill>
                          <a:latin typeface="Arial"/>
                        </a:rPr>
                        <a:t>0.0008</a:t>
                      </a:r>
                      <a:endParaRPr sz="800"/>
                    </a:p>
                  </a:txBody>
                  <a:tcPr marL="36576" marR="36576" marT="0" marB="0" anchor="ctr">
                    <a:noFill/>
                  </a:tcPr>
                </a:tc>
                <a:tc>
                  <a:txBody>
                    <a:bodyPr wrap="none"/>
                    <a:lstStyle/>
                    <a:p>
                      <a:pPr algn="r"/>
                      <a:r>
                        <a:rPr sz="800" b="0" i="0">
                          <a:solidFill>
                            <a:srgbClr val="1F2937"/>
                          </a:solidFill>
                          <a:latin typeface="Arial"/>
                        </a:rPr>
                        <a:t>0.0034</a:t>
                      </a:r>
                      <a:endParaRPr sz="800"/>
                    </a:p>
                  </a:txBody>
                  <a:tcPr marL="36576" marR="36576" marT="0" marB="0" anchor="ctr">
                    <a:noFill/>
                  </a:tcPr>
                </a:tc>
                <a:tc>
                  <a:txBody>
                    <a:bodyPr wrap="none"/>
                    <a:lstStyle/>
                    <a:p>
                      <a:pPr algn="r"/>
                      <a:r>
                        <a:rPr sz="800" b="0" i="0">
                          <a:solidFill>
                            <a:srgbClr val="1F2937"/>
                          </a:solidFill>
                          <a:latin typeface="Arial"/>
                        </a:rPr>
                        <a:t>0.0089</a:t>
                      </a:r>
                      <a:endParaRPr sz="800"/>
                    </a:p>
                  </a:txBody>
                  <a:tcPr marL="36576" marR="36576" marT="0" marB="0" anchor="ctr">
                    <a:noFill/>
                  </a:tcPr>
                </a:tc>
                <a:tc>
                  <a:txBody>
                    <a:bodyPr wrap="none"/>
                    <a:lstStyle/>
                    <a:p>
                      <a:pPr algn="r"/>
                      <a:r>
                        <a:rPr sz="800" b="0" i="0">
                          <a:solidFill>
                            <a:srgbClr val="1F2937"/>
                          </a:solidFill>
                          <a:latin typeface="Arial"/>
                        </a:rPr>
                        <a:t>0.0179</a:t>
                      </a:r>
                      <a:endParaRPr sz="800"/>
                    </a:p>
                  </a:txBody>
                  <a:tcPr marL="36576" marR="36576" marT="0" marB="0" anchor="ctr">
                    <a:noFill/>
                  </a:tcPr>
                </a:tc>
                <a:tc>
                  <a:txBody>
                    <a:bodyPr wrap="none"/>
                    <a:lstStyle/>
                    <a:p>
                      <a:pPr algn="r"/>
                      <a:r>
                        <a:rPr sz="800" b="0" i="0">
                          <a:solidFill>
                            <a:srgbClr val="1F2937"/>
                          </a:solidFill>
                          <a:latin typeface="Arial"/>
                        </a:rPr>
                        <a:t>0.0511</a:t>
                      </a:r>
                      <a:endParaRPr sz="800"/>
                    </a:p>
                  </a:txBody>
                  <a:tcPr marL="36576" marR="36576" marT="0" marB="0" anchor="ctr">
                    <a:noFill/>
                  </a:tcPr>
                </a:tc>
                <a:tc>
                  <a:txBody>
                    <a:bodyPr wrap="none"/>
                    <a:lstStyle/>
                    <a:p>
                      <a:pPr algn="r"/>
                      <a:r>
                        <a:rPr sz="800" b="0" i="0">
                          <a:solidFill>
                            <a:srgbClr val="1F2937"/>
                          </a:solidFill>
                          <a:latin typeface="Arial"/>
                        </a:rPr>
                        <a:t>0.0106</a:t>
                      </a:r>
                      <a:endParaRPr sz="800"/>
                    </a:p>
                  </a:txBody>
                  <a:tcPr marL="36576" marR="36576" marT="0" marB="0" anchor="ctr">
                    <a:noFill/>
                  </a:tcPr>
                </a:tc>
                <a:tc>
                  <a:txBody>
                    <a:bodyPr wrap="none"/>
                    <a:lstStyle/>
                    <a:p>
                      <a:pPr algn="r"/>
                      <a:r>
                        <a:rPr sz="800" b="0" i="0">
                          <a:solidFill>
                            <a:srgbClr val="1F2937"/>
                          </a:solidFill>
                          <a:latin typeface="Arial"/>
                        </a:rPr>
                        <a:t>0.0309</a:t>
                      </a:r>
                      <a:endParaRPr sz="800"/>
                    </a:p>
                  </a:txBody>
                  <a:tcPr marL="36576" marR="36576" marT="0" marB="0" anchor="ctr">
                    <a:noFill/>
                  </a:tcPr>
                </a:tc>
                <a:tc>
                  <a:txBody>
                    <a:bodyPr wrap="none"/>
                    <a:lstStyle/>
                    <a:p>
                      <a:pPr algn="r"/>
                      <a:r>
                        <a:rPr sz="800" b="0" i="0">
                          <a:solidFill>
                            <a:srgbClr val="1F2937"/>
                          </a:solidFill>
                          <a:latin typeface="Arial"/>
                        </a:rPr>
                        <a:t>0.0169</a:t>
                      </a:r>
                      <a:endParaRPr sz="800"/>
                    </a:p>
                  </a:txBody>
                  <a:tcPr marL="36576" marR="36576" marT="0" marB="0" anchor="ctr">
                    <a:noFill/>
                  </a:tcPr>
                </a:tc>
                <a:tc>
                  <a:txBody>
                    <a:bodyPr wrap="none"/>
                    <a:lstStyle/>
                    <a:p>
                      <a:pPr algn="r"/>
                      <a:r>
                        <a:rPr sz="800" b="0" i="0">
                          <a:solidFill>
                            <a:srgbClr val="1F2937"/>
                          </a:solidFill>
                          <a:latin typeface="Arial"/>
                        </a:rPr>
                        <a:t>0.0398</a:t>
                      </a:r>
                      <a:endParaRPr sz="800"/>
                    </a:p>
                  </a:txBody>
                  <a:tcPr marL="36576" marR="36576" marT="0" marB="0" anchor="ctr">
                    <a:noFill/>
                  </a:tcPr>
                </a:tc>
                <a:tc>
                  <a:txBody>
                    <a:bodyPr wrap="none"/>
                    <a:lstStyle/>
                    <a:p>
                      <a:pPr algn="r"/>
                      <a:r>
                        <a:rPr sz="800" b="0" i="0">
                          <a:solidFill>
                            <a:srgbClr val="1F2937"/>
                          </a:solidFill>
                          <a:latin typeface="Arial"/>
                        </a:rPr>
                        <a:t>--</a:t>
                      </a:r>
                      <a:endParaRPr sz="800"/>
                    </a:p>
                  </a:txBody>
                  <a:tcPr marL="36576" marR="36576" marT="0" marB="0" anchor="ctr">
                    <a:noFill/>
                  </a:tcPr>
                </a:tc>
              </a:tr>
              <a:tr h="208483">
                <a:tc>
                  <a:txBody>
                    <a:bodyPr wrap="none"/>
                    <a:lstStyle/>
                    <a:p>
                      <a:pPr algn="l"/>
                      <a:r>
                        <a:rPr sz="800" b="0" i="0">
                          <a:solidFill>
                            <a:srgbClr val="1F2937"/>
                          </a:solidFill>
                          <a:latin typeface="Arial"/>
                        </a:rPr>
                        <a:t>LowRank</a:t>
                      </a:r>
                      <a:endParaRPr sz="800"/>
                    </a:p>
                  </a:txBody>
                  <a:tcPr marL="36576" marR="36576" marT="0" marB="0" anchor="ctr">
                    <a:noFill/>
                  </a:tcPr>
                </a:tc>
                <a:tc>
                  <a:txBody>
                    <a:bodyPr wrap="none"/>
                    <a:lstStyle/>
                    <a:p>
                      <a:pPr algn="r"/>
                      <a:r>
                        <a:rPr sz="800" b="0" i="0">
                          <a:solidFill>
                            <a:srgbClr val="1F2937"/>
                          </a:solidFill>
                          <a:latin typeface="Arial"/>
                        </a:rPr>
                        <a:t>0.0006</a:t>
                      </a:r>
                      <a:endParaRPr sz="800"/>
                    </a:p>
                  </a:txBody>
                  <a:tcPr marL="36576" marR="36576" marT="0" marB="0" anchor="ctr">
                    <a:noFill/>
                  </a:tcPr>
                </a:tc>
                <a:tc>
                  <a:txBody>
                    <a:bodyPr wrap="none"/>
                    <a:lstStyle/>
                    <a:p>
                      <a:pPr algn="r"/>
                      <a:r>
                        <a:rPr sz="800" b="0" i="0">
                          <a:solidFill>
                            <a:srgbClr val="1F2937"/>
                          </a:solidFill>
                          <a:latin typeface="Arial"/>
                        </a:rPr>
                        <a:t>0.0026</a:t>
                      </a:r>
                      <a:endParaRPr sz="800"/>
                    </a:p>
                  </a:txBody>
                  <a:tcPr marL="36576" marR="36576" marT="0" marB="0" anchor="ctr">
                    <a:noFill/>
                  </a:tcPr>
                </a:tc>
                <a:tc>
                  <a:txBody>
                    <a:bodyPr wrap="none"/>
                    <a:lstStyle/>
                    <a:p>
                      <a:pPr algn="r"/>
                      <a:r>
                        <a:rPr sz="800" b="0" i="0">
                          <a:solidFill>
                            <a:srgbClr val="1F2937"/>
                          </a:solidFill>
                          <a:latin typeface="Arial"/>
                        </a:rPr>
                        <a:t>0.0068</a:t>
                      </a:r>
                      <a:endParaRPr sz="800"/>
                    </a:p>
                  </a:txBody>
                  <a:tcPr marL="36576" marR="36576" marT="0" marB="0" anchor="ctr">
                    <a:noFill/>
                  </a:tcPr>
                </a:tc>
                <a:tc>
                  <a:txBody>
                    <a:bodyPr wrap="none"/>
                    <a:lstStyle/>
                    <a:p>
                      <a:pPr algn="r"/>
                      <a:r>
                        <a:rPr sz="800" b="0" i="0">
                          <a:solidFill>
                            <a:srgbClr val="1F2937"/>
                          </a:solidFill>
                          <a:latin typeface="Arial"/>
                        </a:rPr>
                        <a:t>0.0100</a:t>
                      </a:r>
                      <a:endParaRPr sz="800"/>
                    </a:p>
                  </a:txBody>
                  <a:tcPr marL="36576" marR="36576" marT="0" marB="0" anchor="ctr">
                    <a:noFill/>
                  </a:tcPr>
                </a:tc>
                <a:tc>
                  <a:txBody>
                    <a:bodyPr wrap="none"/>
                    <a:lstStyle/>
                    <a:p>
                      <a:pPr algn="r"/>
                      <a:r>
                        <a:rPr sz="800" b="0" i="0">
                          <a:solidFill>
                            <a:srgbClr val="1F2937"/>
                          </a:solidFill>
                          <a:latin typeface="Arial"/>
                        </a:rPr>
                        <a:t>0.0215</a:t>
                      </a:r>
                      <a:endParaRPr sz="800"/>
                    </a:p>
                  </a:txBody>
                  <a:tcPr marL="36576" marR="36576" marT="0" marB="0" anchor="ctr">
                    <a:noFill/>
                  </a:tcPr>
                </a:tc>
                <a:tc>
                  <a:txBody>
                    <a:bodyPr wrap="none"/>
                    <a:lstStyle/>
                    <a:p>
                      <a:pPr algn="r"/>
                      <a:r>
                        <a:rPr sz="800" b="0" i="0">
                          <a:solidFill>
                            <a:srgbClr val="1F2937"/>
                          </a:solidFill>
                          <a:latin typeface="Arial"/>
                        </a:rPr>
                        <a:t>0.0004</a:t>
                      </a:r>
                      <a:endParaRPr sz="800"/>
                    </a:p>
                  </a:txBody>
                  <a:tcPr marL="36576" marR="36576" marT="0" marB="0" anchor="ctr">
                    <a:noFill/>
                  </a:tcPr>
                </a:tc>
                <a:tc>
                  <a:txBody>
                    <a:bodyPr wrap="none"/>
                    <a:lstStyle/>
                    <a:p>
                      <a:pPr algn="r"/>
                      <a:r>
                        <a:rPr sz="800" b="0" i="0">
                          <a:solidFill>
                            <a:srgbClr val="1F2937"/>
                          </a:solidFill>
                          <a:latin typeface="Arial"/>
                        </a:rPr>
                        <a:t>0.0031</a:t>
                      </a:r>
                      <a:endParaRPr sz="800"/>
                    </a:p>
                  </a:txBody>
                  <a:tcPr marL="36576" marR="36576" marT="0" marB="0" anchor="ctr">
                    <a:noFill/>
                  </a:tcPr>
                </a:tc>
                <a:tc>
                  <a:txBody>
                    <a:bodyPr wrap="none"/>
                    <a:lstStyle/>
                    <a:p>
                      <a:pPr algn="r"/>
                      <a:r>
                        <a:rPr sz="800" b="0" i="0">
                          <a:solidFill>
                            <a:srgbClr val="1F2937"/>
                          </a:solidFill>
                          <a:latin typeface="Arial"/>
                        </a:rPr>
                        <a:t>0.0053</a:t>
                      </a:r>
                      <a:endParaRPr sz="800"/>
                    </a:p>
                  </a:txBody>
                  <a:tcPr marL="36576" marR="36576" marT="0" marB="0" anchor="ctr">
                    <a:noFill/>
                  </a:tcPr>
                </a:tc>
                <a:tc>
                  <a:txBody>
                    <a:bodyPr wrap="none"/>
                    <a:lstStyle/>
                    <a:p>
                      <a:pPr algn="r"/>
                      <a:r>
                        <a:rPr sz="800" b="0" i="0">
                          <a:solidFill>
                            <a:srgbClr val="1F2937"/>
                          </a:solidFill>
                          <a:latin typeface="Arial"/>
                        </a:rPr>
                        <a:t>0.0143</a:t>
                      </a:r>
                      <a:endParaRPr sz="800"/>
                    </a:p>
                  </a:txBody>
                  <a:tcPr marL="36576" marR="36576" marT="0" marB="0" anchor="ctr">
                    <a:noFill/>
                  </a:tcPr>
                </a:tc>
                <a:tc>
                  <a:txBody>
                    <a:bodyPr wrap="none"/>
                    <a:lstStyle/>
                    <a:p>
                      <a:pPr algn="r"/>
                      <a:r>
                        <a:rPr sz="800" b="0" i="0">
                          <a:solidFill>
                            <a:srgbClr val="1F2937"/>
                          </a:solidFill>
                          <a:latin typeface="Arial"/>
                        </a:rPr>
                        <a:t>0.0375</a:t>
                      </a:r>
                      <a:endParaRPr sz="800"/>
                    </a:p>
                  </a:txBody>
                  <a:tcPr marL="36576" marR="36576" marT="0" marB="0" anchor="ctr">
                    <a:noFill/>
                  </a:tcPr>
                </a:tc>
                <a:tc>
                  <a:txBody>
                    <a:bodyPr wrap="none"/>
                    <a:lstStyle/>
                    <a:p>
                      <a:pPr algn="r"/>
                      <a:r>
                        <a:rPr sz="800" b="0" i="0">
                          <a:solidFill>
                            <a:srgbClr val="1F2937"/>
                          </a:solidFill>
                          <a:latin typeface="Arial"/>
                        </a:rPr>
                        <a:t>0.0079</a:t>
                      </a:r>
                      <a:endParaRPr sz="800"/>
                    </a:p>
                  </a:txBody>
                  <a:tcPr marL="36576" marR="36576" marT="0" marB="0" anchor="ctr">
                    <a:noFill/>
                  </a:tcPr>
                </a:tc>
                <a:tc>
                  <a:txBody>
                    <a:bodyPr wrap="none"/>
                    <a:lstStyle/>
                    <a:p>
                      <a:pPr algn="r"/>
                      <a:r>
                        <a:rPr sz="800" b="0" i="0">
                          <a:solidFill>
                            <a:srgbClr val="1F2937"/>
                          </a:solidFill>
                          <a:latin typeface="Arial"/>
                        </a:rPr>
                        <a:t>0.0180</a:t>
                      </a:r>
                      <a:endParaRPr sz="800"/>
                    </a:p>
                  </a:txBody>
                  <a:tcPr marL="36576" marR="36576" marT="0" marB="0" anchor="ctr">
                    <a:noFill/>
                  </a:tcPr>
                </a:tc>
                <a:tc>
                  <a:txBody>
                    <a:bodyPr wrap="none"/>
                    <a:lstStyle/>
                    <a:p>
                      <a:pPr algn="r"/>
                      <a:r>
                        <a:rPr sz="800" b="0" i="0">
                          <a:solidFill>
                            <a:srgbClr val="1F2937"/>
                          </a:solidFill>
                          <a:latin typeface="Arial"/>
                        </a:rPr>
                        <a:t>0.0149</a:t>
                      </a:r>
                      <a:endParaRPr sz="800"/>
                    </a:p>
                  </a:txBody>
                  <a:tcPr marL="36576" marR="36576" marT="0" marB="0" anchor="ctr">
                    <a:noFill/>
                  </a:tcPr>
                </a:tc>
                <a:tc>
                  <a:txBody>
                    <a:bodyPr wrap="none"/>
                    <a:lstStyle/>
                    <a:p>
                      <a:pPr algn="r"/>
                      <a:r>
                        <a:rPr sz="800" b="0" i="0">
                          <a:solidFill>
                            <a:srgbClr val="1F2937"/>
                          </a:solidFill>
                          <a:latin typeface="Arial"/>
                        </a:rPr>
                        <a:t>0.0268</a:t>
                      </a:r>
                      <a:endParaRPr sz="800"/>
                    </a:p>
                  </a:txBody>
                  <a:tcPr marL="36576" marR="36576" marT="0" marB="0" anchor="ctr">
                    <a:noFill/>
                  </a:tcPr>
                </a:tc>
                <a:tc>
                  <a:txBody>
                    <a:bodyPr wrap="none"/>
                    <a:lstStyle/>
                    <a:p>
                      <a:pPr algn="r"/>
                      <a:r>
                        <a:rPr sz="800" b="0" i="0">
                          <a:solidFill>
                            <a:srgbClr val="1F2937"/>
                          </a:solidFill>
                          <a:latin typeface="Arial"/>
                        </a:rPr>
                        <a:t>0.1186</a:t>
                      </a:r>
                      <a:endParaRPr sz="800"/>
                    </a:p>
                  </a:txBody>
                  <a:tcPr marL="36576" marR="36576" marT="0" marB="0" anchor="ctr">
                    <a:noFill/>
                  </a:tcPr>
                </a:tc>
              </a:tr>
              <a:tr h="208483">
                <a:tc>
                  <a:txBody>
                    <a:bodyPr wrap="none"/>
                    <a:lstStyle/>
                    <a:p>
                      <a:pPr algn="l"/>
                      <a:r>
                        <a:rPr sz="800" b="0" i="0">
                          <a:solidFill>
                            <a:srgbClr val="1F2937"/>
                          </a:solidFill>
                          <a:latin typeface="Arial"/>
                        </a:rPr>
                        <a:t>EM</a:t>
                      </a:r>
                      <a:endParaRPr sz="800"/>
                    </a:p>
                  </a:txBody>
                  <a:tcPr marL="36576" marR="36576" marT="0" marB="0" anchor="ctr">
                    <a:noFill/>
                  </a:tcPr>
                </a:tc>
                <a:tc>
                  <a:txBody>
                    <a:bodyPr wrap="none"/>
                    <a:lstStyle/>
                    <a:p>
                      <a:pPr algn="r"/>
                      <a:r>
                        <a:rPr sz="800" b="0" i="0">
                          <a:solidFill>
                            <a:srgbClr val="1F2937"/>
                          </a:solidFill>
                          <a:latin typeface="Arial"/>
                        </a:rPr>
                        <a:t>0.0005</a:t>
                      </a:r>
                      <a:endParaRPr sz="800"/>
                    </a:p>
                  </a:txBody>
                  <a:tcPr marL="36576" marR="36576" marT="0" marB="0" anchor="ctr">
                    <a:noFill/>
                  </a:tcPr>
                </a:tc>
                <a:tc>
                  <a:txBody>
                    <a:bodyPr wrap="none"/>
                    <a:lstStyle/>
                    <a:p>
                      <a:pPr algn="r"/>
                      <a:r>
                        <a:rPr sz="800" b="0" i="0">
                          <a:solidFill>
                            <a:srgbClr val="1F2937"/>
                          </a:solidFill>
                          <a:latin typeface="Arial"/>
                        </a:rPr>
                        <a:t>0.0026</a:t>
                      </a:r>
                      <a:endParaRPr sz="800"/>
                    </a:p>
                  </a:txBody>
                  <a:tcPr marL="36576" marR="36576" marT="0" marB="0" anchor="ctr">
                    <a:noFill/>
                  </a:tcPr>
                </a:tc>
                <a:tc>
                  <a:txBody>
                    <a:bodyPr wrap="none"/>
                    <a:lstStyle/>
                    <a:p>
                      <a:pPr algn="r"/>
                      <a:r>
                        <a:rPr sz="800" b="0" i="0">
                          <a:solidFill>
                            <a:srgbClr val="1F2937"/>
                          </a:solidFill>
                          <a:latin typeface="Arial"/>
                        </a:rPr>
                        <a:t>0.0062</a:t>
                      </a:r>
                      <a:endParaRPr sz="800"/>
                    </a:p>
                  </a:txBody>
                  <a:tcPr marL="36576" marR="36576" marT="0" marB="0" anchor="ctr">
                    <a:noFill/>
                  </a:tcPr>
                </a:tc>
                <a:tc>
                  <a:txBody>
                    <a:bodyPr wrap="none"/>
                    <a:lstStyle/>
                    <a:p>
                      <a:pPr algn="r"/>
                      <a:r>
                        <a:rPr sz="800" b="0" i="0">
                          <a:solidFill>
                            <a:srgbClr val="1F2937"/>
                          </a:solidFill>
                          <a:latin typeface="Arial"/>
                        </a:rPr>
                        <a:t>0.0094</a:t>
                      </a:r>
                      <a:endParaRPr sz="800"/>
                    </a:p>
                  </a:txBody>
                  <a:tcPr marL="36576" marR="36576" marT="0" marB="0" anchor="ctr">
                    <a:noFill/>
                  </a:tcPr>
                </a:tc>
                <a:tc>
                  <a:txBody>
                    <a:bodyPr wrap="none"/>
                    <a:lstStyle/>
                    <a:p>
                      <a:pPr algn="r"/>
                      <a:r>
                        <a:rPr sz="800" b="0" i="0">
                          <a:solidFill>
                            <a:srgbClr val="1F2937"/>
                          </a:solidFill>
                          <a:latin typeface="Arial"/>
                        </a:rPr>
                        <a:t>0.0152</a:t>
                      </a:r>
                      <a:endParaRPr sz="800"/>
                    </a:p>
                  </a:txBody>
                  <a:tcPr marL="36576" marR="36576" marT="0" marB="0" anchor="ctr">
                    <a:noFill/>
                  </a:tcPr>
                </a:tc>
                <a:tc>
                  <a:txBody>
                    <a:bodyPr wrap="none"/>
                    <a:lstStyle/>
                    <a:p>
                      <a:pPr algn="r"/>
                      <a:r>
                        <a:rPr sz="800" b="0" i="0">
                          <a:solidFill>
                            <a:srgbClr val="1F2937"/>
                          </a:solidFill>
                          <a:latin typeface="Arial"/>
                        </a:rPr>
                        <a:t>0.0005</a:t>
                      </a:r>
                      <a:endParaRPr sz="800"/>
                    </a:p>
                  </a:txBody>
                  <a:tcPr marL="36576" marR="36576" marT="0" marB="0" anchor="ctr">
                    <a:noFill/>
                  </a:tcPr>
                </a:tc>
                <a:tc>
                  <a:txBody>
                    <a:bodyPr wrap="none"/>
                    <a:lstStyle/>
                    <a:p>
                      <a:pPr algn="r"/>
                      <a:r>
                        <a:rPr sz="800" b="0" i="0">
                          <a:solidFill>
                            <a:srgbClr val="1F2937"/>
                          </a:solidFill>
                          <a:latin typeface="Arial"/>
                        </a:rPr>
                        <a:t>0.0021</a:t>
                      </a:r>
                      <a:endParaRPr sz="800"/>
                    </a:p>
                  </a:txBody>
                  <a:tcPr marL="36576" marR="36576" marT="0" marB="0" anchor="ctr">
                    <a:noFill/>
                  </a:tcPr>
                </a:tc>
                <a:tc>
                  <a:txBody>
                    <a:bodyPr wrap="none"/>
                    <a:lstStyle/>
                    <a:p>
                      <a:pPr algn="r"/>
                      <a:r>
                        <a:rPr sz="800" b="0" i="0">
                          <a:solidFill>
                            <a:srgbClr val="1F2937"/>
                          </a:solidFill>
                          <a:latin typeface="Arial"/>
                        </a:rPr>
                        <a:t>0.0047</a:t>
                      </a:r>
                      <a:endParaRPr sz="800"/>
                    </a:p>
                  </a:txBody>
                  <a:tcPr marL="36576" marR="36576" marT="0" marB="0" anchor="ctr">
                    <a:noFill/>
                  </a:tcPr>
                </a:tc>
                <a:tc>
                  <a:txBody>
                    <a:bodyPr wrap="none"/>
                    <a:lstStyle/>
                    <a:p>
                      <a:pPr algn="r"/>
                      <a:r>
                        <a:rPr sz="800" b="0" i="0">
                          <a:solidFill>
                            <a:srgbClr val="1F2937"/>
                          </a:solidFill>
                          <a:latin typeface="Arial"/>
                        </a:rPr>
                        <a:t>0.0097</a:t>
                      </a:r>
                      <a:endParaRPr sz="800"/>
                    </a:p>
                  </a:txBody>
                  <a:tcPr marL="36576" marR="36576" marT="0" marB="0" anchor="ctr">
                    <a:noFill/>
                  </a:tcPr>
                </a:tc>
                <a:tc>
                  <a:txBody>
                    <a:bodyPr wrap="none"/>
                    <a:lstStyle/>
                    <a:p>
                      <a:pPr algn="r"/>
                      <a:r>
                        <a:rPr sz="800" b="0" i="0">
                          <a:solidFill>
                            <a:srgbClr val="1F2937"/>
                          </a:solidFill>
                          <a:latin typeface="Arial"/>
                        </a:rPr>
                        <a:t>0.0262</a:t>
                      </a:r>
                      <a:endParaRPr sz="800"/>
                    </a:p>
                  </a:txBody>
                  <a:tcPr marL="36576" marR="36576" marT="0" marB="0" anchor="ctr">
                    <a:noFill/>
                  </a:tcPr>
                </a:tc>
                <a:tc>
                  <a:txBody>
                    <a:bodyPr wrap="none"/>
                    <a:lstStyle/>
                    <a:p>
                      <a:pPr algn="r"/>
                      <a:r>
                        <a:rPr sz="800" b="0" i="0">
                          <a:solidFill>
                            <a:srgbClr val="1F2937"/>
                          </a:solidFill>
                          <a:latin typeface="Arial"/>
                        </a:rPr>
                        <a:t>0.0063</a:t>
                      </a:r>
                      <a:endParaRPr sz="800"/>
                    </a:p>
                  </a:txBody>
                  <a:tcPr marL="36576" marR="36576" marT="0" marB="0" anchor="ctr">
                    <a:noFill/>
                  </a:tcPr>
                </a:tc>
                <a:tc>
                  <a:txBody>
                    <a:bodyPr wrap="none"/>
                    <a:lstStyle/>
                    <a:p>
                      <a:pPr algn="r"/>
                      <a:r>
                        <a:rPr sz="800" b="0" i="0">
                          <a:solidFill>
                            <a:srgbClr val="1F2937"/>
                          </a:solidFill>
                          <a:latin typeface="Arial"/>
                        </a:rPr>
                        <a:t>0.0178</a:t>
                      </a:r>
                      <a:endParaRPr sz="800"/>
                    </a:p>
                  </a:txBody>
                  <a:tcPr marL="36576" marR="36576" marT="0" marB="0" anchor="ctr">
                    <a:noFill/>
                  </a:tcPr>
                </a:tc>
                <a:tc>
                  <a:txBody>
                    <a:bodyPr wrap="none"/>
                    <a:lstStyle/>
                    <a:p>
                      <a:pPr algn="r"/>
                      <a:r>
                        <a:rPr sz="800" b="0" i="0">
                          <a:solidFill>
                            <a:srgbClr val="1F2937"/>
                          </a:solidFill>
                          <a:latin typeface="Arial"/>
                        </a:rPr>
                        <a:t>0.0126</a:t>
                      </a:r>
                      <a:endParaRPr sz="800"/>
                    </a:p>
                  </a:txBody>
                  <a:tcPr marL="36576" marR="36576" marT="0" marB="0" anchor="ctr">
                    <a:noFill/>
                  </a:tcPr>
                </a:tc>
                <a:tc>
                  <a:txBody>
                    <a:bodyPr wrap="none"/>
                    <a:lstStyle/>
                    <a:p>
                      <a:pPr algn="r"/>
                      <a:r>
                        <a:rPr sz="800" b="0" i="0">
                          <a:solidFill>
                            <a:srgbClr val="1F2937"/>
                          </a:solidFill>
                          <a:latin typeface="Arial"/>
                        </a:rPr>
                        <a:t>0.0232</a:t>
                      </a:r>
                      <a:endParaRPr sz="800"/>
                    </a:p>
                  </a:txBody>
                  <a:tcPr marL="36576" marR="36576" marT="0" marB="0" anchor="ctr">
                    <a:noFill/>
                  </a:tcPr>
                </a:tc>
                <a:tc>
                  <a:txBody>
                    <a:bodyPr wrap="none"/>
                    <a:lstStyle/>
                    <a:p>
                      <a:pPr algn="r"/>
                      <a:r>
                        <a:rPr sz="800" b="0" i="0">
                          <a:solidFill>
                            <a:srgbClr val="1F2937"/>
                          </a:solidFill>
                          <a:latin typeface="Arial"/>
                        </a:rPr>
                        <a:t>0.1148</a:t>
                      </a:r>
                      <a:endParaRPr sz="800"/>
                    </a:p>
                  </a:txBody>
                  <a:tcPr marL="36576" marR="36576" marT="0" marB="0" anchor="ctr">
                    <a:noFill/>
                  </a:tcPr>
                </a:tc>
              </a:tr>
              <a:tr h="208483">
                <a:tc>
                  <a:txBody>
                    <a:bodyPr wrap="none"/>
                    <a:lstStyle/>
                    <a:p>
                      <a:pPr algn="l"/>
                      <a:r>
                        <a:rPr sz="800" b="0" i="0">
                          <a:solidFill>
                            <a:srgbClr val="1F2937"/>
                          </a:solidFill>
                          <a:latin typeface="Arial"/>
                        </a:rPr>
                        <a:t>BRITS</a:t>
                      </a:r>
                      <a:endParaRPr sz="800"/>
                    </a:p>
                  </a:txBody>
                  <a:tcPr marL="36576" marR="36576" marT="0" marB="0" anchor="ctr">
                    <a:noFill/>
                  </a:tcPr>
                </a:tc>
                <a:tc>
                  <a:txBody>
                    <a:bodyPr wrap="none"/>
                    <a:lstStyle/>
                    <a:p>
                      <a:pPr algn="r"/>
                      <a:r>
                        <a:rPr sz="800" b="0" i="0">
                          <a:solidFill>
                            <a:srgbClr val="1F2937"/>
                          </a:solidFill>
                          <a:latin typeface="Arial"/>
                        </a:rPr>
                        <a:t>0.0005</a:t>
                      </a:r>
                      <a:endParaRPr sz="800"/>
                    </a:p>
                  </a:txBody>
                  <a:tcPr marL="36576" marR="36576" marT="0" marB="0" anchor="ctr">
                    <a:noFill/>
                  </a:tcPr>
                </a:tc>
                <a:tc>
                  <a:txBody>
                    <a:bodyPr wrap="none"/>
                    <a:lstStyle/>
                    <a:p>
                      <a:pPr algn="r"/>
                      <a:r>
                        <a:rPr sz="800" b="0" i="0">
                          <a:solidFill>
                            <a:srgbClr val="1F2937"/>
                          </a:solidFill>
                          <a:latin typeface="Arial"/>
                        </a:rPr>
                        <a:t>0.0034</a:t>
                      </a:r>
                      <a:endParaRPr sz="800"/>
                    </a:p>
                  </a:txBody>
                  <a:tcPr marL="36576" marR="36576" marT="0" marB="0" anchor="ctr">
                    <a:noFill/>
                  </a:tcPr>
                </a:tc>
                <a:tc>
                  <a:txBody>
                    <a:bodyPr wrap="none"/>
                    <a:lstStyle/>
                    <a:p>
                      <a:pPr algn="r"/>
                      <a:r>
                        <a:rPr sz="800" b="0" i="0">
                          <a:solidFill>
                            <a:srgbClr val="1F2937"/>
                          </a:solidFill>
                          <a:latin typeface="Arial"/>
                        </a:rPr>
                        <a:t>0.0054</a:t>
                      </a:r>
                      <a:endParaRPr sz="800"/>
                    </a:p>
                  </a:txBody>
                  <a:tcPr marL="36576" marR="36576" marT="0" marB="0" anchor="ctr">
                    <a:noFill/>
                  </a:tcPr>
                </a:tc>
                <a:tc>
                  <a:txBody>
                    <a:bodyPr wrap="none"/>
                    <a:lstStyle/>
                    <a:p>
                      <a:pPr algn="r"/>
                      <a:r>
                        <a:rPr sz="800" b="0" i="0">
                          <a:solidFill>
                            <a:srgbClr val="1F2937"/>
                          </a:solidFill>
                          <a:latin typeface="Arial"/>
                        </a:rPr>
                        <a:t>0.0100</a:t>
                      </a:r>
                      <a:endParaRPr sz="800"/>
                    </a:p>
                  </a:txBody>
                  <a:tcPr marL="36576" marR="36576" marT="0" marB="0" anchor="ctr">
                    <a:noFill/>
                  </a:tcPr>
                </a:tc>
                <a:tc>
                  <a:txBody>
                    <a:bodyPr wrap="none"/>
                    <a:lstStyle/>
                    <a:p>
                      <a:pPr algn="r"/>
                      <a:r>
                        <a:rPr sz="800" b="0" i="0">
                          <a:solidFill>
                            <a:srgbClr val="1F2937"/>
                          </a:solidFill>
                          <a:latin typeface="Arial"/>
                        </a:rPr>
                        <a:t>0.0161</a:t>
                      </a:r>
                      <a:endParaRPr sz="800"/>
                    </a:p>
                  </a:txBody>
                  <a:tcPr marL="36576" marR="36576" marT="0" marB="0" anchor="ctr">
                    <a:noFill/>
                  </a:tcPr>
                </a:tc>
                <a:tc>
                  <a:txBody>
                    <a:bodyPr wrap="none"/>
                    <a:lstStyle/>
                    <a:p>
                      <a:pPr algn="r"/>
                      <a:r>
                        <a:rPr sz="800" b="0" i="0">
                          <a:solidFill>
                            <a:srgbClr val="1F2937"/>
                          </a:solidFill>
                          <a:latin typeface="Arial"/>
                        </a:rPr>
                        <a:t>0.0004</a:t>
                      </a:r>
                      <a:endParaRPr sz="800"/>
                    </a:p>
                  </a:txBody>
                  <a:tcPr marL="36576" marR="36576" marT="0" marB="0" anchor="ctr">
                    <a:noFill/>
                  </a:tcPr>
                </a:tc>
                <a:tc>
                  <a:txBody>
                    <a:bodyPr wrap="none"/>
                    <a:lstStyle/>
                    <a:p>
                      <a:pPr algn="r"/>
                      <a:r>
                        <a:rPr sz="800" b="0" i="0">
                          <a:solidFill>
                            <a:srgbClr val="1F2937"/>
                          </a:solidFill>
                          <a:latin typeface="Arial"/>
                        </a:rPr>
                        <a:t>0.0024</a:t>
                      </a:r>
                      <a:endParaRPr sz="800"/>
                    </a:p>
                  </a:txBody>
                  <a:tcPr marL="36576" marR="36576" marT="0" marB="0" anchor="ctr">
                    <a:noFill/>
                  </a:tcPr>
                </a:tc>
                <a:tc>
                  <a:txBody>
                    <a:bodyPr wrap="none"/>
                    <a:lstStyle/>
                    <a:p>
                      <a:pPr algn="r"/>
                      <a:r>
                        <a:rPr sz="800" b="0" i="0">
                          <a:solidFill>
                            <a:srgbClr val="1F2937"/>
                          </a:solidFill>
                          <a:latin typeface="Arial"/>
                        </a:rPr>
                        <a:t>0.0046</a:t>
                      </a:r>
                      <a:endParaRPr sz="800"/>
                    </a:p>
                  </a:txBody>
                  <a:tcPr marL="36576" marR="36576" marT="0" marB="0" anchor="ctr">
                    <a:noFill/>
                  </a:tcPr>
                </a:tc>
                <a:tc>
                  <a:txBody>
                    <a:bodyPr wrap="none"/>
                    <a:lstStyle/>
                    <a:p>
                      <a:pPr algn="r"/>
                      <a:r>
                        <a:rPr sz="800" b="0" i="0">
                          <a:solidFill>
                            <a:srgbClr val="1F2937"/>
                          </a:solidFill>
                          <a:latin typeface="Arial"/>
                        </a:rPr>
                        <a:t>0.0104</a:t>
                      </a:r>
                      <a:endParaRPr sz="800"/>
                    </a:p>
                  </a:txBody>
                  <a:tcPr marL="36576" marR="36576" marT="0" marB="0" anchor="ctr">
                    <a:noFill/>
                  </a:tcPr>
                </a:tc>
                <a:tc>
                  <a:txBody>
                    <a:bodyPr wrap="none"/>
                    <a:lstStyle/>
                    <a:p>
                      <a:pPr algn="r"/>
                      <a:r>
                        <a:rPr sz="800" b="0" i="0">
                          <a:solidFill>
                            <a:srgbClr val="1F2937"/>
                          </a:solidFill>
                          <a:latin typeface="Arial"/>
                        </a:rPr>
                        <a:t>0.0252</a:t>
                      </a:r>
                      <a:endParaRPr sz="800"/>
                    </a:p>
                  </a:txBody>
                  <a:tcPr marL="36576" marR="36576" marT="0" marB="0" anchor="ctr">
                    <a:noFill/>
                  </a:tcPr>
                </a:tc>
                <a:tc>
                  <a:txBody>
                    <a:bodyPr wrap="none"/>
                    <a:lstStyle/>
                    <a:p>
                      <a:pPr algn="r"/>
                      <a:r>
                        <a:rPr sz="800" b="0" i="0">
                          <a:solidFill>
                            <a:srgbClr val="1F2937"/>
                          </a:solidFill>
                          <a:latin typeface="Arial"/>
                        </a:rPr>
                        <a:t>0.0176</a:t>
                      </a:r>
                      <a:endParaRPr sz="800"/>
                    </a:p>
                  </a:txBody>
                  <a:tcPr marL="36576" marR="36576" marT="0" marB="0" anchor="ctr">
                    <a:noFill/>
                  </a:tcPr>
                </a:tc>
                <a:tc>
                  <a:txBody>
                    <a:bodyPr wrap="none"/>
                    <a:lstStyle/>
                    <a:p>
                      <a:pPr algn="r"/>
                      <a:r>
                        <a:rPr sz="800" b="0" i="0">
                          <a:solidFill>
                            <a:srgbClr val="1F2937"/>
                          </a:solidFill>
                          <a:latin typeface="Arial"/>
                        </a:rPr>
                        <a:t>0.0203</a:t>
                      </a:r>
                      <a:endParaRPr sz="800"/>
                    </a:p>
                  </a:txBody>
                  <a:tcPr marL="36576" marR="36576" marT="0" marB="0" anchor="ctr">
                    <a:noFill/>
                  </a:tcPr>
                </a:tc>
                <a:tc>
                  <a:txBody>
                    <a:bodyPr wrap="none"/>
                    <a:lstStyle/>
                    <a:p>
                      <a:pPr algn="r"/>
                      <a:r>
                        <a:rPr sz="800" b="0" i="0">
                          <a:solidFill>
                            <a:srgbClr val="1F2937"/>
                          </a:solidFill>
                          <a:latin typeface="Arial"/>
                        </a:rPr>
                        <a:t>0.0132</a:t>
                      </a:r>
                      <a:endParaRPr sz="800"/>
                    </a:p>
                  </a:txBody>
                  <a:tcPr marL="36576" marR="36576" marT="0" marB="0" anchor="ctr">
                    <a:noFill/>
                  </a:tcPr>
                </a:tc>
                <a:tc>
                  <a:txBody>
                    <a:bodyPr wrap="none"/>
                    <a:lstStyle/>
                    <a:p>
                      <a:pPr algn="r"/>
                      <a:r>
                        <a:rPr sz="800" b="0" i="0">
                          <a:solidFill>
                            <a:srgbClr val="1F2937"/>
                          </a:solidFill>
                          <a:latin typeface="Arial"/>
                        </a:rPr>
                        <a:t>0.1407</a:t>
                      </a:r>
                      <a:endParaRPr sz="800"/>
                    </a:p>
                  </a:txBody>
                  <a:tcPr marL="36576" marR="36576" marT="0" marB="0" anchor="ctr">
                    <a:noFill/>
                  </a:tcPr>
                </a:tc>
                <a:tc>
                  <a:txBody>
                    <a:bodyPr wrap="none"/>
                    <a:lstStyle/>
                    <a:p>
                      <a:pPr algn="r"/>
                      <a:r>
                        <a:rPr sz="800" b="0" i="0">
                          <a:solidFill>
                            <a:srgbClr val="1F2937"/>
                          </a:solidFill>
                          <a:latin typeface="Arial"/>
                        </a:rPr>
                        <a:t>0.1106</a:t>
                      </a:r>
                      <a:endParaRPr sz="800"/>
                    </a:p>
                  </a:txBody>
                  <a:tcPr marL="36576" marR="36576" marT="0" marB="0" anchor="ctr">
                    <a:noFill/>
                  </a:tcPr>
                </a:tc>
              </a:tr>
              <a:tr h="208483">
                <a:tc>
                  <a:txBody>
                    <a:bodyPr wrap="none"/>
                    <a:lstStyle/>
                    <a:p>
                      <a:pPr algn="l"/>
                      <a:r>
                        <a:rPr sz="800" b="0" i="0">
                          <a:solidFill>
                            <a:srgbClr val="1F2937"/>
                          </a:solidFill>
                          <a:latin typeface="Arial"/>
                        </a:rPr>
                        <a:t>CSDI</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0.0006</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0.0027</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0.0062</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0.0122</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0.0211</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0.0003</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0.0028</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0.0040</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0.0158</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0.0465</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0.0088</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0.0316</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0.0170</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0.0303</a:t>
                      </a:r>
                      <a:endParaRPr sz="800"/>
                    </a:p>
                  </a:txBody>
                  <a:tcPr marL="36576" marR="36576" marT="0" marB="0" anchor="ctr">
                    <a:lnB w="6350">
                      <a:solidFill>
                        <a:srgbClr val="D0D5DD"/>
                      </a:solidFill>
                    </a:lnB>
                    <a:noFill/>
                  </a:tcPr>
                </a:tc>
                <a:tc>
                  <a:txBody>
                    <a:bodyPr wrap="none"/>
                    <a:lstStyle/>
                    <a:p>
                      <a:pPr algn="r"/>
                      <a:r>
                        <a:rPr sz="800" b="0" i="0">
                          <a:solidFill>
                            <a:srgbClr val="1F2937"/>
                          </a:solidFill>
                          <a:latin typeface="Arial"/>
                        </a:rPr>
                        <a:t>0.1141</a:t>
                      </a:r>
                      <a:endParaRPr sz="800"/>
                    </a:p>
                  </a:txBody>
                  <a:tcPr marL="36576" marR="36576" marT="0" marB="0" anchor="ctr">
                    <a:lnB w="6350">
                      <a:solidFill>
                        <a:srgbClr val="D0D5DD"/>
                      </a:solidFill>
                    </a:lnB>
                    <a:noFill/>
                  </a:tcPr>
                </a:tc>
              </a:tr>
              <a:tr h="208483">
                <a:tc gridSpan="16">
                  <a:txBody>
                    <a:bodyPr wrap="none"/>
                    <a:lstStyle/>
                    <a:p>
                      <a:pPr algn="l"/>
                      <a:r>
                        <a:rPr sz="800" b="1" i="0">
                          <a:solidFill>
                            <a:srgbClr val="1F2937"/>
                          </a:solidFill>
                          <a:latin typeface="Arial"/>
                        </a:rPr>
                        <a:t>Subspace distance D</a:t>
                      </a:r>
                      <a:r>
                        <a:rPr sz="800" b="1" i="0" baseline="-25000">
                          <a:solidFill>
                            <a:srgbClr val="1F2937"/>
                          </a:solidFill>
                          <a:latin typeface="Arial"/>
                        </a:rPr>
                        <a:t>5</a:t>
                      </a: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c hMerge="1">
                  <a:txBody>
                    <a:bodyPr wrap="none"/>
                    <a:lstStyle/>
                    <a:p>
                      <a:pPr algn="r"/>
                      <a:endParaRPr sz="800"/>
                    </a:p>
                  </a:txBody>
                  <a:tcPr marL="36576" marR="36576" marT="0" marB="0" anchor="ctr">
                    <a:noFill/>
                  </a:tcPr>
                </a:tc>
              </a:tr>
              <a:tr h="208483">
                <a:tc>
                  <a:txBody>
                    <a:bodyPr wrap="none"/>
                    <a:lstStyle/>
                    <a:p>
                      <a:pPr algn="l"/>
                      <a:r>
                        <a:rPr sz="800" b="0" i="0">
                          <a:solidFill>
                            <a:srgbClr val="1F2937"/>
                          </a:solidFill>
                          <a:latin typeface="Arial"/>
                        </a:rPr>
                        <a:t>KNN</a:t>
                      </a:r>
                      <a:endParaRPr sz="800"/>
                    </a:p>
                  </a:txBody>
                  <a:tcPr marL="36576" marR="36576" marT="0" marB="0" anchor="ctr">
                    <a:noFill/>
                  </a:tcPr>
                </a:tc>
                <a:tc>
                  <a:txBody>
                    <a:bodyPr wrap="none"/>
                    <a:lstStyle/>
                    <a:p>
                      <a:pPr algn="r"/>
                      <a:r>
                        <a:rPr sz="800" b="0" i="0">
                          <a:solidFill>
                            <a:srgbClr val="1F2937"/>
                          </a:solidFill>
                          <a:latin typeface="Arial"/>
                        </a:rPr>
                        <a:t>0.0051</a:t>
                      </a:r>
                      <a:endParaRPr sz="800"/>
                    </a:p>
                  </a:txBody>
                  <a:tcPr marL="36576" marR="36576" marT="0" marB="0" anchor="ctr">
                    <a:noFill/>
                  </a:tcPr>
                </a:tc>
                <a:tc>
                  <a:txBody>
                    <a:bodyPr wrap="none"/>
                    <a:lstStyle/>
                    <a:p>
                      <a:pPr algn="r"/>
                      <a:r>
                        <a:rPr sz="800" b="0" i="0">
                          <a:solidFill>
                            <a:srgbClr val="1F2937"/>
                          </a:solidFill>
                          <a:latin typeface="Arial"/>
                        </a:rPr>
                        <a:t>0.0143</a:t>
                      </a:r>
                      <a:endParaRPr sz="800"/>
                    </a:p>
                  </a:txBody>
                  <a:tcPr marL="36576" marR="36576" marT="0" marB="0" anchor="ctr">
                    <a:noFill/>
                  </a:tcPr>
                </a:tc>
                <a:tc>
                  <a:txBody>
                    <a:bodyPr wrap="none"/>
                    <a:lstStyle/>
                    <a:p>
                      <a:pPr algn="r"/>
                      <a:r>
                        <a:rPr sz="800" b="0" i="0">
                          <a:solidFill>
                            <a:srgbClr val="1F2937"/>
                          </a:solidFill>
                          <a:latin typeface="Arial"/>
                        </a:rPr>
                        <a:t>0.0364</a:t>
                      </a:r>
                      <a:endParaRPr sz="800"/>
                    </a:p>
                  </a:txBody>
                  <a:tcPr marL="36576" marR="36576" marT="0" marB="0" anchor="ctr">
                    <a:noFill/>
                  </a:tcPr>
                </a:tc>
                <a:tc>
                  <a:txBody>
                    <a:bodyPr wrap="none"/>
                    <a:lstStyle/>
                    <a:p>
                      <a:pPr algn="r"/>
                      <a:r>
                        <a:rPr sz="800" b="1" i="0">
                          <a:solidFill>
                            <a:srgbClr val="1F2937"/>
                          </a:solidFill>
                          <a:latin typeface="Arial"/>
                        </a:rPr>
                        <a:t>0.0436</a:t>
                      </a:r>
                      <a:endParaRPr sz="800"/>
                    </a:p>
                  </a:txBody>
                  <a:tcPr marL="36576" marR="36576" marT="0" marB="0" anchor="ctr">
                    <a:noFill/>
                  </a:tcPr>
                </a:tc>
                <a:tc>
                  <a:txBody>
                    <a:bodyPr wrap="none"/>
                    <a:lstStyle/>
                    <a:p>
                      <a:pPr algn="r"/>
                      <a:r>
                        <a:rPr sz="800" b="1" i="0">
                          <a:solidFill>
                            <a:srgbClr val="1F2937"/>
                          </a:solidFill>
                          <a:latin typeface="Arial"/>
                        </a:rPr>
                        <a:t>0.1434</a:t>
                      </a:r>
                      <a:endParaRPr sz="800"/>
                    </a:p>
                  </a:txBody>
                  <a:tcPr marL="36576" marR="36576" marT="0" marB="0" anchor="ctr">
                    <a:noFill/>
                  </a:tcPr>
                </a:tc>
                <a:tc>
                  <a:txBody>
                    <a:bodyPr wrap="none"/>
                    <a:lstStyle/>
                    <a:p>
                      <a:pPr algn="r"/>
                      <a:r>
                        <a:rPr sz="800" b="0" i="0">
                          <a:solidFill>
                            <a:srgbClr val="1F2937"/>
                          </a:solidFill>
                          <a:latin typeface="Arial"/>
                        </a:rPr>
                        <a:t>0.0040</a:t>
                      </a:r>
                      <a:endParaRPr sz="800"/>
                    </a:p>
                  </a:txBody>
                  <a:tcPr marL="36576" marR="36576" marT="0" marB="0" anchor="ctr">
                    <a:noFill/>
                  </a:tcPr>
                </a:tc>
                <a:tc>
                  <a:txBody>
                    <a:bodyPr wrap="none"/>
                    <a:lstStyle/>
                    <a:p>
                      <a:pPr algn="r"/>
                      <a:r>
                        <a:rPr sz="800" b="0" i="0">
                          <a:solidFill>
                            <a:srgbClr val="1F2937"/>
                          </a:solidFill>
                          <a:latin typeface="Arial"/>
                        </a:rPr>
                        <a:t>0.0117</a:t>
                      </a:r>
                      <a:endParaRPr sz="800"/>
                    </a:p>
                  </a:txBody>
                  <a:tcPr marL="36576" marR="36576" marT="0" marB="0" anchor="ctr">
                    <a:noFill/>
                  </a:tcPr>
                </a:tc>
                <a:tc>
                  <a:txBody>
                    <a:bodyPr wrap="none"/>
                    <a:lstStyle/>
                    <a:p>
                      <a:pPr algn="r"/>
                      <a:r>
                        <a:rPr sz="800" b="0" i="0">
                          <a:solidFill>
                            <a:srgbClr val="1F2937"/>
                          </a:solidFill>
                          <a:latin typeface="Arial"/>
                        </a:rPr>
                        <a:t>0.0376</a:t>
                      </a:r>
                      <a:endParaRPr sz="800"/>
                    </a:p>
                  </a:txBody>
                  <a:tcPr marL="36576" marR="36576" marT="0" marB="0" anchor="ctr">
                    <a:noFill/>
                  </a:tcPr>
                </a:tc>
                <a:tc>
                  <a:txBody>
                    <a:bodyPr wrap="none"/>
                    <a:lstStyle/>
                    <a:p>
                      <a:pPr algn="r"/>
                      <a:r>
                        <a:rPr sz="800" b="0" i="0">
                          <a:solidFill>
                            <a:srgbClr val="1F2937"/>
                          </a:solidFill>
                          <a:latin typeface="Arial"/>
                        </a:rPr>
                        <a:t>0.0525</a:t>
                      </a:r>
                      <a:endParaRPr sz="800"/>
                    </a:p>
                  </a:txBody>
                  <a:tcPr marL="36576" marR="36576" marT="0" marB="0" anchor="ctr">
                    <a:noFill/>
                  </a:tcPr>
                </a:tc>
                <a:tc>
                  <a:txBody>
                    <a:bodyPr wrap="none"/>
                    <a:lstStyle/>
                    <a:p>
                      <a:pPr algn="r"/>
                      <a:r>
                        <a:rPr sz="800" b="0" i="0">
                          <a:solidFill>
                            <a:srgbClr val="1F2937"/>
                          </a:solidFill>
                          <a:latin typeface="Arial"/>
                        </a:rPr>
                        <a:t>0.1365</a:t>
                      </a:r>
                      <a:endParaRPr sz="800"/>
                    </a:p>
                  </a:txBody>
                  <a:tcPr marL="36576" marR="36576" marT="0" marB="0" anchor="ctr">
                    <a:noFill/>
                  </a:tcPr>
                </a:tc>
                <a:tc>
                  <a:txBody>
                    <a:bodyPr wrap="none"/>
                    <a:lstStyle/>
                    <a:p>
                      <a:pPr algn="r"/>
                      <a:r>
                        <a:rPr sz="800" b="0" i="0">
                          <a:solidFill>
                            <a:srgbClr val="1F2937"/>
                          </a:solidFill>
                          <a:latin typeface="Arial"/>
                        </a:rPr>
                        <a:t>0.0276</a:t>
                      </a:r>
                      <a:endParaRPr sz="800"/>
                    </a:p>
                  </a:txBody>
                  <a:tcPr marL="36576" marR="36576" marT="0" marB="0" anchor="ctr">
                    <a:noFill/>
                  </a:tcPr>
                </a:tc>
                <a:tc>
                  <a:txBody>
                    <a:bodyPr wrap="none"/>
                    <a:lstStyle/>
                    <a:p>
                      <a:pPr algn="r"/>
                      <a:r>
                        <a:rPr sz="800" b="0" i="0">
                          <a:solidFill>
                            <a:srgbClr val="1F2937"/>
                          </a:solidFill>
                          <a:latin typeface="Arial"/>
                        </a:rPr>
                        <a:t>0.1055</a:t>
                      </a:r>
                      <a:endParaRPr sz="800"/>
                    </a:p>
                  </a:txBody>
                  <a:tcPr marL="36576" marR="36576" marT="0" marB="0" anchor="ctr">
                    <a:noFill/>
                  </a:tcPr>
                </a:tc>
                <a:tc>
                  <a:txBody>
                    <a:bodyPr wrap="none"/>
                    <a:lstStyle/>
                    <a:p>
                      <a:pPr algn="r"/>
                      <a:r>
                        <a:rPr sz="800" b="0" i="0">
                          <a:solidFill>
                            <a:srgbClr val="1F2937"/>
                          </a:solidFill>
                          <a:latin typeface="Arial"/>
                        </a:rPr>
                        <a:t>0.0680</a:t>
                      </a:r>
                      <a:endParaRPr sz="800"/>
                    </a:p>
                  </a:txBody>
                  <a:tcPr marL="36576" marR="36576" marT="0" marB="0" anchor="ctr">
                    <a:noFill/>
                  </a:tcPr>
                </a:tc>
                <a:tc>
                  <a:txBody>
                    <a:bodyPr wrap="none"/>
                    <a:lstStyle/>
                    <a:p>
                      <a:pPr algn="r"/>
                      <a:r>
                        <a:rPr sz="800" b="0" i="0">
                          <a:solidFill>
                            <a:srgbClr val="1F2937"/>
                          </a:solidFill>
                          <a:latin typeface="Arial"/>
                        </a:rPr>
                        <a:t>0.1131</a:t>
                      </a:r>
                      <a:endParaRPr sz="800"/>
                    </a:p>
                  </a:txBody>
                  <a:tcPr marL="36576" marR="36576" marT="0" marB="0" anchor="ctr">
                    <a:noFill/>
                  </a:tcPr>
                </a:tc>
                <a:tc>
                  <a:txBody>
                    <a:bodyPr wrap="none"/>
                    <a:lstStyle/>
                    <a:p>
                      <a:pPr algn="r"/>
                      <a:r>
                        <a:rPr sz="800" b="0" i="0">
                          <a:solidFill>
                            <a:srgbClr val="1F2937"/>
                          </a:solidFill>
                          <a:latin typeface="Arial"/>
                        </a:rPr>
                        <a:t>--</a:t>
                      </a:r>
                      <a:endParaRPr sz="800"/>
                    </a:p>
                  </a:txBody>
                  <a:tcPr marL="36576" marR="36576" marT="0" marB="0" anchor="ctr">
                    <a:noFill/>
                  </a:tcPr>
                </a:tc>
              </a:tr>
              <a:tr h="208483">
                <a:tc>
                  <a:txBody>
                    <a:bodyPr wrap="none"/>
                    <a:lstStyle/>
                    <a:p>
                      <a:pPr algn="l"/>
                      <a:r>
                        <a:rPr sz="800" b="0" i="0">
                          <a:solidFill>
                            <a:srgbClr val="1F2937"/>
                          </a:solidFill>
                          <a:latin typeface="Arial"/>
                        </a:rPr>
                        <a:t>LowRank</a:t>
                      </a:r>
                      <a:endParaRPr sz="800"/>
                    </a:p>
                  </a:txBody>
                  <a:tcPr marL="36576" marR="36576" marT="0" marB="0" anchor="ctr">
                    <a:noFill/>
                  </a:tcPr>
                </a:tc>
                <a:tc>
                  <a:txBody>
                    <a:bodyPr wrap="none"/>
                    <a:lstStyle/>
                    <a:p>
                      <a:pPr algn="r"/>
                      <a:r>
                        <a:rPr sz="800" b="1" i="0">
                          <a:solidFill>
                            <a:srgbClr val="1F2937"/>
                          </a:solidFill>
                          <a:latin typeface="Arial"/>
                        </a:rPr>
                        <a:t>0.0036</a:t>
                      </a:r>
                      <a:endParaRPr sz="800"/>
                    </a:p>
                  </a:txBody>
                  <a:tcPr marL="36576" marR="36576" marT="0" marB="0" anchor="ctr">
                    <a:noFill/>
                  </a:tcPr>
                </a:tc>
                <a:tc>
                  <a:txBody>
                    <a:bodyPr wrap="none"/>
                    <a:lstStyle/>
                    <a:p>
                      <a:pPr algn="r"/>
                      <a:r>
                        <a:rPr sz="800" b="0" i="0">
                          <a:solidFill>
                            <a:srgbClr val="1F2937"/>
                          </a:solidFill>
                          <a:latin typeface="Arial"/>
                        </a:rPr>
                        <a:t>0.0195</a:t>
                      </a:r>
                      <a:endParaRPr sz="800"/>
                    </a:p>
                  </a:txBody>
                  <a:tcPr marL="36576" marR="36576" marT="0" marB="0" anchor="ctr">
                    <a:noFill/>
                  </a:tcPr>
                </a:tc>
                <a:tc>
                  <a:txBody>
                    <a:bodyPr wrap="none"/>
                    <a:lstStyle/>
                    <a:p>
                      <a:pPr algn="r"/>
                      <a:r>
                        <a:rPr sz="800" b="0" i="0">
                          <a:solidFill>
                            <a:srgbClr val="1F2937"/>
                          </a:solidFill>
                          <a:latin typeface="Arial"/>
                        </a:rPr>
                        <a:t>0.0809</a:t>
                      </a:r>
                      <a:endParaRPr sz="800"/>
                    </a:p>
                  </a:txBody>
                  <a:tcPr marL="36576" marR="36576" marT="0" marB="0" anchor="ctr">
                    <a:noFill/>
                  </a:tcPr>
                </a:tc>
                <a:tc>
                  <a:txBody>
                    <a:bodyPr wrap="none"/>
                    <a:lstStyle/>
                    <a:p>
                      <a:pPr algn="r"/>
                      <a:r>
                        <a:rPr sz="800" b="0" i="0">
                          <a:solidFill>
                            <a:srgbClr val="1F2937"/>
                          </a:solidFill>
                          <a:latin typeface="Arial"/>
                        </a:rPr>
                        <a:t>0.2551</a:t>
                      </a:r>
                      <a:endParaRPr sz="800"/>
                    </a:p>
                  </a:txBody>
                  <a:tcPr marL="36576" marR="36576" marT="0" marB="0" anchor="ctr">
                    <a:noFill/>
                  </a:tcPr>
                </a:tc>
                <a:tc>
                  <a:txBody>
                    <a:bodyPr wrap="none"/>
                    <a:lstStyle/>
                    <a:p>
                      <a:pPr algn="r"/>
                      <a:r>
                        <a:rPr sz="800" b="0" i="0">
                          <a:solidFill>
                            <a:srgbClr val="1F2937"/>
                          </a:solidFill>
                          <a:latin typeface="Arial"/>
                        </a:rPr>
                        <a:t>0.3914</a:t>
                      </a:r>
                      <a:endParaRPr sz="800"/>
                    </a:p>
                  </a:txBody>
                  <a:tcPr marL="36576" marR="36576" marT="0" marB="0" anchor="ctr">
                    <a:noFill/>
                  </a:tcPr>
                </a:tc>
                <a:tc>
                  <a:txBody>
                    <a:bodyPr wrap="none"/>
                    <a:lstStyle/>
                    <a:p>
                      <a:pPr algn="r"/>
                      <a:r>
                        <a:rPr sz="800" b="0" i="0">
                          <a:solidFill>
                            <a:srgbClr val="1F2937"/>
                          </a:solidFill>
                          <a:latin typeface="Arial"/>
                        </a:rPr>
                        <a:t>0.0033</a:t>
                      </a:r>
                      <a:endParaRPr sz="800"/>
                    </a:p>
                  </a:txBody>
                  <a:tcPr marL="36576" marR="36576" marT="0" marB="0" anchor="ctr">
                    <a:noFill/>
                  </a:tcPr>
                </a:tc>
                <a:tc>
                  <a:txBody>
                    <a:bodyPr wrap="none"/>
                    <a:lstStyle/>
                    <a:p>
                      <a:pPr algn="r"/>
                      <a:r>
                        <a:rPr sz="800" b="0" i="0">
                          <a:solidFill>
                            <a:srgbClr val="1F2937"/>
                          </a:solidFill>
                          <a:latin typeface="Arial"/>
                        </a:rPr>
                        <a:t>0.0207</a:t>
                      </a:r>
                      <a:endParaRPr sz="800"/>
                    </a:p>
                  </a:txBody>
                  <a:tcPr marL="36576" marR="36576" marT="0" marB="0" anchor="ctr">
                    <a:noFill/>
                  </a:tcPr>
                </a:tc>
                <a:tc>
                  <a:txBody>
                    <a:bodyPr wrap="none"/>
                    <a:lstStyle/>
                    <a:p>
                      <a:pPr algn="r"/>
                      <a:r>
                        <a:rPr sz="800" b="0" i="0">
                          <a:solidFill>
                            <a:srgbClr val="1F2937"/>
                          </a:solidFill>
                          <a:latin typeface="Arial"/>
                        </a:rPr>
                        <a:t>0.0334</a:t>
                      </a:r>
                      <a:endParaRPr sz="800"/>
                    </a:p>
                  </a:txBody>
                  <a:tcPr marL="36576" marR="36576" marT="0" marB="0" anchor="ctr">
                    <a:noFill/>
                  </a:tcPr>
                </a:tc>
                <a:tc>
                  <a:txBody>
                    <a:bodyPr wrap="none"/>
                    <a:lstStyle/>
                    <a:p>
                      <a:pPr algn="r"/>
                      <a:r>
                        <a:rPr sz="800" b="0" i="0">
                          <a:solidFill>
                            <a:srgbClr val="1F2937"/>
                          </a:solidFill>
                          <a:latin typeface="Arial"/>
                        </a:rPr>
                        <a:t>0.1892</a:t>
                      </a:r>
                      <a:endParaRPr sz="800"/>
                    </a:p>
                  </a:txBody>
                  <a:tcPr marL="36576" marR="36576" marT="0" marB="0" anchor="ctr">
                    <a:noFill/>
                  </a:tcPr>
                </a:tc>
                <a:tc>
                  <a:txBody>
                    <a:bodyPr wrap="none"/>
                    <a:lstStyle/>
                    <a:p>
                      <a:pPr algn="r"/>
                      <a:r>
                        <a:rPr sz="800" b="0" i="0">
                          <a:solidFill>
                            <a:srgbClr val="1F2937"/>
                          </a:solidFill>
                          <a:latin typeface="Arial"/>
                        </a:rPr>
                        <a:t>0.3291</a:t>
                      </a:r>
                      <a:endParaRPr sz="800"/>
                    </a:p>
                  </a:txBody>
                  <a:tcPr marL="36576" marR="36576" marT="0" marB="0" anchor="ctr">
                    <a:noFill/>
                  </a:tcPr>
                </a:tc>
                <a:tc>
                  <a:txBody>
                    <a:bodyPr wrap="none"/>
                    <a:lstStyle/>
                    <a:p>
                      <a:pPr algn="r"/>
                      <a:r>
                        <a:rPr sz="800" b="0" i="0">
                          <a:solidFill>
                            <a:srgbClr val="1F2937"/>
                          </a:solidFill>
                          <a:latin typeface="Arial"/>
                        </a:rPr>
                        <a:t>0.0152</a:t>
                      </a:r>
                      <a:endParaRPr sz="800"/>
                    </a:p>
                  </a:txBody>
                  <a:tcPr marL="36576" marR="36576" marT="0" marB="0" anchor="ctr">
                    <a:noFill/>
                  </a:tcPr>
                </a:tc>
                <a:tc>
                  <a:txBody>
                    <a:bodyPr wrap="none"/>
                    <a:lstStyle/>
                    <a:p>
                      <a:pPr algn="r"/>
                      <a:r>
                        <a:rPr sz="800" b="1" i="0">
                          <a:solidFill>
                            <a:srgbClr val="1F2937"/>
                          </a:solidFill>
                          <a:latin typeface="Arial"/>
                        </a:rPr>
                        <a:t>0.0555</a:t>
                      </a:r>
                      <a:endParaRPr sz="800"/>
                    </a:p>
                  </a:txBody>
                  <a:tcPr marL="36576" marR="36576" marT="0" marB="0" anchor="ctr">
                    <a:noFill/>
                  </a:tcPr>
                </a:tc>
                <a:tc>
                  <a:txBody>
                    <a:bodyPr wrap="none"/>
                    <a:lstStyle/>
                    <a:p>
                      <a:pPr algn="r"/>
                      <a:r>
                        <a:rPr sz="800" b="0" i="0">
                          <a:solidFill>
                            <a:srgbClr val="1F2937"/>
                          </a:solidFill>
                          <a:latin typeface="Arial"/>
                        </a:rPr>
                        <a:t>0.0714</a:t>
                      </a:r>
                      <a:endParaRPr sz="800"/>
                    </a:p>
                  </a:txBody>
                  <a:tcPr marL="36576" marR="36576" marT="0" marB="0" anchor="ctr">
                    <a:noFill/>
                  </a:tcPr>
                </a:tc>
                <a:tc>
                  <a:txBody>
                    <a:bodyPr wrap="none"/>
                    <a:lstStyle/>
                    <a:p>
                      <a:pPr algn="r"/>
                      <a:r>
                        <a:rPr sz="800" b="0" i="0">
                          <a:solidFill>
                            <a:srgbClr val="1F2937"/>
                          </a:solidFill>
                          <a:latin typeface="Arial"/>
                        </a:rPr>
                        <a:t>0.3293</a:t>
                      </a:r>
                      <a:endParaRPr sz="800"/>
                    </a:p>
                  </a:txBody>
                  <a:tcPr marL="36576" marR="36576" marT="0" marB="0" anchor="ctr">
                    <a:noFill/>
                  </a:tcPr>
                </a:tc>
                <a:tc>
                  <a:txBody>
                    <a:bodyPr wrap="none"/>
                    <a:lstStyle/>
                    <a:p>
                      <a:pPr algn="r"/>
                      <a:r>
                        <a:rPr sz="800" b="0" i="0">
                          <a:solidFill>
                            <a:srgbClr val="1F2937"/>
                          </a:solidFill>
                          <a:latin typeface="Arial"/>
                        </a:rPr>
                        <a:t>0.3814</a:t>
                      </a:r>
                      <a:endParaRPr sz="800"/>
                    </a:p>
                  </a:txBody>
                  <a:tcPr marL="36576" marR="36576" marT="0" marB="0" anchor="ctr">
                    <a:noFill/>
                  </a:tcPr>
                </a:tc>
              </a:tr>
              <a:tr h="208483">
                <a:tc>
                  <a:txBody>
                    <a:bodyPr wrap="none"/>
                    <a:lstStyle/>
                    <a:p>
                      <a:pPr algn="l"/>
                      <a:r>
                        <a:rPr sz="800" b="0" i="0">
                          <a:solidFill>
                            <a:srgbClr val="1F2937"/>
                          </a:solidFill>
                          <a:latin typeface="Arial"/>
                        </a:rPr>
                        <a:t>EM</a:t>
                      </a:r>
                      <a:endParaRPr sz="800"/>
                    </a:p>
                  </a:txBody>
                  <a:tcPr marL="36576" marR="36576" marT="0" marB="0" anchor="ctr">
                    <a:noFill/>
                  </a:tcPr>
                </a:tc>
                <a:tc>
                  <a:txBody>
                    <a:bodyPr wrap="none"/>
                    <a:lstStyle/>
                    <a:p>
                      <a:pPr algn="r"/>
                      <a:r>
                        <a:rPr sz="800" b="0" i="0">
                          <a:solidFill>
                            <a:srgbClr val="1F2937"/>
                          </a:solidFill>
                          <a:latin typeface="Arial"/>
                        </a:rPr>
                        <a:t>0.0040</a:t>
                      </a:r>
                      <a:endParaRPr sz="800"/>
                    </a:p>
                  </a:txBody>
                  <a:tcPr marL="36576" marR="36576" marT="0" marB="0" anchor="ctr">
                    <a:noFill/>
                  </a:tcPr>
                </a:tc>
                <a:tc>
                  <a:txBody>
                    <a:bodyPr wrap="none"/>
                    <a:lstStyle/>
                    <a:p>
                      <a:pPr algn="r"/>
                      <a:r>
                        <a:rPr sz="800" b="0" i="0">
                          <a:solidFill>
                            <a:srgbClr val="1F2937"/>
                          </a:solidFill>
                          <a:latin typeface="Arial"/>
                        </a:rPr>
                        <a:t>0.0126</a:t>
                      </a:r>
                      <a:endParaRPr sz="800"/>
                    </a:p>
                  </a:txBody>
                  <a:tcPr marL="36576" marR="36576" marT="0" marB="0" anchor="ctr">
                    <a:noFill/>
                  </a:tcPr>
                </a:tc>
                <a:tc>
                  <a:txBody>
                    <a:bodyPr wrap="none"/>
                    <a:lstStyle/>
                    <a:p>
                      <a:pPr algn="r"/>
                      <a:r>
                        <a:rPr sz="800" b="0" i="0">
                          <a:solidFill>
                            <a:srgbClr val="1F2937"/>
                          </a:solidFill>
                          <a:latin typeface="Arial"/>
                        </a:rPr>
                        <a:t>0.0440</a:t>
                      </a:r>
                      <a:endParaRPr sz="800"/>
                    </a:p>
                  </a:txBody>
                  <a:tcPr marL="36576" marR="36576" marT="0" marB="0" anchor="ctr">
                    <a:noFill/>
                  </a:tcPr>
                </a:tc>
                <a:tc>
                  <a:txBody>
                    <a:bodyPr wrap="none"/>
                    <a:lstStyle/>
                    <a:p>
                      <a:pPr algn="r"/>
                      <a:r>
                        <a:rPr sz="800" b="0" i="0">
                          <a:solidFill>
                            <a:srgbClr val="1F2937"/>
                          </a:solidFill>
                          <a:latin typeface="Arial"/>
                        </a:rPr>
                        <a:t>0.1120</a:t>
                      </a:r>
                      <a:endParaRPr sz="800"/>
                    </a:p>
                  </a:txBody>
                  <a:tcPr marL="36576" marR="36576" marT="0" marB="0" anchor="ctr">
                    <a:noFill/>
                  </a:tcPr>
                </a:tc>
                <a:tc>
                  <a:txBody>
                    <a:bodyPr wrap="none"/>
                    <a:lstStyle/>
                    <a:p>
                      <a:pPr algn="r"/>
                      <a:r>
                        <a:rPr sz="800" b="0" i="0">
                          <a:solidFill>
                            <a:srgbClr val="1F2937"/>
                          </a:solidFill>
                          <a:latin typeface="Arial"/>
                        </a:rPr>
                        <a:t>0.2039</a:t>
                      </a:r>
                      <a:endParaRPr sz="800"/>
                    </a:p>
                  </a:txBody>
                  <a:tcPr marL="36576" marR="36576" marT="0" marB="0" anchor="ctr">
                    <a:noFill/>
                  </a:tcPr>
                </a:tc>
                <a:tc>
                  <a:txBody>
                    <a:bodyPr wrap="none"/>
                    <a:lstStyle/>
                    <a:p>
                      <a:pPr algn="r"/>
                      <a:r>
                        <a:rPr sz="800" b="0" i="0">
                          <a:solidFill>
                            <a:srgbClr val="1F2937"/>
                          </a:solidFill>
                          <a:latin typeface="Arial"/>
                        </a:rPr>
                        <a:t>0.0034</a:t>
                      </a:r>
                      <a:endParaRPr sz="800"/>
                    </a:p>
                  </a:txBody>
                  <a:tcPr marL="36576" marR="36576" marT="0" marB="0" anchor="ctr">
                    <a:noFill/>
                  </a:tcPr>
                </a:tc>
                <a:tc>
                  <a:txBody>
                    <a:bodyPr wrap="none"/>
                    <a:lstStyle/>
                    <a:p>
                      <a:pPr algn="r"/>
                      <a:r>
                        <a:rPr sz="800" b="0" i="0">
                          <a:solidFill>
                            <a:srgbClr val="1F2937"/>
                          </a:solidFill>
                          <a:latin typeface="Arial"/>
                        </a:rPr>
                        <a:t>0.0117</a:t>
                      </a:r>
                      <a:endParaRPr sz="800"/>
                    </a:p>
                  </a:txBody>
                  <a:tcPr marL="36576" marR="36576" marT="0" marB="0" anchor="ctr">
                    <a:noFill/>
                  </a:tcPr>
                </a:tc>
                <a:tc>
                  <a:txBody>
                    <a:bodyPr wrap="none"/>
                    <a:lstStyle/>
                    <a:p>
                      <a:pPr algn="r"/>
                      <a:r>
                        <a:rPr sz="800" b="1" i="0">
                          <a:solidFill>
                            <a:srgbClr val="1F2937"/>
                          </a:solidFill>
                          <a:latin typeface="Arial"/>
                        </a:rPr>
                        <a:t>0.0249</a:t>
                      </a:r>
                      <a:endParaRPr sz="800"/>
                    </a:p>
                  </a:txBody>
                  <a:tcPr marL="36576" marR="36576" marT="0" marB="0" anchor="ctr">
                    <a:noFill/>
                  </a:tcPr>
                </a:tc>
                <a:tc>
                  <a:txBody>
                    <a:bodyPr wrap="none"/>
                    <a:lstStyle/>
                    <a:p>
                      <a:pPr algn="r"/>
                      <a:r>
                        <a:rPr sz="800" b="0" i="0">
                          <a:solidFill>
                            <a:srgbClr val="1F2937"/>
                          </a:solidFill>
                          <a:latin typeface="Arial"/>
                        </a:rPr>
                        <a:t>0.0550</a:t>
                      </a:r>
                      <a:endParaRPr sz="800"/>
                    </a:p>
                  </a:txBody>
                  <a:tcPr marL="36576" marR="36576" marT="0" marB="0" anchor="ctr">
                    <a:noFill/>
                  </a:tcPr>
                </a:tc>
                <a:tc>
                  <a:txBody>
                    <a:bodyPr wrap="none"/>
                    <a:lstStyle/>
                    <a:p>
                      <a:pPr algn="r"/>
                      <a:r>
                        <a:rPr sz="800" b="0" i="0">
                          <a:solidFill>
                            <a:srgbClr val="1F2937"/>
                          </a:solidFill>
                          <a:latin typeface="Arial"/>
                        </a:rPr>
                        <a:t>0.1273</a:t>
                      </a:r>
                      <a:endParaRPr sz="800"/>
                    </a:p>
                  </a:txBody>
                  <a:tcPr marL="36576" marR="36576" marT="0" marB="0" anchor="ctr">
                    <a:noFill/>
                  </a:tcPr>
                </a:tc>
                <a:tc>
                  <a:txBody>
                    <a:bodyPr wrap="none"/>
                    <a:lstStyle/>
                    <a:p>
                      <a:pPr algn="r"/>
                      <a:r>
                        <a:rPr sz="800" b="1" i="0">
                          <a:solidFill>
                            <a:srgbClr val="1F2937"/>
                          </a:solidFill>
                          <a:latin typeface="Arial"/>
                        </a:rPr>
                        <a:t>0.0145</a:t>
                      </a:r>
                      <a:endParaRPr sz="800"/>
                    </a:p>
                  </a:txBody>
                  <a:tcPr marL="36576" marR="36576" marT="0" marB="0" anchor="ctr">
                    <a:noFill/>
                  </a:tcPr>
                </a:tc>
                <a:tc>
                  <a:txBody>
                    <a:bodyPr wrap="none"/>
                    <a:lstStyle/>
                    <a:p>
                      <a:pPr algn="r"/>
                      <a:r>
                        <a:rPr sz="800" b="0" i="0">
                          <a:solidFill>
                            <a:srgbClr val="1F2937"/>
                          </a:solidFill>
                          <a:latin typeface="Arial"/>
                        </a:rPr>
                        <a:t>0.0950</a:t>
                      </a:r>
                      <a:endParaRPr sz="800"/>
                    </a:p>
                  </a:txBody>
                  <a:tcPr marL="36576" marR="36576" marT="0" marB="0" anchor="ctr">
                    <a:noFill/>
                  </a:tcPr>
                </a:tc>
                <a:tc>
                  <a:txBody>
                    <a:bodyPr wrap="none"/>
                    <a:lstStyle/>
                    <a:p>
                      <a:pPr algn="r"/>
                      <a:r>
                        <a:rPr sz="800" b="1" i="0">
                          <a:solidFill>
                            <a:srgbClr val="1F2937"/>
                          </a:solidFill>
                          <a:latin typeface="Arial"/>
                        </a:rPr>
                        <a:t>0.0327</a:t>
                      </a:r>
                      <a:endParaRPr sz="800"/>
                    </a:p>
                  </a:txBody>
                  <a:tcPr marL="36576" marR="36576" marT="0" marB="0" anchor="ctr">
                    <a:noFill/>
                  </a:tcPr>
                </a:tc>
                <a:tc>
                  <a:txBody>
                    <a:bodyPr wrap="none"/>
                    <a:lstStyle/>
                    <a:p>
                      <a:pPr algn="r"/>
                      <a:r>
                        <a:rPr sz="800" b="1" i="0">
                          <a:solidFill>
                            <a:srgbClr val="1F2937"/>
                          </a:solidFill>
                          <a:latin typeface="Arial"/>
                        </a:rPr>
                        <a:t>0.0843</a:t>
                      </a:r>
                      <a:endParaRPr sz="800"/>
                    </a:p>
                  </a:txBody>
                  <a:tcPr marL="36576" marR="36576" marT="0" marB="0" anchor="ctr">
                    <a:noFill/>
                  </a:tcPr>
                </a:tc>
                <a:tc>
                  <a:txBody>
                    <a:bodyPr wrap="none"/>
                    <a:lstStyle/>
                    <a:p>
                      <a:pPr algn="r"/>
                      <a:r>
                        <a:rPr sz="800" b="0" i="0">
                          <a:solidFill>
                            <a:srgbClr val="1F2937"/>
                          </a:solidFill>
                          <a:latin typeface="Arial"/>
                        </a:rPr>
                        <a:t>0.1343</a:t>
                      </a:r>
                      <a:endParaRPr sz="800"/>
                    </a:p>
                  </a:txBody>
                  <a:tcPr marL="36576" marR="36576" marT="0" marB="0" anchor="ctr">
                    <a:noFill/>
                  </a:tcPr>
                </a:tc>
              </a:tr>
              <a:tr h="208483">
                <a:tc>
                  <a:txBody>
                    <a:bodyPr wrap="none"/>
                    <a:lstStyle/>
                    <a:p>
                      <a:pPr algn="l"/>
                      <a:r>
                        <a:rPr sz="800" b="0" i="0">
                          <a:solidFill>
                            <a:srgbClr val="1F2937"/>
                          </a:solidFill>
                          <a:latin typeface="Arial"/>
                        </a:rPr>
                        <a:t>BRITS</a:t>
                      </a:r>
                      <a:endParaRPr sz="800"/>
                    </a:p>
                  </a:txBody>
                  <a:tcPr marL="36576" marR="36576" marT="0" marB="0" anchor="ctr">
                    <a:noFill/>
                  </a:tcPr>
                </a:tc>
                <a:tc>
                  <a:txBody>
                    <a:bodyPr wrap="none"/>
                    <a:lstStyle/>
                    <a:p>
                      <a:pPr algn="r"/>
                      <a:r>
                        <a:rPr sz="800" b="0" i="0">
                          <a:solidFill>
                            <a:srgbClr val="1F2937"/>
                          </a:solidFill>
                          <a:latin typeface="Arial"/>
                        </a:rPr>
                        <a:t>0.0046</a:t>
                      </a:r>
                      <a:endParaRPr sz="800"/>
                    </a:p>
                  </a:txBody>
                  <a:tcPr marL="36576" marR="36576" marT="0" marB="0" anchor="ctr">
                    <a:noFill/>
                  </a:tcPr>
                </a:tc>
                <a:tc>
                  <a:txBody>
                    <a:bodyPr wrap="none"/>
                    <a:lstStyle/>
                    <a:p>
                      <a:pPr algn="r"/>
                      <a:r>
                        <a:rPr sz="800" b="0" i="0">
                          <a:solidFill>
                            <a:srgbClr val="1F2937"/>
                          </a:solidFill>
                          <a:latin typeface="Arial"/>
                        </a:rPr>
                        <a:t>0.0154</a:t>
                      </a:r>
                      <a:endParaRPr sz="800"/>
                    </a:p>
                  </a:txBody>
                  <a:tcPr marL="36576" marR="36576" marT="0" marB="0" anchor="ctr">
                    <a:noFill/>
                  </a:tcPr>
                </a:tc>
                <a:tc>
                  <a:txBody>
                    <a:bodyPr wrap="none"/>
                    <a:lstStyle/>
                    <a:p>
                      <a:pPr algn="r"/>
                      <a:r>
                        <a:rPr sz="800" b="0" i="0">
                          <a:solidFill>
                            <a:srgbClr val="1F2937"/>
                          </a:solidFill>
                          <a:latin typeface="Arial"/>
                        </a:rPr>
                        <a:t>0.0347</a:t>
                      </a:r>
                      <a:endParaRPr sz="800"/>
                    </a:p>
                  </a:txBody>
                  <a:tcPr marL="36576" marR="36576" marT="0" marB="0" anchor="ctr">
                    <a:noFill/>
                  </a:tcPr>
                </a:tc>
                <a:tc>
                  <a:txBody>
                    <a:bodyPr wrap="none"/>
                    <a:lstStyle/>
                    <a:p>
                      <a:pPr algn="r"/>
                      <a:r>
                        <a:rPr sz="800" b="0" i="0">
                          <a:solidFill>
                            <a:srgbClr val="1F2937"/>
                          </a:solidFill>
                          <a:latin typeface="Arial"/>
                        </a:rPr>
                        <a:t>0.1034</a:t>
                      </a:r>
                      <a:endParaRPr sz="800"/>
                    </a:p>
                  </a:txBody>
                  <a:tcPr marL="36576" marR="36576" marT="0" marB="0" anchor="ctr">
                    <a:noFill/>
                  </a:tcPr>
                </a:tc>
                <a:tc>
                  <a:txBody>
                    <a:bodyPr wrap="none"/>
                    <a:lstStyle/>
                    <a:p>
                      <a:pPr algn="r"/>
                      <a:r>
                        <a:rPr sz="800" b="0" i="0">
                          <a:solidFill>
                            <a:srgbClr val="1F2937"/>
                          </a:solidFill>
                          <a:latin typeface="Arial"/>
                        </a:rPr>
                        <a:t>0.2376</a:t>
                      </a:r>
                      <a:endParaRPr sz="800"/>
                    </a:p>
                  </a:txBody>
                  <a:tcPr marL="36576" marR="36576" marT="0" marB="0" anchor="ctr">
                    <a:noFill/>
                  </a:tcPr>
                </a:tc>
                <a:tc>
                  <a:txBody>
                    <a:bodyPr wrap="none"/>
                    <a:lstStyle/>
                    <a:p>
                      <a:pPr algn="r"/>
                      <a:r>
                        <a:rPr sz="800" b="0" i="0">
                          <a:solidFill>
                            <a:srgbClr val="1F2937"/>
                          </a:solidFill>
                          <a:latin typeface="Arial"/>
                        </a:rPr>
                        <a:t>0.0029</a:t>
                      </a:r>
                      <a:endParaRPr sz="800"/>
                    </a:p>
                  </a:txBody>
                  <a:tcPr marL="36576" marR="36576" marT="0" marB="0" anchor="ctr">
                    <a:noFill/>
                  </a:tcPr>
                </a:tc>
                <a:tc>
                  <a:txBody>
                    <a:bodyPr wrap="none"/>
                    <a:lstStyle/>
                    <a:p>
                      <a:pPr algn="r"/>
                      <a:r>
                        <a:rPr sz="800" b="0" i="0">
                          <a:solidFill>
                            <a:srgbClr val="1F2937"/>
                          </a:solidFill>
                          <a:latin typeface="Arial"/>
                        </a:rPr>
                        <a:t>0.0115</a:t>
                      </a:r>
                      <a:endParaRPr sz="800"/>
                    </a:p>
                  </a:txBody>
                  <a:tcPr marL="36576" marR="36576" marT="0" marB="0" anchor="ctr">
                    <a:noFill/>
                  </a:tcPr>
                </a:tc>
                <a:tc>
                  <a:txBody>
                    <a:bodyPr wrap="none"/>
                    <a:lstStyle/>
                    <a:p>
                      <a:pPr algn="r"/>
                      <a:r>
                        <a:rPr sz="800" b="0" i="0">
                          <a:solidFill>
                            <a:srgbClr val="1F2937"/>
                          </a:solidFill>
                          <a:latin typeface="Arial"/>
                        </a:rPr>
                        <a:t>0.0270</a:t>
                      </a:r>
                      <a:endParaRPr sz="800"/>
                    </a:p>
                  </a:txBody>
                  <a:tcPr marL="36576" marR="36576" marT="0" marB="0" anchor="ctr">
                    <a:noFill/>
                  </a:tcPr>
                </a:tc>
                <a:tc>
                  <a:txBody>
                    <a:bodyPr wrap="none"/>
                    <a:lstStyle/>
                    <a:p>
                      <a:pPr algn="r"/>
                      <a:r>
                        <a:rPr sz="800" b="0" i="0">
                          <a:solidFill>
                            <a:srgbClr val="1F2937"/>
                          </a:solidFill>
                          <a:latin typeface="Arial"/>
                        </a:rPr>
                        <a:t>0.0508</a:t>
                      </a:r>
                      <a:endParaRPr sz="800"/>
                    </a:p>
                  </a:txBody>
                  <a:tcPr marL="36576" marR="36576" marT="0" marB="0" anchor="ctr">
                    <a:noFill/>
                  </a:tcPr>
                </a:tc>
                <a:tc>
                  <a:txBody>
                    <a:bodyPr wrap="none"/>
                    <a:lstStyle/>
                    <a:p>
                      <a:pPr algn="r"/>
                      <a:r>
                        <a:rPr sz="800" b="1" i="0">
                          <a:solidFill>
                            <a:srgbClr val="1F2937"/>
                          </a:solidFill>
                          <a:latin typeface="Arial"/>
                        </a:rPr>
                        <a:t>0.1177</a:t>
                      </a:r>
                      <a:endParaRPr sz="800"/>
                    </a:p>
                  </a:txBody>
                  <a:tcPr marL="36576" marR="36576" marT="0" marB="0" anchor="ctr">
                    <a:noFill/>
                  </a:tcPr>
                </a:tc>
                <a:tc>
                  <a:txBody>
                    <a:bodyPr wrap="none"/>
                    <a:lstStyle/>
                    <a:p>
                      <a:pPr algn="r"/>
                      <a:r>
                        <a:rPr sz="800" b="0" i="0">
                          <a:solidFill>
                            <a:srgbClr val="1F2937"/>
                          </a:solidFill>
                          <a:latin typeface="Arial"/>
                        </a:rPr>
                        <a:t>0.0317</a:t>
                      </a:r>
                      <a:endParaRPr sz="800"/>
                    </a:p>
                  </a:txBody>
                  <a:tcPr marL="36576" marR="36576" marT="0" marB="0" anchor="ctr">
                    <a:noFill/>
                  </a:tcPr>
                </a:tc>
                <a:tc>
                  <a:txBody>
                    <a:bodyPr wrap="none"/>
                    <a:lstStyle/>
                    <a:p>
                      <a:pPr algn="r"/>
                      <a:r>
                        <a:rPr sz="800" b="0" i="0">
                          <a:solidFill>
                            <a:srgbClr val="1F2937"/>
                          </a:solidFill>
                          <a:latin typeface="Arial"/>
                        </a:rPr>
                        <a:t>0.0900</a:t>
                      </a:r>
                      <a:endParaRPr sz="800"/>
                    </a:p>
                  </a:txBody>
                  <a:tcPr marL="36576" marR="36576" marT="0" marB="0" anchor="ctr">
                    <a:noFill/>
                  </a:tcPr>
                </a:tc>
                <a:tc>
                  <a:txBody>
                    <a:bodyPr wrap="none"/>
                    <a:lstStyle/>
                    <a:p>
                      <a:pPr algn="r"/>
                      <a:r>
                        <a:rPr sz="800" b="0" i="0">
                          <a:solidFill>
                            <a:srgbClr val="1F2937"/>
                          </a:solidFill>
                          <a:latin typeface="Arial"/>
                        </a:rPr>
                        <a:t>0.0368</a:t>
                      </a:r>
                      <a:endParaRPr sz="800"/>
                    </a:p>
                  </a:txBody>
                  <a:tcPr marL="36576" marR="36576" marT="0" marB="0" anchor="ctr">
                    <a:noFill/>
                  </a:tcPr>
                </a:tc>
                <a:tc>
                  <a:txBody>
                    <a:bodyPr wrap="none"/>
                    <a:lstStyle/>
                    <a:p>
                      <a:pPr algn="r"/>
                      <a:r>
                        <a:rPr sz="800" b="0" i="0">
                          <a:solidFill>
                            <a:srgbClr val="1F2937"/>
                          </a:solidFill>
                          <a:latin typeface="Arial"/>
                        </a:rPr>
                        <a:t>0.1219</a:t>
                      </a:r>
                      <a:endParaRPr sz="800"/>
                    </a:p>
                  </a:txBody>
                  <a:tcPr marL="36576" marR="36576" marT="0" marB="0" anchor="ctr">
                    <a:noFill/>
                  </a:tcPr>
                </a:tc>
                <a:tc>
                  <a:txBody>
                    <a:bodyPr wrap="none"/>
                    <a:lstStyle/>
                    <a:p>
                      <a:pPr algn="r"/>
                      <a:r>
                        <a:rPr sz="800" b="1" i="0">
                          <a:solidFill>
                            <a:srgbClr val="1F2937"/>
                          </a:solidFill>
                          <a:latin typeface="Arial"/>
                        </a:rPr>
                        <a:t>0.1184</a:t>
                      </a:r>
                      <a:endParaRPr sz="800"/>
                    </a:p>
                  </a:txBody>
                  <a:tcPr marL="36576" marR="36576" marT="0" marB="0" anchor="ctr">
                    <a:noFill/>
                  </a:tcPr>
                </a:tc>
              </a:tr>
              <a:tr h="208483">
                <a:tc>
                  <a:txBody>
                    <a:bodyPr wrap="none"/>
                    <a:lstStyle/>
                    <a:p>
                      <a:pPr algn="l"/>
                      <a:r>
                        <a:rPr sz="800" b="0" i="0">
                          <a:solidFill>
                            <a:srgbClr val="1F2937"/>
                          </a:solidFill>
                          <a:latin typeface="Arial"/>
                        </a:rPr>
                        <a:t>CSDI</a:t>
                      </a:r>
                      <a:endParaRPr sz="800"/>
                    </a:p>
                  </a:txBody>
                  <a:tcPr marL="36576" marR="36576" marT="0" marB="0" anchor="ctr">
                    <a:lnB w="15875">
                      <a:solidFill>
                        <a:srgbClr val="14213D"/>
                      </a:solidFill>
                    </a:lnB>
                    <a:noFill/>
                  </a:tcPr>
                </a:tc>
                <a:tc>
                  <a:txBody>
                    <a:bodyPr wrap="none"/>
                    <a:lstStyle/>
                    <a:p>
                      <a:pPr algn="r"/>
                      <a:r>
                        <a:rPr sz="800" b="0" i="0">
                          <a:solidFill>
                            <a:srgbClr val="1F2937"/>
                          </a:solidFill>
                          <a:latin typeface="Arial"/>
                        </a:rPr>
                        <a:t>0.0041</a:t>
                      </a:r>
                      <a:endParaRPr sz="800"/>
                    </a:p>
                  </a:txBody>
                  <a:tcPr marL="36576" marR="36576" marT="0" marB="0" anchor="ctr">
                    <a:lnB w="15875">
                      <a:solidFill>
                        <a:srgbClr val="14213D"/>
                      </a:solidFill>
                    </a:lnB>
                    <a:noFill/>
                  </a:tcPr>
                </a:tc>
                <a:tc>
                  <a:txBody>
                    <a:bodyPr wrap="none"/>
                    <a:lstStyle/>
                    <a:p>
                      <a:pPr algn="r"/>
                      <a:r>
                        <a:rPr sz="800" b="1" i="0">
                          <a:solidFill>
                            <a:srgbClr val="1F2937"/>
                          </a:solidFill>
                          <a:latin typeface="Arial"/>
                        </a:rPr>
                        <a:t>0.0126</a:t>
                      </a:r>
                      <a:endParaRPr sz="800"/>
                    </a:p>
                  </a:txBody>
                  <a:tcPr marL="36576" marR="36576" marT="0" marB="0" anchor="ctr">
                    <a:lnB w="15875">
                      <a:solidFill>
                        <a:srgbClr val="14213D"/>
                      </a:solidFill>
                    </a:lnB>
                    <a:noFill/>
                  </a:tcPr>
                </a:tc>
                <a:tc>
                  <a:txBody>
                    <a:bodyPr wrap="none"/>
                    <a:lstStyle/>
                    <a:p>
                      <a:pPr algn="r"/>
                      <a:r>
                        <a:rPr sz="800" b="1" i="0">
                          <a:solidFill>
                            <a:srgbClr val="1F2937"/>
                          </a:solidFill>
                          <a:latin typeface="Arial"/>
                        </a:rPr>
                        <a:t>0.0323</a:t>
                      </a:r>
                      <a:endParaRPr sz="800"/>
                    </a:p>
                  </a:txBody>
                  <a:tcPr marL="36576" marR="36576" marT="0" marB="0" anchor="ctr">
                    <a:lnB w="15875">
                      <a:solidFill>
                        <a:srgbClr val="14213D"/>
                      </a:solidFill>
                    </a:lnB>
                    <a:noFill/>
                  </a:tcPr>
                </a:tc>
                <a:tc>
                  <a:txBody>
                    <a:bodyPr wrap="none"/>
                    <a:lstStyle/>
                    <a:p>
                      <a:pPr algn="r"/>
                      <a:r>
                        <a:rPr sz="800" b="0" i="0">
                          <a:solidFill>
                            <a:srgbClr val="1F2937"/>
                          </a:solidFill>
                          <a:latin typeface="Arial"/>
                        </a:rPr>
                        <a:t>0.1014</a:t>
                      </a:r>
                      <a:endParaRPr sz="800"/>
                    </a:p>
                  </a:txBody>
                  <a:tcPr marL="36576" marR="36576" marT="0" marB="0" anchor="ctr">
                    <a:lnB w="15875">
                      <a:solidFill>
                        <a:srgbClr val="14213D"/>
                      </a:solidFill>
                    </a:lnB>
                    <a:noFill/>
                  </a:tcPr>
                </a:tc>
                <a:tc>
                  <a:txBody>
                    <a:bodyPr wrap="none"/>
                    <a:lstStyle/>
                    <a:p>
                      <a:pPr algn="r"/>
                      <a:r>
                        <a:rPr sz="800" b="0" i="0">
                          <a:solidFill>
                            <a:srgbClr val="1F2937"/>
                          </a:solidFill>
                          <a:latin typeface="Arial"/>
                        </a:rPr>
                        <a:t>0.1954</a:t>
                      </a:r>
                      <a:endParaRPr sz="800"/>
                    </a:p>
                  </a:txBody>
                  <a:tcPr marL="36576" marR="36576" marT="0" marB="0" anchor="ctr">
                    <a:lnB w="15875">
                      <a:solidFill>
                        <a:srgbClr val="14213D"/>
                      </a:solidFill>
                    </a:lnB>
                    <a:noFill/>
                  </a:tcPr>
                </a:tc>
                <a:tc>
                  <a:txBody>
                    <a:bodyPr wrap="none"/>
                    <a:lstStyle/>
                    <a:p>
                      <a:pPr algn="r"/>
                      <a:r>
                        <a:rPr sz="800" b="1" i="0">
                          <a:solidFill>
                            <a:srgbClr val="1F2937"/>
                          </a:solidFill>
                          <a:latin typeface="Arial"/>
                        </a:rPr>
                        <a:t>0.0027</a:t>
                      </a:r>
                      <a:endParaRPr sz="800"/>
                    </a:p>
                  </a:txBody>
                  <a:tcPr marL="36576" marR="36576" marT="0" marB="0" anchor="ctr">
                    <a:lnB w="15875">
                      <a:solidFill>
                        <a:srgbClr val="14213D"/>
                      </a:solidFill>
                    </a:lnB>
                    <a:noFill/>
                  </a:tcPr>
                </a:tc>
                <a:tc>
                  <a:txBody>
                    <a:bodyPr wrap="none"/>
                    <a:lstStyle/>
                    <a:p>
                      <a:pPr algn="r"/>
                      <a:r>
                        <a:rPr sz="800" b="1" i="0">
                          <a:solidFill>
                            <a:srgbClr val="1F2937"/>
                          </a:solidFill>
                          <a:latin typeface="Arial"/>
                        </a:rPr>
                        <a:t>0.0100</a:t>
                      </a:r>
                      <a:endParaRPr sz="800"/>
                    </a:p>
                  </a:txBody>
                  <a:tcPr marL="36576" marR="36576" marT="0" marB="0" anchor="ctr">
                    <a:lnB w="15875">
                      <a:solidFill>
                        <a:srgbClr val="14213D"/>
                      </a:solidFill>
                    </a:lnB>
                    <a:noFill/>
                  </a:tcPr>
                </a:tc>
                <a:tc>
                  <a:txBody>
                    <a:bodyPr wrap="none"/>
                    <a:lstStyle/>
                    <a:p>
                      <a:pPr algn="r"/>
                      <a:r>
                        <a:rPr sz="800" b="0" i="0">
                          <a:solidFill>
                            <a:srgbClr val="1F2937"/>
                          </a:solidFill>
                          <a:latin typeface="Arial"/>
                        </a:rPr>
                        <a:t>0.0291</a:t>
                      </a:r>
                      <a:endParaRPr sz="800"/>
                    </a:p>
                  </a:txBody>
                  <a:tcPr marL="36576" marR="36576" marT="0" marB="0" anchor="ctr">
                    <a:lnB w="15875">
                      <a:solidFill>
                        <a:srgbClr val="14213D"/>
                      </a:solidFill>
                    </a:lnB>
                    <a:noFill/>
                  </a:tcPr>
                </a:tc>
                <a:tc>
                  <a:txBody>
                    <a:bodyPr wrap="none"/>
                    <a:lstStyle/>
                    <a:p>
                      <a:pPr algn="r"/>
                      <a:r>
                        <a:rPr sz="800" b="1" i="0">
                          <a:solidFill>
                            <a:srgbClr val="1F2937"/>
                          </a:solidFill>
                          <a:latin typeface="Arial"/>
                        </a:rPr>
                        <a:t>0.0453</a:t>
                      </a:r>
                      <a:endParaRPr sz="800"/>
                    </a:p>
                  </a:txBody>
                  <a:tcPr marL="36576" marR="36576" marT="0" marB="0" anchor="ctr">
                    <a:lnB w="15875">
                      <a:solidFill>
                        <a:srgbClr val="14213D"/>
                      </a:solidFill>
                    </a:lnB>
                    <a:noFill/>
                  </a:tcPr>
                </a:tc>
                <a:tc>
                  <a:txBody>
                    <a:bodyPr wrap="none"/>
                    <a:lstStyle/>
                    <a:p>
                      <a:pPr algn="r"/>
                      <a:r>
                        <a:rPr sz="800" b="0" i="0">
                          <a:solidFill>
                            <a:srgbClr val="1F2937"/>
                          </a:solidFill>
                          <a:latin typeface="Arial"/>
                        </a:rPr>
                        <a:t>0.1435</a:t>
                      </a:r>
                      <a:endParaRPr sz="800"/>
                    </a:p>
                  </a:txBody>
                  <a:tcPr marL="36576" marR="36576" marT="0" marB="0" anchor="ctr">
                    <a:lnB w="15875">
                      <a:solidFill>
                        <a:srgbClr val="14213D"/>
                      </a:solidFill>
                    </a:lnB>
                    <a:noFill/>
                  </a:tcPr>
                </a:tc>
                <a:tc>
                  <a:txBody>
                    <a:bodyPr wrap="none"/>
                    <a:lstStyle/>
                    <a:p>
                      <a:pPr algn="r"/>
                      <a:r>
                        <a:rPr sz="800" b="0" i="0">
                          <a:solidFill>
                            <a:srgbClr val="1F2937"/>
                          </a:solidFill>
                          <a:latin typeface="Arial"/>
                        </a:rPr>
                        <a:t>0.0160</a:t>
                      </a:r>
                      <a:endParaRPr sz="800"/>
                    </a:p>
                  </a:txBody>
                  <a:tcPr marL="36576" marR="36576" marT="0" marB="0" anchor="ctr">
                    <a:lnB w="15875">
                      <a:solidFill>
                        <a:srgbClr val="14213D"/>
                      </a:solidFill>
                    </a:lnB>
                    <a:noFill/>
                  </a:tcPr>
                </a:tc>
                <a:tc>
                  <a:txBody>
                    <a:bodyPr wrap="none"/>
                    <a:lstStyle/>
                    <a:p>
                      <a:pPr algn="r"/>
                      <a:r>
                        <a:rPr sz="800" b="0" i="0">
                          <a:solidFill>
                            <a:srgbClr val="1F2937"/>
                          </a:solidFill>
                          <a:latin typeface="Arial"/>
                        </a:rPr>
                        <a:t>0.1166</a:t>
                      </a:r>
                      <a:endParaRPr sz="800"/>
                    </a:p>
                  </a:txBody>
                  <a:tcPr marL="36576" marR="36576" marT="0" marB="0" anchor="ctr">
                    <a:lnB w="15875">
                      <a:solidFill>
                        <a:srgbClr val="14213D"/>
                      </a:solidFill>
                    </a:lnB>
                    <a:noFill/>
                  </a:tcPr>
                </a:tc>
                <a:tc>
                  <a:txBody>
                    <a:bodyPr wrap="none"/>
                    <a:lstStyle/>
                    <a:p>
                      <a:pPr algn="r"/>
                      <a:r>
                        <a:rPr sz="800" b="0" i="0">
                          <a:solidFill>
                            <a:srgbClr val="1F2937"/>
                          </a:solidFill>
                          <a:latin typeface="Arial"/>
                        </a:rPr>
                        <a:t>0.0383</a:t>
                      </a:r>
                      <a:endParaRPr sz="800"/>
                    </a:p>
                  </a:txBody>
                  <a:tcPr marL="36576" marR="36576" marT="0" marB="0" anchor="ctr">
                    <a:lnB w="15875">
                      <a:solidFill>
                        <a:srgbClr val="14213D"/>
                      </a:solidFill>
                    </a:lnB>
                    <a:noFill/>
                  </a:tcPr>
                </a:tc>
                <a:tc>
                  <a:txBody>
                    <a:bodyPr wrap="none"/>
                    <a:lstStyle/>
                    <a:p>
                      <a:pPr algn="r"/>
                      <a:r>
                        <a:rPr sz="800" b="0" i="0">
                          <a:solidFill>
                            <a:srgbClr val="1F2937"/>
                          </a:solidFill>
                          <a:latin typeface="Arial"/>
                        </a:rPr>
                        <a:t>0.0964</a:t>
                      </a:r>
                      <a:endParaRPr sz="800"/>
                    </a:p>
                  </a:txBody>
                  <a:tcPr marL="36576" marR="36576" marT="0" marB="0" anchor="ctr">
                    <a:lnB w="15875">
                      <a:solidFill>
                        <a:srgbClr val="14213D"/>
                      </a:solidFill>
                    </a:lnB>
                    <a:noFill/>
                  </a:tcPr>
                </a:tc>
                <a:tc>
                  <a:txBody>
                    <a:bodyPr wrap="none"/>
                    <a:lstStyle/>
                    <a:p>
                      <a:pPr algn="r"/>
                      <a:r>
                        <a:rPr sz="800" b="0" i="0">
                          <a:solidFill>
                            <a:srgbClr val="1F2937"/>
                          </a:solidFill>
                          <a:latin typeface="Arial"/>
                        </a:rPr>
                        <a:t>0.1340</a:t>
                      </a:r>
                      <a:endParaRPr sz="800"/>
                    </a:p>
                  </a:txBody>
                  <a:tcPr marL="36576" marR="36576" marT="0" marB="0" anchor="ctr">
                    <a:lnB w="15875">
                      <a:solidFill>
                        <a:srgbClr val="14213D"/>
                      </a:solidFill>
                    </a:lnB>
                    <a:no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Imputation of Missing Data in Financial Time Series</dc:title>
  <dc:subject/>
  <dc:creator>Michele Carlo Fanelli</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